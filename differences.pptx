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(ST)**: Match NLSR "Atmospheric Corrections"</a:t>
            </a:r>
          </a:p>
          <a:p/>
          <a:p>
            <a:r>
              <a:t>**Threshold — description (ST)**: No change</a:t>
            </a:r>
          </a:p>
          <a:p/>
          <a:p>
            <a:r>
              <a:t>**Threshold — description (NLSR)**: Remove the DOI landing page paragraphs — covered by the category-level verbiage; keep:</a:t>
            </a:r>
          </a:p>
          <a:p/>
          <a:p>
            <a:r>
              <a:t>```</a:t>
            </a:r>
          </a:p>
          <a:p>
            <a:r>
              <a:t>Corrections are applied for atmospheric scattering.</a:t>
            </a:r>
          </a:p>
          <a:p>
            <a:r>
              <a:t>```</a:t>
            </a:r>
          </a:p>
          <a:p/>
          <a:p>
            <a:r>
              <a:t>**Threshold — notes (NLSR)**: Remove — belongs to the DOI landing page verbiage.</a:t>
            </a:r>
          </a:p>
          <a:p/>
          <a:p>
            <a:r>
              <a:t>INTERNAL NOTES:</a:t>
            </a:r>
          </a:p>
          <a:p>
            <a:r>
              <a:t>Append "DOI-landing page" verbiage to the General Metadata and Per-Pixel Metadata sections for SR, ST and NLSR.</a:t>
            </a:r>
          </a:p>
          <a:p/>
          <a:p>
            <a:r>
              <a:t>The two requirements intentionally differ in content (ST: surface temperature retrieval methods; NLSR: atmospheric scattering) and stay separate; only the title and the boilerplate are aligned.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requirement wording):</a:t>
            </a:r>
          </a:p>
          <a:p/>
          <a:p>
            <a:r>
              <a:t>```</a:t>
            </a:r>
          </a:p>
          <a:p>
            <a:r>
              <a:t>Specification of corrections applied for molecular (Rayleigh) scattering and for aerosol scattering and absorption.</a:t>
            </a:r>
          </a:p>
          <a:p>
            <a:r>
              <a:t>```</a:t>
            </a:r>
          </a:p>
          <a:p/>
          <a:p>
            <a:r>
              <a:t>**Threshold — notes**: Keep Note as is for AR. Remove Note for SR.</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**Description**: Keep as is.</a:t>
            </a:r>
          </a:p>
          <a:p/>
          <a:p>
            <a:r>
              <a:t>**Threshold — description** (AR requirement wording):</a:t>
            </a:r>
          </a:p>
          <a:p/>
          <a:p>
            <a:r>
              <a:t>```</a:t>
            </a:r>
          </a:p>
          <a:p>
            <a:r>
              <a:t>Sub-pixel uncertainty is achieved in **relative** geolocation, that is, the pixels from the same instrument and platform are consistently located, and are thus comparable, through time. Sub-pixel uncertainty is taken to be less than or equal to 0.5-pixel radial root mean square error (rRMSE) or equivalent in Circular Error Probability (CEP) relative to a defined reference image. A consistent gridding/sampling frame is used, including common cell size, origin, and nominal sample point location within the cell (centre, ll, ur).</a:t>
            </a:r>
          </a:p>
          <a:p/>
          <a:p>
            <a:r>
              <a:t>Relevant metadata must be provided under [@geometric-uncertainty] and [@instrument].</a:t>
            </a:r>
          </a:p>
          <a:p>
            <a:r>
              <a:t>```</a:t>
            </a:r>
          </a:p>
          <a:p/>
          <a:p>
            <a:r>
              <a:t>**Threshold — notes** (AR notes wording):</a:t>
            </a:r>
          </a:p>
          <a:p/>
          <a:p>
            <a:r>
              <a:t>```</a:t>
            </a:r>
          </a:p>
          <a:p>
            <a:r>
              <a:t>1. The threshold level will not necessarily enable interoperability between data from different sources as the geometric corrections for each of the sources may differ.</a:t>
            </a:r>
          </a:p>
          <a:p>
            <a:r>
              <a:t>2. It is useful to note if the sensor is used at its native resolution before geometric correction or that some resampling must be done.</a:t>
            </a:r>
          </a:p>
          <a:p>
            <a:r>
              <a:t>```</a:t>
            </a:r>
          </a:p>
          <a:p/>
          <a:p>
            <a:r>
              <a:t>**Goal — description** (AR notes wording):</a:t>
            </a:r>
          </a:p>
          <a:p/>
          <a:p>
            <a:r>
              <a:t>```</a:t>
            </a:r>
          </a:p>
          <a:p>
            <a:r>
              <a:t>Sub-pixel uncertainty is achieved relative to an identified absolute independent terrestrial referencing system (such as a national map grid). Relevant metadata must be provided under Section “General Metadata: Geometric Uncertainty of the Data” and Section “General Metadata: Instrument”.</a:t>
            </a:r>
          </a:p>
          <a:p>
            <a:r>
              <a:t>```</a:t>
            </a:r>
          </a:p>
          <a:p/>
          <a:p>
            <a:r>
              <a:t>**Goal — notes** (AR notes wording):</a:t>
            </a:r>
          </a:p>
          <a:p/>
          <a:p>
            <a:r>
              <a:t>```</a:t>
            </a:r>
          </a:p>
          <a:p>
            <a:r>
              <a:t>This requirement is intended to enable interoperability between imagery from different platforms that meet this level of correction and with non-image spatial data such as GIS layers and terrain models.</a:t>
            </a:r>
          </a:p>
          <a:p>
            <a:r>
              <a:t>```</a:t>
            </a:r>
          </a:p>
          <a:p/>
          <a:p>
            <a:r>
              <a:t>INTERNAL NOTES:</a:t>
            </a:r>
          </a:p>
          <a:p>
            <a:r>
              <a:t>ST 6.0 already aligned the metadata references ([@geometric-uncertainty]); remaining differences to the proposal: "accuracy" vs "uncertainty", "0.5 pixel" vs "0.5-pixel", and the gridding/sampling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(SR)**: No Change</a:t>
            </a:r>
          </a:p>
          <a:p/>
          <a:p>
            <a:r>
              <a:t>**Threshold — description (AR)**: No change</a:t>
            </a:r>
          </a:p>
          <a:p/>
          <a:p>
            <a:r>
              <a:t>**Goal — description (SR)**: Match AR "Data is corrected for ozone if spectral bands are affected." Remove "Metadata contains a single DOI landing page with references to: a citable peer-reviewed algorithm technical documentation regarding the implementation of that algorithm"</a:t>
            </a:r>
          </a:p>
          <a:p/>
          <a:p>
            <a:r>
              <a:t>**Goal — description (AR)**: No change</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requirement wording):</a:t>
            </a:r>
          </a:p>
          <a:p/>
          <a:p>
            <a:r>
              <a:t>```</a:t>
            </a:r>
          </a:p>
          <a:p>
            <a:r>
              <a:t>Corrections are applied for water vapour if spectral bands are affected.</a:t>
            </a:r>
          </a:p>
          <a:p>
            <a:r>
              <a:t>```</a:t>
            </a:r>
          </a:p>
          <a:p/>
          <a:p>
            <a:r>
              <a:t>**Threshold — notes**: SR match AR</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(AR requirement wording):</a:t>
            </a:r>
          </a:p>
          <a:p/>
          <a:p>
            <a:r>
              <a:t>```</a:t>
            </a:r>
          </a:p>
          <a:p>
            <a:r>
              <a:t>Measurements are normalised (to nadir) to remove the effect of bidirectional dependence of the upwelling radiance on observation and solar-illumination geometries.</a:t>
            </a:r>
          </a:p>
          <a:p>
            <a:r>
              <a:t>```</a:t>
            </a:r>
          </a:p>
          <a:p/>
          <a:p>
            <a:r>
              <a:t>**Goal — notes**: Remove for NLSR and SR</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**Description**: Remove for SR and NLSR</a:t>
            </a:r>
          </a:p>
          <a:p/>
          <a:p>
            <a:r>
              <a:t>**Threshold — description**: No changes</a:t>
            </a:r>
          </a:p>
          <a:p/>
          <a:p>
            <a:r>
              <a:t>**Goal — description (NLSR, SR)**: Match AR Threshold BUT not "Note 2"</a:t>
            </a:r>
          </a:p>
          <a:p/>
          <a:p>
            <a:r>
              <a:t>INTERNAL NOTES:</a:t>
            </a:r>
          </a:p>
          <a:p>
            <a:r>
              <a:t>Append "DOI-landing page" verbiage to the General Metadata and Per-Pixel Metadata sections for SR, ST and NLSR.</a:t>
            </a:r>
          </a:p>
          <a:p/>
          <a:p>
            <a:r>
              <a:t>ST 6.0 redefined both levels via the Joint EO Mission Quality Assessment Framework self-assessment (threshold: Basic/Good, goal: Excellent/Ideal) — keep ST as is; the AR alignment now only applies to NLSR/SR.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INTERNAL NOTES:</a:t>
            </a:r>
          </a:p>
          <a:p>
            <a:r>
              <a:t>Append "DOI-landing page" verbiage to the General Metadata and Per-Pixel Metadata sections for SR, ST and NLSR.</a:t>
            </a:r>
          </a:p>
          <a:p/>
          <a:p>
            <a:r>
              <a:t>ST 6.0 intentionally removed the threshold requirement (issue #55: uncertainty information at threshold level makes full algorithm details unnecessary) — ST is therefore excluded from the threshold alignment.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NLSR, SR)**: Align on:</a:t>
            </a:r>
          </a:p>
          <a:p/>
          <a:p>
            <a:r>
              <a:t>```</a:t>
            </a:r>
          </a:p>
          <a:p>
            <a:r>
              <a:t>The metadata identifies the sources of auxiliary data used in the generation process.</a:t>
            </a:r>
          </a:p>
          <a:p>
            <a:r>
              <a:t>```</a:t>
            </a:r>
          </a:p>
          <a:p/>
          <a:p>
            <a:r>
              <a:t>**Goal — description (NLSR, SR)**: Match AR</a:t>
            </a:r>
          </a:p>
          <a:p/>
          <a:p>
            <a:r>
              <a:t>**Threshold — notes (NLSR, SR)**: Align the note wording with the note of the SAR goal:</a:t>
            </a:r>
          </a:p>
          <a:p/>
          <a:p>
            <a:r>
              <a:t>```</a:t>
            </a:r>
          </a:p>
          <a:p>
            <a:r>
              <a:t>Auxiliary data includes DEMs, etc., and any additional data sources used in the generation of the product.</a:t>
            </a:r>
          </a:p>
          <a:p>
            <a:r>
              <a:t>```</a:t>
            </a:r>
          </a:p>
          <a:p/>
          <a:p>
            <a:r>
              <a:t>INTERNAL NOTES:</a:t>
            </a:r>
          </a:p>
          <a:p>
            <a:r>
              <a:t>Append "DOI-landing page" verbiage to the General Metadata and Per-Pixel Metadata sections for SR, ST and NLSR.</a:t>
            </a:r>
          </a:p>
          <a:p/>
          <a:p>
            <a:r>
              <a:t>The SAR variant only defines a goal; consider adding the aligned threshold requirement there as well.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"Coordinate Reference System" (drop the "Product" prefix)</a:t>
            </a:r>
          </a:p>
          <a:p/>
          <a:p>
            <a:r>
              <a:t>**Threshold — description (AR)**: Match NLSR "The metadata lists the coordinate reference system that has been used."</a:t>
            </a:r>
          </a:p>
          <a:p/>
          <a:p>
            <a:r>
              <a:t>INTERNAL NOTES:</a:t>
            </a:r>
          </a:p>
          <a:p>
            <a:r>
              <a:t>The SAR variant additionally requires a standardised format (e.g., WKT) and the EPSG code — consider adopting this for the optical PFS in a future revision.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NLSR, SR, ST)**: Replace with:</a:t>
            </a:r>
          </a:p>
          <a:p/>
          <a:p>
            <a:r>
              <a:t>```</a:t>
            </a:r>
          </a:p>
          <a:p>
            <a:r>
              <a:t>The metadata identifies the location from where the product can be retrieved, expressed as a URL or DOI.</a:t>
            </a:r>
          </a:p>
          <a:p>
            <a:r>
              <a:t>```</a:t>
            </a:r>
          </a:p>
          <a:p/>
          <a:p>
            <a:r>
              <a:t>**Goal — description (AR, NLSR, SR, ST)**: Add as optional goal, matching the SAR variants:</a:t>
            </a:r>
          </a:p>
          <a:p/>
          <a:p>
            <a:r>
              <a:t>```</a:t>
            </a:r>
          </a:p>
          <a:p>
            <a:r>
              <a:t>The metadata identifies an online location from where the data can be consistently and reliably retrieved by a computer algorithm without any manual intervention being required.</a:t>
            </a:r>
          </a:p>
          <a:p>
            <a:r>
              <a:t>```</a:t>
            </a:r>
          </a:p>
          <a:p/>
          <a:p>
            <a:r>
              <a:t>INTERNAL NOTES:</a:t>
            </a:r>
          </a:p>
          <a:p>
            <a:r>
              <a:t>Append "DOI-landing page" verbiage to the General Metadata and Per-Pixel Metadata sections for SR, ST and NLSR.</a:t>
            </a:r>
          </a:p>
          <a:p/>
          <a:p>
            <a:r>
              <a:t>The current optical threshold only contains the DOI landing page sentence, which moves to category level — the proposal gives Data Access a concrete requirement, aligned with the SAR product variant. The split into Product/Source Data Access remains specific to the SAR family.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"Geographical Area"</a:t>
            </a:r>
          </a:p>
          <a:p/>
          <a:p>
            <a:r>
              <a:t>INTERNAL NOTES:</a:t>
            </a:r>
          </a:p>
          <a:p>
            <a:r>
              <a:t>The footprint conventions differ intentionally (optical: corner points; SAR: WKT polygon of the image footprint in EPSG 4326). Consider aligning on the more precise polygon/standardised-format wording across both families in a future revision.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(NLSR, SR)**: Match AR</a:t>
            </a:r>
          </a:p>
          <a:p/>
          <a:p>
            <a:r>
              <a:t>INTERNAL NOTES:</a:t>
            </a:r>
          </a:p>
          <a:p>
            <a:r>
              <a:t>Append "DOI-landing page" verbiage to the General Metadata and Per-Pixel Metadata sections for SR, ST and NLSR.</a:t>
            </a:r>
          </a:p>
          <a:p/>
          <a:p>
            <a:r>
              <a:t>Resolved for ST: it now uses the AR requirement directly (geometric-correction-methods-st was removed).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Match NLSR "The instrument used to collect the data is identified in the metadata."</a:t>
            </a:r>
          </a:p>
          <a:p/>
          <a:p>
            <a:r>
              <a:t>**Goal — description**: Align on:</a:t>
            </a:r>
          </a:p>
          <a:p/>
          <a:p>
            <a:r>
              <a:t>```</a:t>
            </a:r>
          </a:p>
          <a:p>
            <a:r>
              <a:t>As threshold, with references to the relevant CEOS Missions, Instruments, and Measurements (MIM) database record (https://ceos.org/mim-database).</a:t>
            </a:r>
          </a:p>
          <a:p>
            <a:r>
              <a:t>```</a:t>
            </a:r>
          </a:p>
          <a:p/>
          <a:p>
            <a:r>
              <a:t>INTERNAL NOTES:</a:t>
            </a:r>
          </a:p>
          <a:p>
            <a:r>
              <a:t>Append "DOI-landing page" verbiage to the General Metadata and Per-Pixel Metadata sections for SR, ST and NLSR.</a:t>
            </a:r>
          </a:p>
          <a:p/>
          <a:p>
            <a:r>
              <a:t>The MIM database URL (ceos.org/mim-database) supersedes the old database.eohandbook.com link used by AR. The SAR threshold additionally enumerates satellite and instrument name — consider adopting that enumeration for the optical PFS as well.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Align on the SAR wording ("component/variable" instead of "component part"):</a:t>
            </a:r>
          </a:p>
          <a:p/>
          <a:p>
            <a:r>
              <a:t>```</a:t>
            </a:r>
          </a:p>
          <a:p>
            <a:r>
              <a:t>Metadata is provided in a structure that enables a computer algorithm to be used to consistently and automatically identify and extract each component/variable for further use.</a:t>
            </a:r>
          </a:p>
          <a:p>
            <a:r>
              <a:t>```</a:t>
            </a:r>
          </a:p>
          <a:p/>
          <a:p>
            <a:r>
              <a:t>**Goal — description (AR, NLSR, SR, ST)**: Extend the list of example standards:</a:t>
            </a:r>
          </a:p>
          <a:p/>
          <a:p>
            <a:r>
              <a:t>```</a:t>
            </a:r>
          </a:p>
          <a:p>
            <a:r>
              <a:t>As threshold, but metadata should be provided in a community endorsed standard that facilitates machine-readability, such as ISO 19115-2, the Climate and Forecast (CF) convention, or the Attribute Convention for Data Discovery (ACDD).</a:t>
            </a:r>
          </a:p>
          <a:p>
            <a:r>
              <a:t>```</a:t>
            </a:r>
          </a:p>
          <a:p/>
          <a:p>
            <a:r>
              <a:t>INTERNAL NOTES:</a:t>
            </a:r>
          </a:p>
          <a:p>
            <a:r>
              <a:t>The reference to the CEOS-ARD SAR Metadata Specifications remains specific to the SAR variant. The per-pixel variant has no goal — consider adding the same goal (optional) there for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INTERNAL NOTES:</a:t>
            </a:r>
          </a:p>
          <a:p>
            <a:r>
              <a:t>Resolved: ST now uses the AR requirement directly (map-projection-st was removed), which also settles the earlier question why the threshold was "Not Required" for 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(NLSR, SR)**: Match AR</a:t>
            </a:r>
          </a:p>
          <a:p/>
          <a:p>
            <a:r>
              <a:t>INTERNAL NOTES:</a:t>
            </a:r>
          </a:p>
          <a:p>
            <a:r>
              <a:t>Append "DOI-landing page" verbiage to the General Metadata and Per-Pixel Metadata sections for SR, ST and NLSR.</a:t>
            </a:r>
          </a:p>
          <a:p/>
          <a:p>
            <a:r>
              <a:t>ST 6.0 upgraded provenance to a threshold requirement (reconstructable processing environment) with a reproducibility goal (issue #58) — keep ST as is and consider adopting this approach for the other optical PFS.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Keep per family (radiometric accuracy is assessed differently for SAR backscatter and for optical reflectance).</a:t>
            </a:r>
          </a:p>
          <a:p/>
          <a:p>
            <a:r>
              <a:t>**Goal — notes (NLSR, SR)**: Remove — covered by the category-level DOI landing page verbiage.</a:t>
            </a:r>
          </a:p>
          <a:p/>
          <a:p>
            <a:r>
              <a:t>INTERNAL NOTES:</a:t>
            </a:r>
          </a:p>
          <a:p>
            <a:r>
              <a:t>Append "DOI-landing page" verbiage to the General Metadata and Per-Pixel Metadata sections for SR, ST and NLSR.</a:t>
            </a:r>
          </a:p>
          <a:p/>
          <a:p>
            <a:r>
              <a:t>ST dropped its radiometric accuracy requirement in ST 6.0 (the file was removed).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(AR)**: Match NLSR</a:t>
            </a:r>
          </a:p>
          <a:p/>
          <a:p>
            <a:r>
              <a:t>**Goal — notes (NLSR, SR)**: Remove — covered by the category-level DOI landing page verbiage (the note also contains a typo: "sensory").</a:t>
            </a:r>
          </a:p>
          <a:p/>
          <a:p>
            <a:r>
              <a:t>INTERNAL NOTES:</a:t>
            </a:r>
          </a:p>
          <a:p>
            <a:r>
              <a:t>Append "DOI-landing page" verbiage to the General Metadata and Per-Pixel Metadata sections for SR, ST and NLSR.</a:t>
            </a:r>
          </a:p>
          <a:p/>
          <a:p>
            <a:r>
              <a:t>Only AR defines a threshold ("Binary description of calibrated/not calibrated only.") — consider adopting it for the other PFS (cheap and useful) or removing it from 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NLSR-SR-ST match AR</a:t>
            </a:r>
          </a:p>
          <a:p/>
          <a:p>
            <a:r>
              <a:t>**Goal — description**: NLSR-SR-ST match AR</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**Goal — description (NLSR, SR)**: Match AR</a:t>
            </a:r>
          </a:p>
          <a:p/>
          <a:p>
            <a:r>
              <a:t>INTERNAL NOTES:</a:t>
            </a:r>
          </a:p>
          <a:p>
            <a:r>
              <a:t>time-sar and time-source remain SAR-specific (number of acquisitions, composites/mosaics, source acquisition time); consider requiring ISO 8601 there already at threshold — it currently only appears at goal.</a:t>
            </a:r>
          </a:p>
          <a:p/>
          <a:p>
            <a:r>
              <a:t>The current SR goal (per-pixel acquisition time) is more specific than the AR goal; if per-pixel time is essential for NLSR/SR, keep the current SR wording instead.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"Traceability"; alternatively adopt the more precise ST title "Metrological Traceability of the Measurand to SI" for all PFS.</a:t>
            </a:r>
          </a:p>
          <a:p/>
          <a:p>
            <a:r>
              <a:t>**Goal — description (ST)**: Match AR "Data must be traceable to SI reference standard." (the DOI landing page sentence moves to category level)</a:t>
            </a:r>
          </a:p>
          <a:p/>
          <a:p>
            <a:r>
              <a:t>**Goal — notes**: Align on the AR note:</a:t>
            </a:r>
          </a:p>
          <a:p/>
          <a:p>
            <a:r>
              <a:t>```</a:t>
            </a:r>
          </a:p>
          <a:p>
            <a:r>
              <a:t>Relationship to [@uncertainty]. Traceability requires an estimate of measurement uncertainty.</a:t>
            </a:r>
          </a:p>
          <a:p>
            <a:r>
              <a:t>```</a:t>
            </a:r>
          </a:p>
          <a:p/>
          <a:p>
            <a:r>
              <a:t>INTERNAL NOTES:</a:t>
            </a:r>
          </a:p>
          <a:p>
            <a:r>
              <a:t>Append "DOI-landing page" verbiage to the General Metadata and Per-Pixel Metadata sections for SR, ST and NLSR.</a:t>
            </a:r>
          </a:p>
          <a:p/>
          <a:p>
            <a:r>
              <a:t>The [@relationship] reference in the SAR and NLSR/SR variants looks like a broken cross-reference — it should probably be [@uncertainty], as in AR.</a:t>
            </a:r>
          </a:p>
          <a:p/>
          <a:p>
            <a:r>
              <a:t>The AR threshold text (an Aquatic Reflectance definition) appears misplaced under Traceability — check the AR PFS.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**Goal — description (NLSR, SR)**: Match AR</a:t>
            </a:r>
          </a:p>
          <a:p/>
          <a:p>
            <a:r>
              <a:t>INTERNAL NOTES:</a:t>
            </a:r>
          </a:p>
          <a:p>
            <a:r>
              <a:t>Append "DOI-landing page" verbiage to the General Metadata and Per-Pixel Metadata sections for SR, ST and NLSR.</a:t>
            </a:r>
          </a:p>
          <a:p/>
          <a:p>
            <a:r>
              <a:t>ST 6.0 already adopted the AR approach with deliberate adjustments (only "cloud-affected" pixels; cloud type/confidence instead of cirrus differentiation at goal) — keep ST as is; consider adopting the ST simplifications for AR/NLSR/SR in a later revision.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(SR)**: Match AR</a:t>
            </a:r>
          </a:p>
          <a:p/>
          <a:p>
            <a:r>
              <a:t>**Goal — description (NLSR)**: Match AR Threshold</a:t>
            </a:r>
          </a:p>
          <a:p/>
          <a:p>
            <a:r>
              <a:t>INTERNAL NOTES:</a:t>
            </a:r>
          </a:p>
          <a:p>
            <a:r>
              <a:t>Append "DOI-landing page" verbiage to the General Metadata and Per-Pixel Metadata sections for SR, ST and NLSR.</a:t>
            </a:r>
          </a:p>
          <a:p/>
          <a:p>
            <a:r>
              <a:t>ST 6.0 removed the threshold requirement (cloud shadow has limited utility for non-reflectance methods) and adopted the "cloud shadow-affected" wording at goal — keep ST as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**Goal — description (NLSR, SR)**: Match AR</a:t>
            </a:r>
          </a:p>
          <a:p/>
          <a:p>
            <a:r>
              <a:t>INTERNAL NOTES:</a:t>
            </a:r>
          </a:p>
          <a:p>
            <a:r>
              <a:t>I suggest "Per-Pixel Assessment" is adopted for NLSR-SR-ST</a:t>
            </a:r>
          </a:p>
          <a:p/>
          <a:p>
            <a:r>
              <a:t>ST 6.0 enumerates the concrete per-pixel tests (2.3, 2.4, 2.6 / 2.3, 2.4, 2.5, 2.6, 2.8) — hard-coded section numbers are fragile; prefer AR's reference to "the tests below".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No change</a:t>
            </a:r>
          </a:p>
          <a:p/>
          <a:p>
            <a:r>
              <a:t>**Threshold — description (NLSR)**: Change wording to match AR phrasing - "Specification of whether a pixel is land or water"</a:t>
            </a:r>
          </a:p>
          <a:p/>
          <a:p>
            <a:r>
              <a:t>**Threshold — description (SR)**: No change</a:t>
            </a:r>
          </a:p>
          <a:p/>
          <a:p>
            <a:r>
              <a:t>**Goal — description (AR)**: No change</a:t>
            </a:r>
          </a:p>
          <a:p/>
          <a:p>
            <a:r>
              <a:t>**Goal — description (NLSR)**: Change wording to match AR phrasing - "As threshold"</a:t>
            </a:r>
          </a:p>
          <a:p/>
          <a:p>
            <a:r>
              <a:t>**Goal — description (SR)**: Change wording to match AR phrasing - "Specification of whether a pixel is land or water"</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INTERNAL NOTES:</a:t>
            </a:r>
          </a:p>
          <a:p>
            <a:r>
              <a:t>ST 6.0 introduced its own No Data wording with an explicit flag list ("No Data / Invalid / Falsified / Valid / Modelled") — decide whether to keep it or to align it with AR's example-based wording.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NLSR-SR-ST match AR</a:t>
            </a:r>
          </a:p>
          <a:p/>
          <a:p>
            <a:r>
              <a:t>**Goal — description**: NLSR-SR-ST match 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Change wording to maintain consistent PFS phrasing - "Specification of whether a pixel is snow/ice"</a:t>
            </a:r>
          </a:p>
          <a:p/>
          <a:p>
            <a:r>
              <a:t>**Goal — description (NLSR)**: As threshold</a:t>
            </a:r>
          </a:p>
          <a:p/>
          <a:p>
            <a:r>
              <a:t>**Threshold — description (SR)**: No change</a:t>
            </a:r>
          </a:p>
          <a:p/>
          <a:p>
            <a:r>
              <a:t>**Goal — description (SR)**: Change wording to maintain consistent PFS phrasing - "Specification of whether a pixel is snow/ice"</a:t>
            </a:r>
          </a:p>
          <a:p/>
          <a:p>
            <a:r>
              <a:t>INTERNAL NOTES:</a:t>
            </a:r>
          </a:p>
          <a:p>
            <a:r>
              <a:t>Append "DOI-landing page" verbiage to the General Metadata and Per-Pixel Metadata sections for SR, ST and NLSR.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(SR, NLSR)**: Change wording to maintain consistent PFS phrasing - "Specification of whether pixels that are not visible to the sensor due to terrain occlusion during off-nadir viewing."</a:t>
            </a:r>
          </a:p>
          <a:p/>
          <a:p>
            <a:r>
              <a:t>INTERNAL NOTES:</a:t>
            </a:r>
          </a:p>
          <a:p>
            <a:r>
              <a:t>Resolved: ST 6.0 defines Terrain Occlusion for ST (goal only, threshold "Not required.") — the earlier observation that ST lacks terrain occlusion no longer applies. ST's goal wording ("Identifies pixels that are not visible…") differs slightly from the SR/NLSR proposal — align during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ST-SR match AR</a:t>
            </a:r>
          </a:p>
          <a:p/>
          <a:p>
            <a:r>
              <a:t>**Goal — description (ST, SR)**: Change wording to maintain consistent PFS phrasing "Specification of the per-pixel solar and sensor viewing azimuth and zenith angles."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377440"/>
            <a:ext cx="11277295" cy="2011680"/>
          </a:xfrm>
          <a:prstGeom prst="rect">
            <a:avLst/>
          </a:prstGeom>
          <a:noFill/>
        </p:spPr>
        <p:txBody>
          <a:bodyPr wrap="square">
            <a:spAutoFit/>
          </a:bodyPr>
          <a:lstStyle/>
          <a:p>
            <a:pPr algn="ctr"/>
            <a:r>
              <a:rPr sz="4000" b="1"/>
              <a:t>Differences between similar building blocks</a:t>
            </a:r>
          </a:p>
          <a:p>
            <a:pPr algn="ctr"/>
            <a:r>
              <a:rPr sz="1800">
                <a:solidFill>
                  <a:srgbClr val="808080"/>
                </a:solidFill>
              </a:rPr>
              <a:t>CEOS-ARD Product Family Specifications — current wording per PFS and alignment proposals from the review feedback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Scope</a:t>
            </a:r>
          </a:p>
        </p:txBody>
      </p:sp>
      <p:sp>
        <p:nvSpPr>
          <p:cNvPr id="3" name="TextBox 2"/>
          <p:cNvSpPr txBox="1"/>
          <p:nvPr/>
        </p:nvSpPr>
        <p:spPr>
          <a:xfrm>
            <a:off x="457200" y="1097280"/>
            <a:ext cx="11277295" cy="5303520"/>
          </a:xfrm>
          <a:prstGeom prst="rect">
            <a:avLst/>
          </a:prstGeom>
          <a:noFill/>
        </p:spPr>
        <p:txBody>
          <a:bodyPr wrap="square">
            <a:spAutoFit/>
          </a:bodyPr>
          <a:lstStyle/>
          <a:p>
            <a:pPr>
              <a:spcAft>
                <a:spcPts val="1000"/>
              </a:spcAft>
            </a:pPr>
            <a:r>
              <a:rPr sz="1600"/>
              <a:t>•  Building blocks that exist in several variants (e.g. time-ar/-sar/-sr/-st) are compared; only the differences are shown — fields that are identical across all variants of a group are omitted.</a:t>
            </a:r>
          </a:p>
          <a:p>
            <a:pPr>
              <a:spcAft>
                <a:spcPts val="1000"/>
              </a:spcAft>
            </a:pPr>
            <a:r>
              <a:rPr sz="1600"/>
              <a:t>•  The groups are split by the type of the PFS that use them: used by both SAR and Optical PFS, or used only by Optical PFS.</a:t>
            </a:r>
          </a:p>
          <a:p>
            <a:pPr>
              <a:spcAft>
                <a:spcPts val="1000"/>
              </a:spcAft>
            </a:pPr>
            <a:r>
              <a:rPr sz="1600"/>
              <a:t>•  Building blocks used only by SAR PFS are omitted (as are PFS overrides that only affect them): their differences are intentional, as the SAR PFS were a combined document before being split.</a:t>
            </a:r>
          </a:p>
          <a:p>
            <a:pPr>
              <a:spcAft>
                <a:spcPts val="1000"/>
              </a:spcAft>
            </a:pPr>
            <a:r>
              <a:rPr sz="1600"/>
              <a:t>•  Compared fields: title, description, and per requirement level (threshold/goal/image) the description, the optional flag, and the notes.</a:t>
            </a:r>
          </a:p>
          <a:p>
            <a:pPr>
              <a:spcAft>
                <a:spcPts val="1000"/>
              </a:spcAft>
            </a:pPr>
            <a:r>
              <a:rPr sz="1600"/>
              <a:t>•  Ignored fields: id, dependencies, glossary, references, changes, history, remarks.</a:t>
            </a:r>
          </a:p>
          <a:p>
            <a:pPr>
              <a:spcAft>
                <a:spcPts val="1000"/>
              </a:spcAft>
            </a:pPr>
            <a:r>
              <a:rPr sz="1600"/>
              <a:t>•  Not compared: the measurement/measurand and backscatter building blocks (intentionally different per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How to read the tables</a:t>
            </a:r>
          </a:p>
        </p:txBody>
      </p:sp>
      <p:sp>
        <p:nvSpPr>
          <p:cNvPr id="3" name="TextBox 2"/>
          <p:cNvSpPr txBox="1"/>
          <p:nvPr/>
        </p:nvSpPr>
        <p:spPr>
          <a:xfrm>
            <a:off x="457200" y="1097280"/>
            <a:ext cx="11277295" cy="5303520"/>
          </a:xfrm>
          <a:prstGeom prst="rect">
            <a:avLst/>
          </a:prstGeom>
          <a:noFill/>
        </p:spPr>
        <p:txBody>
          <a:bodyPr wrap="square">
            <a:spAutoFit/>
          </a:bodyPr>
          <a:lstStyle/>
          <a:p>
            <a:r>
              <a:rPr sz="1400"/>
              <a:t>One slide per building block group. For every field that differs between the variants, a table shows the current text per PFS and the proposed alignment.</a:t>
            </a:r>
          </a:p>
          <a:p>
            <a:r>
              <a:rPr sz="1400"/>
              <a:t/>
            </a:r>
          </a:p>
          <a:p>
            <a:r>
              <a:rPr sz="1400"/>
              <a:t>Current column — differences to the row marked </a:t>
            </a:r>
            <a:r>
              <a:rPr sz="1400" i="1">
                <a:solidFill>
                  <a:srgbClr val="808080"/>
                </a:solidFill>
              </a:rPr>
              <a:t>(baseline)</a:t>
            </a:r>
            <a:r>
              <a:rPr sz="1400"/>
              <a:t> are highlighted:</a:t>
            </a:r>
          </a:p>
          <a:p>
            <a:r>
              <a:rPr sz="1400"/>
              <a:t>    </a:t>
            </a:r>
            <a:r>
              <a:rPr sz="1400" strike="sngStrike">
                <a:solidFill>
                  <a:srgbClr val="B00000"/>
                </a:solidFill>
              </a:rPr>
              <a:t>red struck-through</a:t>
            </a:r>
            <a:r>
              <a:rPr sz="1400"/>
              <a:t> text only appears in the baseline variant</a:t>
            </a:r>
          </a:p>
          <a:p>
            <a:r>
              <a:rPr sz="1400"/>
              <a:t>    </a:t>
            </a:r>
            <a:r>
              <a:rPr sz="1400" b="1">
                <a:solidFill>
                  <a:srgbClr val="2E7D32"/>
                </a:solidFill>
              </a:rPr>
              <a:t>green</a:t>
            </a:r>
            <a:r>
              <a:rPr sz="1400"/>
              <a:t> text only appears in this variant</a:t>
            </a:r>
          </a:p>
          <a:p>
            <a:r>
              <a:rPr sz="1400"/>
              <a:t>    </a:t>
            </a:r>
            <a:r>
              <a:rPr sz="1400">
                <a:solidFill>
                  <a:srgbClr val="1565C0"/>
                </a:solidFill>
              </a:rPr>
              <a:t>blue passages</a:t>
            </a:r>
            <a:r>
              <a:rPr sz="1400"/>
              <a:t> are shared with the baseline — used where texts are too different for a diff</a:t>
            </a:r>
          </a:p>
          <a:p>
            <a:r>
              <a:rPr sz="1400"/>
              <a:t>    </a:t>
            </a:r>
            <a:r>
              <a:rPr sz="1400" i="1">
                <a:solidFill>
                  <a:srgbClr val="808080"/>
                </a:solidFill>
              </a:rPr>
              <a:t>(optional) / (required)</a:t>
            </a:r>
            <a:r>
              <a:rPr sz="1400"/>
              <a:t> shows the optional flag where it differs between the variants</a:t>
            </a:r>
          </a:p>
          <a:p>
            <a:r>
              <a:rPr sz="1400"/>
              <a:t>    (not set) = the field or the whole requirement level is absent in that file</a:t>
            </a:r>
          </a:p>
          <a:p>
            <a:r>
              <a:rPr sz="1400"/>
              <a:t/>
            </a:r>
          </a:p>
          <a:p>
            <a:r>
              <a:rPr sz="1400"/>
              <a:t>Proposed column — proposed changes relative to the row's current text:</a:t>
            </a:r>
          </a:p>
          <a:p>
            <a:r>
              <a:rPr sz="1400"/>
              <a:t>    </a:t>
            </a:r>
            <a:r>
              <a:rPr sz="1400" strike="sngStrike">
                <a:solidFill>
                  <a:srgbClr val="B00000"/>
                </a:solidFill>
              </a:rPr>
              <a:t>red struck-through</a:t>
            </a:r>
            <a:r>
              <a:rPr sz="1400"/>
              <a:t> text is removed, </a:t>
            </a:r>
            <a:r>
              <a:rPr sz="1400" b="1">
                <a:solidFill>
                  <a:srgbClr val="2E7D32"/>
                </a:solidFill>
              </a:rPr>
              <a:t>green</a:t>
            </a:r>
            <a:r>
              <a:rPr sz="1400"/>
              <a:t> text is added by the proposal; plain text = unchanged</a:t>
            </a:r>
          </a:p>
          <a:p>
            <a:r>
              <a:rPr sz="1400"/>
              <a:t>    </a:t>
            </a:r>
            <a:r>
              <a:rPr sz="1400" b="1">
                <a:solidFill>
                  <a:srgbClr val="B00000"/>
                </a:solidFill>
              </a:rPr>
              <a:t>DELETE NOTE</a:t>
            </a:r>
            <a:r>
              <a:rPr sz="1400"/>
              <a:t> = proposed removal</a:t>
            </a:r>
          </a:p>
          <a:p>
            <a:r>
              <a:rPr sz="1400"/>
              <a:t>    </a:t>
            </a:r>
            <a:r>
              <a:rPr sz="1400" i="1">
                <a:solidFill>
                  <a:srgbClr val="808080"/>
                </a:solidFill>
              </a:rPr>
              <a:t>gray italic</a:t>
            </a:r>
            <a:r>
              <a:rPr sz="1400"/>
              <a:t> = proposal that could not be interpreted automatically, shown verbatim</a:t>
            </a:r>
          </a:p>
          <a:p>
            <a:r>
              <a:rPr sz="1400"/>
              <a:t/>
            </a:r>
          </a:p>
          <a:p>
            <a:r>
              <a:rPr sz="1400"/>
              <a:t>⚠ in the slide title: the files changed after the feedback was written — review whether the proposal still applies.</a:t>
            </a:r>
          </a:p>
          <a:p>
            <a:r>
              <a:rPr sz="1400"/>
              <a:t>Internal notes are shown below the tables; the raw proposal text is in the slide's speaker notes.</a:t>
            </a:r>
          </a:p>
          <a:p>
            <a:r>
              <a:rPr sz="1400"/>
              <a:t>Each group is followed by a Proposal slide showing the proposed building blocks in YAML form (only the fields that change; proposed values in </a:t>
            </a:r>
            <a:r>
              <a:rPr sz="1400" b="1">
                <a:solidFill>
                  <a:srgbClr val="2E7D32"/>
                </a:solidFill>
              </a:rPr>
              <a:t>green</a:t>
            </a:r>
            <a:r>
              <a:rPr sz="1400"/>
              <a:t>) for editing and capturing the agreement during the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corrections/atmosphere-*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Corrections for Atmosphere</a:t>
                      </a:r>
                    </a:p>
                  </a:txBody>
                  <a:tcPr>
                    <a:solidFill>
                      <a:srgbClr val="FFFFFF"/>
                    </a:solidFill>
                  </a:tcPr>
                </a:tc>
                <a:tc>
                  <a:txBody>
                    <a:bodyPr/>
                    <a:lstStyle/>
                    <a:p>
                      <a:r>
                        <a:rPr sz="1000"/>
                        <a:t>Atmospheric </a:t>
                      </a:r>
                      <a:r>
                        <a:rPr sz="1000">
                          <a:solidFill>
                            <a:srgbClr val="1565C0"/>
                          </a:solidFill>
                        </a:rPr>
                        <a:t>Corrections</a:t>
                      </a:r>
                    </a:p>
                  </a:txBody>
                  <a:tcPr>
                    <a:solidFill>
                      <a:srgbClr val="FFFFFF"/>
                    </a:solidFill>
                  </a:tcPr>
                </a:tc>
              </a:tr>
              <a:tr h="121920">
                <a:tc>
                  <a:txBody>
                    <a:bodyPr/>
                    <a:lstStyle/>
                    <a:p>
                      <a:r>
                        <a:rPr sz="1000" b="1"/>
                        <a:t>NLSR</a:t>
                      </a:r>
                    </a:p>
                  </a:txBody>
                  <a:tcPr>
                    <a:solidFill>
                      <a:srgbClr val="FFFFFF"/>
                    </a:solidFill>
                  </a:tcPr>
                </a:tc>
                <a:tc>
                  <a:txBody>
                    <a:bodyPr/>
                    <a:lstStyle/>
                    <a:p>
                      <a:r>
                        <a:rPr sz="1000"/>
                        <a:t>Atmospheric </a:t>
                      </a:r>
                      <a:r>
                        <a:rPr sz="1000">
                          <a:solidFill>
                            <a:srgbClr val="1565C0"/>
                          </a:solidFill>
                        </a:rPr>
                        <a:t>Corrections</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22656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Retrieval methods for estimating surface temperature are provided.</a:t>
                      </a:r>
                    </a:p>
                  </a:txBody>
                  <a:tcPr>
                    <a:solidFill>
                      <a:srgbClr val="FFFFFF"/>
                    </a:solidFill>
                  </a:tcPr>
                </a:tc>
                <a:tc>
                  <a:txBody>
                    <a:bodyPr/>
                    <a:lstStyle/>
                    <a:p>
                      <a:r>
                        <a:rPr sz="1000"/>
                        <a:t>Retrieval methods for estimating surface temperature are provided.</a:t>
                      </a:r>
                    </a:p>
                  </a:txBody>
                  <a:tcPr>
                    <a:solidFill>
                      <a:srgbClr val="FFFFFF"/>
                    </a:solidFill>
                  </a:tcPr>
                </a:tc>
              </a:tr>
              <a:tr h="121920">
                <a:tc>
                  <a:txBody>
                    <a:bodyPr/>
                    <a:lstStyle/>
                    <a:p>
                      <a:r>
                        <a:rPr sz="1000" b="1"/>
                        <a:t>NLSR</a:t>
                      </a:r>
                    </a:p>
                  </a:txBody>
                  <a:tcPr>
                    <a:solidFill>
                      <a:srgbClr val="FFFFFF"/>
                    </a:solidFill>
                  </a:tcPr>
                </a:tc>
                <a:tc>
                  <a:txBody>
                    <a:bodyPr/>
                    <a:lstStyle/>
                    <a:p>
                      <a:r>
                        <a:rPr sz="1000"/>
                        <a:t>Corrections are applied for atmospheric scattering.</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a:t>- the sources of ancillary data used to make corrections</a:t>
                      </a:r>
                    </a:p>
                  </a:txBody>
                  <a:tcPr>
                    <a:solidFill>
                      <a:srgbClr val="FFFFFF"/>
                    </a:solidFill>
                  </a:tcPr>
                </a:tc>
                <a:tc>
                  <a:txBody>
                    <a:bodyPr/>
                    <a:lstStyle/>
                    <a:p>
                      <a:r>
                        <a:rPr sz="1000"/>
                        <a:t>Corrections are applied for atmospheric scattering.</a:t>
                      </a:r>
                    </a:p>
                    <a:p/>
                    <a:p>
                      <a:r>
                        <a:rPr sz="1000" strike="sngStrike">
                          <a:solidFill>
                            <a:srgbClr val="B00000"/>
                          </a:solidFill>
                        </a:rPr>
                        <a:t>Metadata contains a single DOI landing page with references to:</a:t>
                      </a:r>
                    </a:p>
                    <a:p/>
                    <a:p>
                      <a:r>
                        <a:rPr sz="1000" strike="sngStrike">
                          <a:solidFill>
                            <a:srgbClr val="B00000"/>
                          </a:solidFill>
                        </a:rPr>
                        <a:t>- a citable peer-reviewed algorithm</a:t>
                      </a:r>
                    </a:p>
                    <a:p>
                      <a:r>
                        <a:rPr sz="1000" strike="sngStrike">
                          <a:solidFill>
                            <a:srgbClr val="B00000"/>
                          </a:solidFill>
                        </a:rPr>
                        <a:t>- technical documentation regarding the implementation of that algorithm</a:t>
                      </a:r>
                    </a:p>
                    <a:p>
                      <a:r>
                        <a:rPr sz="1000" strike="sngStrike">
                          <a:solidFill>
                            <a:srgbClr val="B00000"/>
                          </a:solidFill>
                        </a:rPr>
                        <a:t>- the sources of ancillary data used to make corrections</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35254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121920">
                <a:tc>
                  <a:txBody>
                    <a:bodyPr/>
                    <a:lstStyle/>
                    <a:p>
                      <a:r>
                        <a:rPr sz="1000" b="1"/>
                        <a:t>NLSR</a:t>
                      </a:r>
                    </a:p>
                    <a:p>
                      <a:r>
                        <a:rPr sz="1000" i="1">
                          <a:solidFill>
                            <a:srgbClr val="808080"/>
                          </a:solidFill>
                        </a:rPr>
                        <a:t>(baseline)</a:t>
                      </a:r>
                    </a:p>
                  </a:txBody>
                  <a:tcPr>
                    <a:solidFill>
                      <a:srgbClr val="FFFFFF"/>
                    </a:solidFill>
                  </a:tcPr>
                </a:tc>
                <a:tc>
                  <a:txBody>
                    <a:bodyPr/>
                    <a:lstStyle/>
                    <a:p>
                      <a:r>
                        <a:rPr sz="1000"/>
                        <a:t>Examples of technical documentation include an Algorithm Theoretical Basis Document, product user guide, etc.</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corrections/atmosphere-* (cont.)</a:t>
            </a:r>
          </a:p>
        </p:txBody>
      </p:sp>
      <p:sp>
        <p:nvSpPr>
          <p:cNvPr id="3" name="TextBox 2"/>
          <p:cNvSpPr txBox="1"/>
          <p:nvPr/>
        </p:nvSpPr>
        <p:spPr>
          <a:xfrm>
            <a:off x="457200" y="1005840"/>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The two requirements intentionally differ in content (ST: surface temperature retrieval methods; NLSR: atmospheric scattering) and stay separate; only the title and the boilerplate are aligned.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corrections/atmosphere-*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Atmospheric Corrections</a:t>
            </a:r>
          </a:p>
          <a:p>
            <a:r>
              <a:rPr sz="1100">
                <a:latin typeface="Consolas"/>
              </a:rPr>
              <a:t>requirements:</a:t>
            </a:r>
          </a:p>
          <a:p>
            <a:r>
              <a:rPr sz="1100">
                <a:latin typeface="Consolas"/>
              </a:rPr>
              <a:t>  threshold:</a:t>
            </a:r>
          </a:p>
          <a:p>
            <a:r>
              <a:rPr sz="1100">
                <a:latin typeface="Consolas"/>
              </a:rPr>
              <a:t>    description: Retrieval methods for estimating surface temperature are provided.  # TODO: differs per PFS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Directional Atmospheric Scattering</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corrections applied for molecular (Rayleigh) scattering and for aerosol scattering and absorption..</a:t>
                      </a:r>
                    </a:p>
                  </a:txBody>
                  <a:tcPr>
                    <a:solidFill>
                      <a:srgbClr val="FFFFFF"/>
                    </a:solidFill>
                  </a:tcPr>
                </a:tc>
                <a:tc>
                  <a:txBody>
                    <a:bodyPr/>
                    <a:lstStyle/>
                    <a:p>
                      <a:r>
                        <a:rPr sz="1000"/>
                        <a:t>Specification of corrections applied for molecular (Rayleigh) scattering and for aerosol scattering and absorption.</a:t>
                      </a:r>
                      <a:r>
                        <a:rPr sz="1000" strike="sngStrike">
                          <a:solidFill>
                            <a:srgbClr val="B00000"/>
                          </a:solidFill>
                        </a:rPr>
                        <a:t>.</a:t>
                      </a:r>
                    </a:p>
                  </a:txBody>
                  <a:tcPr>
                    <a:solidFill>
                      <a:srgbClr val="FFFFFF"/>
                    </a:solidFill>
                  </a:tcPr>
                </a:tc>
              </a:tr>
              <a:tr h="121920">
                <a:tc>
                  <a:txBody>
                    <a:bodyPr/>
                    <a:lstStyle/>
                    <a:p>
                      <a:r>
                        <a:rPr sz="1000" b="1"/>
                        <a:t>SR</a:t>
                      </a:r>
                    </a:p>
                  </a:txBody>
                  <a:tcPr>
                    <a:solidFill>
                      <a:srgbClr val="FFFFFF"/>
                    </a:solidFill>
                  </a:tcPr>
                </a:tc>
                <a:tc>
                  <a:txBody>
                    <a:bodyPr/>
                    <a:lstStyle/>
                    <a:p>
                      <a:r>
                        <a:rPr sz="1000"/>
                        <a:t>C</a:t>
                      </a:r>
                      <a:r>
                        <a:rPr sz="1000">
                          <a:solidFill>
                            <a:srgbClr val="1565C0"/>
                          </a:solidFill>
                        </a:rPr>
                        <a:t>orrections a</a:t>
                      </a:r>
                      <a:r>
                        <a:rPr sz="1000"/>
                        <a:t>re a</a:t>
                      </a:r>
                      <a:r>
                        <a:rPr sz="1000">
                          <a:solidFill>
                            <a:srgbClr val="1565C0"/>
                          </a:solidFill>
                        </a:rPr>
                        <a:t>pplied for</a:t>
                      </a:r>
                      <a:r>
                        <a:rPr sz="1000"/>
                        <a:t> aerosols and</a:t>
                      </a:r>
                      <a:r>
                        <a:rPr sz="1000">
                          <a:solidFill>
                            <a:srgbClr val="1565C0"/>
                          </a:solidFill>
                        </a:rPr>
                        <a:t> molecular (Rayleigh) scattering</a:t>
                      </a:r>
                      <a:r>
                        <a:rPr sz="1000"/>
                        <a:t>.</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a:t>- the sources of ancillary data used to make corrections</a:t>
                      </a:r>
                    </a:p>
                  </a:txBody>
                  <a:tcPr>
                    <a:solidFill>
                      <a:srgbClr val="FFFFFF"/>
                    </a:solidFill>
                  </a:tcPr>
                </a:tc>
                <a:tc>
                  <a:txBody>
                    <a:bodyPr/>
                    <a:lstStyle/>
                    <a:p>
                      <a:r>
                        <a:rPr sz="1000"/>
                        <a:t>Specification of c</a:t>
                      </a:r>
                      <a:r>
                        <a:rPr sz="1000">
                          <a:solidFill>
                            <a:srgbClr val="1565C0"/>
                          </a:solidFill>
                        </a:rPr>
                        <a:t>orrections a</a:t>
                      </a:r>
                      <a:r>
                        <a:rPr sz="1000">
                          <a:solidFill>
                            <a:srgbClr val="1565C0"/>
                          </a:solidFill>
                        </a:rPr>
                        <a:t>pplied for</a:t>
                      </a:r>
                      <a:r>
                        <a:rPr sz="1000">
                          <a:solidFill>
                            <a:srgbClr val="1565C0"/>
                          </a:solidFill>
                        </a:rPr>
                        <a:t> molecular (Rayleigh) scattering</a:t>
                      </a:r>
                      <a:r>
                        <a:rPr sz="1000"/>
                        <a:t> and for aerosol scattering and absorption.</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13182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See @mobley2016.</a:t>
                      </a:r>
                    </a:p>
                  </a:txBody>
                  <a:tcPr>
                    <a:solidFill>
                      <a:srgbClr val="FFFFFF"/>
                    </a:solidFill>
                  </a:tcPr>
                </a:tc>
                <a:tc>
                  <a:txBody>
                    <a:bodyPr/>
                    <a:lstStyle/>
                    <a:p>
                      <a:r>
                        <a:rPr sz="1000"/>
                        <a:t>See @mobley2016.</a:t>
                      </a:r>
                    </a:p>
                  </a:txBody>
                  <a:tcPr>
                    <a:solidFill>
                      <a:srgbClr val="FFFFFF"/>
                    </a:solidFill>
                  </a:tcPr>
                </a:tc>
              </a:tr>
              <a:tr h="121920">
                <a:tc>
                  <a:txBody>
                    <a:bodyPr/>
                    <a:lstStyle/>
                    <a:p>
                      <a:r>
                        <a:rPr sz="1000" b="1"/>
                        <a:t>SR</a:t>
                      </a:r>
                    </a:p>
                  </a:txBody>
                  <a:tcPr>
                    <a:solidFill>
                      <a:srgbClr val="FFFFFF"/>
                    </a:solidFill>
                  </a:tcPr>
                </a:tc>
                <a:tc>
                  <a:txBody>
                    <a:bodyPr/>
                    <a:lstStyle/>
                    <a:p>
                      <a:r>
                        <a:rPr sz="1000"/>
                        <a:t>Examples of technical documentation include an Algorithm Theoretical Basis Document, product user guide, etc</a:t>
                      </a:r>
                      <a:r>
                        <a:rPr sz="1000"/>
                        <a:t>.</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
        <p:nvSpPr>
          <p:cNvPr id="5" name="TextBox 4"/>
          <p:cNvSpPr txBox="1"/>
          <p:nvPr/>
        </p:nvSpPr>
        <p:spPr>
          <a:xfrm>
            <a:off x="457200" y="4503420"/>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Directional Atmospheric Scattering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Directional Atmospheric Scattering</a:t>
            </a:r>
          </a:p>
          <a:p>
            <a:r>
              <a:rPr sz="1100">
                <a:latin typeface="Consolas"/>
              </a:rPr>
              <a:t>requirements:</a:t>
            </a:r>
          </a:p>
          <a:p>
            <a:r>
              <a:rPr sz="1100">
                <a:latin typeface="Consolas"/>
              </a:rPr>
              <a:t>  threshold:</a:t>
            </a:r>
          </a:p>
          <a:p>
            <a:r>
              <a:rPr sz="1100">
                <a:latin typeface="Consolas"/>
              </a:rPr>
              <a:t>    description: Specification of corrections applied for molecular (Rayleigh) scattering and for aerosol scattering and absorption.</a:t>
            </a:r>
          </a:p>
          <a:p>
            <a:r>
              <a:rPr sz="1100">
                <a:latin typeface="Consolas"/>
              </a:rPr>
              <a:t>    notes:  # TODO: differs per PFS</a:t>
            </a:r>
          </a:p>
          <a:p>
            <a:r>
              <a:rPr sz="1100">
                <a:latin typeface="Consolas"/>
              </a:rPr>
              <a:t>      - See @mobley2016.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Description</a:t>
                      </a:r>
                    </a:p>
                  </a:txBody>
                  <a:tcPr>
                    <a:solidFill>
                      <a:srgbClr val="000000"/>
                    </a:solidFill>
                  </a:tcPr>
                </a:tc>
                <a:tc>
                  <a:txBody>
                    <a:bodyPr/>
                    <a:lstStyle/>
                    <a:p>
                      <a:r>
                        <a:rPr b="1" sz="1100">
                          <a:solidFill>
                            <a:srgbClr val="FFFFFF"/>
                          </a:solidFill>
                        </a:rPr>
                        <a:t>Proposed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Applies for:</a:t>
                      </a:r>
                    </a:p>
                    <a:p/>
                    <a:p>
                      <a:r>
                        <a:rPr sz="1000"/>
                        <a:t>1. land </a:t>
                      </a:r>
                    </a:p>
                    <a:p>
                      <a:r>
                        <a:rPr sz="1000"/>
                        <a:t>2. inland waters where an independent terrestrial referencing system is available</a:t>
                      </a:r>
                    </a:p>
                  </a:txBody>
                  <a:tcPr>
                    <a:solidFill>
                      <a:srgbClr val="FFFFFF"/>
                    </a:solidFill>
                  </a:tcPr>
                </a:tc>
                <a:tc>
                  <a:txBody>
                    <a:bodyPr/>
                    <a:lstStyle/>
                    <a:p>
                      <a:r>
                        <a:rPr sz="1000"/>
                        <a:t>Applies for:</a:t>
                      </a:r>
                    </a:p>
                    <a:p/>
                    <a:p>
                      <a:r>
                        <a:rPr sz="1000"/>
                        <a:t>1. land </a:t>
                      </a:r>
                    </a:p>
                    <a:p>
                      <a:r>
                        <a:rPr sz="1000"/>
                        <a:t>2. inland waters where an independent terrestrial referencing system is available</a:t>
                      </a:r>
                    </a:p>
                  </a:txBody>
                  <a:tcPr>
                    <a:solidFill>
                      <a:srgbClr val="FFFFFF"/>
                    </a:solidFill>
                  </a:tcPr>
                </a:tc>
              </a:tr>
              <a:tr h="91440">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Sub-pixel uncertainty is achieved in relative geolocation, that is, the pixels from the same instrument and platform are consistently located, and are thus comparable, through time.</a:t>
                      </a:r>
                    </a:p>
                    <a:p/>
                    <a:p>
                      <a:r>
                        <a:rPr sz="1000"/>
                        <a:t>Sub-pixel uncertainty is taken to be less than or equal to 0.5-pixel radial root mean square error (rRMSE) or equivalent in Circular Error Probability (CEP) relative to a defined reference image.</a:t>
                      </a:r>
                    </a:p>
                    <a:p/>
                    <a:p>
                      <a:r>
                        <a:rPr sz="1000"/>
                        <a:t>A consistent gridding/sampling frame is used, including common cell size, origin, and nominal sample point location within the cell (centre, ll, ur).</a:t>
                      </a:r>
                    </a:p>
                    <a:p/>
                    <a:p>
                      <a:r>
                        <a:rPr sz="1000"/>
                        <a:t>Relevant metadata must be provided under [@geometric-uncertainty] and [@instrument].</a:t>
                      </a:r>
                    </a:p>
                  </a:txBody>
                  <a:tcPr>
                    <a:solidFill>
                      <a:srgbClr val="FFFFFF"/>
                    </a:solidFill>
                  </a:tcPr>
                </a:tc>
                <a:tc>
                  <a:txBody>
                    <a:bodyPr/>
                    <a:lstStyle/>
                    <a:p>
                      <a:r>
                        <a:rPr sz="1000"/>
                        <a:t>Sub-pixel uncertainty is achieved in relative geolocation, that is, the pixels from the same instrument and platform are consistently located, and are thus comparable, through time.</a:t>
                      </a:r>
                    </a:p>
                    <a:p/>
                    <a:p>
                      <a:r>
                        <a:rPr sz="1000" b="1">
                          <a:solidFill>
                            <a:srgbClr val="2E7D32"/>
                          </a:solidFill>
                        </a:rPr>
                        <a:t> </a:t>
                      </a:r>
                      <a:r>
                        <a:rPr sz="1000"/>
                        <a:t>Sub-pixel uncertainty is taken to be less than or equal to 0.5-pixel radial root mean square error (rRMSE) or equivalent in Circular Error Probability (CEP) relative to a defined reference image.</a:t>
                      </a:r>
                    </a:p>
                    <a:p/>
                    <a:p>
                      <a:r>
                        <a:rPr sz="1000" b="1">
                          <a:solidFill>
                            <a:srgbClr val="2E7D32"/>
                          </a:solidFill>
                        </a:rPr>
                        <a:t> </a:t>
                      </a:r>
                      <a:r>
                        <a:rPr sz="1000"/>
                        <a:t>A consistent gridding/sampling frame is used, including common cell size, origin, and nominal sample point location within the cell (centre, ll, ur).</a:t>
                      </a:r>
                    </a:p>
                    <a:p/>
                    <a:p>
                      <a:r>
                        <a:rPr sz="1000"/>
                        <a:t>Relevant metadata must be provided under [@geometric-uncertainty] and [@instrument].</a:t>
                      </a:r>
                    </a:p>
                  </a:txBody>
                  <a:tcPr>
                    <a:solidFill>
                      <a:srgbClr val="FFFFFF"/>
                    </a:solidFill>
                  </a:tcPr>
                </a:tc>
              </a:tr>
              <a:tr h="91440">
                <a:tc>
                  <a:txBody>
                    <a:bodyPr/>
                    <a:lstStyle/>
                    <a:p>
                      <a:r>
                        <a:rPr sz="1000" b="1"/>
                        <a:t>NLSR, SR</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in relative geolocation, that is, the pixels from the same instrument and platform are consistently located, and are thus comparable, through time.</a:t>
                      </a:r>
                    </a:p>
                    <a:p/>
                    <a:p>
                      <a:r>
                        <a:rPr sz="1000"/>
                        <a:t>Sub-pixel </a:t>
                      </a:r>
                      <a:r>
                        <a:rPr sz="1000" strike="sngStrike">
                          <a:solidFill>
                            <a:srgbClr val="B00000"/>
                          </a:solidFill>
                        </a:rPr>
                        <a:t>uncertaint</a:t>
                      </a:r>
                      <a:r>
                        <a:rPr sz="1000" b="1">
                          <a:solidFill>
                            <a:srgbClr val="2E7D32"/>
                          </a:solidFill>
                        </a:rPr>
                        <a:t>accurac</a:t>
                      </a:r>
                      <a:r>
                        <a:rPr sz="1000"/>
                        <a:t>y is taken to be less than or equal to 0.5</a:t>
                      </a:r>
                      <a:r>
                        <a:rPr sz="1000" strike="sngStrike">
                          <a:solidFill>
                            <a:srgbClr val="B00000"/>
                          </a:solidFill>
                        </a:rPr>
                        <a:t>-</a:t>
                      </a:r>
                      <a:r>
                        <a:rPr sz="1000" b="1">
                          <a:solidFill>
                            <a:srgbClr val="2E7D32"/>
                          </a:solidFill>
                        </a:rPr>
                        <a:t> </a:t>
                      </a:r>
                      <a:r>
                        <a:rPr sz="1000"/>
                        <a:t>pixel radial root mean square error (rRMSE) or equivalent in Circular Error Probability (CEP) relative to a defined reference image.</a:t>
                      </a:r>
                    </a:p>
                    <a:p/>
                    <a:p>
                      <a:r>
                        <a:rPr sz="1000"/>
                        <a:t>A consistent gridding/sampling frame is used, including common cell size, origin, and nominal sample point location within the cell (centre, ll, ur).</a:t>
                      </a:r>
                    </a:p>
                    <a:p/>
                    <a:p>
                      <a:r>
                        <a:rPr sz="1000"/>
                        <a:t>Relevant metadata must be provided under [@geometric-</a:t>
                      </a:r>
                      <a:r>
                        <a:rPr sz="1000" strike="sngStrike">
                          <a:solidFill>
                            <a:srgbClr val="B00000"/>
                          </a:solidFill>
                        </a:rPr>
                        <a:t>uncertaint</a:t>
                      </a:r>
                      <a:r>
                        <a:rPr sz="1000" b="1">
                          <a:solidFill>
                            <a:srgbClr val="2E7D32"/>
                          </a:solidFill>
                        </a:rPr>
                        <a:t>accurac</a:t>
                      </a:r>
                      <a:r>
                        <a:rPr sz="1000"/>
                        <a: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in relative geolocation, that is, the pixels from the same instrument and platform are consistently located, and are thus comparable, through time.</a:t>
                      </a:r>
                    </a:p>
                    <a:p/>
                    <a:p>
                      <a:r>
                        <a:rPr sz="1000" b="1">
                          <a:solidFill>
                            <a:srgbClr val="2E7D32"/>
                          </a:solidFill>
                        </a:rPr>
                        <a:t> </a:t>
                      </a:r>
                      <a:r>
                        <a:rPr sz="1000"/>
                        <a:t>Sub-pixel </a:t>
                      </a:r>
                      <a:r>
                        <a:rPr sz="1000" strike="sngStrike">
                          <a:solidFill>
                            <a:srgbClr val="B00000"/>
                          </a:solidFill>
                        </a:rPr>
                        <a:t>accurac</a:t>
                      </a:r>
                      <a:r>
                        <a:rPr sz="1000" b="1">
                          <a:solidFill>
                            <a:srgbClr val="2E7D32"/>
                          </a:solidFill>
                        </a:rPr>
                        <a:t>uncertaint</a:t>
                      </a:r>
                      <a:r>
                        <a:rPr sz="1000"/>
                        <a:t>y is taken to be less than or equal to 0.5</a:t>
                      </a:r>
                      <a:r>
                        <a:rPr sz="1000" strike="sngStrike">
                          <a:solidFill>
                            <a:srgbClr val="B00000"/>
                          </a:solidFill>
                        </a:rPr>
                        <a:t> </a:t>
                      </a:r>
                      <a:r>
                        <a:rPr sz="1000" b="1">
                          <a:solidFill>
                            <a:srgbClr val="2E7D32"/>
                          </a:solidFill>
                        </a:rPr>
                        <a:t>-</a:t>
                      </a:r>
                      <a:r>
                        <a:rPr sz="1000"/>
                        <a:t>pixel radial root mean square error (rRMSE) or equivalent in Circular Error Probability (CEP) relative to a defined reference image.</a:t>
                      </a:r>
                    </a:p>
                    <a:p/>
                    <a:p>
                      <a:r>
                        <a:rPr sz="1000" b="1">
                          <a:solidFill>
                            <a:srgbClr val="2E7D32"/>
                          </a:solidFill>
                        </a:rPr>
                        <a:t> </a:t>
                      </a:r>
                      <a:r>
                        <a:rPr sz="1000"/>
                        <a:t>A consistent gridding/sampling frame is used, including common cell size, origin, and nominal sample point location within the cell (centre, ll, ur).</a:t>
                      </a:r>
                    </a:p>
                    <a:p/>
                    <a:p>
                      <a:r>
                        <a:rPr sz="1000"/>
                        <a:t>Relevant metadata must be provided under [@geometric-</a:t>
                      </a:r>
                      <a:r>
                        <a:rPr sz="1000" strike="sngStrike">
                          <a:solidFill>
                            <a:srgbClr val="B00000"/>
                          </a:solidFill>
                        </a:rPr>
                        <a:t>accurac</a:t>
                      </a:r>
                      <a:r>
                        <a:rPr sz="1000" b="1">
                          <a:solidFill>
                            <a:srgbClr val="2E7D32"/>
                          </a:solidFill>
                        </a:rPr>
                        <a:t>uncertaint</a:t>
                      </a:r>
                      <a:r>
                        <a:rPr sz="1000"/>
                        <a:t>y] and [@instrument].</a:t>
                      </a:r>
                    </a:p>
                  </a:txBody>
                  <a:tcPr>
                    <a:solidFill>
                      <a:srgbClr val="FFFFFF"/>
                    </a:solidFill>
                  </a:tcPr>
                </a:tc>
              </a:tr>
              <a:tr h="91440">
                <a:tc>
                  <a:txBody>
                    <a:bodyPr/>
                    <a:lstStyle/>
                    <a:p>
                      <a:r>
                        <a:rPr sz="1000" b="1"/>
                        <a:t>ST</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in relative geolocation, that is, the pixels from the same instrument and platform are consistently located, and are thus comparable, through time.</a:t>
                      </a:r>
                    </a:p>
                    <a:p/>
                    <a:p>
                      <a:r>
                        <a:rPr sz="1000"/>
                        <a:t>Sub-pixel </a:t>
                      </a:r>
                      <a:r>
                        <a:rPr sz="1000" strike="sngStrike">
                          <a:solidFill>
                            <a:srgbClr val="B00000"/>
                          </a:solidFill>
                        </a:rPr>
                        <a:t>uncertaint</a:t>
                      </a:r>
                      <a:r>
                        <a:rPr sz="1000" b="1">
                          <a:solidFill>
                            <a:srgbClr val="2E7D32"/>
                          </a:solidFill>
                        </a:rPr>
                        <a:t>accurac</a:t>
                      </a:r>
                      <a:r>
                        <a:rPr sz="1000"/>
                        <a:t>y is taken to be less than or equal to 0.5</a:t>
                      </a:r>
                      <a:r>
                        <a:rPr sz="1000" strike="sngStrike">
                          <a:solidFill>
                            <a:srgbClr val="B00000"/>
                          </a:solidFill>
                        </a:rPr>
                        <a:t>-</a:t>
                      </a:r>
                      <a:r>
                        <a:rPr sz="1000" b="1">
                          <a:solidFill>
                            <a:srgbClr val="2E7D32"/>
                          </a:solidFill>
                        </a:rPr>
                        <a:t> </a:t>
                      </a:r>
                      <a:r>
                        <a:rPr sz="1000"/>
                        <a:t>pixel radial root mean square error (rRMSE) or equivalent in Circular Error Probability (CEP) relative to a defined reference image.</a:t>
                      </a:r>
                    </a:p>
                    <a:p/>
                    <a:p>
                      <a:r>
                        <a:rPr sz="1000"/>
                        <a:t>A consistent gridding/sampling frame is </a:t>
                      </a:r>
                      <a:r>
                        <a:rPr sz="1000" strike="sngStrike">
                          <a:solidFill>
                            <a:srgbClr val="B00000"/>
                          </a:solidFill>
                        </a:rPr>
                        <a:t>used, including common cell size, origin, and nominal sample point location within the cell (centre, ll, ur)</a:t>
                      </a:r>
                      <a:r>
                        <a:rPr sz="1000" b="1">
                          <a:solidFill>
                            <a:srgbClr val="2E7D32"/>
                          </a:solidFill>
                        </a:rPr>
                        <a:t>necessary to meet this requirement</a:t>
                      </a:r>
                      <a:r>
                        <a:rPr sz="1000"/>
                        <a:t>.</a:t>
                      </a:r>
                    </a:p>
                    <a:p/>
                    <a:p>
                      <a:r>
                        <a:rPr sz="1000"/>
                        <a:t>Relevant metadata must be provided under [@geometric-uncertainty]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in relative geolocation, that is, the pixels from the same instrument and platform are consistently located, and are thus comparable, through time.</a:t>
                      </a:r>
                    </a:p>
                    <a:p/>
                    <a:p>
                      <a:r>
                        <a:rPr sz="1000" b="1">
                          <a:solidFill>
                            <a:srgbClr val="2E7D32"/>
                          </a:solidFill>
                        </a:rPr>
                        <a:t> </a:t>
                      </a:r>
                      <a:r>
                        <a:rPr sz="1000"/>
                        <a:t>Sub-pixel </a:t>
                      </a:r>
                      <a:r>
                        <a:rPr sz="1000" strike="sngStrike">
                          <a:solidFill>
                            <a:srgbClr val="B00000"/>
                          </a:solidFill>
                        </a:rPr>
                        <a:t>accurac</a:t>
                      </a:r>
                      <a:r>
                        <a:rPr sz="1000" b="1">
                          <a:solidFill>
                            <a:srgbClr val="2E7D32"/>
                          </a:solidFill>
                        </a:rPr>
                        <a:t>uncertaint</a:t>
                      </a:r>
                      <a:r>
                        <a:rPr sz="1000"/>
                        <a:t>y is taken to be less than or equal to 0.5</a:t>
                      </a:r>
                      <a:r>
                        <a:rPr sz="1000" strike="sngStrike">
                          <a:solidFill>
                            <a:srgbClr val="B00000"/>
                          </a:solidFill>
                        </a:rPr>
                        <a:t> </a:t>
                      </a:r>
                      <a:r>
                        <a:rPr sz="1000" b="1">
                          <a:solidFill>
                            <a:srgbClr val="2E7D32"/>
                          </a:solidFill>
                        </a:rPr>
                        <a:t>-</a:t>
                      </a:r>
                      <a:r>
                        <a:rPr sz="1000"/>
                        <a:t>pixel radial root mean square error (rRMSE) or equivalent in Circular Error Probability (CEP) relative to a defined reference image.</a:t>
                      </a:r>
                    </a:p>
                    <a:p/>
                    <a:p>
                      <a:r>
                        <a:rPr sz="1000" b="1">
                          <a:solidFill>
                            <a:srgbClr val="2E7D32"/>
                          </a:solidFill>
                        </a:rPr>
                        <a:t> </a:t>
                      </a:r>
                      <a:r>
                        <a:rPr sz="1000"/>
                        <a:t>A consistent gridding/sampling frame is </a:t>
                      </a:r>
                      <a:r>
                        <a:rPr sz="1000" strike="sngStrike">
                          <a:solidFill>
                            <a:srgbClr val="B00000"/>
                          </a:solidFill>
                        </a:rPr>
                        <a:t>necessary to meet this requirement</a:t>
                      </a:r>
                      <a:r>
                        <a:rPr sz="1000" b="1">
                          <a:solidFill>
                            <a:srgbClr val="2E7D32"/>
                          </a:solidFill>
                        </a:rPr>
                        <a:t>used, including common cell size, origin, and nominal sample point location within the cell (centre, ll, ur)</a:t>
                      </a:r>
                      <a:r>
                        <a:rPr sz="1000"/>
                        <a:t>.</a:t>
                      </a:r>
                    </a:p>
                    <a:p/>
                    <a:p>
                      <a:r>
                        <a:rPr sz="1000"/>
                        <a:t>Relevant metadata must be provided under [@geometric-uncertainty] and [@instrument].</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txBody>
                  <a:tcPr>
                    <a:solidFill>
                      <a:srgbClr val="FFFFFF"/>
                    </a:solidFill>
                  </a:tcPr>
                </a:tc>
                <a:tc>
                  <a:txBody>
                    <a:bodyPr/>
                    <a:lstStyle/>
                    <a:p>
                      <a:r>
                        <a:rPr sz="1000"/>
                        <a:t>The threshold level will not necessarily enable interoperability between data from **different** sources as the geometric corrections for each of the sources may differ.</a:t>
                      </a:r>
                    </a:p>
                    <a:p/>
                    <a:p>
                      <a:r>
                        <a:rPr sz="1000" b="1">
                          <a:solidFill>
                            <a:srgbClr val="2E7D32"/>
                          </a:solidFill>
                        </a:rPr>
                        <a:t>It is useful to note if the sensor is used at its native resolution before geometric correction or that some resampling must be done.</a:t>
                      </a:r>
                    </a:p>
                  </a:txBody>
                  <a:tcPr>
                    <a:solidFill>
                      <a:srgbClr val="FFFFFF"/>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p>
                      <a:r>
                        <a:rPr sz="1000" b="1">
                          <a:solidFill>
                            <a:srgbClr val="2E7D32"/>
                          </a:solidFill>
                        </a:rPr>
                        <a:t>2. </a:t>
                      </a:r>
                      <a:r>
                        <a:rPr sz="1000"/>
                        <a:t>It is useful to note if the sensor is used at its native resolution before geometric correction or that some resampling must be done.</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The threshold level will not necessarily enable interoperability between data from **different** sources as the geometric corrections for each of the sources may differ.</a:t>
                      </a:r>
                    </a:p>
                  </a:txBody>
                  <a:tcPr>
                    <a:solidFill>
                      <a:srgbClr val="FFFFFF"/>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r>
                        <a:rPr sz="1000" b="1">
                          <a:solidFill>
                            <a:srgbClr val="2E7D32"/>
                          </a:solidFill>
                        </a:rPr>
                        <a:t>2. It is useful to note if the sensor is used at its native resolution before geometric correction or that some resampling must be done.</a:t>
                      </a:r>
                    </a:p>
                  </a:txBody>
                  <a:tcPr>
                    <a:solidFill>
                      <a:srgbClr val="FFFFFF"/>
                    </a:solidFill>
                  </a:tcPr>
                </a:tc>
              </a:tr>
              <a:tr h="91440">
                <a:tc>
                  <a:txBody>
                    <a:bodyPr/>
                    <a:lstStyle/>
                    <a:p>
                      <a:r>
                        <a:rPr sz="1000" b="1"/>
                        <a:t>ST</a:t>
                      </a:r>
                    </a:p>
                  </a:txBody>
                  <a:tcPr>
                    <a:solidFill>
                      <a:srgbClr val="FFFFFF"/>
                    </a:solidFill>
                  </a:tcPr>
                </a:tc>
                <a:tc>
                  <a:txBody>
                    <a:bodyPr/>
                    <a:lstStyle/>
                    <a:p>
                      <a:r>
                        <a:rPr sz="1000"/>
                        <a:t>The threshold level will not necessarily enable interoperability between data from **different** sources as the geometric corrections for each of the sources may differ.</a:t>
                      </a:r>
                    </a:p>
                  </a:txBody>
                  <a:tcPr>
                    <a:solidFill>
                      <a:srgbClr val="FFFFFF"/>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r>
                        <a:rPr sz="1000" b="1">
                          <a:solidFill>
                            <a:srgbClr val="2E7D32"/>
                          </a:solidFill>
                        </a:rPr>
                        <a:t>2. It is useful to note if the sensor is used at its native resolution before geometric correction or that some resampling must be done.</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Sub-pixel uncertainty is achieved relative to an identified absolute independent terrestrial referencing system (such as a national map grid).</a:t>
                      </a:r>
                    </a:p>
                    <a:p/>
                    <a:p>
                      <a:r>
                        <a:rPr sz="1000"/>
                        <a:t>Relevant metadata must be provided under [@geometric-uncertainty] and [@instrument].</a:t>
                      </a:r>
                    </a:p>
                  </a:txBody>
                  <a:tcPr>
                    <a:solidFill>
                      <a:srgbClr val="FFFFFF"/>
                    </a:solidFill>
                  </a:tcPr>
                </a:tc>
                <a:tc>
                  <a:txBody>
                    <a:bodyPr/>
                    <a:lstStyle/>
                    <a:p>
                      <a:r>
                        <a:rPr sz="1000"/>
                        <a:t>Sub-pixel uncertainty is achieved relative to an identified absolute independent terrestrial referencing system (such as a national map grid).</a:t>
                      </a:r>
                    </a:p>
                    <a:p/>
                    <a:p>
                      <a:r>
                        <a:rPr sz="1000" b="1">
                          <a:solidFill>
                            <a:srgbClr val="2E7D32"/>
                          </a:solidFill>
                        </a:rPr>
                        <a:t> </a:t>
                      </a:r>
                      <a:r>
                        <a:rPr sz="1000"/>
                        <a:t>Relevant metadata must be provided under </a:t>
                      </a:r>
                      <a:r>
                        <a:rPr sz="1000" strike="sngStrike">
                          <a:solidFill>
                            <a:srgbClr val="B00000"/>
                          </a:solidFill>
                        </a:rPr>
                        <a:t>[@geometric-u</a:t>
                      </a:r>
                      <a:r>
                        <a:rPr sz="1000" b="1">
                          <a:solidFill>
                            <a:srgbClr val="2E7D32"/>
                          </a:solidFill>
                        </a:rPr>
                        <a:t>Section “General Metadata: Geometric U</a:t>
                      </a:r>
                      <a:r>
                        <a:rPr sz="1000"/>
                        <a:t>ncertainty</a:t>
                      </a:r>
                      <a:r>
                        <a:rPr sz="1000" strike="sngStrike">
                          <a:solidFill>
                            <a:srgbClr val="B00000"/>
                          </a:solidFill>
                        </a:rPr>
                        <a:t>] and [@instrument]</a:t>
                      </a:r>
                      <a:r>
                        <a:rPr sz="1000" b="1">
                          <a:solidFill>
                            <a:srgbClr val="2E7D32"/>
                          </a:solidFill>
                        </a:rPr>
                        <a:t> of the Data” and Section “General Metadata: Instrument”</a:t>
                      </a:r>
                      <a:r>
                        <a:rPr sz="1000"/>
                        <a:t>.</a:t>
                      </a:r>
                    </a:p>
                  </a:txBody>
                  <a:tcPr>
                    <a:solidFill>
                      <a:srgbClr val="FFFFFF"/>
                    </a:solidFill>
                  </a:tcPr>
                </a:tc>
              </a:tr>
              <a:tr h="91440">
                <a:tc>
                  <a:txBody>
                    <a:bodyPr/>
                    <a:lstStyle/>
                    <a:p>
                      <a:r>
                        <a:rPr sz="1000" b="1"/>
                        <a:t>NLSR, SR</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relative to an identified absolute independent terrestrial referencing system (such as a national map grid).</a:t>
                      </a:r>
                    </a:p>
                    <a:p/>
                    <a:p>
                      <a:r>
                        <a:rPr sz="1000" b="1">
                          <a:solidFill>
                            <a:srgbClr val="2E7D32"/>
                          </a:solidFill>
                        </a:rPr>
                        <a:t>A consistent gridding/sampling frame is necessary to meet this requirement.</a:t>
                      </a:r>
                    </a:p>
                    <a:p/>
                    <a:p>
                      <a:r>
                        <a:rPr sz="1000"/>
                        <a:t>Relevant metadata must be provided under [@geometric-</a:t>
                      </a:r>
                      <a:r>
                        <a:rPr sz="1000" strike="sngStrike">
                          <a:solidFill>
                            <a:srgbClr val="B00000"/>
                          </a:solidFill>
                        </a:rPr>
                        <a:t>uncertaint</a:t>
                      </a:r>
                      <a:r>
                        <a:rPr sz="1000" b="1">
                          <a:solidFill>
                            <a:srgbClr val="2E7D32"/>
                          </a:solidFill>
                        </a:rPr>
                        <a:t>accurac</a:t>
                      </a:r>
                      <a:r>
                        <a:rPr sz="1000"/>
                        <a: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relative to an identified absolute independent terrestrial referencing system (such as a national map grid).</a:t>
                      </a:r>
                    </a:p>
                    <a:p/>
                    <a:p>
                      <a:r>
                        <a:rPr sz="1000" strike="sngStrike">
                          <a:solidFill>
                            <a:srgbClr val="B00000"/>
                          </a:solidFill>
                        </a:rPr>
                        <a:t>A consistent gridding/sampling frame is necessary to meet this requirement.</a:t>
                      </a:r>
                    </a:p>
                    <a:p/>
                    <a:p>
                      <a:r>
                        <a:rPr sz="1000" b="1">
                          <a:solidFill>
                            <a:srgbClr val="2E7D32"/>
                          </a:solidFill>
                        </a:rPr>
                        <a:t> </a:t>
                      </a:r>
                      <a:r>
                        <a:rPr sz="1000"/>
                        <a:t>Relevant metadata must be provided under </a:t>
                      </a:r>
                      <a:r>
                        <a:rPr sz="1000" strike="sngStrike">
                          <a:solidFill>
                            <a:srgbClr val="B00000"/>
                          </a:solidFill>
                        </a:rPr>
                        <a:t>[@geometric-accuracy] and [@instrument]</a:t>
                      </a:r>
                      <a:r>
                        <a:rPr sz="1000" b="1">
                          <a:solidFill>
                            <a:srgbClr val="2E7D32"/>
                          </a:solidFill>
                        </a:rPr>
                        <a:t>Section “General Metadata: Geometric Uncertainty of the Data” and Section “General Metadata: Instrument”</a:t>
                      </a:r>
                      <a:r>
                        <a:rPr sz="1000"/>
                        <a:t>.</a:t>
                      </a:r>
                    </a:p>
                  </a:txBody>
                  <a:tcPr>
                    <a:solidFill>
                      <a:srgbClr val="FFFFFF"/>
                    </a:solidFill>
                  </a:tcPr>
                </a:tc>
              </a:tr>
              <a:tr h="91440">
                <a:tc>
                  <a:txBody>
                    <a:bodyPr/>
                    <a:lstStyle/>
                    <a:p>
                      <a:r>
                        <a:rPr sz="1000" b="1"/>
                        <a:t>ST</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relative to an identified absolute independent terrestrial referencing system (such as a national map grid).</a:t>
                      </a:r>
                    </a:p>
                    <a:p/>
                    <a:p>
                      <a:r>
                        <a:rPr sz="1000" b="1">
                          <a:solidFill>
                            <a:srgbClr val="2E7D32"/>
                          </a:solidFill>
                        </a:rPr>
                        <a:t>A consistent gridding/sampling frame is necessary to meet this requirement.</a:t>
                      </a:r>
                    </a:p>
                    <a:p/>
                    <a:p>
                      <a:r>
                        <a:rPr sz="1000"/>
                        <a:t>Relevant metadata must be provided under [@geometric-uncertainty]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relative to an identified absolute independent terrestrial referencing system (such as a national map grid).</a:t>
                      </a:r>
                    </a:p>
                    <a:p/>
                    <a:p>
                      <a:r>
                        <a:rPr sz="1000" strike="sngStrike">
                          <a:solidFill>
                            <a:srgbClr val="B00000"/>
                          </a:solidFill>
                        </a:rPr>
                        <a:t>A consistent gridding/sampling frame is necessary to meet this requirement.</a:t>
                      </a:r>
                    </a:p>
                    <a:p/>
                    <a:p>
                      <a:r>
                        <a:rPr sz="1000" b="1">
                          <a:solidFill>
                            <a:srgbClr val="2E7D32"/>
                          </a:solidFill>
                        </a:rPr>
                        <a:t> </a:t>
                      </a:r>
                      <a:r>
                        <a:rPr sz="1000"/>
                        <a:t>Relevant metadata must be provided under </a:t>
                      </a:r>
                      <a:r>
                        <a:rPr sz="1000" strike="sngStrike">
                          <a:solidFill>
                            <a:srgbClr val="B00000"/>
                          </a:solidFill>
                        </a:rPr>
                        <a:t>[@geometric-u</a:t>
                      </a:r>
                      <a:r>
                        <a:rPr sz="1000" b="1">
                          <a:solidFill>
                            <a:srgbClr val="2E7D32"/>
                          </a:solidFill>
                        </a:rPr>
                        <a:t>Section “General Metadata: Geometric U</a:t>
                      </a:r>
                      <a:r>
                        <a:rPr sz="1000"/>
                        <a:t>ncertainty</a:t>
                      </a:r>
                      <a:r>
                        <a:rPr sz="1000" strike="sngStrike">
                          <a:solidFill>
                            <a:srgbClr val="B00000"/>
                          </a:solidFill>
                        </a:rPr>
                        <a:t>] and [@instrument]</a:t>
                      </a:r>
                      <a:r>
                        <a:rPr sz="1000" b="1">
                          <a:solidFill>
                            <a:srgbClr val="2E7D32"/>
                          </a:solidFill>
                        </a:rPr>
                        <a:t> of the Data” and Section “General Metadata: Instrument”</a:t>
                      </a:r>
                      <a:r>
                        <a:rPr sz="1000"/>
                        <a:t>.</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txBody>
                  <a:tcPr>
                    <a:solidFill>
                      <a:srgbClr val="FFFFFF"/>
                    </a:solidFill>
                  </a:tcPr>
                </a:tc>
                <a:tc>
                  <a:txBody>
                    <a:bodyPr/>
                    <a:lstStyle/>
                    <a:p>
                      <a:r>
                        <a:rPr sz="1000"/>
                        <a:t>This requirement is intended to enable interoperability between imagery from different platforms that meet this level of correction and with non-image spatial data such as GIS layers and terrain models.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This requirement is intended to enable interoperability between imagery from different platforms that meet this level of correction, and with non-image spatial data such as GIS layers and terrain models.</a:t>
                      </a:r>
                    </a:p>
                  </a:txBody>
                  <a:tcPr>
                    <a:solidFill>
                      <a:srgbClr val="FFFFFF"/>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txBody>
                  <a:tcPr>
                    <a:solidFill>
                      <a:srgbClr val="FFFFFF"/>
                    </a:solidFill>
                  </a:tcPr>
                </a:tc>
              </a:tr>
              <a:tr h="91440">
                <a:tc>
                  <a:txBody>
                    <a:bodyPr/>
                    <a:lstStyle/>
                    <a:p>
                      <a:r>
                        <a:rPr sz="1000" b="1"/>
                        <a:t>ST</a:t>
                      </a:r>
                    </a:p>
                  </a:txBody>
                  <a:tcPr>
                    <a:solidFill>
                      <a:srgbClr val="FFFFFF"/>
                    </a:solidFill>
                  </a:tcPr>
                </a:tc>
                <a:tc>
                  <a:txBody>
                    <a:bodyPr/>
                    <a:lstStyle/>
                    <a:p>
                      <a:r>
                        <a:rPr sz="1000"/>
                        <a:t>This requirement is intended to enable interoperability between imagery from different platforms that meet this level of correction, and with non-image spatial data such as GIS layers and terrain models.</a:t>
                      </a:r>
                    </a:p>
                  </a:txBody>
                  <a:tcPr>
                    <a:solidFill>
                      <a:srgbClr val="FFFFFF"/>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txBody>
                  <a:tcPr>
                    <a:solidFill>
                      <a:srgbClr val="FFFFFF"/>
                    </a:solidFill>
                  </a:tcPr>
                </a:tc>
              </a:tr>
            </a:tbl>
          </a:graphicData>
        </a:graphic>
      </p:graphicFrame>
      <p:sp>
        <p:nvSpPr>
          <p:cNvPr id="4" name="TextBox 3"/>
          <p:cNvSpPr txBox="1"/>
          <p:nvPr/>
        </p:nvSpPr>
        <p:spPr>
          <a:xfrm>
            <a:off x="457200" y="3232403"/>
            <a:ext cx="11277295" cy="621792"/>
          </a:xfrm>
          <a:prstGeom prst="rect">
            <a:avLst/>
          </a:prstGeom>
          <a:noFill/>
        </p:spPr>
        <p:txBody>
          <a:bodyPr wrap="square">
            <a:spAutoFit/>
          </a:bodyPr>
          <a:lstStyle/>
          <a:p>
            <a:r>
              <a:rPr sz="1200" b="1"/>
              <a:t>Internal notes: </a:t>
            </a:r>
            <a:r>
              <a:rPr sz="1200" i="1"/>
              <a:t>ST 6.0 already aligned the metadata references ([@geometric-uncertainty]); remaining differences to the proposal: "accuracy" vs "uncertainty", "0.5 pixel" vs "0.5-pixel", and the gridding/sampling sentence.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Geometric Correction</a:t>
            </a:r>
          </a:p>
          <a:p>
            <a:r>
              <a:rPr sz="1100">
                <a:latin typeface="Consolas"/>
              </a:rPr>
              <a:t>requirements:</a:t>
            </a:r>
          </a:p>
          <a:p>
            <a:r>
              <a:rPr sz="1100">
                <a:latin typeface="Consolas"/>
              </a:rPr>
              <a:t>  threshold:</a:t>
            </a:r>
          </a:p>
          <a:p>
            <a:r>
              <a:rPr sz="1100">
                <a:latin typeface="Consolas"/>
              </a:rPr>
              <a:t>    description: |-</a:t>
            </a:r>
          </a:p>
          <a:p>
            <a:r>
              <a:rPr sz="1100">
                <a:latin typeface="Consolas"/>
              </a:rPr>
              <a:t>      Sub-pixel uncertainty is achieved in relative geolocation, that is, the pixels from the same instrument and platform are consistently located, and are thus comparable, through time. Sub-pixel uncertainty is taken to be less than or equal to 0.5-pixel radial root mean square error (rRMSE) or equivalent in Circular Error Probability (CEP) relative to a defined reference image. A consistent gridding/sampling frame is used, including common cell size, origin, and nominal sample point location within the cell (centre, ll, ur).</a:t>
            </a:r>
          </a:p>
          <a:p>
            <a:r>
              <a:rPr sz="1100">
                <a:latin typeface="Consolas"/>
              </a:rPr>
              <a:t>      </a:t>
            </a:r>
          </a:p>
          <a:p>
            <a:r>
              <a:rPr sz="1100">
                <a:latin typeface="Consolas"/>
              </a:rPr>
              <a:t>      Relevant metadata must be provided under [@geometric-uncertainty] and [@instrument].</a:t>
            </a:r>
          </a:p>
          <a:p>
            <a:r>
              <a:rPr sz="1100">
                <a:latin typeface="Consolas"/>
              </a:rPr>
              <a:t>    notes:</a:t>
            </a:r>
          </a:p>
          <a:p>
            <a:r>
              <a:rPr sz="1100">
                <a:latin typeface="Consolas"/>
              </a:rPr>
              <a:t>      - |-</a:t>
            </a:r>
          </a:p>
          <a:p>
            <a:r>
              <a:rPr sz="1100">
                <a:latin typeface="Consolas"/>
              </a:rPr>
              <a:t>        1. The threshold level will not necessarily enable interoperability between data from different sources as the geometric corrections for each of the sources may differ.</a:t>
            </a:r>
          </a:p>
          <a:p>
            <a:r>
              <a:rPr sz="1100">
                <a:latin typeface="Consolas"/>
              </a:rPr>
              <a:t>        2. It is useful to note if the sensor is used at its native resolution before geometric correction or that some resampling must be done.</a:t>
            </a:r>
          </a:p>
          <a:p>
            <a:r>
              <a:rPr sz="1100">
                <a:latin typeface="Consolas"/>
              </a:rPr>
              <a:t>  goal:</a:t>
            </a:r>
          </a:p>
          <a:p>
            <a:r>
              <a:rPr sz="1100">
                <a:latin typeface="Consolas"/>
              </a:rPr>
              <a:t>    description: Sub-pixel uncertainty is achieved relative to an identified absolute independent terrestrial referencing system (such as a national map grid). Relevant metadata must be provided under Section “General Metadata: Geometric Uncertainty of the Data” and Section “General Metadata: Instrument”.</a:t>
            </a:r>
          </a:p>
          <a:p>
            <a:r>
              <a:rPr sz="1100">
                <a:latin typeface="Consolas"/>
              </a:rPr>
              <a:t>    notes:</a:t>
            </a:r>
          </a:p>
          <a:p>
            <a:r>
              <a:rPr sz="1100">
                <a:latin typeface="Consolas"/>
              </a:rPr>
              <a:t>      - This requirement is intended to enable interoperability between imagery from different platforms that meet this level of correction and with non-image spatial data such as GIS layers and terrain models.</a:t>
            </a:r>
          </a:p>
          <a:p>
            <a:r>
              <a:rPr sz="1100">
                <a:latin typeface="Consolas"/>
              </a:rPr>
              <a:t>    optional: true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Ozone Corrections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Data is corrected for ozone if spectral bands are affected.</a:t>
                      </a:r>
                    </a:p>
                  </a:txBody>
                  <a:tcPr>
                    <a:solidFill>
                      <a:srgbClr val="FFFFFF"/>
                    </a:solidFill>
                  </a:tcPr>
                </a:tc>
                <a:tc>
                  <a:txBody>
                    <a:bodyPr/>
                    <a:lstStyle/>
                    <a:p>
                      <a:r>
                        <a:rPr sz="1000"/>
                        <a:t>Data is corrected for ozone if spectral bands are affected.</a:t>
                      </a:r>
                    </a:p>
                  </a:txBody>
                  <a:tcPr>
                    <a:solidFill>
                      <a:srgbClr val="FFFFFF"/>
                    </a:solidFill>
                  </a:tcPr>
                </a:tc>
              </a:tr>
              <a:tr h="121920">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22656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Relevant metadata must be provided in [@geometric-uncertainty] and [@instrument].</a:t>
                      </a:r>
                    </a:p>
                    <a:p/>
                    <a:p>
                      <a:r>
                        <a:rPr sz="1000"/>
                        <a:t>See @dekeukelaere2018, @harmel2018, @mobley2016, @pahlevan2017, @pahlevan2021, and @vanhellemont2019.</a:t>
                      </a:r>
                    </a:p>
                  </a:txBody>
                  <a:tcPr>
                    <a:solidFill>
                      <a:srgbClr val="FFFFFF"/>
                    </a:solidFill>
                  </a:tcPr>
                </a:tc>
                <a:tc>
                  <a:txBody>
                    <a:bodyPr/>
                    <a:lstStyle/>
                    <a:p/>
                  </a:txBody>
                  <a:tcPr>
                    <a:solidFill>
                      <a:srgbClr val="FFFFFF"/>
                    </a:solidFill>
                  </a:tcPr>
                </a:tc>
              </a:tr>
              <a:tr h="121920">
                <a:tc>
                  <a:txBody>
                    <a:bodyPr/>
                    <a:lstStyle/>
                    <a:p>
                      <a:r>
                        <a:rPr sz="1000" b="1"/>
                        <a:t>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389991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a:t>(not set)</a:t>
                      </a:r>
                    </a:p>
                  </a:txBody>
                  <a:tcPr>
                    <a:solidFill>
                      <a:srgbClr val="FFFFFF"/>
                    </a:solidFill>
                  </a:tcPr>
                </a:tc>
              </a:tr>
              <a:tr h="121920">
                <a:tc>
                  <a:txBody>
                    <a:bodyPr/>
                    <a:lstStyle/>
                    <a:p>
                      <a:r>
                        <a:rPr sz="1000" b="1"/>
                        <a:t>SR</a:t>
                      </a:r>
                    </a:p>
                    <a:p>
                      <a:r>
                        <a:rPr sz="1000" i="1">
                          <a:solidFill>
                            <a:srgbClr val="808080"/>
                          </a:solidFill>
                        </a:rPr>
                        <a:t>(baseline)</a:t>
                      </a:r>
                    </a:p>
                  </a:txBody>
                  <a:tcPr>
                    <a:solidFill>
                      <a:srgbClr val="FFFFFF"/>
                    </a:solidFill>
                  </a:tcPr>
                </a:tc>
                <a:tc>
                  <a:txBody>
                    <a:bodyPr/>
                    <a:lstStyle/>
                    <a:p>
                      <a:r>
                        <a:rPr sz="1000"/>
                        <a:t>Data is corrected for ozone.</a:t>
                      </a:r>
                    </a:p>
                    <a:p/>
                    <a:p>
                      <a:r>
                        <a:rPr sz="1000"/>
                        <a:t>Relevant metadata must be provided under [@geometric-accuracy] and [@instrument].</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i="1">
                          <a:solidFill>
                            <a:srgbClr val="808080"/>
                          </a:solidFill>
                        </a:rPr>
                        <a:t>(optional)</a:t>
                      </a:r>
                    </a:p>
                  </a:txBody>
                  <a:tcPr>
                    <a:solidFill>
                      <a:srgbClr val="FFFFFF"/>
                    </a:solidFill>
                  </a:tcPr>
                </a:tc>
                <a:tc>
                  <a:txBody>
                    <a:bodyPr/>
                    <a:lstStyle/>
                    <a:p>
                      <a:r>
                        <a:rPr sz="1000">
                          <a:solidFill>
                            <a:srgbClr val="1565C0"/>
                          </a:solidFill>
                        </a:rPr>
                        <a:t>Data is corrected for ozone</a:t>
                      </a:r>
                      <a:r>
                        <a:rPr sz="1000"/>
                        <a:t> if spectral bands are affected.</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Ozone Corrections (cont.)</a:t>
            </a:r>
          </a:p>
        </p:txBody>
      </p:sp>
      <p:sp>
        <p:nvSpPr>
          <p:cNvPr id="3" name="TextBox 2"/>
          <p:cNvSpPr txBox="1"/>
          <p:nvPr/>
        </p:nvSpPr>
        <p:spPr>
          <a:xfrm>
            <a:off x="457200" y="1005840"/>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Ozone Corrections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Ozone Corrections</a:t>
            </a:r>
          </a:p>
          <a:p>
            <a:r>
              <a:rPr sz="1100">
                <a:latin typeface="Consolas"/>
              </a:rPr>
              <a:t>requirements:</a:t>
            </a:r>
          </a:p>
          <a:p>
            <a:r>
              <a:rPr sz="1100">
                <a:latin typeface="Consolas"/>
              </a:rPr>
              <a:t>  threshold:</a:t>
            </a:r>
          </a:p>
          <a:p>
            <a:r>
              <a:rPr sz="1100">
                <a:latin typeface="Consolas"/>
              </a:rPr>
              <a:t>    description: Data is corrected for ozone if spectral bands are affected.  # TODO: differs per PFS</a:t>
            </a:r>
          </a:p>
          <a:p>
            <a:r>
              <a:rPr sz="1100">
                <a:latin typeface="Consolas"/>
              </a:rPr>
              <a:t>    notes:  # TODO: differs per PFS</a:t>
            </a:r>
          </a:p>
          <a:p>
            <a:r>
              <a:rPr sz="1100">
                <a:latin typeface="Consolas"/>
              </a:rPr>
              <a:t>      - Relevant metadata must be provided in [@geometric-uncertainty] and [@instrument].</a:t>
            </a:r>
          </a:p>
          <a:p>
            <a:r>
              <a:rPr sz="1100">
                <a:latin typeface="Consolas"/>
              </a:rPr>
              <a:t>      - See @dekeukelaere2018, @harmel2018, @mobley2016, @pahlevan2017, @pahlevan2021, and @vanhellemont2019.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Water Vapour Corrections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Corrections are applied for water vapour if spectral bands are affected.</a:t>
                      </a:r>
                    </a:p>
                  </a:txBody>
                  <a:tcPr>
                    <a:solidFill>
                      <a:srgbClr val="FFFFFF"/>
                    </a:solidFill>
                  </a:tcPr>
                </a:tc>
                <a:tc>
                  <a:txBody>
                    <a:bodyPr/>
                    <a:lstStyle/>
                    <a:p>
                      <a:r>
                        <a:rPr sz="1000"/>
                        <a:t>Corrections are applied for water vapour if spectral bands are affected.</a:t>
                      </a:r>
                    </a:p>
                  </a:txBody>
                  <a:tcPr>
                    <a:solidFill>
                      <a:srgbClr val="FFFFFF"/>
                    </a:solidFill>
                  </a:tcPr>
                </a:tc>
              </a:tr>
              <a:tr h="121920">
                <a:tc>
                  <a:txBody>
                    <a:bodyPr/>
                    <a:lstStyle/>
                    <a:p>
                      <a:r>
                        <a:rPr sz="1000" b="1"/>
                        <a:t>SR</a:t>
                      </a:r>
                    </a:p>
                  </a:txBody>
                  <a:tcPr>
                    <a:solidFill>
                      <a:srgbClr val="FFFFFF"/>
                    </a:solidFill>
                  </a:tcPr>
                </a:tc>
                <a:tc>
                  <a:txBody>
                    <a:bodyPr/>
                    <a:lstStyle/>
                    <a:p>
                      <a:r>
                        <a:rPr sz="1000"/>
                        <a:t>Corrections are applied for water vapour</a:t>
                      </a:r>
                      <a:r>
                        <a:rPr sz="1000" strike="sngStrike">
                          <a:solidFill>
                            <a:srgbClr val="B00000"/>
                          </a:solidFill>
                        </a:rPr>
                        <a:t> if spectral bands are affected.</a:t>
                      </a:r>
                      <a:r>
                        <a:rPr sz="1000" b="1">
                          <a:solidFill>
                            <a:srgbClr val="2E7D32"/>
                          </a:solidFill>
                        </a:rPr>
                        <a:t>. Metadata contains a single DOI landing page with references to:</a:t>
                      </a:r>
                    </a:p>
                    <a:p/>
                    <a:p>
                      <a:r>
                        <a:rPr sz="1000" b="1">
                          <a:solidFill>
                            <a:srgbClr val="2E7D32"/>
                          </a:solidFill>
                        </a:rPr>
                        <a:t>- a citable peer-reviewed algorithm</a:t>
                      </a:r>
                    </a:p>
                    <a:p>
                      <a:r>
                        <a:rPr sz="1000" b="1">
                          <a:solidFill>
                            <a:srgbClr val="2E7D32"/>
                          </a:solidFill>
                        </a:rPr>
                        <a:t>- technical documentation regarding the implementation of that algorithm</a:t>
                      </a:r>
                    </a:p>
                  </a:txBody>
                  <a:tcPr>
                    <a:solidFill>
                      <a:srgbClr val="FFFFFF"/>
                    </a:solidFill>
                  </a:tcPr>
                </a:tc>
                <a:tc>
                  <a:txBody>
                    <a:bodyPr/>
                    <a:lstStyle/>
                    <a:p>
                      <a:r>
                        <a:rPr sz="1000"/>
                        <a:t>Corrections are applied for water vapour</a:t>
                      </a:r>
                      <a:r>
                        <a:rPr sz="1000" strike="sngStrike">
                          <a:solidFill>
                            <a:srgbClr val="B00000"/>
                          </a:solidFill>
                        </a:rPr>
                        <a:t>. Metadata contains a single DOI landing page with references to:</a:t>
                      </a:r>
                    </a:p>
                    <a:p/>
                    <a:p>
                      <a:r>
                        <a:rPr sz="1000" strike="sngStrike">
                          <a:solidFill>
                            <a:srgbClr val="B00000"/>
                          </a:solidFill>
                        </a:rPr>
                        <a:t>- a citable peer-reviewed algorithm</a:t>
                      </a:r>
                    </a:p>
                    <a:p>
                      <a:r>
                        <a:rPr sz="1000" strike="sngStrike">
                          <a:solidFill>
                            <a:srgbClr val="B00000"/>
                          </a:solidFill>
                        </a:rPr>
                        <a:t>- technical documentation regarding the implementation of that algorithm</a:t>
                      </a:r>
                      <a:r>
                        <a:rPr sz="1000" b="1">
                          <a:solidFill>
                            <a:srgbClr val="2E7D32"/>
                          </a:solidFill>
                        </a:rPr>
                        <a:t> if spectral bands are affected.</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8094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r>
                        <a:rPr sz="1000"/>
                        <a:t>(no notes)</a:t>
                      </a:r>
                    </a:p>
                  </a:txBody>
                  <a:tcPr>
                    <a:solidFill>
                      <a:srgbClr val="FFFFFF"/>
                    </a:solidFill>
                  </a:tcPr>
                </a:tc>
              </a:tr>
              <a:tr h="121920">
                <a:tc>
                  <a:txBody>
                    <a:bodyPr/>
                    <a:lstStyle/>
                    <a:p>
                      <a:r>
                        <a:rPr sz="1000" b="1"/>
                        <a:t>SR</a:t>
                      </a:r>
                    </a:p>
                    <a:p>
                      <a:r>
                        <a:rPr sz="1000" i="1">
                          <a:solidFill>
                            <a:srgbClr val="808080"/>
                          </a:solidFill>
                        </a:rPr>
                        <a:t>(baseline)</a:t>
                      </a:r>
                    </a:p>
                  </a:txBody>
                  <a:tcPr>
                    <a:solidFill>
                      <a:srgbClr val="FFFFFF"/>
                    </a:solidFill>
                  </a:tcPr>
                </a:tc>
                <a:tc>
                  <a:txBody>
                    <a:bodyPr/>
                    <a:lstStyle/>
                    <a:p>
                      <a:r>
                        <a:rPr sz="1000"/>
                        <a:t>Examples of technical documentation include an Algorithm Theoretical Basis Document, product user guide, etc.</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
        <p:nvSpPr>
          <p:cNvPr id="5" name="TextBox 4"/>
          <p:cNvSpPr txBox="1"/>
          <p:nvPr/>
        </p:nvSpPr>
        <p:spPr>
          <a:xfrm>
            <a:off x="457200" y="4201668"/>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Water Vapour Corrections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Water Vapour Corrections</a:t>
            </a:r>
          </a:p>
          <a:p>
            <a:r>
              <a:rPr sz="1100">
                <a:latin typeface="Consolas"/>
              </a:rPr>
              <a:t>requirements:</a:t>
            </a:r>
          </a:p>
          <a:p>
            <a:r>
              <a:rPr sz="1100">
                <a:latin typeface="Consolas"/>
              </a:rPr>
              <a:t>  threshold:</a:t>
            </a:r>
          </a:p>
          <a:p>
            <a:r>
              <a:rPr sz="1100">
                <a:latin typeface="Consolas"/>
              </a:rPr>
              <a:t>    description: Corrections are applied for water vapour if spectral bands are affected.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Normalisation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Measurements are normalised (to nadir) to remove the effect of bidirectional dependence of the upwelling radiance on observation and solar-illumination geometries.</a:t>
                      </a:r>
                    </a:p>
                  </a:txBody>
                  <a:tcPr>
                    <a:solidFill>
                      <a:srgbClr val="FFFFFF"/>
                    </a:solidFill>
                  </a:tcPr>
                </a:tc>
                <a:tc>
                  <a:txBody>
                    <a:bodyPr/>
                    <a:lstStyle/>
                    <a:p>
                      <a:r>
                        <a:rPr sz="1000"/>
                        <a:t>Measurements are normalised (to nadir) to remove the effect of bidirectional dependence of the upwelling radiance on observation and solar-illumination geometries.</a:t>
                      </a:r>
                    </a:p>
                  </a:txBody>
                  <a:tcPr>
                    <a:solidFill>
                      <a:srgbClr val="FFFFFF"/>
                    </a:solidFill>
                  </a:tcPr>
                </a:tc>
              </a:tr>
              <a:tr h="91440">
                <a:tc>
                  <a:txBody>
                    <a:bodyPr/>
                    <a:lstStyle/>
                    <a:p>
                      <a:r>
                        <a:rPr sz="1000" b="1"/>
                        <a:t>NLSR</a:t>
                      </a:r>
                    </a:p>
                  </a:txBody>
                  <a:tcPr>
                    <a:solidFill>
                      <a:srgbClr val="FFFFFF"/>
                    </a:solidFill>
                  </a:tcPr>
                </a:tc>
                <a:tc>
                  <a:txBody>
                    <a:bodyPr/>
                    <a:lstStyle/>
                    <a:p>
                      <a:r>
                        <a:rPr sz="1000">
                          <a:solidFill>
                            <a:srgbClr val="1565C0"/>
                          </a:solidFill>
                        </a:rPr>
                        <a:t>Measurements are normalised </a:t>
                      </a:r>
                      <a:r>
                        <a:rPr sz="1000"/>
                        <a:t>for viewing conditions (i.e., nadir view angle).</a:t>
                      </a:r>
                    </a:p>
                    <a:p>
                      <a:r>
                        <a:rPr sz="1000"/>
                        <a:t>This may include radiative transfer modelling</a:t>
                      </a:r>
                      <a:r>
                        <a:rPr sz="1000"/>
                        <a:t>.</a:t>
                      </a:r>
                    </a:p>
                  </a:txBody>
                  <a:tcPr>
                    <a:solidFill>
                      <a:srgbClr val="FFFFFF"/>
                    </a:solidFill>
                  </a:tcPr>
                </a:tc>
                <a:tc>
                  <a:txBody>
                    <a:bodyPr/>
                    <a:lstStyle/>
                    <a:p>
                      <a:r>
                        <a:rPr sz="1000">
                          <a:solidFill>
                            <a:srgbClr val="1565C0"/>
                          </a:solidFill>
                        </a:rPr>
                        <a:t>Measurements are normalised </a:t>
                      </a:r>
                      <a:r>
                        <a:rPr sz="1000"/>
                        <a:t>(to nadir) to remove the effect of bidirectional dependence of the upwelling radiance on observation and solar-illumination geometries</a:t>
                      </a:r>
                      <a:r>
                        <a:rPr sz="1000"/>
                        <a:t>.</a:t>
                      </a:r>
                    </a:p>
                  </a:txBody>
                  <a:tcPr>
                    <a:solidFill>
                      <a:srgbClr val="FFFFFF"/>
                    </a:solidFill>
                  </a:tcPr>
                </a:tc>
              </a:tr>
              <a:tr h="91440">
                <a:tc>
                  <a:txBody>
                    <a:bodyPr/>
                    <a:lstStyle/>
                    <a:p>
                      <a:r>
                        <a:rPr sz="1000" b="1"/>
                        <a:t>SR</a:t>
                      </a:r>
                    </a:p>
                  </a:txBody>
                  <a:tcPr>
                    <a:solidFill>
                      <a:srgbClr val="FFFFFF"/>
                    </a:solidFill>
                  </a:tcPr>
                </a:tc>
                <a:tc>
                  <a:txBody>
                    <a:bodyPr/>
                    <a:lstStyle/>
                    <a:p>
                      <a:r>
                        <a:rPr sz="1000">
                          <a:solidFill>
                            <a:srgbClr val="1565C0"/>
                          </a:solidFill>
                        </a:rPr>
                        <a:t>Measurements are normalised </a:t>
                      </a:r>
                      <a:r>
                        <a:rPr sz="1000"/>
                        <a:t>for solar and viewing conditions (i.e., nadir view angle and average solar angles). This may include terrain </a:t>
                      </a:r>
                      <a:r>
                        <a:rPr sz="1000">
                          <a:solidFill>
                            <a:srgbClr val="1565C0"/>
                          </a:solidFill>
                        </a:rPr>
                        <a:t>illumination </a:t>
                      </a:r>
                      <a:r>
                        <a:rPr sz="1000"/>
                        <a:t>and/or Bi-Directional Reflectance Function (BRDF) correction</a:t>
                      </a:r>
                      <a:r>
                        <a:rPr sz="1000"/>
                        <a:t>.</a:t>
                      </a:r>
                    </a:p>
                  </a:txBody>
                  <a:tcPr>
                    <a:solidFill>
                      <a:srgbClr val="FFFFFF"/>
                    </a:solidFill>
                  </a:tcPr>
                </a:tc>
                <a:tc>
                  <a:txBody>
                    <a:bodyPr/>
                    <a:lstStyle/>
                    <a:p>
                      <a:r>
                        <a:rPr sz="1000">
                          <a:solidFill>
                            <a:srgbClr val="1565C0"/>
                          </a:solidFill>
                        </a:rPr>
                        <a:t>Measurements are normalised </a:t>
                      </a:r>
                      <a:r>
                        <a:rPr sz="1000"/>
                        <a:t>(to nadir) to remove the effect of bidirectional dependence of the upwelling radiance on observation and solar-</a:t>
                      </a:r>
                      <a:r>
                        <a:rPr sz="1000">
                          <a:solidFill>
                            <a:srgbClr val="1565C0"/>
                          </a:solidFill>
                        </a:rPr>
                        <a:t>illumination </a:t>
                      </a:r>
                      <a:r>
                        <a:rPr sz="1000"/>
                        <a:t>geometries</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232403"/>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a:t>
                      </a:r>
                    </a:p>
                    <a:p>
                      <a:r>
                        <a:rPr sz="1000" i="1">
                          <a:solidFill>
                            <a:srgbClr val="808080"/>
                          </a:solidFill>
                        </a:rPr>
                        <a:t>(baseline)</a:t>
                      </a:r>
                    </a:p>
                  </a:txBody>
                  <a:tcPr>
                    <a:solidFill>
                      <a:srgbClr val="FFFFFF"/>
                    </a:solidFill>
                  </a:tcPr>
                </a:tc>
                <a:tc>
                  <a:txBody>
                    <a:bodyPr/>
                    <a:lstStyle/>
                    <a:p>
                      <a:r>
                        <a:rPr sz="1000"/>
                        <a:t>Information on measurement normalisation should be available in the metadata as a single DOI landing page.</a:t>
                      </a:r>
                    </a:p>
                  </a:txBody>
                  <a:tcPr>
                    <a:solidFill>
                      <a:srgbClr val="FFFFFF"/>
                    </a:solidFill>
                  </a:tcPr>
                </a:tc>
                <a:tc>
                  <a:txBody>
                    <a:bodyPr/>
                    <a:lstStyle/>
                    <a:p>
                      <a:r>
                        <a:rPr sz="1000" b="1">
                          <a:solidFill>
                            <a:srgbClr val="B00000"/>
                          </a:solidFill>
                        </a:rPr>
                        <a:t>DELETE NOTE</a:t>
                      </a:r>
                    </a:p>
                  </a:txBody>
                  <a:tcPr>
                    <a:solidFill>
                      <a:srgbClr val="FFFFFF"/>
                    </a:solidFill>
                  </a:tcPr>
                </a:tc>
              </a:tr>
              <a:tr h="91440">
                <a:tc>
                  <a:txBody>
                    <a:bodyPr/>
                    <a:lstStyle/>
                    <a:p>
                      <a:r>
                        <a:rPr sz="1000" b="1"/>
                        <a:t>SR</a:t>
                      </a:r>
                    </a:p>
                  </a:txBody>
                  <a:tcPr>
                    <a:solidFill>
                      <a:srgbClr val="FFFFFF"/>
                    </a:solidFill>
                  </a:tcPr>
                </a:tc>
                <a:tc>
                  <a:txBody>
                    <a:bodyPr/>
                    <a:lstStyle/>
                    <a:p>
                      <a:r>
                        <a:rPr sz="1000"/>
                        <a:t>Information on measurement normalisation should be available in the metadata as a single DOI landing page.</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
        <p:nvSpPr>
          <p:cNvPr id="5" name="TextBox 4"/>
          <p:cNvSpPr txBox="1"/>
          <p:nvPr/>
        </p:nvSpPr>
        <p:spPr>
          <a:xfrm>
            <a:off x="457200" y="4855464"/>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Normalisation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Measurement Normalisation</a:t>
            </a:r>
          </a:p>
          <a:p>
            <a:r>
              <a:rPr sz="1100">
                <a:latin typeface="Consolas"/>
              </a:rPr>
              <a:t>requirements:</a:t>
            </a:r>
          </a:p>
          <a:p>
            <a:r>
              <a:rPr sz="1100">
                <a:latin typeface="Consolas"/>
              </a:rPr>
              <a:t>  goal:</a:t>
            </a:r>
          </a:p>
          <a:p>
            <a:r>
              <a:rPr sz="1100">
                <a:latin typeface="Consolas"/>
              </a:rPr>
              <a:t>    description: Measurements are normalised (to nadir) to remove the effect of bidirectional dependence of the upwelling radiance on observation and solar-illumination geometries.</a:t>
            </a:r>
          </a:p>
          <a:p>
            <a:r>
              <a:rPr sz="1100">
                <a:latin typeface="Consolas"/>
              </a:rPr>
              <a:t>    optional: true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Description</a:t>
                      </a:r>
                    </a:p>
                  </a:txBody>
                  <a:tcPr>
                    <a:solidFill>
                      <a:srgbClr val="000000"/>
                    </a:solidFill>
                  </a:tcPr>
                </a:tc>
                <a:tc>
                  <a:txBody>
                    <a:bodyPr/>
                    <a:lstStyle/>
                    <a:p>
                      <a:r>
                        <a:rPr b="1" sz="1100">
                          <a:solidFill>
                            <a:srgbClr val="FFFFFF"/>
                          </a:solidFill>
                        </a:rPr>
                        <a:t>Proposed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Note: In current practice, users determine fitness for purpose based on knowledge of the lineage of the data, rather than on a specific estimate of measurement uncertainty.</a:t>
                      </a:r>
                    </a:p>
                  </a:txBody>
                  <a:tcPr>
                    <a:solidFill>
                      <a:srgbClr val="FFFFFF"/>
                    </a:solidFill>
                  </a:tcPr>
                </a:tc>
                <a:tc>
                  <a:txBody>
                    <a:bodyPr/>
                    <a:lstStyle/>
                    <a:p>
                      <a:r>
                        <a:rPr sz="1000" b="1">
                          <a:solidFill>
                            <a:srgbClr val="B00000"/>
                          </a:solidFill>
                        </a:rPr>
                        <a:t>DELETE</a:t>
                      </a:r>
                    </a:p>
                  </a:txBody>
                  <a:tcPr>
                    <a:solidFill>
                      <a:srgbClr val="FFFFFF"/>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62890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An estimate of the uncertainty of the values is provided in measurement units, following the BIPM Guide to the Expression of Uncertainty in Measurement (GUM).</a:t>
                      </a:r>
                    </a:p>
                  </a:txBody>
                  <a:tcPr>
                    <a:solidFill>
                      <a:srgbClr val="FFFFFF"/>
                    </a:solidFill>
                  </a:tcPr>
                </a:tc>
                <a:tc>
                  <a:txBody>
                    <a:bodyPr/>
                    <a:lstStyle/>
                    <a:p>
                      <a:r>
                        <a:rPr sz="1000"/>
                        <a:t>An estimate of the uncertainty of the values is provided in measurement units, following the BIPM Guide to the Expression of Uncertainty in Measurement (GUM).</a:t>
                      </a:r>
                    </a:p>
                  </a:txBody>
                  <a:tcPr>
                    <a:solidFill>
                      <a:srgbClr val="FFFFFF"/>
                    </a:solidFill>
                  </a:tcPr>
                </a:tc>
              </a:tr>
              <a:tr h="91440">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r h="91440">
                <a:tc>
                  <a:txBody>
                    <a:bodyPr/>
                    <a:lstStyle/>
                    <a:p>
                      <a:r>
                        <a:rPr sz="1000" b="1"/>
                        <a:t>ST</a:t>
                      </a:r>
                    </a:p>
                  </a:txBody>
                  <a:tcPr>
                    <a:solidFill>
                      <a:srgbClr val="FFFFFF"/>
                    </a:solidFill>
                  </a:tcPr>
                </a:tc>
                <a:tc>
                  <a:txBody>
                    <a:bodyPr/>
                    <a:lstStyle/>
                    <a:p>
                      <a:r>
                        <a:rPr sz="1000"/>
                        <a:t>A</a:t>
                      </a:r>
                      <a:r>
                        <a:rPr sz="1000"/>
                        <a:t> self-assessed declaration of per-pixel</a:t>
                      </a:r>
                      <a:r>
                        <a:rPr sz="1000">
                          <a:solidFill>
                            <a:srgbClr val="1565C0"/>
                          </a:solidFill>
                        </a:rPr>
                        <a:t> measurement un</a:t>
                      </a:r>
                      <a:r>
                        <a:rPr sz="1000"/>
                        <a:t>certainty</a:t>
                      </a:r>
                      <a:r>
                        <a:rPr sz="1000">
                          <a:solidFill>
                            <a:srgbClr val="1565C0"/>
                          </a:solidFill>
                        </a:rPr>
                        <a:t>, following </a:t>
                      </a:r>
                      <a:r>
                        <a:rPr sz="1000"/>
                        <a:t>Section 3.2.4 (</a:t>
                      </a:r>
                      <a:r>
                        <a:rPr sz="1000">
                          <a:solidFill>
                            <a:srgbClr val="1565C0"/>
                          </a:solidFill>
                        </a:rPr>
                        <a:t>Uncertainty </a:t>
                      </a:r>
                      <a:r>
                        <a:rPr sz="1000"/>
                        <a:t>Characterization) of the Joint Earth Observation Mission Quality Assessment Framework - Optical Guidelines is provided, meeting the Basic or Good criteria</a:t>
                      </a:r>
                      <a:r>
                        <a:rPr sz="1000"/>
                        <a:t>.</a:t>
                      </a:r>
                    </a:p>
                  </a:txBody>
                  <a:tcPr>
                    <a:solidFill>
                      <a:srgbClr val="FFFFFF"/>
                    </a:solidFill>
                  </a:tcPr>
                </a:tc>
                <a:tc>
                  <a:txBody>
                    <a:bodyPr/>
                    <a:lstStyle/>
                    <a:p>
                      <a:r>
                        <a:rPr sz="1000"/>
                        <a:t>A self-assessed declaration of per-pixel measurement uncertainty, following Section 3.2.4 (Uncertainty Characterization) of the Joint Earth Observation Mission Quality Assessment Framework - Optical Guidelines is provided, meeting the Basic or Good criteria.</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70458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In current practice, users determine fitness for purpose based on knowledge of the lineage of the data, rather than on a specific estimate of measurement uncertainty.</a:t>
                      </a:r>
                    </a:p>
                    <a:p/>
                    <a:p>
                      <a:r>
                        <a:rPr sz="1000"/>
                        <a:t>See @gum_6_2020 and @vabson2024.</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An estimate of the certainty of the values is provided in measurement units.</a:t>
                      </a:r>
                    </a:p>
                    <a:p>
                      <a:r>
                        <a:rPr sz="1000" i="1">
                          <a:solidFill>
                            <a:srgbClr val="808080"/>
                          </a:solidFill>
                        </a:rPr>
                        <a:t>(optional)</a:t>
                      </a:r>
                    </a:p>
                  </a:txBody>
                  <a:tcPr>
                    <a:solidFill>
                      <a:srgbClr val="FFFFFF"/>
                    </a:solidFill>
                  </a:tcPr>
                </a:tc>
                <a:tc>
                  <a:txBody>
                    <a:bodyPr/>
                    <a:lstStyle/>
                    <a:p>
                      <a:r>
                        <a:rPr sz="1000"/>
                        <a:t>An estimate of the </a:t>
                      </a:r>
                      <a:r>
                        <a:rPr sz="1000" b="1">
                          <a:solidFill>
                            <a:srgbClr val="2E7D32"/>
                          </a:solidFill>
                        </a:rPr>
                        <a:t>un</a:t>
                      </a:r>
                      <a:r>
                        <a:rPr sz="1000"/>
                        <a:t>certainty of the values is provided in measurement units</a:t>
                      </a:r>
                      <a:r>
                        <a:rPr sz="1000" strike="sngStrike">
                          <a:solidFill>
                            <a:srgbClr val="B00000"/>
                          </a:solidFill>
                        </a:rPr>
                        <a:t>.</a:t>
                      </a:r>
                      <a:r>
                        <a:rPr sz="1000" b="1">
                          <a:solidFill>
                            <a:srgbClr val="2E7D32"/>
                          </a:solidFill>
                        </a:rPr>
                        <a:t>, following the BIPM Guide to the Expression of Uncertainty in Measurement (GUM).</a:t>
                      </a:r>
                    </a:p>
                    <a:p>
                      <a:r>
                        <a:rPr sz="1000" b="1">
                          <a:solidFill>
                            <a:srgbClr val="2E7D32"/>
                          </a:solidFill>
                        </a:rPr>
                        <a:t>[BUT not "Note 2"]</a:t>
                      </a:r>
                    </a:p>
                  </a:txBody>
                  <a:tcPr>
                    <a:solidFill>
                      <a:srgbClr val="FFFFFF"/>
                    </a:solidFill>
                  </a:tcPr>
                </a:tc>
              </a:tr>
              <a:tr h="91440">
                <a:tc>
                  <a:txBody>
                    <a:bodyPr/>
                    <a:lstStyle/>
                    <a:p>
                      <a:r>
                        <a:rPr sz="1000" b="1"/>
                        <a:t>ST</a:t>
                      </a:r>
                    </a:p>
                  </a:txBody>
                  <a:tcPr>
                    <a:solidFill>
                      <a:srgbClr val="FFFFFF"/>
                    </a:solidFill>
                  </a:tcPr>
                </a:tc>
                <a:tc>
                  <a:txBody>
                    <a:bodyPr/>
                    <a:lstStyle/>
                    <a:p>
                      <a:r>
                        <a:rPr sz="1000"/>
                        <a:t>A</a:t>
                      </a:r>
                      <a:r>
                        <a:rPr sz="1000"/>
                        <a:t> self-assessed declaration of per-pixel</a:t>
                      </a:r>
                      <a:r>
                        <a:rPr sz="1000">
                          <a:solidFill>
                            <a:srgbClr val="1565C0"/>
                          </a:solidFill>
                        </a:rPr>
                        <a:t> measurement un</a:t>
                      </a:r>
                      <a:r>
                        <a:rPr sz="1000"/>
                        <a:t>certainty, following Section 3.2.4 (Uncertainty Characterization) of the Joint Earth Observation Mission Quality Assessment Framework - Optical Guidelines is provided, meeting the Excellent or Ideal criteria. </a:t>
                      </a:r>
                    </a:p>
                    <a:p>
                      <a:r>
                        <a:rPr sz="1000" i="1">
                          <a:solidFill>
                            <a:srgbClr val="808080"/>
                          </a:solidFill>
                        </a:rPr>
                        <a:t>(optional)</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3534156"/>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This is a requirement for SI traceability. See also [@traceability].</a:t>
                      </a:r>
                    </a:p>
                    <a:p/>
                    <a:p>
                      <a:r>
                        <a:rPr sz="1000"/>
                        <a:t>Information on measurement uncertainty should be available in the metadata as a single DOI landing page.</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https://science.nasa.gov/wp-content/uploads/2026/05/joint-optical-guidelines-jul2025-signed.pdf</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(cont.)</a:t>
            </a:r>
          </a:p>
        </p:txBody>
      </p:sp>
      <p:sp>
        <p:nvSpPr>
          <p:cNvPr id="3" name="TextBox 2"/>
          <p:cNvSpPr txBox="1"/>
          <p:nvPr/>
        </p:nvSpPr>
        <p:spPr>
          <a:xfrm>
            <a:off x="457200" y="1005840"/>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6.0 redefined both levels via the Joint EO Mission Quality Assessment Framework self-assessment (threshold: Basic/Good, goal: Excellent/Ideal) — keep ST as is; the AR alignment now only applies to NLSR/SR.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Measurement Uncertainty</a:t>
            </a:r>
          </a:p>
          <a:p>
            <a:r>
              <a:rPr sz="1100">
                <a:latin typeface="Consolas"/>
              </a:rPr>
              <a:t>requirements:</a:t>
            </a:r>
          </a:p>
          <a:p>
            <a:r>
              <a:rPr sz="1100">
                <a:latin typeface="Consolas"/>
              </a:rPr>
              <a:t>  threshold:</a:t>
            </a:r>
          </a:p>
          <a:p>
            <a:r>
              <a:rPr sz="1100">
                <a:latin typeface="Consolas"/>
              </a:rPr>
              <a:t>    description: An estimate of the uncertainty of the values is provided in measurement units, following the BIPM Guide to the Expression of Uncertainty in Measurement (GUM).  # TODO: differs per PFS</a:t>
            </a:r>
          </a:p>
          <a:p>
            <a:r>
              <a:rPr sz="1100">
                <a:latin typeface="Consolas"/>
              </a:rPr>
              <a:t>  goal:</a:t>
            </a:r>
          </a:p>
          <a:p>
            <a:r>
              <a:rPr sz="1100">
                <a:latin typeface="Consolas"/>
              </a:rPr>
              <a:t>    optional: true  # TODO: differs per PFS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All algorithms and the sequence in which they were applied in the generation process are identified.</a:t>
                      </a:r>
                    </a:p>
                    <a:p/>
                    <a:p>
                      <a:r>
                        <a:rPr sz="1000"/>
                        <a:t>Algorithms must be published and validated, and a description of the validation process is included.</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solidFill>
                            <a:srgbClr val="1565C0"/>
                          </a:solidFill>
                        </a:rPr>
                        <a:t>All algorithms</a:t>
                      </a:r>
                      <a:r>
                        <a:rPr sz="1000"/>
                        <a:t>,</a:t>
                      </a:r>
                      <a:r>
                        <a:rPr sz="1000">
                          <a:solidFill>
                            <a:srgbClr val="1565C0"/>
                          </a:solidFill>
                        </a:rPr>
                        <a:t> and the sequence in which they were applied in the generation process</a:t>
                      </a:r>
                      <a:r>
                        <a:rPr sz="1000"/>
                        <a:t>,</a:t>
                      </a:r>
                      <a:r>
                        <a:rPr sz="1000">
                          <a:solidFill>
                            <a:srgbClr val="1565C0"/>
                          </a:solidFill>
                        </a:rPr>
                        <a:t> are identified</a:t>
                      </a:r>
                      <a:r>
                        <a:rPr sz="1000"/>
                        <a:t> in the metadata.</a:t>
                      </a:r>
                    </a:p>
                    <a:p>
                      <a:r>
                        <a:rPr sz="1000"/>
                        <a:t>For example, these may be available through Algorithm Theoretical Basis documents</a:t>
                      </a:r>
                      <a:r>
                        <a:rPr sz="1000"/>
                        <a:t>.</a:t>
                      </a:r>
                    </a:p>
                  </a:txBody>
                  <a:tcPr>
                    <a:solidFill>
                      <a:srgbClr val="FFFFFF"/>
                    </a:solidFill>
                  </a:tcPr>
                </a:tc>
                <a:tc>
                  <a:txBody>
                    <a:bodyPr/>
                    <a:lstStyle/>
                    <a:p>
                      <a:r>
                        <a:rPr sz="1000">
                          <a:solidFill>
                            <a:srgbClr val="1565C0"/>
                          </a:solidFill>
                        </a:rPr>
                        <a:t>All algorithms</a:t>
                      </a:r>
                      <a:r>
                        <a:rPr sz="1000">
                          <a:solidFill>
                            <a:srgbClr val="1565C0"/>
                          </a:solidFill>
                        </a:rPr>
                        <a:t> and the sequence in which they were applied in the generation process</a:t>
                      </a:r>
                      <a:r>
                        <a:rPr sz="1000">
                          <a:solidFill>
                            <a:srgbClr val="1565C0"/>
                          </a:solidFill>
                        </a:rPr>
                        <a:t> are identified</a:t>
                      </a:r>
                      <a:r>
                        <a:rPr sz="1000"/>
                        <a:t>.</a:t>
                      </a:r>
                    </a:p>
                    <a:p/>
                    <a:p>
                      <a:r>
                        <a:rPr sz="1000"/>
                        <a:t>Algorithms must be published and validated, and a description of the validation process is included</a:t>
                      </a:r>
                      <a:r>
                        <a:rPr sz="1000"/>
                        <a:t>.</a:t>
                      </a:r>
                    </a:p>
                  </a:txBody>
                  <a:tcPr>
                    <a:solidFill>
                      <a:srgbClr val="FFFFFF"/>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3534156"/>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It is possible that corrections are applied through non-disclosed processes. CEOS-ARD does not require full and open data and methods.</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I</a:t>
                      </a:r>
                      <a:r>
                        <a:rPr sz="1000"/>
                        <a:t>nformation on algorithms should be available in the metadata as a single DOI landing page</a:t>
                      </a:r>
                      <a:r>
                        <a:rPr sz="1000"/>
                        <a:t>.</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As threshold, but only algorithms that have been published in a peer-reviewed journal.</a:t>
                      </a:r>
                    </a:p>
                    <a:p>
                      <a:r>
                        <a:rPr sz="1000" i="1">
                          <a:solidFill>
                            <a:srgbClr val="808080"/>
                          </a:solidFill>
                        </a:rPr>
                        <a:t>(optional)</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A</a:t>
                      </a:r>
                      <a:r>
                        <a:rPr sz="1000" strike="sngStrike">
                          <a:solidFill>
                            <a:srgbClr val="B00000"/>
                          </a:solidFill>
                        </a:rPr>
                        <a:t>s threshold, but only</a:t>
                      </a:r>
                      <a:r>
                        <a:rPr sz="1000" b="1">
                          <a:solidFill>
                            <a:srgbClr val="2E7D32"/>
                          </a:solidFill>
                        </a:rPr>
                        <a:t>ll</a:t>
                      </a:r>
                      <a:r>
                        <a:rPr sz="1000"/>
                        <a:t> algorithms </a:t>
                      </a:r>
                      <a:r>
                        <a:rPr sz="1000" strike="sngStrike">
                          <a:solidFill>
                            <a:srgbClr val="B00000"/>
                          </a:solidFill>
                        </a:rPr>
                        <a:t>that have been</a:t>
                      </a:r>
                      <a:r>
                        <a:rPr sz="1000" b="1">
                          <a:solidFill>
                            <a:srgbClr val="2E7D32"/>
                          </a:solidFill>
                        </a:rPr>
                        <a:t>and versions, and the sequence in which they were applied in the generation process, are identified and</a:t>
                      </a:r>
                      <a:r>
                        <a:rPr sz="1000"/>
                        <a:t> published in a peer-reviewed journal.</a:t>
                      </a:r>
                    </a:p>
                    <a:p>
                      <a:r>
                        <a:rPr sz="1000" i="1">
                          <a:solidFill>
                            <a:srgbClr val="808080"/>
                          </a:solidFill>
                        </a:rPr>
                        <a:t>(optional)</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3232403"/>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It is possible that high-quality corrections are applied through non-disclosed processes. CEOS-ARD does not per-se require full and open data and methods.</a:t>
                      </a:r>
                    </a:p>
                    <a:p/>
                    <a:p>
                      <a:r>
                        <a:rPr sz="1000"/>
                        <a:t>Information on algorithms should be available in the metadata as a single DOI landing page.</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
        <p:nvSpPr>
          <p:cNvPr id="5" name="TextBox 4"/>
          <p:cNvSpPr txBox="1"/>
          <p:nvPr/>
        </p:nvSpPr>
        <p:spPr>
          <a:xfrm>
            <a:off x="457200" y="5157216"/>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6.0 intentionally removed the threshold requirement (issue #55: uncertainty information at threshold level makes full algorithm details unnecessary) — ST is therefore excluded from the threshold alignment.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Algorithms</a:t>
            </a:r>
          </a:p>
          <a:p>
            <a:r>
              <a:rPr sz="1100">
                <a:latin typeface="Consolas"/>
              </a:rPr>
              <a:t>requirements:</a:t>
            </a:r>
          </a:p>
          <a:p>
            <a:r>
              <a:rPr sz="1100">
                <a:latin typeface="Consolas"/>
              </a:rPr>
              <a:t>  threshold:</a:t>
            </a:r>
          </a:p>
          <a:p>
            <a:r>
              <a:rPr sz="1100">
                <a:latin typeface="Consolas"/>
              </a:rPr>
              <a:t>    description: |-  # TODO: differs per PFS</a:t>
            </a:r>
          </a:p>
          <a:p>
            <a:r>
              <a:rPr sz="1100">
                <a:latin typeface="Consolas"/>
              </a:rPr>
              <a:t>      All algorithms and the sequence in which they were applied in the generation process are identified.</a:t>
            </a:r>
          </a:p>
          <a:p>
            <a:r>
              <a:rPr sz="1100">
                <a:latin typeface="Consolas"/>
              </a:rPr>
              <a:t>      </a:t>
            </a:r>
          </a:p>
          <a:p>
            <a:r>
              <a:rPr sz="1100">
                <a:latin typeface="Consolas"/>
              </a:rPr>
              <a:t>      Algorithms must be published and validated, and a description of the validation process is included.</a:t>
            </a:r>
          </a:p>
          <a:p>
            <a:r>
              <a:rPr sz="1100">
                <a:latin typeface="Consolas"/>
              </a:rPr>
              <a:t>    notes:  # TODO: differs per PFS</a:t>
            </a:r>
          </a:p>
          <a:p>
            <a:r>
              <a:rPr sz="1100">
                <a:latin typeface="Consolas"/>
              </a:rPr>
              <a:t>      - It is possible that corrections are applied through non-disclosed processes. CEOS-ARD does not require full and open data and methods.</a:t>
            </a:r>
          </a:p>
          <a:p>
            <a:r>
              <a:rPr sz="1100">
                <a:latin typeface="Consolas"/>
              </a:rPr>
              <a:t>  goal:</a:t>
            </a:r>
          </a:p>
          <a:p>
            <a:r>
              <a:rPr sz="1100">
                <a:latin typeface="Consolas"/>
              </a:rPr>
              <a:t>    optional: true  # TODO: differs per PFS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Lists the sources of auxiliary data used in the generation process.</a:t>
                      </a:r>
                    </a:p>
                  </a:txBody>
                  <a:tcPr>
                    <a:solidFill>
                      <a:srgbClr val="FFFFFF"/>
                    </a:solidFill>
                  </a:tcPr>
                </a:tc>
                <a:tc>
                  <a:txBody>
                    <a:bodyPr/>
                    <a:lstStyle/>
                    <a:p>
                      <a:r>
                        <a:rPr sz="1000" strike="sngStrike">
                          <a:solidFill>
                            <a:srgbClr val="B00000"/>
                          </a:solidFill>
                        </a:rPr>
                        <a:t>List</a:t>
                      </a:r>
                      <a:r>
                        <a:rPr sz="1000" b="1">
                          <a:solidFill>
                            <a:srgbClr val="2E7D32"/>
                          </a:solidFill>
                        </a:rPr>
                        <a:t>The metadata identifie</a:t>
                      </a:r>
                      <a:r>
                        <a:rPr sz="1000"/>
                        <a:t>s the sources of auxiliary data used in the generation process.</a:t>
                      </a:r>
                    </a:p>
                  </a:txBody>
                  <a:tcPr>
                    <a:solidFill>
                      <a:srgbClr val="FFFFFF"/>
                    </a:solidFill>
                  </a:tcPr>
                </a:tc>
              </a:tr>
              <a:tr h="91440">
                <a:tc>
                  <a:txBody>
                    <a:bodyPr/>
                    <a:lstStyle/>
                    <a:p>
                      <a:r>
                        <a:rPr sz="1000" b="1"/>
                        <a:t>NLSR, SR</a:t>
                      </a:r>
                    </a:p>
                  </a:txBody>
                  <a:tcPr>
                    <a:solidFill>
                      <a:srgbClr val="FFFFFF"/>
                    </a:solidFill>
                  </a:tcPr>
                </a:tc>
                <a:tc>
                  <a:txBody>
                    <a:bodyPr/>
                    <a:lstStyle/>
                    <a:p>
                      <a:r>
                        <a:rPr sz="1000" strike="sngStrike">
                          <a:solidFill>
                            <a:srgbClr val="B00000"/>
                          </a:solidFill>
                        </a:rPr>
                        <a:t>List</a:t>
                      </a:r>
                      <a:r>
                        <a:rPr sz="1000" b="1">
                          <a:solidFill>
                            <a:srgbClr val="2E7D32"/>
                          </a:solidFill>
                        </a:rPr>
                        <a:t>The metadata identifie</a:t>
                      </a:r>
                      <a:r>
                        <a:rPr sz="1000"/>
                        <a:t>s the sources of auxiliary data used in the generation process</a:t>
                      </a:r>
                      <a:r>
                        <a:rPr sz="1000" strike="sngStrike">
                          <a:solidFill>
                            <a:srgbClr val="B00000"/>
                          </a:solidFill>
                        </a:rPr>
                        <a:t>.</a:t>
                      </a:r>
                      <a:r>
                        <a:rPr sz="1000" b="1">
                          <a:solidFill>
                            <a:srgbClr val="2E7D32"/>
                          </a:solidFill>
                        </a:rPr>
                        <a:t>, ideally expressed as a single DOI landing page. </a:t>
                      </a:r>
                    </a:p>
                  </a:txBody>
                  <a:tcPr>
                    <a:solidFill>
                      <a:srgbClr val="FFFFFF"/>
                    </a:solidFill>
                  </a:tcPr>
                </a:tc>
                <a:tc>
                  <a:txBody>
                    <a:bodyPr/>
                    <a:lstStyle/>
                    <a:p>
                      <a:r>
                        <a:rPr sz="1000"/>
                        <a:t>The metadata identifies the sources of auxiliary data used in the generation process</a:t>
                      </a:r>
                      <a:r>
                        <a:rPr sz="1000" strike="sngStrike">
                          <a:solidFill>
                            <a:srgbClr val="B00000"/>
                          </a:solidFill>
                        </a:rPr>
                        <a:t>, ideally expressed as a single DOI landing page. </a:t>
                      </a:r>
                      <a:r>
                        <a:rPr sz="1000" b="1">
                          <a:solidFill>
                            <a:srgbClr val="2E7D32"/>
                          </a:solidFill>
                        </a:rPr>
                        <a:t>.</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62890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Auxiliary data includes DEMs, aerosols, etc. data sources.</a:t>
                      </a:r>
                    </a:p>
                  </a:txBody>
                  <a:tcPr>
                    <a:solidFill>
                      <a:srgbClr val="FFFFFF"/>
                    </a:solidFill>
                  </a:tcPr>
                </a:tc>
                <a:tc>
                  <a:txBody>
                    <a:bodyPr/>
                    <a:lstStyle/>
                    <a:p>
                      <a:r>
                        <a:rPr sz="1000"/>
                        <a:t>Auxiliary data includes DEMs, </a:t>
                      </a:r>
                      <a:r>
                        <a:rPr sz="1000" strike="sngStrike">
                          <a:solidFill>
                            <a:srgbClr val="B00000"/>
                          </a:solidFill>
                        </a:rPr>
                        <a:t>aerosols, etc.</a:t>
                      </a:r>
                      <a:r>
                        <a:rPr sz="1000" b="1">
                          <a:solidFill>
                            <a:srgbClr val="2E7D32"/>
                          </a:solidFill>
                        </a:rPr>
                        <a:t>etc., and any additional</a:t>
                      </a:r>
                      <a:r>
                        <a:rPr sz="1000"/>
                        <a:t> data sources</a:t>
                      </a:r>
                      <a:r>
                        <a:rPr sz="1000" b="1">
                          <a:solidFill>
                            <a:srgbClr val="2E7D32"/>
                          </a:solidFill>
                        </a:rPr>
                        <a:t> used in the generation of the product</a:t>
                      </a:r>
                      <a:r>
                        <a:rPr sz="1000"/>
                        <a:t>.</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41010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but information on auxiliary data should be available for free online download, contemporaneously with the product or through a link to the source.</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As threshold, but information on auxiliary data should be</a:t>
                      </a:r>
                      <a:r>
                        <a:rPr sz="1000" b="1">
                          <a:solidFill>
                            <a:srgbClr val="2E7D32"/>
                          </a:solidFill>
                        </a:rPr>
                        <a:t> available in the metadata as a single DOI landing page and is also</a:t>
                      </a:r>
                      <a:r>
                        <a:rPr sz="1000"/>
                        <a:t> available for free online download, contemporaneously with the product or through a link to the source.</a:t>
                      </a:r>
                    </a:p>
                  </a:txBody>
                  <a:tcPr>
                    <a:solidFill>
                      <a:srgbClr val="FFFFFF"/>
                    </a:solidFill>
                  </a:tcPr>
                </a:tc>
                <a:tc>
                  <a:txBody>
                    <a:bodyPr/>
                    <a:lstStyle/>
                    <a:p>
                      <a:r>
                        <a:rPr sz="1000"/>
                        <a:t>As threshold, but information on auxiliary data should be</a:t>
                      </a:r>
                      <a:r>
                        <a:rPr sz="1000" strike="sngStrike">
                          <a:solidFill>
                            <a:srgbClr val="B00000"/>
                          </a:solidFill>
                        </a:rPr>
                        <a:t> available in the metadata as a single DOI landing page and is also</a:t>
                      </a:r>
                      <a:r>
                        <a:rPr sz="1000"/>
                        <a:t> available for free online download, contemporaneously with the product or through a link to the source.</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The metadata identifies the sources of</a:t>
                      </a:r>
                      <a:r>
                        <a:rPr sz="1000">
                          <a:solidFill>
                            <a:srgbClr val="1565C0"/>
                          </a:solidFill>
                        </a:rPr>
                        <a:t> auxiliary data </a:t>
                      </a:r>
                      <a:r>
                        <a:rPr sz="1000"/>
                        <a:t>used in the generation process, ideally expressed as DOIs</a:t>
                      </a:r>
                      <a:r>
                        <a:rPr sz="1000"/>
                        <a:t>.</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Auxiliary data includes DEMs, etc., and any additional data sources used in the generation of the product.</a:t>
                      </a:r>
                    </a:p>
                  </a:txBody>
                  <a:tcPr>
                    <a:solidFill>
                      <a:srgbClr val="FFFFFF"/>
                    </a:solidFill>
                  </a:tcPr>
                </a:tc>
                <a:tc>
                  <a:txBody>
                    <a:bodyPr/>
                    <a:lstStyle/>
                    <a:p/>
                  </a:txBody>
                  <a:tcPr>
                    <a:solidFill>
                      <a:srgbClr val="FFFFFF"/>
                    </a:solidFill>
                  </a:tcPr>
                </a:tc>
              </a:tr>
            </a:tbl>
          </a:graphicData>
        </a:graphic>
      </p:graphicFrame>
      <p:sp>
        <p:nvSpPr>
          <p:cNvPr id="4" name="TextBox 3"/>
          <p:cNvSpPr txBox="1"/>
          <p:nvPr/>
        </p:nvSpPr>
        <p:spPr>
          <a:xfrm>
            <a:off x="457200" y="2478024"/>
            <a:ext cx="11277295" cy="1060704"/>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The SAR variant only defines a goal; consider adding the aligned threshold requirement there as well.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Auxiliary Data</a:t>
            </a:r>
          </a:p>
          <a:p>
            <a:r>
              <a:rPr sz="1100">
                <a:latin typeface="Consolas"/>
              </a:rPr>
              <a:t>requirements:</a:t>
            </a:r>
          </a:p>
          <a:p>
            <a:r>
              <a:rPr sz="1100">
                <a:latin typeface="Consolas"/>
              </a:rPr>
              <a:t>  threshold:</a:t>
            </a:r>
          </a:p>
          <a:p>
            <a:r>
              <a:rPr sz="1100">
                <a:latin typeface="Consolas"/>
              </a:rPr>
              <a:t>    description: The metadata identifies the sources of auxiliary data used in the generation process.  # TODO: differs per PFS</a:t>
            </a:r>
          </a:p>
          <a:p>
            <a:r>
              <a:rPr sz="1100">
                <a:latin typeface="Consolas"/>
              </a:rPr>
              <a:t>  goal:</a:t>
            </a:r>
          </a:p>
          <a:p>
            <a:r>
              <a:rPr sz="1100">
                <a:latin typeface="Consolas"/>
              </a:rPr>
              <a:t>    description: As threshold, but information on auxiliary data should be available for free online download, contemporaneously with the product or through a link to the source.  # TODO: differs per PFS</a:t>
            </a:r>
          </a:p>
          <a:p>
            <a:r>
              <a:rPr sz="1100">
                <a:latin typeface="Consolas"/>
              </a:rPr>
              <a:t>    optional: true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metadata/crs-*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Coordinate Reference System</a:t>
                      </a:r>
                    </a:p>
                  </a:txBody>
                  <a:tcPr>
                    <a:solidFill>
                      <a:srgbClr val="FFFFFF"/>
                    </a:solidFill>
                  </a:tcPr>
                </a:tc>
                <a:tc>
                  <a:txBody>
                    <a:bodyPr/>
                    <a:lstStyle/>
                    <a:p>
                      <a:r>
                        <a:rPr sz="1000"/>
                        <a:t>Coordinate Reference System</a:t>
                      </a:r>
                    </a:p>
                  </a:txBody>
                  <a:tcPr>
                    <a:solidFill>
                      <a:srgbClr val="FFFFFF"/>
                    </a:solidFill>
                  </a:tcPr>
                </a:tc>
              </a:tr>
              <a:tr h="91440">
                <a:tc>
                  <a:txBody>
                    <a:bodyPr/>
                    <a:lstStyle/>
                    <a:p>
                      <a:r>
                        <a:rPr sz="1000" b="1"/>
                        <a:t>NLSR, SR, ST</a:t>
                      </a:r>
                    </a:p>
                  </a:txBody>
                  <a:tcPr>
                    <a:solidFill>
                      <a:srgbClr val="FFFFFF"/>
                    </a:solidFill>
                  </a:tcPr>
                </a:tc>
                <a:tc>
                  <a:txBody>
                    <a:bodyPr/>
                    <a:lstStyle/>
                    <a:p>
                      <a:r>
                        <a:rPr sz="1000"/>
                        <a:t>Coordinate Reference System</a:t>
                      </a:r>
                    </a:p>
                  </a:txBody>
                  <a:tcPr>
                    <a:solidFill>
                      <a:srgbClr val="FFFFFF"/>
                    </a:solidFill>
                  </a:tcPr>
                </a:tc>
                <a:tc>
                  <a:txBody>
                    <a:bodyPr/>
                    <a:lstStyle/>
                    <a:p>
                      <a:r>
                        <a:rPr sz="1000"/>
                        <a:t>Coordinate Reference System</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b="1">
                          <a:solidFill>
                            <a:srgbClr val="2E7D32"/>
                          </a:solidFill>
                        </a:rPr>
                        <a:t>Product </a:t>
                      </a:r>
                      <a:r>
                        <a:rPr sz="1000"/>
                        <a:t>Coordinate Reference System</a:t>
                      </a:r>
                    </a:p>
                  </a:txBody>
                  <a:tcPr>
                    <a:solidFill>
                      <a:srgbClr val="FFFFFF"/>
                    </a:solidFill>
                  </a:tcPr>
                </a:tc>
                <a:tc>
                  <a:txBody>
                    <a:bodyPr/>
                    <a:lstStyle/>
                    <a:p>
                      <a:r>
                        <a:rPr sz="1000" strike="sngStrike">
                          <a:solidFill>
                            <a:srgbClr val="B00000"/>
                          </a:solidFill>
                        </a:rPr>
                        <a:t>Product </a:t>
                      </a:r>
                      <a:r>
                        <a:rPr sz="1000"/>
                        <a:t>Coordinate Reference System</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The coordinate reference system that has been used is detailed.</a:t>
                      </a:r>
                    </a:p>
                  </a:txBody>
                  <a:tcPr>
                    <a:solidFill>
                      <a:srgbClr val="FFFFFF"/>
                    </a:solidFill>
                  </a:tcPr>
                </a:tc>
                <a:tc>
                  <a:txBody>
                    <a:bodyPr/>
                    <a:lstStyle/>
                    <a:p>
                      <a:r>
                        <a:rPr sz="1000"/>
                        <a:t>T</a:t>
                      </a:r>
                      <a:r>
                        <a:rPr sz="1000" b="1">
                          <a:solidFill>
                            <a:srgbClr val="2E7D32"/>
                          </a:solidFill>
                        </a:rPr>
                        <a:t>he metadata lists t</a:t>
                      </a:r>
                      <a:r>
                        <a:rPr sz="1000"/>
                        <a:t>he coordinate reference system that has been used</a:t>
                      </a:r>
                      <a:r>
                        <a:rPr sz="1000" strike="sngStrike">
                          <a:solidFill>
                            <a:srgbClr val="B00000"/>
                          </a:solidFill>
                        </a:rPr>
                        <a:t> is detailed</a:t>
                      </a:r>
                      <a:r>
                        <a:rPr sz="1000"/>
                        <a:t>.</a:t>
                      </a:r>
                    </a:p>
                  </a:txBody>
                  <a:tcPr>
                    <a:solidFill>
                      <a:srgbClr val="FFFFFF"/>
                    </a:solidFill>
                  </a:tcPr>
                </a:tc>
              </a:tr>
              <a:tr h="91440">
                <a:tc>
                  <a:txBody>
                    <a:bodyPr/>
                    <a:lstStyle/>
                    <a:p>
                      <a:r>
                        <a:rPr sz="1000" b="1"/>
                        <a:t>NLSR, SR, ST</a:t>
                      </a:r>
                    </a:p>
                  </a:txBody>
                  <a:tcPr>
                    <a:solidFill>
                      <a:srgbClr val="FFFFFF"/>
                    </a:solidFill>
                  </a:tcPr>
                </a:tc>
                <a:tc>
                  <a:txBody>
                    <a:bodyPr/>
                    <a:lstStyle/>
                    <a:p>
                      <a:r>
                        <a:rPr sz="1000"/>
                        <a:t>T</a:t>
                      </a:r>
                      <a:r>
                        <a:rPr sz="1000" b="1">
                          <a:solidFill>
                            <a:srgbClr val="2E7D32"/>
                          </a:solidFill>
                        </a:rPr>
                        <a:t>he metadata lists t</a:t>
                      </a:r>
                      <a:r>
                        <a:rPr sz="1000"/>
                        <a:t>he coordinate reference system that has been used</a:t>
                      </a:r>
                      <a:r>
                        <a:rPr sz="1000" strike="sngStrike">
                          <a:solidFill>
                            <a:srgbClr val="B00000"/>
                          </a:solidFill>
                        </a:rPr>
                        <a:t> is detailed</a:t>
                      </a:r>
                      <a:r>
                        <a:rPr sz="1000"/>
                        <a:t>.</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The</a:t>
                      </a:r>
                      <a:r>
                        <a:rPr sz="1000"/>
                        <a:t> metadata lists the map projection (or geographical</a:t>
                      </a:r>
                      <a:r>
                        <a:rPr sz="1000">
                          <a:solidFill>
                            <a:srgbClr val="1565C0"/>
                          </a:solidFill>
                        </a:rPr>
                        <a:t> coordinate</a:t>
                      </a:r>
                      <a:r>
                        <a:rPr sz="1000"/>
                        <a:t>s, if applicable) that was used and any relevant parameters required to geolocate data in that map projection, expressed in a standardised format (e.g., WKT).</a:t>
                      </a:r>
                    </a:p>
                    <a:p/>
                    <a:p>
                      <a:r>
                        <a:rPr sz="1000"/>
                        <a:t>Indicate EPSG code, if defined for the CRS</a:t>
                      </a:r>
                      <a:r>
                        <a:rPr sz="1000"/>
                        <a:t>.</a:t>
                      </a:r>
                    </a:p>
                  </a:txBody>
                  <a:tcPr>
                    <a:solidFill>
                      <a:srgbClr val="FFFFFF"/>
                    </a:solidFill>
                  </a:tcPr>
                </a:tc>
                <a:tc>
                  <a:txBody>
                    <a:bodyPr/>
                    <a:lstStyle/>
                    <a:p/>
                  </a:txBody>
                  <a:tcPr>
                    <a:solidFill>
                      <a:srgbClr val="FFFFFF"/>
                    </a:solidFill>
                  </a:tcPr>
                </a:tc>
              </a:tr>
            </a:tbl>
          </a:graphicData>
        </a:graphic>
      </p:graphicFrame>
      <p:sp>
        <p:nvSpPr>
          <p:cNvPr id="5" name="TextBox 4"/>
          <p:cNvSpPr txBox="1"/>
          <p:nvPr/>
        </p:nvSpPr>
        <p:spPr>
          <a:xfrm>
            <a:off x="457200" y="4704588"/>
            <a:ext cx="11277295" cy="621792"/>
          </a:xfrm>
          <a:prstGeom prst="rect">
            <a:avLst/>
          </a:prstGeom>
          <a:noFill/>
        </p:spPr>
        <p:txBody>
          <a:bodyPr wrap="square">
            <a:spAutoFit/>
          </a:bodyPr>
          <a:lstStyle/>
          <a:p>
            <a:r>
              <a:rPr sz="1200" b="1"/>
              <a:t>Internal notes: </a:t>
            </a:r>
            <a:r>
              <a:rPr sz="1200" i="1"/>
              <a:t>The SAR variant additionally requires a standardised format (e.g., WKT) and the EPSG code — consider adopting this for the optical PFS in a future revision.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metadata/crs-*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Coordinate Reference System</a:t>
            </a:r>
          </a:p>
          <a:p>
            <a:r>
              <a:rPr sz="1100">
                <a:latin typeface="Consolas"/>
              </a:rPr>
              <a:t>requirements:</a:t>
            </a:r>
          </a:p>
          <a:p>
            <a:r>
              <a:rPr sz="1100">
                <a:latin typeface="Consolas"/>
              </a:rPr>
              <a:t>  threshold:</a:t>
            </a:r>
          </a:p>
          <a:p>
            <a:r>
              <a:rPr sz="1100">
                <a:latin typeface="Consolas"/>
              </a:rPr>
              <a:t>    description: The metadata lists the coordinate reference system that has been used.  # TODO: differs per PFS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Data Access</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b="1">
                          <a:solidFill>
                            <a:srgbClr val="2E7D32"/>
                          </a:solidFill>
                        </a:rPr>
                        <a:t>Product </a:t>
                      </a:r>
                      <a:r>
                        <a:rPr sz="1000"/>
                        <a:t>Data Access</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b="1">
                          <a:solidFill>
                            <a:srgbClr val="2E7D32"/>
                          </a:solidFill>
                        </a:rPr>
                        <a:t>Source </a:t>
                      </a:r>
                      <a:r>
                        <a:rPr sz="1000"/>
                        <a:t>Data Access</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Information on data access should be available in the metadata as a single DOI landing page.</a:t>
                      </a:r>
                    </a:p>
                  </a:txBody>
                  <a:tcPr>
                    <a:solidFill>
                      <a:srgbClr val="FFFFFF"/>
                    </a:solidFill>
                  </a:tcPr>
                </a:tc>
                <a:tc>
                  <a:txBody>
                    <a:bodyPr/>
                    <a:lstStyle/>
                    <a:p>
                      <a:r>
                        <a:rPr sz="1000"/>
                        <a:t>T</a:t>
                      </a:r>
                      <a:r>
                        <a:rPr sz="1000">
                          <a:solidFill>
                            <a:srgbClr val="1565C0"/>
                          </a:solidFill>
                        </a:rPr>
                        <a:t>he metadata </a:t>
                      </a:r>
                      <a:r>
                        <a:rPr sz="1000"/>
                        <a:t>identifies the location from where the product can be retrieved, expressed as a URL or DOI</a:t>
                      </a:r>
                      <a:r>
                        <a:rPr sz="1000"/>
                        <a:t>.</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Processing parameters details of the CEOS-ARD product:</a:t>
                      </a:r>
                    </a:p>
                    <a:p/>
                    <a:p>
                      <a:r>
                        <a:rPr sz="1000"/>
                        <a:t>- Processing facility</a:t>
                      </a:r>
                    </a:p>
                    <a:p>
                      <a:r>
                        <a:rPr sz="1000"/>
                        <a:t>- Processing date</a:t>
                      </a:r>
                    </a:p>
                    <a:p>
                      <a:r>
                        <a:rPr sz="1000"/>
                        <a:t>- Software version</a:t>
                      </a:r>
                    </a:p>
                    <a:p>
                      <a:r>
                        <a:rPr sz="1000"/>
                        <a:t>- Location from where CEOS-ARD product can be retrieved, expressed as a URL or DOI</a:t>
                      </a:r>
                      <a:r>
                        <a:rPr sz="1000"/>
                        <a:t>.</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T</a:t>
                      </a:r>
                      <a:r>
                        <a:rPr sz="1000">
                          <a:solidFill>
                            <a:srgbClr val="1565C0"/>
                          </a:solidFill>
                        </a:rPr>
                        <a:t>he metadata </a:t>
                      </a:r>
                      <a:r>
                        <a:rPr sz="1000"/>
                        <a:t>identifies the location from where the source data can be retrieved, expressed as a URL or DOI</a:t>
                      </a:r>
                      <a:r>
                        <a:rPr sz="1000"/>
                        <a:t>.</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50063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Manual and offline interaction action (e.g., login) may be required.</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NLSR, SR,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The metadata identifies an online location from where the data can be consistently and reliably retrieved by a computer algorithm without any manual intervention being required.</a:t>
                      </a:r>
                    </a:p>
                  </a:txBody>
                  <a:tcPr>
                    <a:solidFill>
                      <a:srgbClr val="FFFFFF"/>
                    </a:solidFill>
                  </a:tcPr>
                </a:tc>
              </a:tr>
              <a:tr h="91440">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The metadata identifies an online location from where the data can be consistently and reliably retrieved by a computer algorithm without any manual intervention being required.</a:t>
                      </a:r>
                    </a:p>
                    <a:p>
                      <a:r>
                        <a:rPr sz="1000" i="1">
                          <a:solidFill>
                            <a:srgbClr val="808080"/>
                          </a:solidFill>
                        </a:rPr>
                        <a:t>(optional)</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The metadata identifies an online location from where the data can be consistently and reliably retrieved by a computer algorithm without any manual intervention being required.</a:t>
                      </a:r>
                    </a:p>
                    <a:p>
                      <a:r>
                        <a:rPr sz="1000" i="1">
                          <a:solidFill>
                            <a:srgbClr val="808080"/>
                          </a:solidFill>
                        </a:rPr>
                        <a:t>(optional)</a:t>
                      </a:r>
                    </a:p>
                  </a:txBody>
                  <a:tcPr>
                    <a:solidFill>
                      <a:srgbClr val="FFFFFF"/>
                    </a:solidFill>
                  </a:tcPr>
                </a:tc>
                <a:tc>
                  <a:txBody>
                    <a:bodyPr/>
                    <a:lstStyle/>
                    <a:p/>
                  </a:txBody>
                  <a:tcPr>
                    <a:solidFill>
                      <a:srgbClr val="FFFFFF"/>
                    </a:solidFill>
                  </a:tcPr>
                </a:tc>
              </a:tr>
            </a:tbl>
          </a:graphicData>
        </a:graphic>
      </p:graphicFrame>
      <p:sp>
        <p:nvSpPr>
          <p:cNvPr id="4" name="TextBox 3"/>
          <p:cNvSpPr txBox="1"/>
          <p:nvPr/>
        </p:nvSpPr>
        <p:spPr>
          <a:xfrm>
            <a:off x="457200" y="3534156"/>
            <a:ext cx="11277295" cy="1499616"/>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The current optical threshold only contains the DOI landing page sentence, which moves to category level — the proposal gives Data Access a concrete requirement, aligned with the SAR product variant. The split into Product/Source Data Access remains specific to the SAR family.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Data Access  # TODO: differs per PFS</a:t>
            </a:r>
          </a:p>
          <a:p>
            <a:r>
              <a:rPr sz="1100">
                <a:latin typeface="Consolas"/>
              </a:rPr>
              <a:t>requirements:</a:t>
            </a:r>
          </a:p>
          <a:p>
            <a:r>
              <a:rPr sz="1100">
                <a:latin typeface="Consolas"/>
              </a:rPr>
              <a:t>  threshold:</a:t>
            </a:r>
          </a:p>
          <a:p>
            <a:r>
              <a:rPr sz="1100">
                <a:latin typeface="Consolas"/>
              </a:rPr>
              <a:t>    description: The metadata identifies the location from where the product can be retrieved, expressed as a URL or DOI.  # TODO: differs per PFS</a:t>
            </a:r>
          </a:p>
          <a:p>
            <a:r>
              <a:rPr sz="1100">
                <a:latin typeface="Consolas"/>
              </a:rPr>
              <a:t>  goal:</a:t>
            </a:r>
          </a:p>
          <a:p>
            <a:r>
              <a:rPr sz="1100">
                <a:latin typeface="Consolas"/>
              </a:rPr>
              <a:t>    description: The metadata identifies an online location from where the data can be consistently and reliably retrieved by a computer algorithm without any manual intervention being required.</a:t>
            </a:r>
          </a:p>
          <a:p>
            <a:r>
              <a:rPr sz="1100">
                <a:latin typeface="Consolas"/>
              </a:rPr>
              <a:t>    optional: true  # TODO: differs per PFS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metadata/geo-area-*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Geographical Area</a:t>
                      </a:r>
                    </a:p>
                  </a:txBody>
                  <a:tcPr>
                    <a:solidFill>
                      <a:srgbClr val="FFFFFF"/>
                    </a:solidFill>
                  </a:tcPr>
                </a:tc>
                <a:tc>
                  <a:txBody>
                    <a:bodyPr/>
                    <a:lstStyle/>
                    <a:p>
                      <a:r>
                        <a:rPr sz="1000"/>
                        <a:t>Geographical Area</a:t>
                      </a:r>
                    </a:p>
                  </a:txBody>
                  <a:tcPr>
                    <a:solidFill>
                      <a:srgbClr val="FFFFFF"/>
                    </a:solidFill>
                  </a:tcPr>
                </a:tc>
              </a:tr>
              <a:tr h="121920">
                <a:tc>
                  <a:txBody>
                    <a:bodyPr/>
                    <a:lstStyle/>
                    <a:p>
                      <a:r>
                        <a:rPr sz="1000" b="1"/>
                        <a:t>CB, GSLC, INSAR, NRB, ORB, POL</a:t>
                      </a:r>
                    </a:p>
                  </a:txBody>
                  <a:tcPr>
                    <a:solidFill>
                      <a:srgbClr val="FFFFFF"/>
                    </a:solidFill>
                  </a:tcPr>
                </a:tc>
                <a:tc>
                  <a:txBody>
                    <a:bodyPr/>
                    <a:lstStyle/>
                    <a:p>
                      <a:r>
                        <a:rPr sz="1000" b="1">
                          <a:solidFill>
                            <a:srgbClr val="2E7D32"/>
                          </a:solidFill>
                        </a:rPr>
                        <a:t>Product </a:t>
                      </a:r>
                      <a:r>
                        <a:rPr sz="1000"/>
                        <a:t>Geographical </a:t>
                      </a:r>
                      <a:r>
                        <a:rPr sz="1000" strike="sngStrike">
                          <a:solidFill>
                            <a:srgbClr val="B00000"/>
                          </a:solidFill>
                        </a:rPr>
                        <a:t>Area</a:t>
                      </a:r>
                      <a:r>
                        <a:rPr sz="1000" b="1">
                          <a:solidFill>
                            <a:srgbClr val="2E7D32"/>
                          </a:solidFill>
                        </a:rPr>
                        <a:t>Extent</a:t>
                      </a:r>
                    </a:p>
                  </a:txBody>
                  <a:tcPr>
                    <a:solidFill>
                      <a:srgbClr val="FFFFFF"/>
                    </a:solidFill>
                  </a:tcPr>
                </a:tc>
                <a:tc>
                  <a:txBody>
                    <a:bodyPr/>
                    <a:lstStyle/>
                    <a:p>
                      <a:r>
                        <a:rPr sz="1000" strike="sngStrike">
                          <a:solidFill>
                            <a:srgbClr val="B00000"/>
                          </a:solidFill>
                        </a:rPr>
                        <a:t>Product </a:t>
                      </a:r>
                      <a:r>
                        <a:rPr sz="1000"/>
                        <a:t>Geographical </a:t>
                      </a:r>
                      <a:r>
                        <a:rPr sz="1000" strike="sngStrike">
                          <a:solidFill>
                            <a:srgbClr val="B00000"/>
                          </a:solidFill>
                        </a:rPr>
                        <a:t>Extent</a:t>
                      </a:r>
                      <a:r>
                        <a:rPr sz="1000" b="1">
                          <a:solidFill>
                            <a:srgbClr val="2E7D32"/>
                          </a:solidFill>
                        </a:rPr>
                        <a:t>Area</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22656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The surface location to which the data relates is identified, typically as a series of four corner points, expressed in an accepted coordinate reference system (e.g., WGS84).</a:t>
                      </a:r>
                    </a:p>
                  </a:txBody>
                  <a:tcPr>
                    <a:solidFill>
                      <a:srgbClr val="FFFFFF"/>
                    </a:solidFill>
                  </a:tcPr>
                </a:tc>
                <a:tc>
                  <a:txBody>
                    <a:bodyPr/>
                    <a:lstStyle/>
                    <a:p/>
                  </a:txBody>
                  <a:tcPr>
                    <a:solidFill>
                      <a:srgbClr val="FFFFFF"/>
                    </a:solidFill>
                  </a:tcPr>
                </a:tc>
              </a:tr>
              <a:tr h="121920">
                <a:tc>
                  <a:txBody>
                    <a:bodyPr/>
                    <a:lstStyle/>
                    <a:p>
                      <a:r>
                        <a:rPr sz="1000" b="1"/>
                        <a:t>CB, GSLC, INSAR, NRB, ORB, POL</a:t>
                      </a:r>
                    </a:p>
                  </a:txBody>
                  <a:tcPr>
                    <a:solidFill>
                      <a:srgbClr val="FFFFFF"/>
                    </a:solidFill>
                  </a:tcPr>
                </a:tc>
                <a:tc>
                  <a:txBody>
                    <a:bodyPr/>
                    <a:lstStyle/>
                    <a:p>
                      <a:r>
                        <a:rPr sz="1000"/>
                        <a:t>The </a:t>
                      </a:r>
                      <a:r>
                        <a:rPr sz="1000"/>
                        <a:t>geometry of the SAR image footprint</a:t>
                      </a:r>
                      <a:r>
                        <a:rPr sz="1000">
                          <a:solidFill>
                            <a:srgbClr val="1565C0"/>
                          </a:solidFill>
                        </a:rPr>
                        <a:t> expressed in </a:t>
                      </a:r>
                      <a:r>
                        <a:rPr sz="1000"/>
                        <a:t>longitude/latitude based on WGS84 (EPSG 4326), in a standardised format (e.g., WKT Polygon</a:t>
                      </a:r>
                      <a:r>
                        <a:rPr sz="1000"/>
                        <a:t>).</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37490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The geographic area covered by the observations is identified specifically, such as through a set of coordinates of a closely bounding polygon. The location to which each pixel refers is identified (or can be reliably determined) with the projection system (if any) and reference datum provided.</a:t>
                      </a:r>
                    </a:p>
                    <a:p>
                      <a:r>
                        <a:rPr sz="1000" i="1">
                          <a:solidFill>
                            <a:srgbClr val="808080"/>
                          </a:solidFill>
                        </a:rPr>
                        <a:t>(optional)</a:t>
                      </a:r>
                    </a:p>
                  </a:txBody>
                  <a:tcPr>
                    <a:solidFill>
                      <a:srgbClr val="FFFFFF"/>
                    </a:solidFill>
                  </a:tcPr>
                </a:tc>
                <a:tc>
                  <a:txBody>
                    <a:bodyPr/>
                    <a:lstStyle/>
                    <a:p/>
                  </a:txBody>
                  <a:tcPr>
                    <a:solidFill>
                      <a:srgbClr val="FFFFFF"/>
                    </a:solidFill>
                  </a:tcPr>
                </a:tc>
              </a:tr>
              <a:tr h="121920">
                <a:tc>
                  <a:txBody>
                    <a:bodyPr/>
                    <a:lstStyle/>
                    <a:p>
                      <a:r>
                        <a:rPr sz="1000" b="1"/>
                        <a:t>CB, GSLC, INSAR, NRB, ORB, POL</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txBody>
                  <a:tcPr>
                    <a:solidFill>
                      <a:srgbClr val="FFFFFF"/>
                    </a:solidFill>
                  </a:tcPr>
                </a:tc>
              </a:tr>
            </a:tbl>
          </a:graphicData>
        </a:graphic>
      </p:graphicFrame>
      <p:sp>
        <p:nvSpPr>
          <p:cNvPr id="6" name="TextBox 5"/>
          <p:cNvSpPr txBox="1"/>
          <p:nvPr/>
        </p:nvSpPr>
        <p:spPr>
          <a:xfrm>
            <a:off x="457200" y="5573268"/>
            <a:ext cx="11277295" cy="841247"/>
          </a:xfrm>
          <a:prstGeom prst="rect">
            <a:avLst/>
          </a:prstGeom>
          <a:noFill/>
        </p:spPr>
        <p:txBody>
          <a:bodyPr wrap="square">
            <a:spAutoFit/>
          </a:bodyPr>
          <a:lstStyle/>
          <a:p>
            <a:r>
              <a:rPr sz="1200" b="1"/>
              <a:t>Internal notes: </a:t>
            </a:r>
            <a:r>
              <a:rPr sz="1200" i="1"/>
              <a:t>The footprint conventions differ intentionally (optical: corner points; SAR: WKT polygon of the image footprint in EPSG 4326). Consider aligning on the more precise polygon/standardised-format wording across both families in a future revision.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metadata/geo-area-*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Geographical Area</a:t>
            </a:r>
          </a:p>
          <a:p>
            <a:r>
              <a:rPr sz="1100">
                <a:latin typeface="Consolas"/>
              </a:rPr>
              <a:t>requirements:</a:t>
            </a:r>
          </a:p>
          <a:p>
            <a:r>
              <a:rPr sz="1100">
                <a:latin typeface="Consolas"/>
              </a:rPr>
              <a:t>  threshold:</a:t>
            </a:r>
          </a:p>
          <a:p>
            <a:r>
              <a:rPr sz="1100">
                <a:latin typeface="Consolas"/>
              </a:rPr>
              <a:t>    description: The surface location to which the data relates is identified, typically as a series of four corner points, expressed in an accepted coordinate reference system (e.g., WGS84).  # TODO: differs per PFS</a:t>
            </a:r>
          </a:p>
          <a:p>
            <a:r>
              <a:rPr sz="1100">
                <a:latin typeface="Consolas"/>
              </a:rPr>
              <a:t>  goal:</a:t>
            </a:r>
          </a:p>
          <a:p>
            <a:r>
              <a:rPr sz="1100">
                <a:latin typeface="Consolas"/>
              </a:rPr>
              <a:t>    description: The geographic area covered by the observations is identified specifically, such as through a set of coordinates of a closely bounding polygon. The location to which each pixel refers is identified (or can be reliably determined) with the projection system (if any) and reference datum provided.  # TODO: differs per PFS</a:t>
            </a:r>
          </a:p>
          <a:p>
            <a:r>
              <a:rPr sz="1100">
                <a:latin typeface="Consolas"/>
              </a:rPr>
              <a:t>    optional: true  # TODO: differs per PFS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Methods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Information on geometric correction source and methods are provided, including reference database and auxiliary data such as elevation model(s) and reference chip-sets.</a:t>
                      </a:r>
                    </a:p>
                  </a:txBody>
                  <a:tcPr>
                    <a:solidFill>
                      <a:srgbClr val="FFFFFF"/>
                    </a:solidFill>
                  </a:tcPr>
                </a:tc>
                <a:tc>
                  <a:txBody>
                    <a:bodyPr/>
                    <a:lstStyle/>
                    <a:p/>
                  </a:txBody>
                  <a:tcPr>
                    <a:solidFill>
                      <a:srgbClr val="FFFFFF"/>
                    </a:solidFill>
                  </a:tcPr>
                </a:tc>
              </a:tr>
              <a:tr h="121920">
                <a:tc>
                  <a:txBody>
                    <a:bodyPr/>
                    <a:lstStyle/>
                    <a:p>
                      <a:r>
                        <a:rPr sz="1000" b="1"/>
                        <a:t>NLSR, SR</a:t>
                      </a:r>
                    </a:p>
                  </a:txBody>
                  <a:tcPr>
                    <a:solidFill>
                      <a:srgbClr val="FFFFFF"/>
                    </a:solidFill>
                  </a:tcPr>
                </a:tc>
                <a:tc>
                  <a:txBody>
                    <a:bodyPr/>
                    <a:lstStyle/>
                    <a:p>
                      <a:r>
                        <a:rPr sz="1000"/>
                        <a:t>Information on geometric correction </a:t>
                      </a:r>
                      <a:r>
                        <a:rPr sz="1000" strike="sngStrike">
                          <a:solidFill>
                            <a:srgbClr val="B00000"/>
                          </a:solidFill>
                        </a:rPr>
                        <a:t>source and methods are provided</a:t>
                      </a:r>
                      <a:r>
                        <a:rPr sz="1000" b="1">
                          <a:solidFill>
                            <a:srgbClr val="2E7D32"/>
                          </a:solidFill>
                        </a:rPr>
                        <a:t>methods should be available in the metadata as a single DOI landing page</a:t>
                      </a:r>
                      <a:r>
                        <a:rPr sz="1000"/>
                        <a:t>, including reference database and auxiliary data such as elevation model(s) and reference chip-sets.</a:t>
                      </a:r>
                      <a:r>
                        <a:rPr sz="1000" b="1">
                          <a:solidFill>
                            <a:srgbClr val="2E7D32"/>
                          </a:solidFill>
                        </a:rPr>
                        <a:t>  </a:t>
                      </a:r>
                    </a:p>
                  </a:txBody>
                  <a:tcPr>
                    <a:solidFill>
                      <a:srgbClr val="FFFFFF"/>
                    </a:solidFill>
                  </a:tcPr>
                </a:tc>
                <a:tc>
                  <a:txBody>
                    <a:bodyPr/>
                    <a:lstStyle/>
                    <a:p>
                      <a:r>
                        <a:rPr sz="1000"/>
                        <a:t>Information on geometric correction </a:t>
                      </a:r>
                      <a:r>
                        <a:rPr sz="1000" strike="sngStrike">
                          <a:solidFill>
                            <a:srgbClr val="B00000"/>
                          </a:solidFill>
                        </a:rPr>
                        <a:t>methods should be available in the metadata as a single DOI landing page</a:t>
                      </a:r>
                      <a:r>
                        <a:rPr sz="1000" b="1">
                          <a:solidFill>
                            <a:srgbClr val="2E7D32"/>
                          </a:solidFill>
                        </a:rPr>
                        <a:t>source and methods are provided</a:t>
                      </a:r>
                      <a:r>
                        <a:rPr sz="1000"/>
                        <a:t>, including reference database and auxiliary data such as elevation model(s) and reference chip-sets.</a:t>
                      </a:r>
                      <a:r>
                        <a:rPr sz="1000" strike="sngStrike">
                          <a:solidFill>
                            <a:srgbClr val="B00000"/>
                          </a:solidFill>
                        </a:rPr>
                        <a:t>  </a:t>
                      </a:r>
                    </a:p>
                  </a:txBody>
                  <a:tcPr>
                    <a:solidFill>
                      <a:srgbClr val="FFFFFF"/>
                    </a:solidFill>
                  </a:tcPr>
                </a:tc>
              </a:tr>
            </a:tbl>
          </a:graphicData>
        </a:graphic>
      </p:graphicFrame>
      <p:sp>
        <p:nvSpPr>
          <p:cNvPr id="4" name="TextBox 3"/>
          <p:cNvSpPr txBox="1"/>
          <p:nvPr/>
        </p:nvSpPr>
        <p:spPr>
          <a:xfrm>
            <a:off x="457200" y="2830068"/>
            <a:ext cx="11277295" cy="1060704"/>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Resolved for ST: it now uses the AR requirement directly (geometric-correction-methods-st was removed).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Methods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Geometric Correction Methods</a:t>
            </a:r>
          </a:p>
          <a:p>
            <a:r>
              <a:rPr sz="1100">
                <a:latin typeface="Consolas"/>
              </a:rPr>
              <a:t>requirements:</a:t>
            </a:r>
          </a:p>
          <a:p>
            <a:r>
              <a:rPr sz="1100">
                <a:latin typeface="Consolas"/>
              </a:rPr>
              <a:t>  goal:</a:t>
            </a:r>
          </a:p>
          <a:p>
            <a:r>
              <a:rPr sz="1100">
                <a:latin typeface="Consolas"/>
              </a:rPr>
              <a:t>    description: Information on geometric correction source and methods are provided, including reference database and auxiliary data such as elevation model(s) and reference chip-sets.</a:t>
            </a:r>
          </a:p>
          <a:p>
            <a:r>
              <a:rPr sz="1100">
                <a:latin typeface="Consolas"/>
              </a:rPr>
              <a:t>    optional: true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Instrument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The instrument used to collect the data is identified.</a:t>
                      </a:r>
                    </a:p>
                  </a:txBody>
                  <a:tcPr>
                    <a:solidFill>
                      <a:srgbClr val="FFFFFF"/>
                    </a:solidFill>
                  </a:tcPr>
                </a:tc>
                <a:tc>
                  <a:txBody>
                    <a:bodyPr/>
                    <a:lstStyle/>
                    <a:p>
                      <a:r>
                        <a:rPr sz="1000"/>
                        <a:t>The instrument used to collect the data is identified</a:t>
                      </a:r>
                      <a:r>
                        <a:rPr sz="1000" b="1">
                          <a:solidFill>
                            <a:srgbClr val="2E7D32"/>
                          </a:solidFill>
                        </a:rPr>
                        <a:t> in the metadata</a:t>
                      </a:r>
                      <a:r>
                        <a:rPr sz="1000"/>
                        <a:t>.</a:t>
                      </a:r>
                    </a:p>
                  </a:txBody>
                  <a:tcPr>
                    <a:solidFill>
                      <a:srgbClr val="FFFFFF"/>
                    </a:solidFill>
                  </a:tcPr>
                </a:tc>
              </a:tr>
              <a:tr h="91440">
                <a:tc>
                  <a:txBody>
                    <a:bodyPr/>
                    <a:lstStyle/>
                    <a:p>
                      <a:r>
                        <a:rPr sz="1000" b="1"/>
                        <a:t>NLSR, SR</a:t>
                      </a:r>
                    </a:p>
                  </a:txBody>
                  <a:tcPr>
                    <a:solidFill>
                      <a:srgbClr val="FFFFFF"/>
                    </a:solidFill>
                  </a:tcPr>
                </a:tc>
                <a:tc>
                  <a:txBody>
                    <a:bodyPr/>
                    <a:lstStyle/>
                    <a:p>
                      <a:r>
                        <a:rPr sz="1000"/>
                        <a:t>The instrument used to collect the data is identified</a:t>
                      </a:r>
                      <a:r>
                        <a:rPr sz="1000" b="1">
                          <a:solidFill>
                            <a:srgbClr val="2E7D32"/>
                          </a:solidFill>
                        </a:rPr>
                        <a:t> in the metadata</a:t>
                      </a:r>
                      <a:r>
                        <a:rPr sz="1000"/>
                        <a:t>.</a:t>
                      </a:r>
                    </a:p>
                  </a:txBody>
                  <a:tcPr>
                    <a:solidFill>
                      <a:srgbClr val="FFFFFF"/>
                    </a:solidFill>
                  </a:tcPr>
                </a:tc>
                <a:tc>
                  <a:txBody>
                    <a:bodyPr/>
                    <a:lstStyle/>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The instrument used to collect the data is identified</a:t>
                      </a:r>
                      <a:r>
                        <a:rPr sz="1000" strike="sngStrike">
                          <a:solidFill>
                            <a:srgbClr val="B00000"/>
                          </a:solidFill>
                        </a:rPr>
                        <a:t>.</a:t>
                      </a:r>
                      <a:r>
                        <a:rPr sz="1000" b="1">
                          <a:solidFill>
                            <a:srgbClr val="2E7D32"/>
                          </a:solidFill>
                        </a:rPr>
                        <a:t> in the metadata:</a:t>
                      </a:r>
                    </a:p>
                    <a:p/>
                    <a:p>
                      <a:r>
                        <a:rPr sz="1000" b="1">
                          <a:solidFill>
                            <a:srgbClr val="2E7D32"/>
                          </a:solidFill>
                        </a:rPr>
                        <a:t>- Satellite name</a:t>
                      </a:r>
                    </a:p>
                    <a:p>
                      <a:r>
                        <a:rPr sz="1000" b="1">
                          <a:solidFill>
                            <a:srgbClr val="2E7D32"/>
                          </a:solidFill>
                        </a:rPr>
                        <a:t>- Instrument name</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930652"/>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with references to the relevant “CEOS Missions, Instruments, and Measurements Database” record ([database.eohandbook.com](https://database.eohandbook.com)).</a:t>
                      </a:r>
                    </a:p>
                  </a:txBody>
                  <a:tcPr>
                    <a:solidFill>
                      <a:srgbClr val="FFFFFF"/>
                    </a:solidFill>
                  </a:tcPr>
                </a:tc>
                <a:tc>
                  <a:txBody>
                    <a:bodyPr/>
                    <a:lstStyle/>
                    <a:p>
                      <a:r>
                        <a:rPr sz="1000"/>
                        <a:t>As threshold, with references to the relevant </a:t>
                      </a:r>
                      <a:r>
                        <a:rPr sz="1000" strike="sngStrike">
                          <a:solidFill>
                            <a:srgbClr val="B00000"/>
                          </a:solidFill>
                        </a:rPr>
                        <a:t>“</a:t>
                      </a:r>
                      <a:r>
                        <a:rPr sz="1000"/>
                        <a:t>CEOS Missions, Instruments, and Measurements </a:t>
                      </a:r>
                      <a:r>
                        <a:rPr sz="1000" strike="sngStrike">
                          <a:solidFill>
                            <a:srgbClr val="B00000"/>
                          </a:solidFill>
                        </a:rPr>
                        <a:t>Database” record ([database.eohandbook.com](https://database.eohandbook.com)</a:t>
                      </a:r>
                      <a:r>
                        <a:rPr sz="1000" b="1">
                          <a:solidFill>
                            <a:srgbClr val="2E7D32"/>
                          </a:solidFill>
                        </a:rPr>
                        <a:t>(MIM) database record (https://ceos.org/mim-database</a:t>
                      </a:r>
                      <a:r>
                        <a:rPr sz="1000"/>
                        <a:t>).</a:t>
                      </a:r>
                    </a:p>
                  </a:txBody>
                  <a:tcPr>
                    <a:solidFill>
                      <a:srgbClr val="FFFFFF"/>
                    </a:solidFill>
                  </a:tcPr>
                </a:tc>
              </a:tr>
              <a:tr h="91440">
                <a:tc>
                  <a:txBody>
                    <a:bodyPr/>
                    <a:lstStyle/>
                    <a:p>
                      <a:r>
                        <a:rPr sz="1000" b="1"/>
                        <a:t>NLSR, SR</a:t>
                      </a:r>
                    </a:p>
                  </a:txBody>
                  <a:tcPr>
                    <a:solidFill>
                      <a:srgbClr val="FFFFFF"/>
                    </a:solidFill>
                  </a:tcPr>
                </a:tc>
                <a:tc>
                  <a:txBody>
                    <a:bodyPr/>
                    <a:lstStyle/>
                    <a:p>
                      <a:r>
                        <a:rPr sz="1000"/>
                        <a:t>As threshold,</a:t>
                      </a:r>
                      <a:r>
                        <a:rPr sz="1000" b="1">
                          <a:solidFill>
                            <a:srgbClr val="2E7D32"/>
                          </a:solidFill>
                        </a:rPr>
                        <a:t> but information should be available in the metadata as a single DOI landing page</a:t>
                      </a:r>
                      <a:r>
                        <a:rPr sz="1000"/>
                        <a:t> with references to the relevant </a:t>
                      </a:r>
                      <a:r>
                        <a:rPr sz="1000" strike="sngStrike">
                          <a:solidFill>
                            <a:srgbClr val="B00000"/>
                          </a:solidFill>
                        </a:rPr>
                        <a:t>“</a:t>
                      </a:r>
                      <a:r>
                        <a:rPr sz="1000"/>
                        <a:t>CEOS Missions, Instruments, and Measurements Database</a:t>
                      </a:r>
                      <a:r>
                        <a:rPr sz="1000" strike="sngStrike">
                          <a:solidFill>
                            <a:srgbClr val="B00000"/>
                          </a:solidFill>
                        </a:rPr>
                        <a:t>” record ([database.eohandbook.com](https://database.eohandbook.com)).</a:t>
                      </a:r>
                      <a:r>
                        <a:rPr sz="1000" b="1">
                          <a:solidFill>
                            <a:srgbClr val="2E7D32"/>
                          </a:solidFill>
                        </a:rPr>
                        <a:t> record.</a:t>
                      </a:r>
                    </a:p>
                  </a:txBody>
                  <a:tcPr>
                    <a:solidFill>
                      <a:srgbClr val="FFFFFF"/>
                    </a:solidFill>
                  </a:tcPr>
                </a:tc>
                <a:tc>
                  <a:txBody>
                    <a:bodyPr/>
                    <a:lstStyle/>
                    <a:p>
                      <a:r>
                        <a:rPr sz="1000"/>
                        <a:t>As threshold,</a:t>
                      </a:r>
                      <a:r>
                        <a:rPr sz="1000" strike="sngStrike">
                          <a:solidFill>
                            <a:srgbClr val="B00000"/>
                          </a:solidFill>
                        </a:rPr>
                        <a:t> but information should be available in the metadata as a single DOI landing page</a:t>
                      </a:r>
                      <a:r>
                        <a:rPr sz="1000"/>
                        <a:t> with references to the relevant CEOS Missions, Instruments, and Measurements </a:t>
                      </a:r>
                      <a:r>
                        <a:rPr sz="1000" strike="sngStrike">
                          <a:solidFill>
                            <a:srgbClr val="B00000"/>
                          </a:solidFill>
                        </a:rPr>
                        <a:t>D</a:t>
                      </a:r>
                      <a:r>
                        <a:rPr sz="1000" b="1">
                          <a:solidFill>
                            <a:srgbClr val="2E7D32"/>
                          </a:solidFill>
                        </a:rPr>
                        <a:t>(MIM) d</a:t>
                      </a:r>
                      <a:r>
                        <a:rPr sz="1000"/>
                        <a:t>atabase record</a:t>
                      </a:r>
                      <a:r>
                        <a:rPr sz="1000" strike="sngStrike">
                          <a:solidFill>
                            <a:srgbClr val="B00000"/>
                          </a:solidFill>
                        </a:rPr>
                        <a:t>.</a:t>
                      </a:r>
                      <a:r>
                        <a:rPr sz="1000" b="1">
                          <a:solidFill>
                            <a:srgbClr val="2E7D32"/>
                          </a:solidFill>
                        </a:rPr>
                        <a:t> (https://ceos.org/mim-database).</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solidFill>
                            <a:srgbClr val="1565C0"/>
                          </a:solidFill>
                        </a:rPr>
                        <a:t>As threshold, </a:t>
                      </a:r>
                      <a:r>
                        <a:rPr sz="1000"/>
                        <a:t>but using [</a:t>
                      </a:r>
                      <a:r>
                        <a:rPr sz="1000">
                          <a:solidFill>
                            <a:srgbClr val="1565C0"/>
                          </a:solidFill>
                        </a:rPr>
                        <a:t>CEOS Mission</a:t>
                      </a:r>
                      <a:r>
                        <a:rPr sz="1000"/>
                        <a:t>-</a:t>
                      </a:r>
                      <a:r>
                        <a:rPr sz="1000">
                          <a:solidFill>
                            <a:srgbClr val="1565C0"/>
                          </a:solidFill>
                        </a:rPr>
                        <a:t>Instruments</a:t>
                      </a:r>
                      <a:r>
                        <a:rPr sz="1000"/>
                        <a:t>-</a:t>
                      </a:r>
                      <a:r>
                        <a:rPr sz="1000">
                          <a:solidFill>
                            <a:srgbClr val="1565C0"/>
                          </a:solidFill>
                        </a:rPr>
                        <a:t>Measurements </a:t>
                      </a:r>
                      <a:r>
                        <a:rPr sz="1000"/>
                        <a:t>(MIM) database</a:t>
                      </a:r>
                      <a:r>
                        <a:rPr sz="1000">
                          <a:solidFill>
                            <a:srgbClr val="1565C0"/>
                          </a:solidFill>
                        </a:rPr>
                        <a:t>](https://</a:t>
                      </a:r>
                      <a:r>
                        <a:rPr sz="1000"/>
                        <a:t>ceos.org/mim-database) as reference.</a:t>
                      </a:r>
                    </a:p>
                  </a:txBody>
                  <a:tcPr>
                    <a:solidFill>
                      <a:srgbClr val="FFFFFF"/>
                    </a:solidFill>
                  </a:tcPr>
                </a:tc>
                <a:tc>
                  <a:txBody>
                    <a:bodyPr/>
                    <a:lstStyle/>
                    <a:p>
                      <a:r>
                        <a:rPr sz="1000"/>
                        <a:t>As threshold, </a:t>
                      </a:r>
                      <a:r>
                        <a:rPr sz="1000" strike="sngStrike">
                          <a:solidFill>
                            <a:srgbClr val="B00000"/>
                          </a:solidFill>
                        </a:rPr>
                        <a:t>but using [</a:t>
                      </a:r>
                      <a:r>
                        <a:rPr sz="1000" b="1">
                          <a:solidFill>
                            <a:srgbClr val="2E7D32"/>
                          </a:solidFill>
                        </a:rPr>
                        <a:t>with references to the relevant </a:t>
                      </a:r>
                      <a:r>
                        <a:rPr sz="1000"/>
                        <a:t>CEOS Mission</a:t>
                      </a:r>
                      <a:r>
                        <a:rPr sz="1000" strike="sngStrike">
                          <a:solidFill>
                            <a:srgbClr val="B00000"/>
                          </a:solidFill>
                        </a:rPr>
                        <a:t>-</a:t>
                      </a:r>
                      <a:r>
                        <a:rPr sz="1000" b="1">
                          <a:solidFill>
                            <a:srgbClr val="2E7D32"/>
                          </a:solidFill>
                        </a:rPr>
                        <a:t>s, </a:t>
                      </a:r>
                      <a:r>
                        <a:rPr sz="1000"/>
                        <a:t>Instruments</a:t>
                      </a:r>
                      <a:r>
                        <a:rPr sz="1000" strike="sngStrike">
                          <a:solidFill>
                            <a:srgbClr val="B00000"/>
                          </a:solidFill>
                        </a:rPr>
                        <a:t>-</a:t>
                      </a:r>
                      <a:r>
                        <a:rPr sz="1000" b="1">
                          <a:solidFill>
                            <a:srgbClr val="2E7D32"/>
                          </a:solidFill>
                        </a:rPr>
                        <a:t>, and </a:t>
                      </a:r>
                      <a:r>
                        <a:rPr sz="1000"/>
                        <a:t>Measurements (MIM) database</a:t>
                      </a:r>
                      <a:r>
                        <a:rPr sz="1000" strike="sngStrike">
                          <a:solidFill>
                            <a:srgbClr val="B00000"/>
                          </a:solidFill>
                        </a:rPr>
                        <a:t>]</a:t>
                      </a:r>
                      <a:r>
                        <a:rPr sz="1000" b="1">
                          <a:solidFill>
                            <a:srgbClr val="2E7D32"/>
                          </a:solidFill>
                        </a:rPr>
                        <a:t> record </a:t>
                      </a:r>
                      <a:r>
                        <a:rPr sz="1000"/>
                        <a:t>(https://ceos.org/mim-database)</a:t>
                      </a:r>
                      <a:r>
                        <a:rPr sz="1000" strike="sngStrike">
                          <a:solidFill>
                            <a:srgbClr val="B00000"/>
                          </a:solidFill>
                        </a:rPr>
                        <a:t> as reference</a:t>
                      </a:r>
                      <a:r>
                        <a:rPr sz="1000"/>
                        <a:t>.</a:t>
                      </a:r>
                    </a:p>
                  </a:txBody>
                  <a:tcP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Instrument (cont.)</a:t>
            </a:r>
          </a:p>
        </p:txBody>
      </p:sp>
      <p:sp>
        <p:nvSpPr>
          <p:cNvPr id="3" name="TextBox 2"/>
          <p:cNvSpPr txBox="1"/>
          <p:nvPr/>
        </p:nvSpPr>
        <p:spPr>
          <a:xfrm>
            <a:off x="457200" y="1005840"/>
            <a:ext cx="11277295" cy="1499616"/>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The MIM database URL (ceos.org/mim-database) supersedes the old database.eohandbook.com link used by AR. The SAR threshold additionally enumerates satellite and instrument name — consider adopting that enumeration for the optical PFS as well.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Instrument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Instrument</a:t>
            </a:r>
          </a:p>
          <a:p>
            <a:r>
              <a:rPr sz="1100">
                <a:latin typeface="Consolas"/>
              </a:rPr>
              <a:t>requirements:</a:t>
            </a:r>
          </a:p>
          <a:p>
            <a:r>
              <a:rPr sz="1100">
                <a:latin typeface="Consolas"/>
              </a:rPr>
              <a:t>  threshold:</a:t>
            </a:r>
          </a:p>
          <a:p>
            <a:r>
              <a:rPr sz="1100">
                <a:latin typeface="Consolas"/>
              </a:rPr>
              <a:t>    description: The instrument used to collect the data is identified in the metadata.  # TODO: differs per PFS</a:t>
            </a:r>
          </a:p>
          <a:p>
            <a:r>
              <a:rPr sz="1100">
                <a:latin typeface="Consolas"/>
              </a:rPr>
              <a:t>  goal:</a:t>
            </a:r>
          </a:p>
          <a:p>
            <a:r>
              <a:rPr sz="1100">
                <a:latin typeface="Consolas"/>
              </a:rPr>
              <a:t>    description: As threshold, with references to the relevant CEOS Missions, Instruments, and Measurements (MIM) database record (https://ceos.org/mim-database).</a:t>
            </a:r>
          </a:p>
          <a:p>
            <a:r>
              <a:rPr sz="1100">
                <a:latin typeface="Consolas"/>
              </a:rPr>
              <a:t>    optional: true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 Machine Readability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Metadata is provided in a structure that enables a computer algorithm to be used to consistently and automatically identify and extract each component part for further use.</a:t>
                      </a:r>
                    </a:p>
                  </a:txBody>
                  <a:tcPr>
                    <a:solidFill>
                      <a:srgbClr val="FFFFFF"/>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FFFFF"/>
                    </a:solidFill>
                  </a:tcPr>
                </a:tc>
                <a:tc>
                  <a:txBody>
                    <a:bodyPr/>
                    <a:lstStyle/>
                    <a:p>
                      <a:r>
                        <a:rPr sz="1000"/>
                        <a:t>Metadata is provided in a structure that enables a computer algorithm to be used to consistently and automatically identify and extract each component/variable for further use.</a:t>
                      </a:r>
                    </a:p>
                  </a:txBody>
                  <a:tcPr>
                    <a:solidFill>
                      <a:srgbClr val="FFFFFF"/>
                    </a:solidFill>
                  </a:tcPr>
                </a:tc>
              </a:tr>
              <a:tr h="91440">
                <a:tc>
                  <a:txBody>
                    <a:bodyPr/>
                    <a:lstStyle/>
                    <a:p>
                      <a:r>
                        <a:rPr sz="1000" b="1"/>
                        <a:t>AR, NLSR, SR</a:t>
                      </a:r>
                    </a:p>
                  </a:txBody>
                  <a:tcPr>
                    <a:solidFill>
                      <a:srgbClr val="FFFFFF"/>
                    </a:solidFill>
                  </a:tcPr>
                </a:tc>
                <a:tc>
                  <a:txBody>
                    <a:bodyPr/>
                    <a:lstStyle/>
                    <a:p>
                      <a:r>
                        <a:rPr sz="1000"/>
                        <a:t>Metadata is provided in a structure that enables a computer algorithm to be used to consistently and automatically identify and extract each component part for further use.</a:t>
                      </a:r>
                    </a:p>
                  </a:txBody>
                  <a:tcPr>
                    <a:solidFill>
                      <a:srgbClr val="FFFFFF"/>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232403"/>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As threshold, but metadata should be provided in a community endorsed standard that facilitates machine-readability, such as ISO 19115-2.</a:t>
                      </a:r>
                    </a:p>
                    <a:p>
                      <a:r>
                        <a:rPr sz="1000" i="1">
                          <a:solidFill>
                            <a:srgbClr val="808080"/>
                          </a:solidFill>
                        </a:rPr>
                        <a:t>(optional)</a:t>
                      </a:r>
                    </a:p>
                  </a:txBody>
                  <a:tcPr>
                    <a:solidFill>
                      <a:srgbClr val="FFFFFF"/>
                    </a:solidFill>
                  </a:tcPr>
                </a:tc>
                <a:tc>
                  <a:txBody>
                    <a:bodyPr/>
                    <a:lstStyle/>
                    <a:p>
                      <a:r>
                        <a:rPr sz="1000"/>
                        <a:t>As threshold, but metadata should be provided in a community endorsed standard that facilitates machine-readability, such as ISO 19115-2</a:t>
                      </a:r>
                      <a:r>
                        <a:rPr sz="1000" b="1">
                          <a:solidFill>
                            <a:srgbClr val="2E7D32"/>
                          </a:solidFill>
                        </a:rPr>
                        <a:t>, the Climate and Forecast (CF) convention, or the Attribute Convention for Data Discovery (ACDD)</a:t>
                      </a:r>
                      <a:r>
                        <a:rPr sz="1000"/>
                        <a:t>.</a:t>
                      </a:r>
                    </a:p>
                  </a:txBody>
                  <a:tcPr>
                    <a:solidFill>
                      <a:srgbClr val="FFFFFF"/>
                    </a:solidFill>
                  </a:tcPr>
                </a:tc>
              </a:tr>
              <a:tr h="91440">
                <a:tc>
                  <a:txBody>
                    <a:bodyPr/>
                    <a:lstStyle/>
                    <a:p>
                      <a:r>
                        <a:rPr sz="1000" b="1"/>
                        <a:t>CB, GSLC, INSAR, NRB, ORB, POL</a:t>
                      </a:r>
                    </a:p>
                  </a:txBody>
                  <a:tcPr>
                    <a:solidFill>
                      <a:srgbClr val="FFFFFF"/>
                    </a:solidFill>
                  </a:tcPr>
                </a:tc>
                <a:tc>
                  <a:txBody>
                    <a:bodyPr/>
                    <a:lstStyle/>
                    <a:p>
                      <a:r>
                        <a:rPr sz="1000"/>
                        <a:t>As threshold, but metadata </a:t>
                      </a:r>
                      <a:r>
                        <a:rPr sz="1000" strike="sngStrike">
                          <a:solidFill>
                            <a:srgbClr val="B00000"/>
                          </a:solidFill>
                        </a:rPr>
                        <a:t>should be provided</a:t>
                      </a:r>
                      <a:r>
                        <a:rPr sz="1000" b="1">
                          <a:solidFill>
                            <a:srgbClr val="2E7D32"/>
                          </a:solidFill>
                        </a:rPr>
                        <a:t>is formatted in accordance with the latest corresponding CEOS-ARD SAR Metadata Specifications, or</a:t>
                      </a:r>
                      <a:r>
                        <a:rPr sz="1000"/>
                        <a:t> in a community endorsed standard that facilitates machine-readability, such as ISO 19115-2</a:t>
                      </a:r>
                      <a:r>
                        <a:rPr sz="1000" b="1">
                          <a:solidFill>
                            <a:srgbClr val="2E7D32"/>
                          </a:solidFill>
                        </a:rPr>
                        <a:t>, Climate and Forecast (CF) convention and the Attribute Convention for Data Discovery (ACDD), etc</a:t>
                      </a:r>
                      <a:r>
                        <a:rPr sz="1000"/>
                        <a:t>.</a:t>
                      </a:r>
                    </a:p>
                    <a:p>
                      <a:r>
                        <a:rPr sz="1000" i="1">
                          <a:solidFill>
                            <a:srgbClr val="808080"/>
                          </a:solidFill>
                        </a:rPr>
                        <a:t>(optional)</a:t>
                      </a:r>
                    </a:p>
                  </a:txBody>
                  <a:tcPr>
                    <a:solidFill>
                      <a:srgbClr val="FFFFFF"/>
                    </a:solidFill>
                  </a:tcPr>
                </a:tc>
                <a:tc>
                  <a:txBody>
                    <a:bodyPr/>
                    <a:lstStyle/>
                    <a:p/>
                  </a:txBody>
                  <a:tcPr>
                    <a:solidFill>
                      <a:srgbClr val="FFFFFF"/>
                    </a:solidFill>
                  </a:tcPr>
                </a:tc>
              </a:tr>
              <a:tr h="91440">
                <a:tc>
                  <a:txBody>
                    <a:bodyPr/>
                    <a:lstStyle/>
                    <a:p>
                      <a:r>
                        <a:rPr sz="1000" b="1"/>
                        <a:t>AR, NLSR, SR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As threshold, but metadata should be provided in a community endorsed standard that facilitates machine-readability, such as ISO 19115-2, the Climate and Forecast (CF) convention, or the Attribute Convention for Data Discovery (ACDD).</a:t>
                      </a:r>
                    </a:p>
                  </a:txBody>
                  <a:tcP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 Machine Readability (cont.)</a:t>
            </a:r>
          </a:p>
        </p:txBody>
      </p:sp>
      <p:sp>
        <p:nvSpPr>
          <p:cNvPr id="3" name="TextBox 2"/>
          <p:cNvSpPr txBox="1"/>
          <p:nvPr/>
        </p:nvSpPr>
        <p:spPr>
          <a:xfrm>
            <a:off x="457200" y="1005840"/>
            <a:ext cx="11277295" cy="621792"/>
          </a:xfrm>
          <a:prstGeom prst="rect">
            <a:avLst/>
          </a:prstGeom>
          <a:noFill/>
        </p:spPr>
        <p:txBody>
          <a:bodyPr wrap="square">
            <a:spAutoFit/>
          </a:bodyPr>
          <a:lstStyle/>
          <a:p>
            <a:r>
              <a:rPr sz="1200" b="1"/>
              <a:t>Internal notes: </a:t>
            </a:r>
            <a:r>
              <a:rPr sz="1200" i="1"/>
              <a:t>The reference to the CEOS-ARD SAR Metadata Specifications remains specific to the SAR variant. The per-pixel variant has no goal — consider adding the same goal (optional) there for consistency.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 Machine Readability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Metadata Machine Readability</a:t>
            </a:r>
          </a:p>
          <a:p>
            <a:r>
              <a:rPr sz="1100">
                <a:latin typeface="Consolas"/>
              </a:rPr>
              <a:t>requirements:</a:t>
            </a:r>
          </a:p>
          <a:p>
            <a:r>
              <a:rPr sz="1100">
                <a:latin typeface="Consolas"/>
              </a:rPr>
              <a:t>  threshold:</a:t>
            </a:r>
          </a:p>
          <a:p>
            <a:r>
              <a:rPr sz="1100">
                <a:latin typeface="Consolas"/>
              </a:rPr>
              <a:t>    description: Metadata is provided in a structure that enables a computer algorithm to be used to consistently and automatically identify and extract each component/variable for further use.</a:t>
            </a:r>
          </a:p>
          <a:p>
            <a:r>
              <a:rPr sz="1100">
                <a:latin typeface="Consolas"/>
              </a:rPr>
              <a:t>  goal:</a:t>
            </a:r>
          </a:p>
          <a:p>
            <a:r>
              <a:rPr sz="1100">
                <a:latin typeface="Consolas"/>
              </a:rPr>
              <a:t>    description: As threshold, but metadata should be provided in a community endorsed standard that facilitates machine-readability, such as ISO 19115-2, the Climate and Forecast (CF) convention, or the Attribute Convention for Data Discovery (ACDD).  # TODO: differs per PFS</a:t>
            </a:r>
          </a:p>
          <a:p>
            <a:r>
              <a:rPr sz="1100">
                <a:latin typeface="Consolas"/>
              </a:rPr>
              <a:t>    optional: true  # TODO: differs per PFS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Map Projection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The map projection that has been used and any relevant parameters required in relation to use of data in that map projection is detailed.</a:t>
                      </a:r>
                    </a:p>
                  </a:txBody>
                  <a:tcPr>
                    <a:solidFill>
                      <a:srgbClr val="FFFFFF"/>
                    </a:solidFill>
                  </a:tcPr>
                </a:tc>
                <a:tc>
                  <a:txBody>
                    <a:bodyPr/>
                    <a:lstStyle/>
                    <a:p/>
                  </a:txBody>
                  <a:tcPr>
                    <a:solidFill>
                      <a:srgbClr val="FFFFFF"/>
                    </a:solidFill>
                  </a:tcPr>
                </a:tc>
              </a:tr>
              <a:tr h="91440">
                <a:tc>
                  <a:txBody>
                    <a:bodyPr/>
                    <a:lstStyle/>
                    <a:p>
                      <a:r>
                        <a:rPr sz="1000" b="1"/>
                        <a:t>NLSR</a:t>
                      </a:r>
                    </a:p>
                  </a:txBody>
                  <a:tcPr>
                    <a:solidFill>
                      <a:srgbClr val="FFFFFF"/>
                    </a:solidFill>
                  </a:tcPr>
                </a:tc>
                <a:tc>
                  <a:txBody>
                    <a:bodyPr/>
                    <a:lstStyle/>
                    <a:p>
                      <a:r>
                        <a:rPr sz="1000"/>
                        <a:t>T</a:t>
                      </a:r>
                      <a:r>
                        <a:rPr sz="1000" b="1">
                          <a:solidFill>
                            <a:srgbClr val="2E7D32"/>
                          </a:solidFill>
                        </a:rPr>
                        <a:t>he metadata lists t</a:t>
                      </a:r>
                      <a:r>
                        <a:rPr sz="1000"/>
                        <a:t>he map projection that has been used and any relevant parameters required in relation to use of data in that map projection</a:t>
                      </a:r>
                      <a:r>
                        <a:rPr sz="1000" strike="sngStrike">
                          <a:solidFill>
                            <a:srgbClr val="B00000"/>
                          </a:solidFill>
                        </a:rPr>
                        <a:t> is detailed</a:t>
                      </a:r>
                      <a:r>
                        <a:rPr sz="1000"/>
                        <a:t>.</a:t>
                      </a:r>
                    </a:p>
                  </a:txBody>
                  <a:tcPr>
                    <a:solidFill>
                      <a:srgbClr val="FFFFFF"/>
                    </a:solidFill>
                  </a:tcPr>
                </a:tc>
                <a:tc>
                  <a:txBody>
                    <a:bodyPr/>
                    <a:lstStyle/>
                    <a:p>
                      <a:r>
                        <a:rPr sz="1000"/>
                        <a:t>T</a:t>
                      </a:r>
                      <a:r>
                        <a:rPr sz="1000" strike="sngStrike">
                          <a:solidFill>
                            <a:srgbClr val="B00000"/>
                          </a:solidFill>
                        </a:rPr>
                        <a:t>he metadata lists t</a:t>
                      </a:r>
                      <a:r>
                        <a:rPr sz="1000"/>
                        <a:t>he map projection that has been used and any relevant parameters required in relation to use of data in that map projection</a:t>
                      </a:r>
                      <a:r>
                        <a:rPr sz="1000" b="1">
                          <a:solidFill>
                            <a:srgbClr val="2E7D32"/>
                          </a:solidFill>
                        </a:rPr>
                        <a:t> is detailed</a:t>
                      </a:r>
                      <a:r>
                        <a:rPr sz="1000"/>
                        <a:t>.</a:t>
                      </a:r>
                    </a:p>
                  </a:txBody>
                  <a:tcPr>
                    <a:solidFill>
                      <a:srgbClr val="FFFFFF"/>
                    </a:solidFill>
                  </a:tcPr>
                </a:tc>
              </a:tr>
              <a:tr h="91440">
                <a:tc>
                  <a:txBody>
                    <a:bodyPr/>
                    <a:lstStyle/>
                    <a:p>
                      <a:r>
                        <a:rPr sz="1000" b="1"/>
                        <a:t>SR</a:t>
                      </a:r>
                    </a:p>
                  </a:txBody>
                  <a:tcPr>
                    <a:solidFill>
                      <a:srgbClr val="FFFFFF"/>
                    </a:solidFill>
                  </a:tcPr>
                </a:tc>
                <a:tc>
                  <a:txBody>
                    <a:bodyPr/>
                    <a:lstStyle/>
                    <a:p>
                      <a:r>
                        <a:rPr sz="1000"/>
                        <a:t>T</a:t>
                      </a:r>
                      <a:r>
                        <a:rPr sz="1000" b="1">
                          <a:solidFill>
                            <a:srgbClr val="2E7D32"/>
                          </a:solidFill>
                        </a:rPr>
                        <a:t>he metadata lists t</a:t>
                      </a:r>
                      <a:r>
                        <a:rPr sz="1000"/>
                        <a:t>he map projection that has been used</a:t>
                      </a:r>
                      <a:r>
                        <a:rPr sz="1000" b="1">
                          <a:solidFill>
                            <a:srgbClr val="2E7D32"/>
                          </a:solidFill>
                        </a:rPr>
                        <a:t> (or geographical coordinates, if applicable)</a:t>
                      </a:r>
                      <a:r>
                        <a:rPr sz="1000"/>
                        <a:t> and any relevant parameters required in relation to use of data in that map projection</a:t>
                      </a:r>
                      <a:r>
                        <a:rPr sz="1000" strike="sngStrike">
                          <a:solidFill>
                            <a:srgbClr val="B00000"/>
                          </a:solidFill>
                        </a:rPr>
                        <a:t> is detailed</a:t>
                      </a:r>
                      <a:r>
                        <a:rPr sz="1000"/>
                        <a:t>.</a:t>
                      </a:r>
                    </a:p>
                  </a:txBody>
                  <a:tcPr>
                    <a:solidFill>
                      <a:srgbClr val="FFFFFF"/>
                    </a:solidFill>
                  </a:tcPr>
                </a:tc>
                <a:tc>
                  <a:txBody>
                    <a:bodyPr/>
                    <a:lstStyle/>
                    <a:p>
                      <a:r>
                        <a:rPr sz="1000"/>
                        <a:t>T</a:t>
                      </a:r>
                      <a:r>
                        <a:rPr sz="1000" strike="sngStrike">
                          <a:solidFill>
                            <a:srgbClr val="B00000"/>
                          </a:solidFill>
                        </a:rPr>
                        <a:t>he metadata lists t</a:t>
                      </a:r>
                      <a:r>
                        <a:rPr sz="1000"/>
                        <a:t>he map projection that has been used</a:t>
                      </a:r>
                      <a:r>
                        <a:rPr sz="1000" strike="sngStrike">
                          <a:solidFill>
                            <a:srgbClr val="B00000"/>
                          </a:solidFill>
                        </a:rPr>
                        <a:t> (or geographical coordinates, if applicable)</a:t>
                      </a:r>
                      <a:r>
                        <a:rPr sz="1000"/>
                        <a:t> and any relevant parameters required in relation to use of data in that map projection</a:t>
                      </a:r>
                      <a:r>
                        <a:rPr sz="1000" b="1">
                          <a:solidFill>
                            <a:srgbClr val="2E7D32"/>
                          </a:solidFill>
                        </a:rPr>
                        <a:t> is detailed</a:t>
                      </a:r>
                      <a:r>
                        <a:rPr sz="1000"/>
                        <a:t>.</a:t>
                      </a:r>
                    </a:p>
                  </a:txBody>
                  <a:tcPr>
                    <a:solidFill>
                      <a:srgbClr val="FFFFFF"/>
                    </a:solidFill>
                  </a:tcPr>
                </a:tc>
              </a:tr>
            </a:tbl>
          </a:graphicData>
        </a:graphic>
      </p:graphicFrame>
      <p:sp>
        <p:nvSpPr>
          <p:cNvPr id="4" name="TextBox 3"/>
          <p:cNvSpPr txBox="1"/>
          <p:nvPr/>
        </p:nvSpPr>
        <p:spPr>
          <a:xfrm>
            <a:off x="457200" y="3081528"/>
            <a:ext cx="11277295" cy="621792"/>
          </a:xfrm>
          <a:prstGeom prst="rect">
            <a:avLst/>
          </a:prstGeom>
          <a:noFill/>
        </p:spPr>
        <p:txBody>
          <a:bodyPr wrap="square">
            <a:spAutoFit/>
          </a:bodyPr>
          <a:lstStyle/>
          <a:p>
            <a:r>
              <a:rPr sz="1200" b="1"/>
              <a:t>Internal notes: </a:t>
            </a:r>
            <a:r>
              <a:rPr sz="1200" i="1"/>
              <a:t>Resolved: ST now uses the AR requirement directly (map-projection-st was removed), which also settles the earlier question why the threshold was "Not Required" for 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Map Projection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Map Projection</a:t>
            </a:r>
          </a:p>
          <a:p>
            <a:r>
              <a:rPr sz="1100">
                <a:latin typeface="Consolas"/>
              </a:rPr>
              <a:t>requirements:</a:t>
            </a:r>
          </a:p>
          <a:p>
            <a:r>
              <a:rPr sz="1100">
                <a:latin typeface="Consolas"/>
              </a:rPr>
              <a:t>  threshold:</a:t>
            </a:r>
          </a:p>
          <a:p>
            <a:r>
              <a:rPr sz="1100">
                <a:latin typeface="Consolas"/>
              </a:rPr>
              <a:t>    description: The map projection that has been used and any relevant parameters required in relation to use of data in that map projection is detailed.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NLSR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ST</a:t>
                      </a:r>
                    </a:p>
                    <a:p>
                      <a:r>
                        <a:rPr sz="1000" i="1">
                          <a:solidFill>
                            <a:srgbClr val="808080"/>
                          </a:solidFill>
                        </a:rPr>
                        <a:t>(baseline)</a:t>
                      </a:r>
                    </a:p>
                  </a:txBody>
                  <a:tcPr>
                    <a:solidFill>
                      <a:srgbClr val="FFFFFF"/>
                    </a:solidFill>
                  </a:tcPr>
                </a:tc>
                <a:tc>
                  <a:txBody>
                    <a:bodyPr/>
                    <a:lstStyle/>
                    <a:p>
                      <a:r>
                        <a:rPr sz="1000"/>
                        <a:t>The provider attaches to each delivered dataset (delivery unit) a code which allows them to reconstruct the exact processing environment (software versions, calibration files, parameter settings) in which this particular output was produced.</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3031236"/>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Information on processing chain provenance should be available with a detailed description of the processing steps used to generate the product, including the versions of software used, giving full transparency to the users.</a:t>
                      </a:r>
                    </a:p>
                  </a:txBody>
                  <a:tcPr>
                    <a:solidFill>
                      <a:srgbClr val="FFFFFF"/>
                    </a:solidFill>
                  </a:tcPr>
                </a:tc>
                <a:tc>
                  <a:txBody>
                    <a:bodyPr/>
                    <a:lstStyle/>
                    <a:p/>
                  </a:txBody>
                  <a:tcPr>
                    <a:solidFill>
                      <a:srgbClr val="FFFFFF"/>
                    </a:solidFill>
                  </a:tcPr>
                </a:tc>
              </a:tr>
              <a:tr h="73152">
                <a:tc>
                  <a:txBody>
                    <a:bodyPr/>
                    <a:lstStyle/>
                    <a:p>
                      <a:r>
                        <a:rPr sz="1000" b="1"/>
                        <a:t>NLSR</a:t>
                      </a:r>
                    </a:p>
                  </a:txBody>
                  <a:tcPr>
                    <a:solidFill>
                      <a:srgbClr val="FFFFFF"/>
                    </a:solidFill>
                  </a:tcPr>
                </a:tc>
                <a:tc>
                  <a:txBody>
                    <a:bodyPr/>
                    <a:lstStyle/>
                    <a:p>
                      <a:r>
                        <a:rPr sz="1000"/>
                        <a:t>Information on processing chain provenance should be available </a:t>
                      </a:r>
                      <a:r>
                        <a:rPr sz="1000" strike="sngStrike">
                          <a:solidFill>
                            <a:srgbClr val="B00000"/>
                          </a:solidFill>
                        </a:rPr>
                        <a:t>with a</a:t>
                      </a:r>
                      <a:r>
                        <a:rPr sz="1000" b="1">
                          <a:solidFill>
                            <a:srgbClr val="2E7D32"/>
                          </a:solidFill>
                        </a:rPr>
                        <a:t>in the metadata as a single DOI landing page containing</a:t>
                      </a:r>
                      <a:r>
                        <a:rPr sz="1000"/>
                        <a:t> detailed description of the processing steps used to generate the product, </a:t>
                      </a:r>
                      <a:r>
                        <a:rPr sz="1000" strike="sngStrike">
                          <a:solidFill>
                            <a:srgbClr val="B00000"/>
                          </a:solidFill>
                        </a:rPr>
                        <a:t>including</a:t>
                      </a:r>
                      <a:r>
                        <a:rPr sz="1000" b="1">
                          <a:solidFill>
                            <a:srgbClr val="2E7D32"/>
                          </a:solidFill>
                        </a:rPr>
                        <a:t>the organization that performed the processing, and</a:t>
                      </a:r>
                      <a:r>
                        <a:rPr sz="1000"/>
                        <a:t> the versions of software used, giving full transparency to the users.</a:t>
                      </a:r>
                    </a:p>
                  </a:txBody>
                  <a:tcPr>
                    <a:solidFill>
                      <a:srgbClr val="FFFFFF"/>
                    </a:solidFill>
                  </a:tcPr>
                </a:tc>
                <a:tc>
                  <a:txBody>
                    <a:bodyPr/>
                    <a:lstStyle/>
                    <a:p>
                      <a:r>
                        <a:rPr sz="1000"/>
                        <a:t>Information on processing chain provenance should be available </a:t>
                      </a:r>
                      <a:r>
                        <a:rPr sz="1000" strike="sngStrike">
                          <a:solidFill>
                            <a:srgbClr val="B00000"/>
                          </a:solidFill>
                        </a:rPr>
                        <a:t>in the metadata as a single DOI landing page containing</a:t>
                      </a:r>
                      <a:r>
                        <a:rPr sz="1000" b="1">
                          <a:solidFill>
                            <a:srgbClr val="2E7D32"/>
                          </a:solidFill>
                        </a:rPr>
                        <a:t>with a</a:t>
                      </a:r>
                      <a:r>
                        <a:rPr sz="1000"/>
                        <a:t> detailed description of the processing steps used to generate the product, </a:t>
                      </a:r>
                      <a:r>
                        <a:rPr sz="1000" strike="sngStrike">
                          <a:solidFill>
                            <a:srgbClr val="B00000"/>
                          </a:solidFill>
                        </a:rPr>
                        <a:t>the organization that performed the processing, and</a:t>
                      </a:r>
                      <a:r>
                        <a:rPr sz="1000" b="1">
                          <a:solidFill>
                            <a:srgbClr val="2E7D32"/>
                          </a:solidFill>
                        </a:rPr>
                        <a:t>including</a:t>
                      </a:r>
                      <a:r>
                        <a:rPr sz="1000"/>
                        <a:t> the versions of software used, giving full transparency to the users.</a:t>
                      </a:r>
                    </a:p>
                  </a:txBody>
                  <a:tcPr>
                    <a:solidFill>
                      <a:srgbClr val="FFFFFF"/>
                    </a:solidFill>
                  </a:tcPr>
                </a:tc>
              </a:tr>
              <a:tr h="73152">
                <a:tc>
                  <a:txBody>
                    <a:bodyPr/>
                    <a:lstStyle/>
                    <a:p>
                      <a:r>
                        <a:rPr sz="1000" b="1"/>
                        <a:t>SR</a:t>
                      </a:r>
                    </a:p>
                  </a:txBody>
                  <a:tcPr>
                    <a:solidFill>
                      <a:srgbClr val="FFFFFF"/>
                    </a:solidFill>
                  </a:tcPr>
                </a:tc>
                <a:tc>
                  <a:txBody>
                    <a:bodyPr/>
                    <a:lstStyle/>
                    <a:p>
                      <a:r>
                        <a:rPr sz="1000"/>
                        <a:t>Information on processing chain provenance should be available </a:t>
                      </a:r>
                      <a:r>
                        <a:rPr sz="1000" strike="sngStrike">
                          <a:solidFill>
                            <a:srgbClr val="B00000"/>
                          </a:solidFill>
                        </a:rPr>
                        <a:t>with a</a:t>
                      </a:r>
                      <a:r>
                        <a:rPr sz="1000" b="1">
                          <a:solidFill>
                            <a:srgbClr val="2E7D32"/>
                          </a:solidFill>
                        </a:rPr>
                        <a:t>in the metadata as a single DOI landing page containing</a:t>
                      </a:r>
                      <a:r>
                        <a:rPr sz="1000"/>
                        <a:t> detailed description of the processing steps used to generate the product, including the versions of software used, giving full transparency to the users.</a:t>
                      </a:r>
                    </a:p>
                  </a:txBody>
                  <a:tcPr>
                    <a:solidFill>
                      <a:srgbClr val="FFFFFF"/>
                    </a:solidFill>
                  </a:tcPr>
                </a:tc>
                <a:tc>
                  <a:txBody>
                    <a:bodyPr/>
                    <a:lstStyle/>
                    <a:p>
                      <a:r>
                        <a:rPr sz="1000"/>
                        <a:t>Information on processing chain provenance should be available </a:t>
                      </a:r>
                      <a:r>
                        <a:rPr sz="1000" strike="sngStrike">
                          <a:solidFill>
                            <a:srgbClr val="B00000"/>
                          </a:solidFill>
                        </a:rPr>
                        <a:t>in the metadata as a single DOI landing page containing</a:t>
                      </a:r>
                      <a:r>
                        <a:rPr sz="1000" b="1">
                          <a:solidFill>
                            <a:srgbClr val="2E7D32"/>
                          </a:solidFill>
                        </a:rPr>
                        <a:t>with a</a:t>
                      </a:r>
                      <a:r>
                        <a:rPr sz="1000"/>
                        <a:t> detailed description of the processing steps used to generate the product, including the versions of software used, giving full transparency to the users.</a:t>
                      </a:r>
                    </a:p>
                  </a:txBody>
                  <a:tcPr>
                    <a:solidFill>
                      <a:srgbClr val="FFFFFF"/>
                    </a:solidFill>
                  </a:tcPr>
                </a:tc>
              </a:tr>
              <a:tr h="73152">
                <a:tc>
                  <a:txBody>
                    <a:bodyPr/>
                    <a:lstStyle/>
                    <a:p>
                      <a:r>
                        <a:rPr sz="1000" b="1"/>
                        <a:t>ST</a:t>
                      </a:r>
                    </a:p>
                  </a:txBody>
                  <a:tcPr>
                    <a:solidFill>
                      <a:srgbClr val="FFFFFF"/>
                    </a:solidFill>
                  </a:tcPr>
                </a:tc>
                <a:tc>
                  <a:txBody>
                    <a:bodyPr/>
                    <a:lstStyle/>
                    <a:p>
                      <a:r>
                        <a:rPr sz="1000"/>
                        <a:t>As threshold, but the provider is also in grade to reproduce the exact same output</a:t>
                      </a:r>
                      <a:r>
                        <a:rPr sz="1000"/>
                        <a:t>.</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 (cont.)</a:t>
            </a:r>
          </a:p>
        </p:txBody>
      </p:sp>
      <p:sp>
        <p:nvSpPr>
          <p:cNvPr id="3" name="TextBox 2"/>
          <p:cNvSpPr txBox="1"/>
          <p:nvPr/>
        </p:nvSpPr>
        <p:spPr>
          <a:xfrm>
            <a:off x="457200" y="1005840"/>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6.0 upgraded provenance to a threshold requirement (reconstructable processing environment) with a reproducibility goal (issue #58) — keep ST as is and consider adopting this approach for the other optical PFS.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Processing Chain Provenance</a:t>
            </a:r>
          </a:p>
          <a:p>
            <a:r>
              <a:rPr sz="1100">
                <a:latin typeface="Consolas"/>
              </a:rPr>
              <a:t>requirements:</a:t>
            </a:r>
          </a:p>
          <a:p>
            <a:r>
              <a:rPr sz="1100">
                <a:latin typeface="Consolas"/>
              </a:rPr>
              <a:t>  goal:</a:t>
            </a:r>
          </a:p>
          <a:p>
            <a:r>
              <a:rPr sz="1100">
                <a:latin typeface="Consolas"/>
              </a:rPr>
              <a:t>    description: Information on processing chain provenance should be available with a detailed description of the processing steps used to generate the product, including the versions of software used, giving full transparency to the users.  # TODO: differs per PFS</a:t>
            </a:r>
          </a:p>
          <a:p>
            <a:r>
              <a:rPr sz="1100">
                <a:latin typeface="Consolas"/>
              </a:rPr>
              <a:t>    optional: true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Radiometric Accuracy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Uncertainty (e.g., bounds on $\gamma^0$ or $\sigma^0$) information is provided as document referenced as URL or DOI.</a:t>
                      </a:r>
                    </a:p>
                    <a:p>
                      <a:r>
                        <a:rPr sz="1000"/>
                        <a:t>SI traceability is achieved. </a:t>
                      </a:r>
                    </a:p>
                  </a:txBody>
                  <a:tcPr>
                    <a:solidFill>
                      <a:srgbClr val="FFFFFF"/>
                    </a:solidFill>
                  </a:tcPr>
                </a:tc>
                <a:tc>
                  <a:txBody>
                    <a:bodyPr/>
                    <a:lstStyle/>
                    <a:p>
                      <a:r>
                        <a:rPr sz="1000"/>
                        <a:t>Uncertainty (e.g., bounds on $\gamma^0$ or $\sigma^0$) information is provided as document referenced as URL or DOI.</a:t>
                      </a:r>
                    </a:p>
                    <a:p>
                      <a:r>
                        <a:rPr sz="1000"/>
                        <a:t>SI traceability is achieved. </a:t>
                      </a:r>
                    </a:p>
                  </a:txBody>
                  <a:tcPr>
                    <a:solidFill>
                      <a:srgbClr val="FFFFFF"/>
                    </a:solidFill>
                  </a:tcPr>
                </a:tc>
              </a:tr>
              <a:tr h="121920">
                <a:tc>
                  <a:txBody>
                    <a:bodyPr/>
                    <a:lstStyle/>
                    <a:p>
                      <a:r>
                        <a:rPr sz="1000" b="1"/>
                        <a:t>NLSR, SR</a:t>
                      </a:r>
                    </a:p>
                  </a:txBody>
                  <a:tcPr>
                    <a:solidFill>
                      <a:srgbClr val="FFFFFF"/>
                    </a:solidFill>
                  </a:tcPr>
                </a:tc>
                <a:tc>
                  <a:txBody>
                    <a:bodyPr/>
                    <a:lstStyle/>
                    <a:p>
                      <a:r>
                        <a:rPr sz="1000"/>
                        <a:t>The metadata includes metrics describing the assessed absolute radiometric u</a:t>
                      </a:r>
                      <a:r>
                        <a:rPr sz="1000">
                          <a:solidFill>
                            <a:srgbClr val="1565C0"/>
                          </a:solidFill>
                        </a:rPr>
                        <a:t>ncertainty </a:t>
                      </a:r>
                      <a:r>
                        <a:rPr sz="1000"/>
                        <a:t>of the version of the data or product, expressed as absolute radiometric uncertainty relative to appropriate, known</a:t>
                      </a:r>
                      <a:r>
                        <a:rPr sz="1000">
                          <a:solidFill>
                            <a:srgbClr val="1565C0"/>
                          </a:solidFill>
                        </a:rPr>
                        <a:t> reference</a:t>
                      </a:r>
                      <a:r>
                        <a:rPr sz="1000"/>
                        <a:t> sites and standards (for example, pseudo-invariant calibration sites, rigorously collected field spectra, Rayleigh, DCC, etc.)</a:t>
                      </a:r>
                    </a:p>
                  </a:txBody>
                  <a:tcPr>
                    <a:solidFill>
                      <a:srgbClr val="FFFFFF"/>
                    </a:solidFill>
                  </a:tcPr>
                </a:tc>
                <a:tc>
                  <a:txBody>
                    <a:bodyPr/>
                    <a:lstStyle/>
                    <a:p>
                      <a:r>
                        <a:rPr sz="1000"/>
                        <a:t>The metadata includes metrics describing the assessed absolute radiometric uncertainty of the version of the data or product, expressed as absolute radiometric uncertainty relative to appropriate, known reference sites and standards (for example, pseudo-invariant calibration sites, rigorously collected field spectra, Rayleigh, DCC, etc.)</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8094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12192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121920">
                <a:tc>
                  <a:txBody>
                    <a:bodyPr/>
                    <a:lstStyle/>
                    <a:p>
                      <a:r>
                        <a:rPr sz="1000" b="1"/>
                        <a:t>NLSR, SR</a:t>
                      </a:r>
                    </a:p>
                    <a:p>
                      <a:r>
                        <a:rPr sz="1000" i="1">
                          <a:solidFill>
                            <a:srgbClr val="808080"/>
                          </a:solidFill>
                        </a:rPr>
                        <a:t>(baseline)</a:t>
                      </a:r>
                    </a:p>
                  </a:txBody>
                  <a:tcPr>
                    <a:solidFill>
                      <a:srgbClr val="FFFFFF"/>
                    </a:solidFill>
                  </a:tcPr>
                </a:tc>
                <a:tc>
                  <a:txBody>
                    <a:bodyPr/>
                    <a:lstStyle/>
                    <a:p>
                      <a:r>
                        <a:rPr sz="1000"/>
                        <a:t>Information on radiometric accuracy should be available in the metadata as a single DOI landing page.</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
        <p:nvSpPr>
          <p:cNvPr id="5" name="TextBox 4"/>
          <p:cNvSpPr txBox="1"/>
          <p:nvPr/>
        </p:nvSpPr>
        <p:spPr>
          <a:xfrm>
            <a:off x="457200" y="4201668"/>
            <a:ext cx="11277295" cy="1060704"/>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dropped its radiometric accuracy requirement in ST 6.0 (the file was removed).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Radiometric Accuracy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Radiometric Accuracy</a:t>
            </a:r>
          </a:p>
          <a:p>
            <a:r>
              <a:rPr sz="1100">
                <a:latin typeface="Consolas"/>
              </a:rPr>
              <a:t>requirements:</a:t>
            </a:r>
          </a:p>
          <a:p>
            <a:r>
              <a:rPr sz="1100">
                <a:latin typeface="Consolas"/>
              </a:rPr>
              <a:t>  goal:</a:t>
            </a:r>
          </a:p>
          <a:p>
            <a:r>
              <a:rPr sz="1100">
                <a:latin typeface="Consolas"/>
              </a:rPr>
              <a:t>    description: |-  # TODO: differs per PFS</a:t>
            </a:r>
          </a:p>
          <a:p>
            <a:r>
              <a:rPr sz="1100">
                <a:latin typeface="Consolas"/>
              </a:rPr>
              <a:t>      Uncertainty (e.g., bounds on $\gamma^0$ or $\sigma^0$) information is provided as document referenced as URL or DOI.</a:t>
            </a:r>
          </a:p>
          <a:p>
            <a:r>
              <a:rPr sz="1100">
                <a:latin typeface="Consolas"/>
              </a:rPr>
              <a:t>      SI traceability is achieved. </a:t>
            </a:r>
          </a:p>
          <a:p>
            <a:r>
              <a:rPr sz="1100">
                <a:latin typeface="Consolas"/>
              </a:rPr>
              <a:t>    optional: true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Binary description of calibrated/not calibrated only.</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91440">
                <a:tc>
                  <a:txBody>
                    <a:bodyPr/>
                    <a:lstStyle/>
                    <a:p>
                      <a:r>
                        <a:rPr sz="1000" b="1"/>
                        <a:t>GSLC, INSAR, NRB, ORB, POL</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sensor calibration parameters including history of onboard calibrations where available.</a:t>
                      </a:r>
                    </a:p>
                  </a:txBody>
                  <a:tcPr>
                    <a:solidFill>
                      <a:srgbClr val="FFFFFF"/>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a:t>
                      </a:r>
                      <a:r>
                        <a:rPr sz="1000"/>
                        <a:t>.</a:t>
                      </a:r>
                    </a:p>
                  </a:txBody>
                  <a:tcPr>
                    <a:solidFill>
                      <a:srgbClr val="FFFFFF"/>
                    </a:solidFill>
                  </a:tcPr>
                </a:tc>
              </a:tr>
              <a:tr h="91440">
                <a:tc>
                  <a:txBody>
                    <a:bodyPr/>
                    <a:lstStyle/>
                    <a:p>
                      <a:r>
                        <a:rPr sz="1000" b="1"/>
                        <a:t>NLSR, SR</a:t>
                      </a:r>
                    </a:p>
                  </a:txBody>
                  <a:tcPr>
                    <a:solidFill>
                      <a:srgbClr val="FFFFFF"/>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a:t>
                      </a:r>
                      <a:r>
                        <a:rPr sz="1000"/>
                        <a:t>.</a:t>
                      </a:r>
                    </a:p>
                  </a:txBody>
                  <a:tcPr>
                    <a:solidFill>
                      <a:srgbClr val="FFFFFF"/>
                    </a:solidFill>
                  </a:tcPr>
                </a:tc>
                <a:tc>
                  <a:txBody>
                    <a:bodyPr/>
                    <a:lstStyle/>
                    <a:p/>
                  </a:txBody>
                  <a:tcPr>
                    <a:solidFill>
                      <a:srgbClr val="FFFFFF"/>
                    </a:solidFill>
                  </a:tcPr>
                </a:tc>
              </a:tr>
              <a:tr h="91440">
                <a:tc>
                  <a:txBody>
                    <a:bodyPr/>
                    <a:lstStyle/>
                    <a:p>
                      <a:r>
                        <a:rPr sz="1000" b="1"/>
                        <a:t>GSLC, INSAR, NRB, ORB, POL</a:t>
                      </a:r>
                    </a:p>
                  </a:txBody>
                  <a:tcPr>
                    <a:solidFill>
                      <a:srgbClr val="FFFFFF"/>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 </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470458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p>
                      <a:r>
                        <a:rPr sz="1000" i="1">
                          <a:solidFill>
                            <a:srgbClr val="808080"/>
                          </a:solidFill>
                        </a:rPr>
                        <a:t>(baseline)</a:t>
                      </a:r>
                    </a:p>
                  </a:txBody>
                  <a:tcPr>
                    <a:solidFill>
                      <a:srgbClr val="FFFFFF"/>
                    </a:solidFill>
                  </a:tcPr>
                </a:tc>
                <a:tc>
                  <a:txBody>
                    <a:bodyPr/>
                    <a:lstStyle/>
                    <a:p>
                      <a:r>
                        <a:rPr sz="1000"/>
                        <a:t>Information on sensory calibration should be available in the metadata as a single DOI landing page.</a:t>
                      </a:r>
                    </a:p>
                  </a:txBody>
                  <a:tcPr>
                    <a:solidFill>
                      <a:srgbClr val="FFFFFF"/>
                    </a:solidFill>
                  </a:tcPr>
                </a:tc>
                <a:tc>
                  <a:txBody>
                    <a:bodyPr/>
                    <a:lstStyle/>
                    <a:p>
                      <a:r>
                        <a:rPr sz="1000" b="1">
                          <a:solidFill>
                            <a:srgbClr val="B00000"/>
                          </a:solidFill>
                        </a:rPr>
                        <a:t>DELETE NOTE</a:t>
                      </a:r>
                    </a:p>
                  </a:txBody>
                  <a:tcPr>
                    <a:solidFill>
                      <a:srgbClr val="FFFFFF"/>
                    </a:solidFill>
                  </a:tcPr>
                </a:tc>
              </a:tr>
              <a:tr h="91440">
                <a:tc>
                  <a:txBody>
                    <a:bodyPr/>
                    <a:lstStyle/>
                    <a:p>
                      <a:r>
                        <a:rPr sz="1000" b="1"/>
                        <a:t>GSLC, INSAR, NRB, ORB, POL</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 (cont.)</a:t>
            </a:r>
          </a:p>
        </p:txBody>
      </p:sp>
      <p:sp>
        <p:nvSpPr>
          <p:cNvPr id="3" name="TextBox 2"/>
          <p:cNvSpPr txBox="1"/>
          <p:nvPr/>
        </p:nvSpPr>
        <p:spPr>
          <a:xfrm>
            <a:off x="457200" y="1005840"/>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Only AR defines a threshold ("Binary description of calibrated/not calibrated only.") — consider adopting it for the other PFS (cheap and useful) or removing it from AR.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Sensor Calibration</a:t>
            </a:r>
          </a:p>
          <a:p>
            <a:r>
              <a:rPr sz="1100">
                <a:latin typeface="Consolas"/>
              </a:rPr>
              <a:t>requirements:</a:t>
            </a:r>
          </a:p>
          <a:p>
            <a:r>
              <a:rPr sz="1100">
                <a:latin typeface="Consolas"/>
              </a:rPr>
              <a:t>  goal:</a:t>
            </a:r>
          </a:p>
          <a:p>
            <a:r>
              <a:rPr sz="1100">
                <a:latin typeface="Consolas"/>
              </a:rPr>
              <a:t>    description: |-  # TODO: differs per PFS</a:t>
            </a:r>
          </a:p>
          <a:p>
            <a:r>
              <a:rPr sz="1100">
                <a:latin typeface="Consolas"/>
              </a:rPr>
              <a:t>      Sensor calibration parameters are identified in the metadata or can be accessed using details included in the metadata.</a:t>
            </a:r>
          </a:p>
          <a:p>
            <a:r>
              <a:rPr sz="1100">
                <a:latin typeface="Consolas"/>
              </a:rPr>
              <a:t>      Ideally this would support machine-to-machine access.</a:t>
            </a:r>
          </a:p>
          <a:p>
            <a:r>
              <a:rPr sz="1100">
                <a:latin typeface="Consolas"/>
              </a:rPr>
              <a:t>    optional: true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Spectral Bands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Full spectral response function is provided.</a:t>
                      </a:r>
                    </a:p>
                  </a:txBody>
                  <a:tcPr>
                    <a:solidFill>
                      <a:srgbClr val="FFFFFF"/>
                    </a:solidFill>
                  </a:tcPr>
                </a:tc>
                <a:tc>
                  <a:txBody>
                    <a:bodyPr/>
                    <a:lstStyle/>
                    <a:p>
                      <a:r>
                        <a:rPr sz="1000"/>
                        <a:t>Full spectral response function is provided.</a:t>
                      </a:r>
                    </a:p>
                  </a:txBody>
                  <a:tcPr>
                    <a:solidFill>
                      <a:srgbClr val="FFFFFF"/>
                    </a:solidFill>
                  </a:tcPr>
                </a:tc>
              </a:tr>
              <a:tr h="121920">
                <a:tc>
                  <a:txBody>
                    <a:bodyPr/>
                    <a:lstStyle/>
                    <a:p>
                      <a:r>
                        <a:rPr sz="1000" b="1"/>
                        <a:t>NLSR, SR</a:t>
                      </a:r>
                    </a:p>
                  </a:txBody>
                  <a:tcPr>
                    <a:solidFill>
                      <a:srgbClr val="FFFFFF"/>
                    </a:solidFill>
                  </a:tcPr>
                </a:tc>
                <a:tc>
                  <a:txBody>
                    <a:bodyPr/>
                    <a:lstStyle/>
                    <a:p>
                      <a:r>
                        <a:rPr sz="1000"/>
                        <a:t>The central wavelength for each band for which data is included is identified in the metadata, expressed in SI units</a:t>
                      </a:r>
                      <a:r>
                        <a:rPr sz="1000"/>
                        <a:t>.</a:t>
                      </a:r>
                    </a:p>
                  </a:txBody>
                  <a:tcPr>
                    <a:solidFill>
                      <a:srgbClr val="FFFFFF"/>
                    </a:solidFill>
                  </a:tcPr>
                </a:tc>
                <a:tc>
                  <a:txBody>
                    <a:bodyPr/>
                    <a:lstStyle/>
                    <a:p>
                      <a:r>
                        <a:rPr sz="1000"/>
                        <a:t>Full spectral response function is provided</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3774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a:t>(not set)</a:t>
                      </a:r>
                    </a:p>
                  </a:txBody>
                  <a:tcPr>
                    <a:solidFill>
                      <a:srgbClr val="FFFFFF"/>
                    </a:solidFill>
                  </a:tcPr>
                </a:tc>
              </a:tr>
              <a:tr h="121920">
                <a:tc>
                  <a:txBody>
                    <a:bodyPr/>
                    <a:lstStyle/>
                    <a:p>
                      <a:r>
                        <a:rPr sz="1000" b="1"/>
                        <a:t>NLSR, SR</a:t>
                      </a:r>
                    </a:p>
                    <a:p>
                      <a:r>
                        <a:rPr sz="1000" i="1">
                          <a:solidFill>
                            <a:srgbClr val="808080"/>
                          </a:solidFill>
                        </a:rPr>
                        <a:t>(baseline)</a:t>
                      </a:r>
                    </a:p>
                  </a:txBody>
                  <a:tcPr>
                    <a:solidFill>
                      <a:srgbClr val="FFFFFF"/>
                    </a:solidFill>
                  </a:tcPr>
                </a:tc>
                <a:tc>
                  <a:txBody>
                    <a:bodyPr/>
                    <a:lstStyle/>
                    <a:p>
                      <a:r>
                        <a:rPr sz="1000"/>
                        <a:t>As threshold, with instrument spectral response details (e.g., full spectral response function) also included or directly accessible using details in the metadata. </a:t>
                      </a:r>
                    </a:p>
                    <a:p>
                      <a:r>
                        <a:rPr sz="1000"/>
                        <a:t>Central wavelength and bandwidth at full-width half maximum value of the relative spectral response function are provided at least.</a:t>
                      </a:r>
                    </a:p>
                    <a:p>
                      <a:r>
                        <a:rPr sz="1000" i="1">
                          <a:solidFill>
                            <a:srgbClr val="808080"/>
                          </a:solidFill>
                        </a:rPr>
                        <a:t>(optional)</a:t>
                      </a:r>
                    </a:p>
                  </a:txBody>
                  <a:tcPr>
                    <a:solidFill>
                      <a:srgbClr val="FFFFFF"/>
                    </a:solidFill>
                  </a:tcPr>
                </a:tc>
                <a:tc>
                  <a:txBody>
                    <a:bodyPr/>
                    <a:lstStyle/>
                    <a:p>
                      <a:r>
                        <a:rPr sz="1000"/>
                        <a:t>(not set)</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35254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12192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121920">
                <a:tc>
                  <a:txBody>
                    <a:bodyPr/>
                    <a:lstStyle/>
                    <a:p>
                      <a:r>
                        <a:rPr sz="1000" b="1"/>
                        <a:t>NLSR, SR</a:t>
                      </a:r>
                    </a:p>
                    <a:p>
                      <a:r>
                        <a:rPr sz="1000" i="1">
                          <a:solidFill>
                            <a:srgbClr val="808080"/>
                          </a:solidFill>
                        </a:rPr>
                        <a:t>(baseline)</a:t>
                      </a:r>
                    </a:p>
                  </a:txBody>
                  <a:tcPr>
                    <a:solidFill>
                      <a:srgbClr val="FFFFFF"/>
                    </a:solidFill>
                  </a:tcPr>
                </a:tc>
                <a:tc>
                  <a:txBody>
                    <a:bodyPr/>
                    <a:lstStyle/>
                    <a:p>
                      <a:r>
                        <a:rPr sz="1000"/>
                        <a:t>Information on spectral bands should be available in the metadata as a single DOI landing page.</a:t>
                      </a:r>
                    </a:p>
                  </a:txBody>
                  <a:tcPr>
                    <a:solidFill>
                      <a:srgbClr val="FFFFFF"/>
                    </a:solidFill>
                  </a:tcPr>
                </a:tc>
                <a:tc>
                  <a:txBody>
                    <a:bodyPr/>
                    <a:lstStyle/>
                    <a:p/>
                  </a:txBody>
                  <a:tcPr>
                    <a:solidFill>
                      <a:srgbClr val="FFFFFF"/>
                    </a:solidFill>
                  </a:tcPr>
                </a:tc>
              </a:tr>
            </a:tbl>
          </a:graphicData>
        </a:graphic>
      </p:graphicFrame>
      <p:sp>
        <p:nvSpPr>
          <p:cNvPr id="6" name="TextBox 5"/>
          <p:cNvSpPr txBox="1"/>
          <p:nvPr/>
        </p:nvSpPr>
        <p:spPr>
          <a:xfrm>
            <a:off x="457200" y="5573268"/>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Spectral Bands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Spectral Bands</a:t>
            </a:r>
          </a:p>
          <a:p>
            <a:r>
              <a:rPr sz="1100">
                <a:latin typeface="Consolas"/>
              </a:rPr>
              <a:t>requirements:</a:t>
            </a:r>
          </a:p>
          <a:p>
            <a:r>
              <a:rPr sz="1100">
                <a:latin typeface="Consolas"/>
              </a:rPr>
              <a:t>  threshold:</a:t>
            </a:r>
          </a:p>
          <a:p>
            <a:r>
              <a:rPr sz="1100">
                <a:latin typeface="Consolas"/>
              </a:rPr>
              <a:t>    description: Full spectral response function is provided.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Data Collection Time</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Data Collection Time</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Source Data Acquisi</a:t>
                      </a:r>
                      <a:r>
                        <a:rPr sz="1000"/>
                        <a:t>tion Time</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Data Collection Time</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729484"/>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The beginning and end of the data collection time is expressed in date/time and identified in the metadata consistent with ISO 8601. The time is expressed with the time offset from UTC unambiguously identified.</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Number of source data acquisitions</a:t>
                      </a:r>
                      <a:r>
                        <a:rPr sz="1000">
                          <a:solidFill>
                            <a:srgbClr val="1565C0"/>
                          </a:solidFill>
                        </a:rPr>
                        <a:t> of the data collection </a:t>
                      </a:r>
                      <a:r>
                        <a:rPr sz="1000"/>
                        <a:t>is identified.</a:t>
                      </a:r>
                    </a:p>
                    <a:p>
                      <a:r>
                        <a:rPr sz="1000"/>
                        <a:t>The start and stop UTC time of data collection is</a:t>
                      </a:r>
                      <a:r>
                        <a:rPr sz="1000">
                          <a:solidFill>
                            <a:srgbClr val="1565C0"/>
                          </a:solidFill>
                        </a:rPr>
                        <a:t> identified in the metadata</a:t>
                      </a:r>
                      <a:r>
                        <a:rPr sz="1000"/>
                        <a:t>, expressed in date/time.</a:t>
                      </a:r>
                    </a:p>
                    <a:p>
                      <a:r>
                        <a:rPr sz="1000"/>
                        <a:t>In the case of composite or mosaic products, the dates/times of the first and last data takes is provid</a:t>
                      </a:r>
                      <a:r>
                        <a:rPr sz="1000">
                          <a:solidFill>
                            <a:srgbClr val="1565C0"/>
                          </a:solidFill>
                        </a:rPr>
                        <a:t>ed with the </a:t>
                      </a:r>
                      <a:r>
                        <a:rPr sz="1000"/>
                        <a:t>product</a:t>
                      </a:r>
                      <a:r>
                        <a:rPr sz="1000"/>
                        <a:t>.</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The </a:t>
                      </a:r>
                      <a:r>
                        <a:rPr sz="1000"/>
                        <a:t>start date and time of source data is</a:t>
                      </a:r>
                      <a:r>
                        <a:rPr sz="1000">
                          <a:solidFill>
                            <a:srgbClr val="1565C0"/>
                          </a:solidFill>
                        </a:rPr>
                        <a:t> identified in the metadata</a:t>
                      </a:r>
                      <a:r>
                        <a:rPr sz="1000"/>
                        <a:t>,</a:t>
                      </a:r>
                      <a:r>
                        <a:rPr sz="1000">
                          <a:solidFill>
                            <a:srgbClr val="1565C0"/>
                          </a:solidFill>
                        </a:rPr>
                        <a:t> expressed </a:t>
                      </a:r>
                      <a:r>
                        <a:rPr sz="1000"/>
                        <a:t>in UTC in date and time, at least to the secon</a:t>
                      </a:r>
                      <a:r>
                        <a:rPr sz="1000"/>
                        <a:t>d.</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T</a:t>
                      </a:r>
                      <a:r>
                        <a:rPr sz="1000" strike="sngStrike">
                          <a:solidFill>
                            <a:srgbClr val="B00000"/>
                          </a:solidFill>
                        </a:rPr>
                        <a:t>he beginning and end of t</a:t>
                      </a:r>
                      <a:r>
                        <a:rPr sz="1000"/>
                        <a:t>he data collection time is </a:t>
                      </a:r>
                      <a:r>
                        <a:rPr sz="1000" strike="sngStrike">
                          <a:solidFill>
                            <a:srgbClr val="B00000"/>
                          </a:solidFill>
                        </a:rPr>
                        <a:t>expressed in date/time and </a:t>
                      </a:r>
                      <a:r>
                        <a:rPr sz="1000"/>
                        <a:t>identified in the metadata</a:t>
                      </a:r>
                      <a:r>
                        <a:rPr sz="1000" strike="sngStrike">
                          <a:solidFill>
                            <a:srgbClr val="B00000"/>
                          </a:solidFill>
                        </a:rPr>
                        <a:t> consistent with ISO 8601. The time is</a:t>
                      </a:r>
                      <a:r>
                        <a:rPr sz="1000" b="1">
                          <a:solidFill>
                            <a:srgbClr val="2E7D32"/>
                          </a:solidFill>
                        </a:rPr>
                        <a:t>,</a:t>
                      </a:r>
                      <a:r>
                        <a:rPr sz="1000"/>
                        <a:t> expressed</a:t>
                      </a:r>
                      <a:r>
                        <a:rPr sz="1000" b="1">
                          <a:solidFill>
                            <a:srgbClr val="2E7D32"/>
                          </a:solidFill>
                        </a:rPr>
                        <a:t> in date/time, to the second,</a:t>
                      </a:r>
                      <a:r>
                        <a:rPr sz="1000"/>
                        <a:t> with the time offset from UTC unambiguously identified.</a:t>
                      </a:r>
                    </a:p>
                  </a:txBody>
                  <a:tcPr>
                    <a:solidFill>
                      <a:srgbClr val="FFFFFF"/>
                    </a:solidFill>
                  </a:tcPr>
                </a:tc>
                <a:tc>
                  <a:txBody>
                    <a:bodyPr/>
                    <a:lstStyle/>
                    <a:p>
                      <a:r>
                        <a:rPr sz="1000"/>
                        <a:t>T</a:t>
                      </a:r>
                      <a:r>
                        <a:rPr sz="1000" b="1">
                          <a:solidFill>
                            <a:srgbClr val="2E7D32"/>
                          </a:solidFill>
                        </a:rPr>
                        <a:t>he beginning and end of t</a:t>
                      </a:r>
                      <a:r>
                        <a:rPr sz="1000"/>
                        <a:t>he data collection time is </a:t>
                      </a:r>
                      <a:r>
                        <a:rPr sz="1000" b="1">
                          <a:solidFill>
                            <a:srgbClr val="2E7D32"/>
                          </a:solidFill>
                        </a:rPr>
                        <a:t>expressed in date/time and </a:t>
                      </a:r>
                      <a:r>
                        <a:rPr sz="1000"/>
                        <a:t>identified in the metadata</a:t>
                      </a:r>
                      <a:r>
                        <a:rPr sz="1000" strike="sngStrike">
                          <a:solidFill>
                            <a:srgbClr val="B00000"/>
                          </a:solidFill>
                        </a:rPr>
                        <a:t>,</a:t>
                      </a:r>
                      <a:r>
                        <a:rPr sz="1000" b="1">
                          <a:solidFill>
                            <a:srgbClr val="2E7D32"/>
                          </a:solidFill>
                        </a:rPr>
                        <a:t> consistent with ISO 8601. The time is</a:t>
                      </a:r>
                      <a:r>
                        <a:rPr sz="1000"/>
                        <a:t> expressed</a:t>
                      </a:r>
                      <a:r>
                        <a:rPr sz="1000" strike="sngStrike">
                          <a:solidFill>
                            <a:srgbClr val="B00000"/>
                          </a:solidFill>
                        </a:rPr>
                        <a:t> in date/time, to the second,</a:t>
                      </a:r>
                      <a:r>
                        <a:rPr sz="1000"/>
                        <a:t> with the time offset from UTC unambiguously identified.</a:t>
                      </a:r>
                    </a:p>
                  </a:txBody>
                  <a:tcP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but information required to determine, within a stated uncertainty, when the individual observations were taken is available.</a:t>
                      </a:r>
                    </a:p>
                    <a:p>
                      <a:r>
                        <a:rPr sz="1000" i="1">
                          <a:solidFill>
                            <a:srgbClr val="808080"/>
                          </a:solidFill>
                        </a:rPr>
                        <a:t>(optional)</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solidFill>
                            <a:srgbClr val="1565C0"/>
                          </a:solidFill>
                        </a:rPr>
                        <a:t>As threshold, but </a:t>
                      </a:r>
                      <a:r>
                        <a:rPr sz="1000"/>
                        <a:t>using ISO 8601 time format</a:t>
                      </a:r>
                      <a:r>
                        <a:rPr sz="1000"/>
                        <a:t>.</a:t>
                      </a:r>
                    </a:p>
                    <a:p>
                      <a:r>
                        <a:rPr sz="1000" i="1">
                          <a:solidFill>
                            <a:srgbClr val="808080"/>
                          </a:solidFill>
                        </a:rPr>
                        <a:t>(optional)</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A</a:t>
                      </a:r>
                      <a:r>
                        <a:rPr sz="1000"/>
                        <a:t>cquisition time for each pixel is identified (or can be reliably</a:t>
                      </a:r>
                      <a:r>
                        <a:rPr sz="1000">
                          <a:solidFill>
                            <a:srgbClr val="1565C0"/>
                          </a:solidFill>
                        </a:rPr>
                        <a:t> determine</a:t>
                      </a:r>
                      <a:r>
                        <a:rPr sz="1000"/>
                        <a:t>d) in the metadata, expressed in date/time at UTC, to the second</a:t>
                      </a:r>
                      <a:r>
                        <a:rPr sz="1000"/>
                        <a:t>.</a:t>
                      </a:r>
                    </a:p>
                    <a:p>
                      <a:r>
                        <a:rPr sz="1000" i="1">
                          <a:solidFill>
                            <a:srgbClr val="808080"/>
                          </a:solidFill>
                        </a:rPr>
                        <a:t>(optional)</a:t>
                      </a:r>
                    </a:p>
                  </a:txBody>
                  <a:tcPr>
                    <a:solidFill>
                      <a:srgbClr val="FFFFFF"/>
                    </a:solidFill>
                  </a:tcPr>
                </a:tc>
                <a:tc>
                  <a:txBody>
                    <a:bodyPr/>
                    <a:lstStyle/>
                    <a:p>
                      <a:r>
                        <a:rPr sz="1000"/>
                        <a:t>A</a:t>
                      </a:r>
                      <a:r>
                        <a:rPr sz="1000"/>
                        <a:t>s threshold, but information required to</a:t>
                      </a:r>
                      <a:r>
                        <a:rPr sz="1000">
                          <a:solidFill>
                            <a:srgbClr val="1565C0"/>
                          </a:solidFill>
                        </a:rPr>
                        <a:t> determine</a:t>
                      </a:r>
                      <a:r>
                        <a:rPr sz="1000"/>
                        <a:t>, within a stated uncertainty, when the individual observations were taken is available</a:t>
                      </a:r>
                      <a:r>
                        <a:rPr sz="1000"/>
                        <a:t>.</a:t>
                      </a:r>
                    </a:p>
                  </a:txBody>
                  <a:tcPr>
                    <a:solidFill>
                      <a:srgbClr val="FFFFFF"/>
                    </a:solidFill>
                  </a:tcPr>
                </a:tc>
              </a:tr>
            </a:tbl>
          </a:graphicData>
        </a:graphic>
      </p:graphicFrame>
      <p:sp>
        <p:nvSpPr>
          <p:cNvPr id="4" name="TextBox 3"/>
          <p:cNvSpPr txBox="1"/>
          <p:nvPr/>
        </p:nvSpPr>
        <p:spPr>
          <a:xfrm>
            <a:off x="457200" y="3483864"/>
            <a:ext cx="11277295" cy="1280160"/>
          </a:xfrm>
          <a:prstGeom prst="rect">
            <a:avLst/>
          </a:prstGeom>
          <a:noFill/>
        </p:spPr>
        <p:txBody>
          <a:bodyPr wrap="square">
            <a:spAutoFit/>
          </a:bodyPr>
          <a:lstStyle/>
          <a:p>
            <a:r>
              <a:rPr sz="1200" b="1"/>
              <a:t>Internal notes: </a:t>
            </a:r>
            <a:r>
              <a:rPr sz="1200" i="1"/>
              <a:t>time-sar and time-source remain SAR-specific (number of acquisitions, composites/mosaics, source acquisition time); consider requiring ISO 8601 there already at threshold — it currently only appears at goal.</a:t>
            </a:r>
          </a:p>
          <a:p>
            <a:r>
              <a:rPr sz="1200" i="1"/>
              <a:t/>
            </a:r>
          </a:p>
          <a:p>
            <a:r>
              <a:rPr sz="1200" i="1"/>
              <a:t>The current SR goal (per-pixel acquisition time) is more specific than the AR goal; if per-pixel time is essential for NLSR/SR, keep the current SR wording instead.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Data Collection Time  # TODO: differs per PFS</a:t>
            </a:r>
          </a:p>
          <a:p>
            <a:r>
              <a:rPr sz="1100">
                <a:latin typeface="Consolas"/>
              </a:rPr>
              <a:t>requirements:</a:t>
            </a:r>
          </a:p>
          <a:p>
            <a:r>
              <a:rPr sz="1100">
                <a:latin typeface="Consolas"/>
              </a:rPr>
              <a:t>  threshold:</a:t>
            </a:r>
          </a:p>
          <a:p>
            <a:r>
              <a:rPr sz="1100">
                <a:latin typeface="Consolas"/>
              </a:rPr>
              <a:t>    description: The beginning and end of the data collection time is expressed in date/time and identified in the metadata consistent with ISO 8601. The time is expressed with the time offset from UTC unambiguously identified.  # TODO: differs per PFS</a:t>
            </a:r>
          </a:p>
          <a:p>
            <a:r>
              <a:rPr sz="1100">
                <a:latin typeface="Consolas"/>
              </a:rPr>
              <a:t>  goal:</a:t>
            </a:r>
          </a:p>
          <a:p>
            <a:r>
              <a:rPr sz="1100">
                <a:latin typeface="Consolas"/>
              </a:rPr>
              <a:t>    description: As threshold, but information required to determine, within a stated uncertainty, when the individual observations were taken is available.  # TODO: differs per PFS</a:t>
            </a:r>
          </a:p>
          <a:p>
            <a:r>
              <a:rPr sz="1100">
                <a:latin typeface="Consolas"/>
              </a:rPr>
              <a:t>    optional: true  # TODO: differs per PFS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Traceability</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Traceability</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Traceability</a:t>
                      </a:r>
                    </a:p>
                  </a:txBody>
                  <a:tcPr>
                    <a:solidFill>
                      <a:srgbClr val="FFFFFF"/>
                    </a:solidFill>
                  </a:tcPr>
                </a:tc>
                <a:tc>
                  <a:txBody>
                    <a:bodyPr/>
                    <a:lstStyle/>
                    <a:p/>
                  </a:txBody>
                  <a:tcPr>
                    <a:solidFill>
                      <a:srgbClr val="FFFFFF"/>
                    </a:solidFill>
                  </a:tcPr>
                </a:tc>
              </a:tr>
              <a:tr h="73152">
                <a:tc>
                  <a:txBody>
                    <a:bodyPr/>
                    <a:lstStyle/>
                    <a:p>
                      <a:r>
                        <a:rPr sz="1000" b="1"/>
                        <a:t>ST</a:t>
                      </a:r>
                    </a:p>
                  </a:txBody>
                  <a:tcPr>
                    <a:solidFill>
                      <a:srgbClr val="FFFFFF"/>
                    </a:solidFill>
                  </a:tcPr>
                </a:tc>
                <a:tc>
                  <a:txBody>
                    <a:bodyPr/>
                    <a:lstStyle/>
                    <a:p>
                      <a:r>
                        <a:rPr sz="1000" b="1">
                          <a:solidFill>
                            <a:srgbClr val="2E7D32"/>
                          </a:solidFill>
                        </a:rPr>
                        <a:t>Metrological </a:t>
                      </a:r>
                      <a:r>
                        <a:rPr sz="1000"/>
                        <a:t>Traceability</a:t>
                      </a:r>
                      <a:r>
                        <a:rPr sz="1000" b="1">
                          <a:solidFill>
                            <a:srgbClr val="2E7D32"/>
                          </a:solidFill>
                        </a:rPr>
                        <a:t> of the Measurand to SI</a:t>
                      </a:r>
                    </a:p>
                  </a:txBody>
                  <a:tcPr>
                    <a:solidFill>
                      <a:srgbClr val="FFFFFF"/>
                    </a:solidFill>
                  </a:tcPr>
                </a:tc>
                <a:tc>
                  <a:txBody>
                    <a:bodyPr/>
                    <a:lstStyle/>
                    <a:p>
                      <a:r>
                        <a:rPr sz="1000" strike="sngStrike">
                          <a:solidFill>
                            <a:srgbClr val="B00000"/>
                          </a:solidFill>
                        </a:rPr>
                        <a:t>Metrological </a:t>
                      </a:r>
                      <a:r>
                        <a:rPr sz="1000"/>
                        <a:t>Traceability</a:t>
                      </a:r>
                      <a:r>
                        <a:rPr sz="1000" strike="sngStrike">
                          <a:solidFill>
                            <a:srgbClr val="B00000"/>
                          </a:solidFill>
                        </a:rPr>
                        <a:t> of the Measurand to SI</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729484"/>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Aquatic Reflectance (dimensionless) or the Remote Sensing Reflectance ($sr^{-1}$) of the water bodies ($AR = \pi \cdot R_{rs}$) is given.</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5" name="Table 4"/>
          <p:cNvGraphicFramePr>
            <a:graphicFrameLocks noGrp="1"/>
          </p:cNvGraphicFramePr>
          <p:nvPr/>
        </p:nvGraphicFramePr>
        <p:xfrm>
          <a:off x="457200" y="4453128"/>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Data must be traceable to SI reference standard.</a:t>
                      </a:r>
                    </a:p>
                  </a:txBody>
                  <a:tcPr>
                    <a:solidFill>
                      <a:srgbClr val="FFFFFF"/>
                    </a:solidFill>
                  </a:tcPr>
                </a:tc>
                <a:tc>
                  <a:txBody>
                    <a:bodyPr/>
                    <a:lstStyle/>
                    <a:p/>
                  </a:txBody>
                  <a:tcPr>
                    <a:solidFill>
                      <a:srgbClr val="FFFFFF"/>
                    </a:solidFill>
                  </a:tcPr>
                </a:tc>
              </a:tr>
              <a:tr h="73152">
                <a:tc>
                  <a:txBody>
                    <a:bodyPr/>
                    <a:lstStyle/>
                    <a:p>
                      <a:r>
                        <a:rPr sz="1000" b="1"/>
                        <a:t>CB, GSLC, INSAR, NRB, ORB, POL</a:t>
                      </a:r>
                    </a:p>
                  </a:txBody>
                  <a:tcPr>
                    <a:solidFill>
                      <a:srgbClr val="FFFFFF"/>
                    </a:solidFill>
                  </a:tcPr>
                </a:tc>
                <a:tc>
                  <a:txBody>
                    <a:bodyPr/>
                    <a:lstStyle/>
                    <a:p>
                      <a:r>
                        <a:rPr sz="1000"/>
                        <a:t>Data must be traceable to SI reference standard.</a:t>
                      </a:r>
                    </a:p>
                  </a:txBody>
                  <a:tcPr>
                    <a:solidFill>
                      <a:srgbClr val="FFFFFF"/>
                    </a:solidFill>
                  </a:tcPr>
                </a:tc>
                <a:tc>
                  <a:txBody>
                    <a:bodyPr/>
                    <a:lstStyle/>
                    <a:p/>
                  </a:txBody>
                  <a:tcPr>
                    <a:solidFill>
                      <a:srgbClr val="FFFFFF"/>
                    </a:solidFill>
                  </a:tcPr>
                </a:tc>
              </a:tr>
              <a:tr h="73152">
                <a:tc>
                  <a:txBody>
                    <a:bodyPr/>
                    <a:lstStyle/>
                    <a:p>
                      <a:r>
                        <a:rPr sz="1000" b="1"/>
                        <a:t>NLSR, SR</a:t>
                      </a:r>
                    </a:p>
                  </a:txBody>
                  <a:tcPr>
                    <a:solidFill>
                      <a:srgbClr val="FFFFFF"/>
                    </a:solidFill>
                  </a:tcPr>
                </a:tc>
                <a:tc>
                  <a:txBody>
                    <a:bodyPr/>
                    <a:lstStyle/>
                    <a:p>
                      <a:r>
                        <a:rPr sz="1000"/>
                        <a:t>Data must be traceable to SI reference standard.</a:t>
                      </a:r>
                    </a:p>
                  </a:txBody>
                  <a:tcPr>
                    <a:solidFill>
                      <a:srgbClr val="FFFFFF"/>
                    </a:solidFill>
                  </a:tcPr>
                </a:tc>
                <a:tc>
                  <a:txBody>
                    <a:bodyPr/>
                    <a:lstStyle/>
                    <a:p/>
                  </a:txBody>
                  <a:tcPr>
                    <a:solidFill>
                      <a:srgbClr val="FFFFFF"/>
                    </a:solidFill>
                  </a:tcPr>
                </a:tc>
              </a:tr>
              <a:tr h="73152">
                <a:tc>
                  <a:txBody>
                    <a:bodyPr/>
                    <a:lstStyle/>
                    <a:p>
                      <a:r>
                        <a:rPr sz="1000" b="1"/>
                        <a:t>ST</a:t>
                      </a:r>
                    </a:p>
                  </a:txBody>
                  <a:tcPr>
                    <a:solidFill>
                      <a:srgbClr val="FFFFFF"/>
                    </a:solidFill>
                  </a:tcPr>
                </a:tc>
                <a:tc>
                  <a:txBody>
                    <a:bodyPr/>
                    <a:lstStyle/>
                    <a:p>
                      <a:r>
                        <a:rPr sz="1000"/>
                        <a:t>Data must be traceable to SI reference standard.</a:t>
                      </a:r>
                    </a:p>
                    <a:p>
                      <a:r>
                        <a:rPr sz="1000" b="1">
                          <a:solidFill>
                            <a:srgbClr val="2E7D32"/>
                          </a:solidFill>
                        </a:rPr>
                        <a:t>Information on traceability should be available in the metadata as a single DOI landing page.</a:t>
                      </a:r>
                    </a:p>
                  </a:txBody>
                  <a:tcPr>
                    <a:solidFill>
                      <a:srgbClr val="FFFFFF"/>
                    </a:solidFill>
                  </a:tcPr>
                </a:tc>
                <a:tc>
                  <a:txBody>
                    <a:bodyPr/>
                    <a:lstStyle/>
                    <a:p>
                      <a:r>
                        <a:rPr sz="1000"/>
                        <a:t>Data must be traceable to SI reference standard.</a:t>
                      </a:r>
                    </a:p>
                    <a:p>
                      <a:r>
                        <a:rPr sz="1000" strike="sngStrike">
                          <a:solidFill>
                            <a:srgbClr val="B00000"/>
                          </a:solidFill>
                        </a:rPr>
                        <a:t>Information on traceability should be available in the metadata as a single DOI landing page.</a:t>
                      </a:r>
                    </a:p>
                  </a:txBody>
                  <a:tcPr>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73152">
                <a:tc>
                  <a:txBody>
                    <a:bodyPr/>
                    <a:lstStyle/>
                    <a:p>
                      <a:r>
                        <a:rPr sz="1000" b="1"/>
                        <a:t>AR</a:t>
                      </a:r>
                    </a:p>
                  </a:txBody>
                  <a:tcPr>
                    <a:solidFill>
                      <a:srgbClr val="FFFFFF"/>
                    </a:solidFill>
                  </a:tcPr>
                </a:tc>
                <a:tc>
                  <a:txBody>
                    <a:bodyPr/>
                    <a:lstStyle/>
                    <a:p>
                      <a:r>
                        <a:rPr sz="1000"/>
                        <a:t>Relationship to [@</a:t>
                      </a:r>
                      <a:r>
                        <a:rPr sz="1000" strike="sngStrike">
                          <a:solidFill>
                            <a:srgbClr val="B00000"/>
                          </a:solidFill>
                        </a:rPr>
                        <a:t>relationship</a:t>
                      </a:r>
                      <a:r>
                        <a:rPr sz="1000" b="1">
                          <a:solidFill>
                            <a:srgbClr val="2E7D32"/>
                          </a:solidFill>
                        </a:rPr>
                        <a:t>uncertainty</a:t>
                      </a:r>
                      <a:r>
                        <a:rPr sz="1000"/>
                        <a:t>]. Traceability requires an estimate of measurement uncertainty.</a:t>
                      </a:r>
                    </a:p>
                    <a:p/>
                    <a:p>
                      <a:r>
                        <a:rPr sz="1000" strike="sngStrike">
                          <a:solidFill>
                            <a:srgbClr val="B00000"/>
                          </a:solidFill>
                        </a:rPr>
                        <a:t>Information on traceability should be available in the metadata as a single DOI landing page.</a:t>
                      </a:r>
                    </a:p>
                  </a:txBody>
                  <a:tcPr>
                    <a:solidFill>
                      <a:srgbClr val="FFFFFF"/>
                    </a:solidFill>
                  </a:tcPr>
                </a:tc>
                <a:tc>
                  <a:txBody>
                    <a:bodyPr/>
                    <a:lstStyle/>
                    <a:p>
                      <a:r>
                        <a:rPr sz="1000"/>
                        <a:t>Relationship to [@uncertainty]. Traceability requires an estimate of measurement uncertainty.</a:t>
                      </a:r>
                    </a:p>
                  </a:txBody>
                  <a:tcPr>
                    <a:solidFill>
                      <a:srgbClr val="FFFFFF"/>
                    </a:solidFill>
                  </a:tcPr>
                </a:tc>
              </a:tr>
              <a:tr h="73152">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Relationship to [@relationship]. Traceability requires an estimate of measurement uncertainty.</a:t>
                      </a:r>
                    </a:p>
                    <a:p/>
                    <a:p>
                      <a:r>
                        <a:rPr sz="1000"/>
                        <a:t>Information on traceability should be available in the metadata as a single DOI landing page.</a:t>
                      </a:r>
                    </a:p>
                  </a:txBody>
                  <a:tcPr>
                    <a:solidFill>
                      <a:srgbClr val="FFFFFF"/>
                    </a:solidFill>
                  </a:tcPr>
                </a:tc>
                <a:tc>
                  <a:txBody>
                    <a:bodyPr/>
                    <a:lstStyle/>
                    <a:p>
                      <a:r>
                        <a:rPr sz="1000"/>
                        <a:t>Relationship to [@</a:t>
                      </a:r>
                      <a:r>
                        <a:rPr sz="1000" strike="sngStrike">
                          <a:solidFill>
                            <a:srgbClr val="B00000"/>
                          </a:solidFill>
                        </a:rPr>
                        <a:t>relationship</a:t>
                      </a:r>
                      <a:r>
                        <a:rPr sz="1000" b="1">
                          <a:solidFill>
                            <a:srgbClr val="2E7D32"/>
                          </a:solidFill>
                        </a:rPr>
                        <a:t>uncertainty</a:t>
                      </a:r>
                      <a:r>
                        <a:rPr sz="1000"/>
                        <a:t>]. Traceability requires an estimate of measurement uncertainty.</a:t>
                      </a:r>
                    </a:p>
                    <a:p/>
                    <a:p>
                      <a:r>
                        <a:rPr sz="1000" strike="sngStrike">
                          <a:solidFill>
                            <a:srgbClr val="B00000"/>
                          </a:solidFill>
                        </a:rPr>
                        <a:t>Information on traceability should be available in the metadata as a single DOI landing page.</a:t>
                      </a:r>
                    </a:p>
                  </a:txBody>
                  <a:tcPr>
                    <a:solidFill>
                      <a:srgbClr val="FFFFFF"/>
                    </a:solidFill>
                  </a:tcPr>
                </a:tc>
              </a:tr>
              <a:tr h="73152">
                <a:tc>
                  <a:txBody>
                    <a:bodyPr/>
                    <a:lstStyle/>
                    <a:p>
                      <a:r>
                        <a:rPr sz="1000" b="1"/>
                        <a:t>NLSR, SR</a:t>
                      </a:r>
                    </a:p>
                  </a:txBody>
                  <a:tcPr>
                    <a:solidFill>
                      <a:srgbClr val="FFFFFF"/>
                    </a:solidFill>
                  </a:tcPr>
                </a:tc>
                <a:tc>
                  <a:txBody>
                    <a:bodyPr/>
                    <a:lstStyle/>
                    <a:p>
                      <a:r>
                        <a:rPr sz="1000"/>
                        <a:t>Relationship to [@relationship]. Traceability requires an estimate of measurement uncertainty.</a:t>
                      </a:r>
                    </a:p>
                    <a:p/>
                    <a:p>
                      <a:r>
                        <a:rPr sz="1000"/>
                        <a:t>Information on traceability should be available in the metadata as a single DOI landing page.</a:t>
                      </a:r>
                    </a:p>
                  </a:txBody>
                  <a:tcPr>
                    <a:solidFill>
                      <a:srgbClr val="FFFFFF"/>
                    </a:solidFill>
                  </a:tcPr>
                </a:tc>
                <a:tc>
                  <a:txBody>
                    <a:bodyPr/>
                    <a:lstStyle/>
                    <a:p>
                      <a:r>
                        <a:rPr sz="1000"/>
                        <a:t>Relationship to [@</a:t>
                      </a:r>
                      <a:r>
                        <a:rPr sz="1000" strike="sngStrike">
                          <a:solidFill>
                            <a:srgbClr val="B00000"/>
                          </a:solidFill>
                        </a:rPr>
                        <a:t>relationship</a:t>
                      </a:r>
                      <a:r>
                        <a:rPr sz="1000" b="1">
                          <a:solidFill>
                            <a:srgbClr val="2E7D32"/>
                          </a:solidFill>
                        </a:rPr>
                        <a:t>uncertainty</a:t>
                      </a:r>
                      <a:r>
                        <a:rPr sz="1000"/>
                        <a:t>]. Traceability requires an estimate of measurement uncertainty.</a:t>
                      </a:r>
                    </a:p>
                    <a:p/>
                    <a:p>
                      <a:r>
                        <a:rPr sz="1000" strike="sngStrike">
                          <a:solidFill>
                            <a:srgbClr val="B00000"/>
                          </a:solidFill>
                        </a:rPr>
                        <a:t>Information on traceability should be available in the metadata as a single DOI landing page.</a:t>
                      </a:r>
                    </a:p>
                  </a:txBody>
                  <a:tcPr>
                    <a:solidFill>
                      <a:srgbClr val="FFFFFF"/>
                    </a:solidFill>
                  </a:tcPr>
                </a:tc>
              </a:tr>
              <a:tr h="73152">
                <a:tc>
                  <a:txBody>
                    <a:bodyPr/>
                    <a:lstStyle/>
                    <a:p>
                      <a:r>
                        <a:rPr sz="1000" b="1"/>
                        <a:t>ST</a:t>
                      </a:r>
                    </a:p>
                  </a:txBody>
                  <a:tcPr>
                    <a:solidFill>
                      <a:srgbClr val="FFFFFF"/>
                    </a:solidFill>
                  </a:tcPr>
                </a:tc>
                <a:tc>
                  <a:txBody>
                    <a:bodyPr/>
                    <a:lstStyle/>
                    <a:p>
                      <a:r>
                        <a:rPr sz="1000" strike="sngStrike">
                          <a:solidFill>
                            <a:srgbClr val="B00000"/>
                          </a:solidFill>
                        </a:rPr>
                        <a:t>Relationship to [@relationship].</a:t>
                      </a:r>
                      <a:r>
                        <a:rPr sz="1000" b="1">
                          <a:solidFill>
                            <a:srgbClr val="2E7D32"/>
                          </a:solidFill>
                        </a:rPr>
                        <a:t>SI</a:t>
                      </a:r>
                      <a:r>
                        <a:rPr sz="1000"/>
                        <a:t> Traceability requires an estimate of measurement uncertainty</a:t>
                      </a:r>
                      <a:r>
                        <a:rPr sz="1000" strike="sngStrike">
                          <a:solidFill>
                            <a:srgbClr val="B00000"/>
                          </a:solidFill>
                        </a:rPr>
                        <a:t>.</a:t>
                      </a:r>
                    </a:p>
                    <a:p/>
                    <a:p>
                      <a:r>
                        <a:rPr sz="1000" strike="sngStrike">
                          <a:solidFill>
                            <a:srgbClr val="B00000"/>
                          </a:solidFill>
                        </a:rPr>
                        <a:t>Information on traceability should be available in the metadata as a single DOI landing page</a:t>
                      </a:r>
                      <a:r>
                        <a:rPr sz="1000" b="1">
                          <a:solidFill>
                            <a:srgbClr val="2E7D32"/>
                          </a:solidFill>
                        </a:rPr>
                        <a:t> (see [@uncertainty])</a:t>
                      </a:r>
                      <a:r>
                        <a:rPr sz="1000"/>
                        <a:t>.</a:t>
                      </a:r>
                    </a:p>
                  </a:txBody>
                  <a:tcPr>
                    <a:solidFill>
                      <a:srgbClr val="FFFFFF"/>
                    </a:solidFill>
                  </a:tcPr>
                </a:tc>
                <a:tc>
                  <a:txBody>
                    <a:bodyPr/>
                    <a:lstStyle/>
                    <a:p>
                      <a:r>
                        <a:rPr sz="1000" strike="sngStrike">
                          <a:solidFill>
                            <a:srgbClr val="B00000"/>
                          </a:solidFill>
                        </a:rPr>
                        <a:t>SI</a:t>
                      </a:r>
                      <a:r>
                        <a:rPr sz="1000" b="1">
                          <a:solidFill>
                            <a:srgbClr val="2E7D32"/>
                          </a:solidFill>
                        </a:rPr>
                        <a:t>Relationship to [@uncertainty].</a:t>
                      </a:r>
                      <a:r>
                        <a:rPr sz="1000"/>
                        <a:t> Traceability requires an estimate of measurement uncertainty</a:t>
                      </a:r>
                      <a:r>
                        <a:rPr sz="1000" strike="sngStrike">
                          <a:solidFill>
                            <a:srgbClr val="B00000"/>
                          </a:solidFill>
                        </a:rPr>
                        <a:t> (see [@uncertainty])</a:t>
                      </a:r>
                      <a:r>
                        <a:rPr sz="1000"/>
                        <a:t>.</a:t>
                      </a:r>
                    </a:p>
                  </a:txBody>
                  <a:tcP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(cont.)</a:t>
            </a:r>
          </a:p>
        </p:txBody>
      </p:sp>
      <p:sp>
        <p:nvSpPr>
          <p:cNvPr id="3" name="TextBox 2"/>
          <p:cNvSpPr txBox="1"/>
          <p:nvPr/>
        </p:nvSpPr>
        <p:spPr>
          <a:xfrm>
            <a:off x="457200" y="1005840"/>
            <a:ext cx="11277295" cy="1938528"/>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The [@relationship] reference in the SAR and NLSR/SR variants looks like a broken cross-reference — it should probably be [@uncertainty], as in AR.</a:t>
            </a:r>
          </a:p>
          <a:p>
            <a:r>
              <a:rPr sz="1200" i="1"/>
              <a:t/>
            </a:r>
          </a:p>
          <a:p>
            <a:r>
              <a:rPr sz="1200" i="1"/>
              <a:t>The AR threshold text (an Aquatic Reflectance definition) appears misplaced under Traceability — check the AR PFS.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Traceability</a:t>
            </a:r>
          </a:p>
          <a:p>
            <a:r>
              <a:rPr sz="1100">
                <a:latin typeface="Consolas"/>
              </a:rPr>
              <a:t>requirements:</a:t>
            </a:r>
          </a:p>
          <a:p>
            <a:r>
              <a:rPr sz="1100">
                <a:latin typeface="Consolas"/>
              </a:rPr>
              <a:t>  goal:</a:t>
            </a:r>
          </a:p>
          <a:p>
            <a:r>
              <a:rPr sz="1100">
                <a:latin typeface="Consolas"/>
              </a:rPr>
              <a:t>    description: Data must be traceable to SI reference standard.</a:t>
            </a:r>
          </a:p>
          <a:p>
            <a:r>
              <a:rPr sz="1100">
                <a:latin typeface="Consolas"/>
              </a:rPr>
              <a:t>    notes:</a:t>
            </a:r>
          </a:p>
          <a:p>
            <a:r>
              <a:rPr sz="1100">
                <a:latin typeface="Consolas"/>
              </a:rPr>
              <a:t>      - Relationship to [@uncertainty]. Traceability requires an estimate of measurement uncertainty.</a:t>
            </a:r>
          </a:p>
          <a:p>
            <a:r>
              <a:rPr sz="1100">
                <a:latin typeface="Consolas"/>
              </a:rPr>
              <a:t>    optional: true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cloud or cloud-affected.</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Specification of whether a pixel is cloud</a:t>
                      </a:r>
                      <a:r>
                        <a:rPr sz="1000" strike="sngStrike">
                          <a:solidFill>
                            <a:srgbClr val="B00000"/>
                          </a:solidFill>
                        </a:rPr>
                        <a:t> or cloud</a:t>
                      </a:r>
                      <a:r>
                        <a:rPr sz="1000"/>
                        <a:t>-affected.</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Metadata indicates</a:t>
                      </a:r>
                      <a:r>
                        <a:rPr sz="1000">
                          <a:solidFill>
                            <a:srgbClr val="1565C0"/>
                          </a:solidFill>
                        </a:rPr>
                        <a:t> whether a pixel is </a:t>
                      </a:r>
                      <a:r>
                        <a:rPr sz="1000"/>
                        <a:t>assessed as being cloud</a:t>
                      </a:r>
                      <a:r>
                        <a:rPr sz="1000"/>
                        <a:t>.</a:t>
                      </a:r>
                    </a:p>
                  </a:txBody>
                  <a:tcPr>
                    <a:solidFill>
                      <a:srgbClr val="FFFFFF"/>
                    </a:solidFill>
                  </a:tcPr>
                </a:tc>
                <a:tc>
                  <a:txBody>
                    <a:bodyPr/>
                    <a:lstStyle/>
                    <a:p>
                      <a:r>
                        <a:rPr sz="1000"/>
                        <a:t>Specification of</a:t>
                      </a:r>
                      <a:r>
                        <a:rPr sz="1000">
                          <a:solidFill>
                            <a:srgbClr val="1565C0"/>
                          </a:solidFill>
                        </a:rPr>
                        <a:t> whether a pixel is </a:t>
                      </a:r>
                      <a:r>
                        <a:rPr sz="1000"/>
                        <a:t>cloud or cloud-affected</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As threshold, but clouds and cirrus clouds are differentiated.</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solidFill>
                            <a:srgbClr val="1565C0"/>
                          </a:solidFill>
                        </a:rPr>
                        <a:t>As threshold, but </a:t>
                      </a:r>
                      <a:r>
                        <a:rPr sz="1000"/>
                        <a:t>information on cloud type or confidence is includ</a:t>
                      </a:r>
                      <a:r>
                        <a:rPr sz="1000"/>
                        <a:t>ed.</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solidFill>
                            <a:srgbClr val="1565C0"/>
                          </a:solidFill>
                        </a:rPr>
                        <a:t>As threshold, but </a:t>
                      </a:r>
                      <a:r>
                        <a:rPr sz="1000"/>
                        <a:t>information on cloud detection should be available in the metadata as a single DOI landing page</a:t>
                      </a:r>
                      <a:r>
                        <a:rPr sz="1000"/>
                        <a:t>.</a:t>
                      </a:r>
                    </a:p>
                  </a:txBody>
                  <a:tcPr>
                    <a:solidFill>
                      <a:srgbClr val="FFFFFF"/>
                    </a:solidFill>
                  </a:tcPr>
                </a:tc>
                <a:tc>
                  <a:txBody>
                    <a:bodyPr/>
                    <a:lstStyle/>
                    <a:p>
                      <a:r>
                        <a:rPr sz="1000">
                          <a:solidFill>
                            <a:srgbClr val="1565C0"/>
                          </a:solidFill>
                        </a:rPr>
                        <a:t>As threshold, but </a:t>
                      </a:r>
                      <a:r>
                        <a:rPr sz="1000"/>
                        <a:t>clouds and cirrus clouds are differentiated</a:t>
                      </a:r>
                      <a:r>
                        <a:rPr sz="1000"/>
                        <a:t>.</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1010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See @foga2017, @skakun2022, @zhu2012, and @zhu2015.</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(cont.)</a:t>
            </a:r>
          </a:p>
        </p:txBody>
      </p:sp>
      <p:sp>
        <p:nvSpPr>
          <p:cNvPr id="3" name="TextBox 2"/>
          <p:cNvSpPr txBox="1"/>
          <p:nvPr/>
        </p:nvSpPr>
        <p:spPr>
          <a:xfrm>
            <a:off x="457200" y="1005840"/>
            <a:ext cx="11277295" cy="1499616"/>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6.0 already adopted the AR approach with deliberate adjustments (only "cloud-affected" pixels; cloud type/confidence instead of cirrus differentiation at goal) — keep ST as is; consider adopting the ST simplifications for AR/NLSR/SR in a later revision.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Cloud</a:t>
            </a:r>
          </a:p>
          <a:p>
            <a:r>
              <a:rPr sz="1100">
                <a:latin typeface="Consolas"/>
              </a:rPr>
              <a:t>requirements:</a:t>
            </a:r>
          </a:p>
          <a:p>
            <a:r>
              <a:rPr sz="1100">
                <a:latin typeface="Consolas"/>
              </a:rPr>
              <a:t>  threshold:</a:t>
            </a:r>
          </a:p>
          <a:p>
            <a:r>
              <a:rPr sz="1100">
                <a:latin typeface="Consolas"/>
              </a:rPr>
              <a:t>    description: Specification of whether a pixel is cloud or cloud-affected.  # TODO: differs per PFS</a:t>
            </a:r>
          </a:p>
          <a:p>
            <a:r>
              <a:rPr sz="1100">
                <a:latin typeface="Consolas"/>
              </a:rPr>
              <a:t>  goal:</a:t>
            </a:r>
          </a:p>
          <a:p>
            <a:r>
              <a:rPr sz="1100">
                <a:latin typeface="Consolas"/>
              </a:rPr>
              <a:t>    description: As threshold, but clouds and cirrus clouds are differentiated.  # TODO: differs per PFS</a:t>
            </a:r>
          </a:p>
          <a:p>
            <a:r>
              <a:rPr sz="1100">
                <a:latin typeface="Consolas"/>
              </a:rPr>
              <a:t>    optional: true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cloud shadow or cloud shadow-affected.</a:t>
                      </a:r>
                    </a:p>
                  </a:txBody>
                  <a:tcPr>
                    <a:solidFill>
                      <a:srgbClr val="FFFFFF"/>
                    </a:solidFill>
                  </a:tcPr>
                </a:tc>
                <a:tc>
                  <a:txBody>
                    <a:bodyPr/>
                    <a:lstStyle/>
                    <a:p/>
                  </a:txBody>
                  <a:tcPr>
                    <a:solidFill>
                      <a:srgbClr val="FFFFFF"/>
                    </a:solidFill>
                  </a:tcPr>
                </a:tc>
              </a:tr>
              <a:tr h="73152">
                <a:tc>
                  <a:txBody>
                    <a:bodyPr/>
                    <a:lstStyle/>
                    <a:p>
                      <a:r>
                        <a:rPr sz="1000" b="1"/>
                        <a:t>NLSR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r h="73152">
                <a:tc>
                  <a:txBody>
                    <a:bodyPr/>
                    <a:lstStyle/>
                    <a:p>
                      <a:r>
                        <a:rPr sz="1000" b="1"/>
                        <a:t>SR</a:t>
                      </a:r>
                    </a:p>
                  </a:txBody>
                  <a:tcPr>
                    <a:solidFill>
                      <a:srgbClr val="FFFFFF"/>
                    </a:solidFill>
                  </a:tcPr>
                </a:tc>
                <a:tc>
                  <a:txBody>
                    <a:bodyPr/>
                    <a:lstStyle/>
                    <a:p>
                      <a:r>
                        <a:rPr sz="1000"/>
                        <a:t>Metadata indicates</a:t>
                      </a:r>
                      <a:r>
                        <a:rPr sz="1000">
                          <a:solidFill>
                            <a:srgbClr val="1565C0"/>
                          </a:solidFill>
                        </a:rPr>
                        <a:t> whether a pixel is </a:t>
                      </a:r>
                      <a:r>
                        <a:rPr sz="1000"/>
                        <a:t>assessed as being</a:t>
                      </a:r>
                      <a:r>
                        <a:rPr sz="1000">
                          <a:solidFill>
                            <a:srgbClr val="1565C0"/>
                          </a:solidFill>
                        </a:rPr>
                        <a:t> cloud shadow</a:t>
                      </a:r>
                      <a:r>
                        <a:rPr sz="1000"/>
                        <a:t>.</a:t>
                      </a:r>
                    </a:p>
                  </a:txBody>
                  <a:tcPr>
                    <a:solidFill>
                      <a:srgbClr val="FFFFFF"/>
                    </a:solidFill>
                  </a:tcPr>
                </a:tc>
                <a:tc>
                  <a:txBody>
                    <a:bodyPr/>
                    <a:lstStyle/>
                    <a:p>
                      <a:r>
                        <a:rPr sz="1000"/>
                        <a:t>Specification of</a:t>
                      </a:r>
                      <a:r>
                        <a:rPr sz="1000">
                          <a:solidFill>
                            <a:srgbClr val="1565C0"/>
                          </a:solidFill>
                        </a:rPr>
                        <a:t> whether a pixel is </a:t>
                      </a:r>
                      <a:r>
                        <a:rPr sz="1000"/>
                        <a:t>cloud shadow or</a:t>
                      </a:r>
                      <a:r>
                        <a:rPr sz="1000">
                          <a:solidFill>
                            <a:srgbClr val="1565C0"/>
                          </a:solidFill>
                        </a:rPr>
                        <a:t> cloud shadow</a:t>
                      </a:r>
                      <a:r>
                        <a:rPr sz="1000"/>
                        <a:t>-affected</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729484"/>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txBody>
                  <a:tcPr>
                    <a:solidFill>
                      <a:srgbClr val="FFFFFF"/>
                    </a:solidFill>
                  </a:tcPr>
                </a:tc>
              </a:tr>
              <a:tr h="73152">
                <a:tc>
                  <a:txBody>
                    <a:bodyPr/>
                    <a:lstStyle/>
                    <a:p>
                      <a:r>
                        <a:rPr sz="1000" b="1"/>
                        <a:t>NLSR</a:t>
                      </a:r>
                    </a:p>
                    <a:p>
                      <a:r>
                        <a:rPr sz="1000" i="1">
                          <a:solidFill>
                            <a:srgbClr val="808080"/>
                          </a:solidFill>
                        </a:rPr>
                        <a:t>(baseline)</a:t>
                      </a:r>
                    </a:p>
                  </a:txBody>
                  <a:tcPr>
                    <a:solidFill>
                      <a:srgbClr val="FFFFFF"/>
                    </a:solidFill>
                  </a:tcPr>
                </a:tc>
                <a:tc>
                  <a:txBody>
                    <a:bodyPr/>
                    <a:lstStyle/>
                    <a:p>
                      <a:r>
                        <a:rPr sz="1000"/>
                        <a:t>Metadata indicates whether a pixel is assessed as being cloud shadow.</a:t>
                      </a:r>
                    </a:p>
                    <a:p>
                      <a:r>
                        <a:rPr sz="1000"/>
                        <a:t>Information on cloud shadow detection should be available in the metadata as a single DOI landing page.</a:t>
                      </a:r>
                    </a:p>
                    <a:p>
                      <a:r>
                        <a:rPr sz="1000" i="1">
                          <a:solidFill>
                            <a:srgbClr val="808080"/>
                          </a:solidFill>
                        </a:rPr>
                        <a:t>(optional)</a:t>
                      </a:r>
                    </a:p>
                  </a:txBody>
                  <a:tcPr>
                    <a:solidFill>
                      <a:srgbClr val="FFFFFF"/>
                    </a:solidFill>
                  </a:tcPr>
                </a:tc>
                <a:tc>
                  <a:txBody>
                    <a:bodyPr/>
                    <a:lstStyle/>
                    <a:p>
                      <a:r>
                        <a:rPr sz="1000"/>
                        <a:t>Specification of</a:t>
                      </a:r>
                      <a:r>
                        <a:rPr sz="1000">
                          <a:solidFill>
                            <a:srgbClr val="1565C0"/>
                          </a:solidFill>
                        </a:rPr>
                        <a:t> whether a pixel is </a:t>
                      </a:r>
                      <a:r>
                        <a:rPr sz="1000"/>
                        <a:t>cloud shadow or</a:t>
                      </a:r>
                      <a:r>
                        <a:rPr sz="1000">
                          <a:solidFill>
                            <a:srgbClr val="1565C0"/>
                          </a:solidFill>
                        </a:rPr>
                        <a:t> cloud shadow</a:t>
                      </a:r>
                      <a:r>
                        <a:rPr sz="1000"/>
                        <a:t>-affected</a:t>
                      </a:r>
                      <a:r>
                        <a:rPr sz="1000"/>
                        <a:t>.</a:t>
                      </a:r>
                    </a:p>
                  </a:txBody>
                  <a:tcPr>
                    <a:solidFill>
                      <a:srgbClr val="FFFFFF"/>
                    </a:solidFill>
                  </a:tcPr>
                </a:tc>
              </a:tr>
              <a:tr h="73152">
                <a:tc>
                  <a:txBody>
                    <a:bodyPr/>
                    <a:lstStyle/>
                    <a:p>
                      <a:r>
                        <a:rPr sz="1000" b="1"/>
                        <a:t>ST</a:t>
                      </a:r>
                    </a:p>
                  </a:txBody>
                  <a:tcPr>
                    <a:solidFill>
                      <a:srgbClr val="FFFFFF"/>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a:t>
                      </a:r>
                      <a:r>
                        <a:rPr sz="1000" strike="sngStrike">
                          <a:solidFill>
                            <a:srgbClr val="B00000"/>
                          </a:solidFill>
                        </a:rPr>
                        <a:t>assessed as being </a:t>
                      </a:r>
                      <a:r>
                        <a:rPr sz="1000"/>
                        <a:t>cloud shadow</a:t>
                      </a:r>
                      <a:r>
                        <a:rPr sz="1000" strike="sngStrike">
                          <a:solidFill>
                            <a:srgbClr val="B00000"/>
                          </a:solidFill>
                        </a:rPr>
                        <a:t>.</a:t>
                      </a:r>
                    </a:p>
                    <a:p>
                      <a:r>
                        <a:rPr sz="1000" strike="sngStrike">
                          <a:solidFill>
                            <a:srgbClr val="B00000"/>
                          </a:solidFill>
                        </a:rPr>
                        <a:t>Information on cloud shadow detection should be available in the metadata as a single DOI landing page</a:t>
                      </a:r>
                      <a:r>
                        <a:rPr sz="1000" b="1">
                          <a:solidFill>
                            <a:srgbClr val="2E7D32"/>
                          </a:solidFill>
                        </a:rPr>
                        <a:t>-affected</a:t>
                      </a:r>
                      <a:r>
                        <a:rPr sz="1000"/>
                        <a:t>.</a:t>
                      </a:r>
                    </a:p>
                    <a:p>
                      <a:r>
                        <a:rPr sz="1000" i="1">
                          <a:solidFill>
                            <a:srgbClr val="808080"/>
                          </a:solidFill>
                        </a:rPr>
                        <a:t>(optional)</a:t>
                      </a:r>
                    </a:p>
                  </a:txBody>
                  <a:tcPr>
                    <a:solidFill>
                      <a:srgbClr val="FFFFFF"/>
                    </a:solidFill>
                  </a:tcPr>
                </a:tc>
                <a:tc>
                  <a:txBody>
                    <a:bodyPr/>
                    <a:lstStyle/>
                    <a:p/>
                  </a:txBody>
                  <a:tcPr>
                    <a:solidFill>
                      <a:srgbClr val="FFFFFF"/>
                    </a:solidFill>
                  </a:tcPr>
                </a:tc>
              </a:tr>
              <a:tr h="73152">
                <a:tc>
                  <a:txBody>
                    <a:bodyPr/>
                    <a:lstStyle/>
                    <a:p>
                      <a:r>
                        <a:rPr sz="1000" b="1"/>
                        <a:t>SR</a:t>
                      </a:r>
                    </a:p>
                  </a:txBody>
                  <a:tcPr>
                    <a:solidFill>
                      <a:srgbClr val="FFFFFF"/>
                    </a:solidFill>
                  </a:tcPr>
                </a:tc>
                <a:tc>
                  <a:txBody>
                    <a:bodyPr/>
                    <a:lstStyle/>
                    <a:p>
                      <a:r>
                        <a:rPr sz="1000" strike="sngStrike">
                          <a:solidFill>
                            <a:srgbClr val="B00000"/>
                          </a:solidFill>
                        </a:rPr>
                        <a:t>Metadata indicates whether a pixel is assessed as being cloud shadow.</a:t>
                      </a:r>
                    </a:p>
                    <a:p>
                      <a:r>
                        <a:rPr sz="1000" strike="sngStrike">
                          <a:solidFill>
                            <a:srgbClr val="B00000"/>
                          </a:solidFill>
                        </a:rPr>
                        <a:t>I</a:t>
                      </a:r>
                      <a:r>
                        <a:rPr sz="1000" b="1">
                          <a:solidFill>
                            <a:srgbClr val="2E7D32"/>
                          </a:solidFill>
                        </a:rPr>
                        <a:t>As threshold, but i</a:t>
                      </a:r>
                      <a:r>
                        <a:rPr sz="1000"/>
                        <a:t>nformation on cloud shadow detection should be available in the metadata as a single DOI landing page.</a:t>
                      </a:r>
                    </a:p>
                    <a:p>
                      <a:r>
                        <a:rPr sz="1000" i="1">
                          <a:solidFill>
                            <a:srgbClr val="808080"/>
                          </a:solidFill>
                        </a:rPr>
                        <a:t>(optional)</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 (cont.)</a:t>
            </a:r>
          </a:p>
        </p:txBody>
      </p:sp>
      <p:sp>
        <p:nvSpPr>
          <p:cNvPr id="3" name="TextBox 2"/>
          <p:cNvSpPr txBox="1"/>
          <p:nvPr/>
        </p:nvSpPr>
        <p:spPr>
          <a:xfrm>
            <a:off x="457200" y="1005840"/>
            <a:ext cx="11277295" cy="1280160"/>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a:p>
            <a:r>
              <a:rPr sz="1200" i="1"/>
              <a:t/>
            </a:r>
          </a:p>
          <a:p>
            <a:r>
              <a:rPr sz="1200" i="1"/>
              <a:t>ST 6.0 removed the threshold requirement (cloud shadow has limited utility for non-reflectance methods) and adopted the "cloud shadow-affected" wording at goal — keep ST as is.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Cloud Shadow</a:t>
            </a:r>
          </a:p>
          <a:p>
            <a:r>
              <a:rPr sz="1100">
                <a:latin typeface="Consolas"/>
              </a:rPr>
              <a:t>requirements:</a:t>
            </a:r>
          </a:p>
          <a:p>
            <a:r>
              <a:rPr sz="1100">
                <a:latin typeface="Consolas"/>
              </a:rPr>
              <a:t>  threshold:</a:t>
            </a:r>
          </a:p>
          <a:p>
            <a:r>
              <a:rPr sz="1100">
                <a:latin typeface="Consolas"/>
              </a:rPr>
              <a:t>    description: Specification of whether a pixel is cloud shadow or cloud shadow-affected.  # TODO: differs per PFS</a:t>
            </a:r>
          </a:p>
          <a:p>
            <a:r>
              <a:rPr sz="1100">
                <a:latin typeface="Consolas"/>
              </a:rPr>
              <a:t>  goal:</a:t>
            </a:r>
          </a:p>
          <a:p>
            <a:r>
              <a:rPr sz="1100">
                <a:latin typeface="Consolas"/>
              </a:rPr>
              <a:t>    optional: true  # TODO: differs per PFS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txBody>
                  <a:tcPr>
                    <a:solidFill>
                      <a:srgbClr val="FFFFFF"/>
                    </a:solidFill>
                  </a:tcPr>
                </a:tc>
                <a:tc>
                  <a:txBody>
                    <a:bodyPr/>
                    <a:lstStyle/>
                    <a:p>
                      <a:r>
                        <a:rPr sz="1000"/>
                        <a:t>Per-pixel Assessment</a:t>
                      </a:r>
                    </a:p>
                  </a:txBody>
                  <a:tcPr>
                    <a:solidFill>
                      <a:srgbClr val="FFFFFF"/>
                    </a:solidFill>
                  </a:tcPr>
                </a:tc>
                <a:tc>
                  <a:txBody>
                    <a:bodyPr/>
                    <a:lstStyle/>
                    <a:p/>
                  </a:txBody>
                  <a:tcPr>
                    <a:solidFill>
                      <a:srgbClr val="FFFFFF"/>
                    </a:solidFill>
                  </a:tcPr>
                </a:tc>
              </a:tr>
              <a:tr h="91440">
                <a:tc>
                  <a:txBody>
                    <a:bodyPr/>
                    <a:lstStyle/>
                    <a:p>
                      <a:r>
                        <a:rPr sz="1000" b="1"/>
                        <a:t>ST</a:t>
                      </a:r>
                    </a:p>
                    <a:p>
                      <a:r>
                        <a:rPr sz="1000" i="1">
                          <a:solidFill>
                            <a:srgbClr val="808080"/>
                          </a:solidFill>
                        </a:rPr>
                        <a:t>(baseline)</a:t>
                      </a:r>
                    </a:p>
                  </a:txBody>
                  <a:tcPr>
                    <a:solidFill>
                      <a:srgbClr val="FFFFFF"/>
                    </a:solidFill>
                  </a:tcPr>
                </a:tc>
                <a:tc>
                  <a:txBody>
                    <a:bodyPr/>
                    <a:lstStyle/>
                    <a:p>
                      <a:r>
                        <a:rPr sz="1000"/>
                        <a:t>Incomplete Testing</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Incomplete Testing</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Identifies pixels for which the per-pixel tests (below) have not all been successfully completed.</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Identifies pixels for which the per-pixel tests (</a:t>
                      </a:r>
                      <a:r>
                        <a:rPr sz="1000" strike="sngStrike">
                          <a:solidFill>
                            <a:srgbClr val="B00000"/>
                          </a:solidFill>
                        </a:rPr>
                        <a:t>below</a:t>
                      </a:r>
                      <a:r>
                        <a:rPr sz="1000" b="1">
                          <a:solidFill>
                            <a:srgbClr val="2E7D32"/>
                          </a:solidFill>
                        </a:rPr>
                        <a:t>2.3, 2.4, 2.6</a:t>
                      </a:r>
                      <a:r>
                        <a:rPr sz="1000"/>
                        <a:t>) have not all been successfully completed.</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strike="sngStrike">
                          <a:solidFill>
                            <a:srgbClr val="B00000"/>
                          </a:solidFill>
                        </a:rPr>
                        <a:t>I</a:t>
                      </a:r>
                      <a:r>
                        <a:rPr sz="1000" b="1">
                          <a:solidFill>
                            <a:srgbClr val="2E7D32"/>
                          </a:solidFill>
                        </a:rPr>
                        <a:t>The metadata i</a:t>
                      </a:r>
                      <a:r>
                        <a:rPr sz="1000"/>
                        <a:t>dentifies pixels for which the per-pixel tests (below) have not all been successfully completed.</a:t>
                      </a:r>
                    </a:p>
                  </a:txBody>
                  <a:tcPr>
                    <a:solidFill>
                      <a:srgbClr val="FFFFFF"/>
                    </a:solidFill>
                  </a:tcPr>
                </a:tc>
                <a:tc>
                  <a:txBody>
                    <a:bodyPr/>
                    <a:lstStyle/>
                    <a:p>
                      <a:r>
                        <a:rPr sz="1000" strike="sngStrike">
                          <a:solidFill>
                            <a:srgbClr val="B00000"/>
                          </a:solidFill>
                        </a:rPr>
                        <a:t>The metadata i</a:t>
                      </a:r>
                      <a:r>
                        <a:rPr sz="1000" b="1">
                          <a:solidFill>
                            <a:srgbClr val="2E7D32"/>
                          </a:solidFill>
                        </a:rPr>
                        <a:t>I</a:t>
                      </a:r>
                      <a:r>
                        <a:rPr sz="1000"/>
                        <a:t>dentifies pixels for which the per-pixel tests (below) have not all been successfully completed.</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25196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Identifies which tests have and have not been successfully completed for each pixel.</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t>Identifies which tests</a:t>
                      </a:r>
                      <a:r>
                        <a:rPr sz="1000" b="1">
                          <a:solidFill>
                            <a:srgbClr val="2E7D32"/>
                          </a:solidFill>
                        </a:rPr>
                        <a:t> (2.3, 2.4, 2.5, 2.6, 2.8)</a:t>
                      </a:r>
                      <a:r>
                        <a:rPr sz="1000"/>
                        <a:t> have and have not been successfully completed for each pixel.</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strike="sngStrike">
                          <a:solidFill>
                            <a:srgbClr val="B00000"/>
                          </a:solidFill>
                        </a:rPr>
                        <a:t>I</a:t>
                      </a:r>
                      <a:r>
                        <a:rPr sz="1000" b="1">
                          <a:solidFill>
                            <a:srgbClr val="2E7D32"/>
                          </a:solidFill>
                        </a:rPr>
                        <a:t>The metadata i</a:t>
                      </a:r>
                      <a:r>
                        <a:rPr sz="1000"/>
                        <a:t>dentifies which tests have</a:t>
                      </a:r>
                      <a:r>
                        <a:rPr sz="1000" b="1">
                          <a:solidFill>
                            <a:srgbClr val="2E7D32"/>
                          </a:solidFill>
                        </a:rPr>
                        <a:t>,</a:t>
                      </a:r>
                      <a:r>
                        <a:rPr sz="1000"/>
                        <a:t> and have not</a:t>
                      </a:r>
                      <a:r>
                        <a:rPr sz="1000" b="1">
                          <a:solidFill>
                            <a:srgbClr val="2E7D32"/>
                          </a:solidFill>
                        </a:rPr>
                        <a:t>,</a:t>
                      </a:r>
                      <a:r>
                        <a:rPr sz="1000"/>
                        <a:t> been successfully completed for each pixel.</a:t>
                      </a:r>
                    </a:p>
                  </a:txBody>
                  <a:tcPr>
                    <a:solidFill>
                      <a:srgbClr val="FFFFFF"/>
                    </a:solidFill>
                  </a:tcPr>
                </a:tc>
                <a:tc>
                  <a:txBody>
                    <a:bodyPr/>
                    <a:lstStyle/>
                    <a:p>
                      <a:r>
                        <a:rPr sz="1000" strike="sngStrike">
                          <a:solidFill>
                            <a:srgbClr val="B00000"/>
                          </a:solidFill>
                        </a:rPr>
                        <a:t>The metadata i</a:t>
                      </a:r>
                      <a:r>
                        <a:rPr sz="1000" b="1">
                          <a:solidFill>
                            <a:srgbClr val="2E7D32"/>
                          </a:solidFill>
                        </a:rPr>
                        <a:t>I</a:t>
                      </a:r>
                      <a:r>
                        <a:rPr sz="1000"/>
                        <a:t>dentifies which tests have</a:t>
                      </a:r>
                      <a:r>
                        <a:rPr sz="1000" strike="sngStrike">
                          <a:solidFill>
                            <a:srgbClr val="B00000"/>
                          </a:solidFill>
                        </a:rPr>
                        <a:t>,</a:t>
                      </a:r>
                      <a:r>
                        <a:rPr sz="1000"/>
                        <a:t> and have not</a:t>
                      </a:r>
                      <a:r>
                        <a:rPr sz="1000" strike="sngStrike">
                          <a:solidFill>
                            <a:srgbClr val="B00000"/>
                          </a:solidFill>
                        </a:rPr>
                        <a:t>,</a:t>
                      </a:r>
                      <a:r>
                        <a:rPr sz="1000"/>
                        <a:t> been successfully completed for each pixel.</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 (cont.)</a:t>
            </a:r>
          </a:p>
        </p:txBody>
      </p:sp>
      <p:sp>
        <p:nvSpPr>
          <p:cNvPr id="3" name="TextBox 2"/>
          <p:cNvSpPr txBox="1"/>
          <p:nvPr/>
        </p:nvSpPr>
        <p:spPr>
          <a:xfrm>
            <a:off x="457200" y="1005840"/>
            <a:ext cx="11277295" cy="1060704"/>
          </a:xfrm>
          <a:prstGeom prst="rect">
            <a:avLst/>
          </a:prstGeom>
          <a:noFill/>
        </p:spPr>
        <p:txBody>
          <a:bodyPr wrap="square">
            <a:spAutoFit/>
          </a:bodyPr>
          <a:lstStyle/>
          <a:p>
            <a:r>
              <a:rPr sz="1200" b="1"/>
              <a:t>Internal notes: </a:t>
            </a:r>
            <a:r>
              <a:rPr sz="1200" i="1"/>
              <a:t>I suggest "Per-Pixel Assessment" is adopted for NLSR-SR-ST</a:t>
            </a:r>
          </a:p>
          <a:p>
            <a:r>
              <a:rPr sz="1200" i="1"/>
              <a:t/>
            </a:r>
          </a:p>
          <a:p>
            <a:r>
              <a:rPr sz="1200" i="1"/>
              <a:t>ST 6.0 enumerates the concrete per-pixel tests (2.3, 2.4, 2.6 / 2.3, 2.4, 2.5, 2.6, 2.8) — hard-coded section numbers are fragile; prefer AR's reference to "the tests below".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Incomplete Testing  # TODO: differs per PFS</a:t>
            </a:r>
          </a:p>
          <a:p>
            <a:r>
              <a:rPr sz="1100">
                <a:latin typeface="Consolas"/>
              </a:rPr>
              <a:t>requirements:</a:t>
            </a:r>
          </a:p>
          <a:p>
            <a:r>
              <a:rPr sz="1100">
                <a:latin typeface="Consolas"/>
              </a:rPr>
              <a:t>  threshold:</a:t>
            </a:r>
          </a:p>
          <a:p>
            <a:r>
              <a:rPr sz="1100">
                <a:latin typeface="Consolas"/>
              </a:rPr>
              <a:t>    description: Identifies pixels for which the per-pixel tests (below) have not all been successfully completed.  # TODO: differs per PFS</a:t>
            </a:r>
          </a:p>
          <a:p>
            <a:r>
              <a:rPr sz="1100">
                <a:latin typeface="Consolas"/>
              </a:rPr>
              <a:t>    notes:</a:t>
            </a:r>
          </a:p>
          <a:p>
            <a:r>
              <a:rPr sz="1100">
                <a:latin typeface="Consolas"/>
              </a:rPr>
              <a:t>      - This may be the result of missing ancillary data for a subset of the pixels.</a:t>
            </a:r>
          </a:p>
          <a:p>
            <a:r>
              <a:rPr sz="1100">
                <a:latin typeface="Consolas"/>
              </a:rPr>
              <a:t>  goal:</a:t>
            </a:r>
          </a:p>
          <a:p>
            <a:r>
              <a:rPr sz="1100">
                <a:latin typeface="Consolas"/>
              </a:rPr>
              <a:t>    description: Identifies which tests have and have not been successfully completed for each pixel.  # TODO: differs per PFS</a:t>
            </a:r>
          </a:p>
          <a:p>
            <a:r>
              <a:rPr sz="1100">
                <a:latin typeface="Consolas"/>
              </a:rPr>
              <a:t>    optional: true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txBody>
                  <a:tcPr>
                    <a:solidFill>
                      <a:srgbClr val="FFFFFF"/>
                    </a:solidFill>
                  </a:tcPr>
                </a:tc>
                <a:tc>
                  <a:txBody>
                    <a:bodyPr/>
                    <a:lstStyle/>
                    <a:p>
                      <a:r>
                        <a:rPr sz="1000"/>
                        <a:t>Land</a:t>
                      </a:r>
                      <a:r>
                        <a:rPr sz="1000" strike="sngStrike">
                          <a:solidFill>
                            <a:srgbClr val="B00000"/>
                          </a:solidFill>
                        </a:rPr>
                        <a:t>/Water Mask</a:t>
                      </a:r>
                    </a:p>
                  </a:txBody>
                  <a:tcPr>
                    <a:solidFill>
                      <a:srgbClr val="FFFFFF"/>
                    </a:solidFill>
                  </a:tcPr>
                </a:tc>
                <a:tc>
                  <a:txBody>
                    <a:bodyPr/>
                    <a:lstStyle/>
                    <a:p/>
                  </a:txBody>
                  <a:tcPr>
                    <a:solidFill>
                      <a:srgbClr val="FFFFFF"/>
                    </a:solidFill>
                  </a:tcPr>
                </a:tc>
              </a:tr>
              <a:tr h="91440">
                <a:tc>
                  <a:txBody>
                    <a:bodyPr/>
                    <a:lstStyle/>
                    <a:p>
                      <a:r>
                        <a:rPr sz="1000" b="1"/>
                        <a:t>NLSR</a:t>
                      </a:r>
                    </a:p>
                    <a:p>
                      <a:r>
                        <a:rPr sz="1000" i="1">
                          <a:solidFill>
                            <a:srgbClr val="808080"/>
                          </a:solidFill>
                        </a:rPr>
                        <a:t>(baseline)</a:t>
                      </a:r>
                    </a:p>
                  </a:txBody>
                  <a:tcPr>
                    <a:solidFill>
                      <a:srgbClr val="FFFFFF"/>
                    </a:solidFill>
                  </a:tcPr>
                </a:tc>
                <a:tc>
                  <a:txBody>
                    <a:bodyPr/>
                    <a:lstStyle/>
                    <a:p>
                      <a:r>
                        <a:rPr sz="1000"/>
                        <a:t>Land/Water Mask</a:t>
                      </a:r>
                    </a:p>
                  </a:txBody>
                  <a:tcPr>
                    <a:solidFill>
                      <a:srgbClr val="FFFFFF"/>
                    </a:solidFill>
                  </a:tcPr>
                </a:tc>
                <a:tc>
                  <a:txBody>
                    <a:bodyPr/>
                    <a:lstStyle/>
                    <a:p/>
                  </a:txBody>
                  <a:tcPr>
                    <a:solidFill>
                      <a:srgbClr val="FFFFFF"/>
                    </a:solidFill>
                  </a:tcPr>
                </a:tc>
              </a:tr>
              <a:tr h="91440">
                <a:tc>
                  <a:txBody>
                    <a:bodyPr/>
                    <a:lstStyle/>
                    <a:p>
                      <a:r>
                        <a:rPr sz="1000" b="1"/>
                        <a:t>SR</a:t>
                      </a:r>
                    </a:p>
                  </a:txBody>
                  <a:tcPr>
                    <a:solidFill>
                      <a:srgbClr val="FFFFFF"/>
                    </a:solidFill>
                  </a:tcPr>
                </a:tc>
                <a:tc>
                  <a:txBody>
                    <a:bodyPr/>
                    <a:lstStyle/>
                    <a:p>
                      <a:r>
                        <a:rPr sz="1000"/>
                        <a:t>Land/Water Mask</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47802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less than 100% water covered due to land.</a:t>
                      </a:r>
                    </a:p>
                  </a:txBody>
                  <a:tcPr>
                    <a:solidFill>
                      <a:srgbClr val="FFFFFF"/>
                    </a:solidFill>
                  </a:tcPr>
                </a:tc>
                <a:tc>
                  <a:txBody>
                    <a:bodyPr/>
                    <a:lstStyle/>
                    <a:p>
                      <a:r>
                        <a:rPr sz="1000"/>
                        <a:t>Specification of whether a pixel is less than 100% water covered due to land.</a:t>
                      </a:r>
                    </a:p>
                  </a:txBody>
                  <a:tcPr>
                    <a:solidFill>
                      <a:srgbClr val="FFFFFF"/>
                    </a:solidFill>
                  </a:tcPr>
                </a:tc>
              </a:tr>
              <a:tr h="91440">
                <a:tc>
                  <a:txBody>
                    <a:bodyPr/>
                    <a:lstStyle/>
                    <a:p>
                      <a:r>
                        <a:rPr sz="1000" b="1"/>
                        <a:t>NLSR</a:t>
                      </a:r>
                    </a:p>
                  </a:txBody>
                  <a:tcPr>
                    <a:solidFill>
                      <a:srgbClr val="FFFFFF"/>
                    </a:solidFill>
                  </a:tcPr>
                </a:tc>
                <a:tc>
                  <a:txBody>
                    <a:bodyPr/>
                    <a:lstStyle/>
                    <a:p>
                      <a:r>
                        <a:rPr sz="1000"/>
                        <a:t>Metadata indicates</a:t>
                      </a:r>
                      <a:r>
                        <a:rPr sz="1000">
                          <a:solidFill>
                            <a:srgbClr val="1565C0"/>
                          </a:solidFill>
                        </a:rPr>
                        <a:t> whether a pixel is l</a:t>
                      </a:r>
                      <a:r>
                        <a:rPr sz="1000"/>
                        <a:t>and or water</a:t>
                      </a:r>
                      <a:r>
                        <a:rPr sz="1000"/>
                        <a:t>.</a:t>
                      </a:r>
                    </a:p>
                  </a:txBody>
                  <a:tcPr>
                    <a:solidFill>
                      <a:srgbClr val="FFFFFF"/>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land or water</a:t>
                      </a:r>
                      <a:r>
                        <a:rPr sz="1000" strike="sngStrike">
                          <a:solidFill>
                            <a:srgbClr val="B00000"/>
                          </a:solidFill>
                        </a:rPr>
                        <a:t>.</a:t>
                      </a:r>
                    </a:p>
                  </a:txBody>
                  <a:tcPr>
                    <a:solidFill>
                      <a:srgbClr val="FFFFFF"/>
                    </a:solidFill>
                  </a:tcPr>
                </a:tc>
              </a:tr>
              <a:tr h="91440">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395020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See @jones2019, @mikelsons2021, and @pekel2016.</a:t>
                      </a:r>
                    </a:p>
                  </a:txBody>
                  <a:tcPr>
                    <a:solidFill>
                      <a:srgbClr val="FFFFFF"/>
                    </a:solidFill>
                  </a:tcPr>
                </a:tc>
                <a:tc>
                  <a:txBody>
                    <a:bodyPr/>
                    <a:lstStyle/>
                    <a:p/>
                  </a:txBody>
                  <a:tcPr>
                    <a:solidFill>
                      <a:srgbClr val="FFFFFF"/>
                    </a:solidFill>
                  </a:tcPr>
                </a:tc>
              </a:tr>
              <a:tr h="91440">
                <a:tc>
                  <a:txBody>
                    <a:bodyPr/>
                    <a:lstStyle/>
                    <a:p>
                      <a:r>
                        <a:rPr sz="1000" b="1"/>
                        <a:t>NLSR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r h="91440">
                <a:tc>
                  <a:txBody>
                    <a:bodyPr/>
                    <a:lstStyle/>
                    <a:p>
                      <a:r>
                        <a:rPr sz="1000" b="1"/>
                        <a:t>SR</a:t>
                      </a:r>
                    </a:p>
                  </a:txBody>
                  <a:tcPr>
                    <a:solidFill>
                      <a:srgbClr val="FFFFFF"/>
                    </a:solidFill>
                  </a:tcPr>
                </a:tc>
                <a:tc>
                  <a:txBody>
                    <a:bodyPr/>
                    <a:lstStyle/>
                    <a:p>
                      <a:r>
                        <a:rPr sz="1000"/>
                        <a:t>(no notes)</a:t>
                      </a:r>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a:t>(not set)</a:t>
                      </a:r>
                    </a:p>
                  </a:txBody>
                  <a:tcPr>
                    <a:solidFill>
                      <a:srgbClr val="FFFFFF"/>
                    </a:solidFill>
                  </a:tcPr>
                </a:tc>
              </a:tr>
              <a:tr h="91440">
                <a:tc>
                  <a:txBody>
                    <a:bodyPr/>
                    <a:lstStyle/>
                    <a:p>
                      <a:r>
                        <a:rPr sz="1000" b="1"/>
                        <a:t>NLSR</a:t>
                      </a:r>
                    </a:p>
                    <a:p>
                      <a:r>
                        <a:rPr sz="1000" i="1">
                          <a:solidFill>
                            <a:srgbClr val="808080"/>
                          </a:solidFill>
                        </a:rPr>
                        <a:t>(baseline)</a:t>
                      </a:r>
                    </a:p>
                  </a:txBody>
                  <a:tcPr>
                    <a:solidFill>
                      <a:srgbClr val="FFFFFF"/>
                    </a:solidFill>
                  </a:tcPr>
                </a:tc>
                <a:tc>
                  <a:txBody>
                    <a:bodyPr/>
                    <a:lstStyle/>
                    <a:p>
                      <a:r>
                        <a:rPr sz="1000"/>
                        <a:t>As threshold, information on land/water mask should be available in the metadata as a single DOI landing page.</a:t>
                      </a:r>
                    </a:p>
                    <a:p>
                      <a:r>
                        <a:rPr sz="1000" i="1">
                          <a:solidFill>
                            <a:srgbClr val="808080"/>
                          </a:solidFill>
                        </a:rPr>
                        <a:t>(optional)</a:t>
                      </a:r>
                    </a:p>
                  </a:txBody>
                  <a:tcPr>
                    <a:solidFill>
                      <a:srgbClr val="FFFFFF"/>
                    </a:solidFill>
                  </a:tcPr>
                </a:tc>
                <a:tc>
                  <a:txBody>
                    <a:bodyPr/>
                    <a:lstStyle/>
                    <a:p>
                      <a:r>
                        <a:rPr sz="1000"/>
                        <a:t>As threshold</a:t>
                      </a:r>
                      <a:r>
                        <a:rPr sz="1000" strike="sngStrike">
                          <a:solidFill>
                            <a:srgbClr val="B00000"/>
                          </a:solidFill>
                        </a:rPr>
                        <a:t>, information on land/water mask should be available in the metadata as a single DOI landing page.</a:t>
                      </a:r>
                    </a:p>
                  </a:txBody>
                  <a:tcPr>
                    <a:solidFill>
                      <a:srgbClr val="FFFFFF"/>
                    </a:solidFill>
                  </a:tcPr>
                </a:tc>
              </a:tr>
              <a:tr h="91440">
                <a:tc>
                  <a:txBody>
                    <a:bodyPr/>
                    <a:lstStyle/>
                    <a:p>
                      <a:r>
                        <a:rPr sz="1000" b="1"/>
                        <a:t>SR</a:t>
                      </a:r>
                    </a:p>
                  </a:txBody>
                  <a:tcPr>
                    <a:solidFill>
                      <a:srgbClr val="FFFFFF"/>
                    </a:solidFill>
                  </a:tcPr>
                </a:tc>
                <a:tc>
                  <a:txBody>
                    <a:bodyPr/>
                    <a:lstStyle/>
                    <a:p>
                      <a:r>
                        <a:rPr sz="1000" strike="sngStrike">
                          <a:solidFill>
                            <a:srgbClr val="B00000"/>
                          </a:solidFill>
                        </a:rPr>
                        <a:t>As threshold, i</a:t>
                      </a:r>
                      <a:r>
                        <a:rPr sz="1000" b="1">
                          <a:solidFill>
                            <a:srgbClr val="2E7D32"/>
                          </a:solidFill>
                        </a:rPr>
                        <a:t>The metadata indicates whether a pixel is assessed as being land or water. I</a:t>
                      </a:r>
                      <a:r>
                        <a:rPr sz="1000"/>
                        <a:t>nformation on land/water mask should be available in the metadata as a single DOI landing page.</a:t>
                      </a:r>
                    </a:p>
                    <a:p>
                      <a:r>
                        <a:rPr sz="1000" i="1">
                          <a:solidFill>
                            <a:srgbClr val="808080"/>
                          </a:solidFill>
                        </a:rPr>
                        <a:t>(optional)</a:t>
                      </a:r>
                    </a:p>
                  </a:txBody>
                  <a:tcPr>
                    <a:solidFill>
                      <a:srgbClr val="FFFFFF"/>
                    </a:solidFill>
                  </a:tcPr>
                </a:tc>
                <a:tc>
                  <a:txBody>
                    <a:bodyPr/>
                    <a:lstStyle/>
                    <a:p>
                      <a:r>
                        <a:rPr sz="1000" strike="sngStrike">
                          <a:solidFill>
                            <a:srgbClr val="B00000"/>
                          </a:solidFill>
                        </a:rPr>
                        <a:t>The metadata indicates</a:t>
                      </a:r>
                      <a:r>
                        <a:rPr sz="1000" b="1">
                          <a:solidFill>
                            <a:srgbClr val="2E7D32"/>
                          </a:solidFill>
                        </a:rPr>
                        <a:t>Specification of</a:t>
                      </a:r>
                      <a:r>
                        <a:rPr sz="1000"/>
                        <a:t> whether a pixel is </a:t>
                      </a:r>
                      <a:r>
                        <a:rPr sz="1000" strike="sngStrike">
                          <a:solidFill>
                            <a:srgbClr val="B00000"/>
                          </a:solidFill>
                        </a:rPr>
                        <a:t>assessed as being </a:t>
                      </a:r>
                      <a:r>
                        <a:rPr sz="1000"/>
                        <a:t>land or water</a:t>
                      </a:r>
                      <a:r>
                        <a:rPr sz="1000" strike="sngStrike">
                          <a:solidFill>
                            <a:srgbClr val="B00000"/>
                          </a:solidFill>
                        </a:rPr>
                        <a:t>. Information on land/water mask should be available in the metadata as a single DOI landing page.</a:t>
                      </a:r>
                    </a:p>
                  </a:txBody>
                  <a:tcPr>
                    <a:solidFill>
                      <a:srgbClr val="FFFFFF"/>
                    </a:solidFill>
                  </a:tcPr>
                </a:tc>
              </a:tr>
            </a:tbl>
          </a:graphicData>
        </a:graphic>
      </p:graphicFrame>
      <p:sp>
        <p:nvSpPr>
          <p:cNvPr id="4" name="TextBox 3"/>
          <p:cNvSpPr txBox="1"/>
          <p:nvPr/>
        </p:nvSpPr>
        <p:spPr>
          <a:xfrm>
            <a:off x="457200" y="3232403"/>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Land/Water Mask  # TODO: differs per PFS</a:t>
            </a:r>
          </a:p>
          <a:p>
            <a:r>
              <a:rPr sz="1100">
                <a:latin typeface="Consolas"/>
              </a:rPr>
              <a:t>requirements:</a:t>
            </a:r>
          </a:p>
          <a:p>
            <a:r>
              <a:rPr sz="1100">
                <a:latin typeface="Consolas"/>
              </a:rPr>
              <a:t>  threshold:</a:t>
            </a:r>
          </a:p>
          <a:p>
            <a:r>
              <a:rPr sz="1100">
                <a:latin typeface="Consolas"/>
              </a:rPr>
              <a:t>    description: Specification of whether a pixel is less than 100% water covered due to land.  # TODO: differs per PFS</a:t>
            </a:r>
          </a:p>
          <a:p>
            <a:r>
              <a:rPr sz="1100">
                <a:latin typeface="Consolas"/>
              </a:rPr>
              <a:t>  goal:</a:t>
            </a:r>
          </a:p>
          <a:p>
            <a:r>
              <a:rPr sz="1100">
                <a:latin typeface="Consolas"/>
              </a:rPr>
              <a:t>    optional: true  # TODO: differs per PFS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No Data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Pixels that do not correspond to an observation (e.g., empty pixels / invalid observations / below noise floor) are masked.</a:t>
                      </a:r>
                    </a:p>
                  </a:txBody>
                  <a:tcPr>
                    <a:solidFill>
                      <a:srgbClr val="FFFFFF"/>
                    </a:solidFill>
                  </a:tcPr>
                </a:tc>
                <a:tc>
                  <a:txBody>
                    <a:bodyPr/>
                    <a:lstStyle/>
                    <a:p/>
                  </a:txBody>
                  <a:tcPr>
                    <a:solidFill>
                      <a:srgbClr val="FFFFFF"/>
                    </a:solidFill>
                  </a:tcPr>
                </a:tc>
              </a:tr>
              <a:tr h="91440">
                <a:tc>
                  <a:txBody>
                    <a:bodyPr/>
                    <a:lstStyle/>
                    <a:p>
                      <a:r>
                        <a:rPr sz="1000" b="1"/>
                        <a:t>ST</a:t>
                      </a:r>
                    </a:p>
                  </a:txBody>
                  <a:tcPr>
                    <a:solidFill>
                      <a:srgbClr val="FFFFFF"/>
                    </a:solidFill>
                  </a:tcPr>
                </a:tc>
                <a:tc>
                  <a:txBody>
                    <a:bodyPr/>
                    <a:lstStyle/>
                    <a:p>
                      <a:r>
                        <a:rPr sz="1000">
                          <a:solidFill>
                            <a:srgbClr val="1565C0"/>
                          </a:solidFill>
                        </a:rPr>
                        <a:t>Pixels that do not correspond to an observation (</a:t>
                      </a:r>
                      <a:r>
                        <a:rPr sz="1000"/>
                        <a:t>‘No Data / Invalid / Falsified / Valid / Modelled’) are flagg</a:t>
                      </a:r>
                      <a:r>
                        <a:rPr sz="1000"/>
                        <a:t>ed.</a:t>
                      </a:r>
                    </a:p>
                  </a:txBody>
                  <a:tcPr>
                    <a:solidFill>
                      <a:srgbClr val="FFFFFF"/>
                    </a:solidFill>
                  </a:tcPr>
                </a:tc>
                <a:tc>
                  <a:txBody>
                    <a:bodyPr/>
                    <a:lstStyle/>
                    <a:p/>
                  </a:txBody>
                  <a:tcPr>
                    <a:solidFill>
                      <a:srgbClr val="FFFFFF"/>
                    </a:solidFill>
                  </a:tcPr>
                </a:tc>
              </a:tr>
              <a:tr h="91440">
                <a:tc>
                  <a:txBody>
                    <a:bodyPr/>
                    <a:lstStyle/>
                    <a:p>
                      <a:r>
                        <a:rPr sz="1000" b="1"/>
                        <a:t>NLSR, SR</a:t>
                      </a:r>
                    </a:p>
                  </a:txBody>
                  <a:tcPr>
                    <a:solidFill>
                      <a:srgbClr val="FFFFFF"/>
                    </a:solidFill>
                  </a:tcPr>
                </a:tc>
                <a:tc>
                  <a:txBody>
                    <a:bodyPr/>
                    <a:lstStyle/>
                    <a:p>
                      <a:r>
                        <a:rPr sz="1000"/>
                        <a:t>Pixels that do not correspond to an observation (</a:t>
                      </a:r>
                      <a:r>
                        <a:rPr sz="1000" strike="sngStrike">
                          <a:solidFill>
                            <a:srgbClr val="B00000"/>
                          </a:solidFill>
                        </a:rPr>
                        <a:t>e.g., </a:t>
                      </a:r>
                      <a:r>
                        <a:rPr sz="1000" b="1">
                          <a:solidFill>
                            <a:srgbClr val="2E7D32"/>
                          </a:solidFill>
                        </a:rPr>
                        <a:t>‘</a:t>
                      </a:r>
                      <a:r>
                        <a:rPr sz="1000"/>
                        <a:t>empty pixels</a:t>
                      </a:r>
                      <a:r>
                        <a:rPr sz="1000" strike="sngStrike">
                          <a:solidFill>
                            <a:srgbClr val="B00000"/>
                          </a:solidFill>
                        </a:rPr>
                        <a:t> / invalid observations / below noise floor) are mask</a:t>
                      </a:r>
                      <a:r>
                        <a:rPr sz="1000" b="1">
                          <a:solidFill>
                            <a:srgbClr val="2E7D32"/>
                          </a:solidFill>
                        </a:rPr>
                        <a:t>’) are flagg</a:t>
                      </a:r>
                      <a:r>
                        <a:rPr sz="1000"/>
                        <a:t>ed.</a:t>
                      </a:r>
                    </a:p>
                  </a:txBody>
                  <a:tcPr>
                    <a:solidFill>
                      <a:srgbClr val="FFFFFF"/>
                    </a:solidFill>
                  </a:tcPr>
                </a:tc>
                <a:tc>
                  <a:txBody>
                    <a:bodyPr/>
                    <a:lstStyle/>
                    <a:p>
                      <a:r>
                        <a:rPr sz="1000"/>
                        <a:t>Pixels that do not correspond to an observation (</a:t>
                      </a:r>
                      <a:r>
                        <a:rPr sz="1000" strike="sngStrike">
                          <a:solidFill>
                            <a:srgbClr val="B00000"/>
                          </a:solidFill>
                        </a:rPr>
                        <a:t>‘</a:t>
                      </a:r>
                      <a:r>
                        <a:rPr sz="1000" b="1">
                          <a:solidFill>
                            <a:srgbClr val="2E7D32"/>
                          </a:solidFill>
                        </a:rPr>
                        <a:t>e.g., </a:t>
                      </a:r>
                      <a:r>
                        <a:rPr sz="1000"/>
                        <a:t>empty pixels</a:t>
                      </a:r>
                      <a:r>
                        <a:rPr sz="1000" strike="sngStrike">
                          <a:solidFill>
                            <a:srgbClr val="B00000"/>
                          </a:solidFill>
                        </a:rPr>
                        <a:t>’) are flagg</a:t>
                      </a:r>
                      <a:r>
                        <a:rPr sz="1000" b="1">
                          <a:solidFill>
                            <a:srgbClr val="2E7D32"/>
                          </a:solidFill>
                        </a:rPr>
                        <a:t> / invalid observations / below noise floor) are mask</a:t>
                      </a:r>
                      <a:r>
                        <a:rPr sz="1000"/>
                        <a:t>ed.</a:t>
                      </a:r>
                    </a:p>
                  </a:txBody>
                  <a:tcPr>
                    <a:solidFill>
                      <a:srgbClr val="FFFFFF"/>
                    </a:solidFill>
                  </a:tcPr>
                </a:tc>
              </a:tr>
            </a:tbl>
          </a:graphicData>
        </a:graphic>
      </p:graphicFrame>
      <p:sp>
        <p:nvSpPr>
          <p:cNvPr id="4" name="TextBox 3"/>
          <p:cNvSpPr txBox="1"/>
          <p:nvPr/>
        </p:nvSpPr>
        <p:spPr>
          <a:xfrm>
            <a:off x="457200" y="2779776"/>
            <a:ext cx="11277295" cy="621792"/>
          </a:xfrm>
          <a:prstGeom prst="rect">
            <a:avLst/>
          </a:prstGeom>
          <a:noFill/>
        </p:spPr>
        <p:txBody>
          <a:bodyPr wrap="square">
            <a:spAutoFit/>
          </a:bodyPr>
          <a:lstStyle/>
          <a:p>
            <a:r>
              <a:rPr sz="1200" b="1"/>
              <a:t>Internal notes: </a:t>
            </a:r>
            <a:r>
              <a:rPr sz="1200" i="1"/>
              <a:t>ST 6.0 introduced its own No Data wording with an explicit flag list ("No Data / Invalid / Falsified / Valid / Modelled") — decide whether to keep it or to align it with AR's example-based wording.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No Data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No Data</a:t>
            </a:r>
          </a:p>
          <a:p>
            <a:r>
              <a:rPr sz="1100">
                <a:latin typeface="Consolas"/>
              </a:rPr>
              <a:t>requirements:</a:t>
            </a:r>
          </a:p>
          <a:p>
            <a:r>
              <a:rPr sz="1100">
                <a:latin typeface="Consolas"/>
              </a:rPr>
              <a:t>  threshold:</a:t>
            </a:r>
          </a:p>
          <a:p>
            <a:r>
              <a:rPr sz="1100">
                <a:latin typeface="Consolas"/>
              </a:rPr>
              <a:t>    description: Pixels that do not correspond to an observation (e.g., empty pixels / invalid observations / below noise floor) are masked.  # TODO: differs per PFS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Saturation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whether there is pixel radiometric saturation at Level 1 in one or more spectral bands.</a:t>
                      </a:r>
                    </a:p>
                  </a:txBody>
                  <a:tcPr>
                    <a:solidFill>
                      <a:srgbClr val="FFFFFF"/>
                    </a:solidFill>
                  </a:tcPr>
                </a:tc>
                <a:tc>
                  <a:txBody>
                    <a:bodyPr/>
                    <a:lstStyle/>
                    <a:p>
                      <a:r>
                        <a:rPr sz="1000"/>
                        <a:t>Specification of whether there is pixel radiometric saturation at Level 1 in one or more spectral bands.</a:t>
                      </a:r>
                    </a:p>
                  </a:txBody>
                  <a:tcPr>
                    <a:solidFill>
                      <a:srgbClr val="FFFFFF"/>
                    </a:solidFill>
                  </a:tcPr>
                </a:tc>
              </a:tr>
              <a:tr h="121920">
                <a:tc>
                  <a:txBody>
                    <a:bodyPr/>
                    <a:lstStyle/>
                    <a:p>
                      <a:r>
                        <a:rPr sz="1000" b="1"/>
                        <a:t>NLSR, SR</a:t>
                      </a:r>
                    </a:p>
                  </a:txBody>
                  <a:tcPr>
                    <a:solidFill>
                      <a:srgbClr val="FFFFFF"/>
                    </a:solidFill>
                  </a:tcPr>
                </a:tc>
                <a:tc>
                  <a:txBody>
                    <a:bodyPr/>
                    <a:lstStyle/>
                    <a:p>
                      <a:r>
                        <a:rPr sz="1000"/>
                        <a:t>Metadata indicates where</a:t>
                      </a:r>
                      <a:r>
                        <a:rPr sz="1000">
                          <a:solidFill>
                            <a:srgbClr val="1565C0"/>
                          </a:solidFill>
                        </a:rPr>
                        <a:t> one or more</a:t>
                      </a:r>
                      <a:r>
                        <a:rPr sz="1000"/>
                        <a:t> pixel in the input</a:t>
                      </a:r>
                      <a:r>
                        <a:rPr sz="1000">
                          <a:solidFill>
                            <a:srgbClr val="1565C0"/>
                          </a:solidFill>
                        </a:rPr>
                        <a:t> spectral bands</a:t>
                      </a:r>
                      <a:r>
                        <a:rPr sz="1000"/>
                        <a:t> are saturated</a:t>
                      </a:r>
                      <a:r>
                        <a:rPr sz="1000"/>
                        <a:t>.</a:t>
                      </a:r>
                    </a:p>
                  </a:txBody>
                  <a:tcPr>
                    <a:solidFill>
                      <a:srgbClr val="FFFFFF"/>
                    </a:solidFill>
                  </a:tcPr>
                </a:tc>
                <a:tc>
                  <a:txBody>
                    <a:bodyPr/>
                    <a:lstStyle/>
                    <a:p>
                      <a:r>
                        <a:rPr sz="1000"/>
                        <a:t>Specification of whether there is pixel radiometric saturation at Level 1 in</a:t>
                      </a:r>
                      <a:r>
                        <a:rPr sz="1000">
                          <a:solidFill>
                            <a:srgbClr val="1565C0"/>
                          </a:solidFill>
                        </a:rPr>
                        <a:t> one or more</a:t>
                      </a:r>
                      <a:r>
                        <a:rPr sz="1000">
                          <a:solidFill>
                            <a:srgbClr val="1565C0"/>
                          </a:solidFill>
                        </a:rPr>
                        <a:t> spectral bands</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3774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with specification of which pixels are radiometrically saturated for each spectral band.</a:t>
                      </a:r>
                    </a:p>
                  </a:txBody>
                  <a:tcPr>
                    <a:solidFill>
                      <a:srgbClr val="FFFFFF"/>
                    </a:solidFill>
                  </a:tcPr>
                </a:tc>
                <a:tc>
                  <a:txBody>
                    <a:bodyPr/>
                    <a:lstStyle/>
                    <a:p>
                      <a:r>
                        <a:rPr sz="1000"/>
                        <a:t>As threshold, with specification of which pixels are radiometrically saturated for each spectral band.</a:t>
                      </a:r>
                    </a:p>
                  </a:txBody>
                  <a:tcPr>
                    <a:solidFill>
                      <a:srgbClr val="FFFFFF"/>
                    </a:solidFill>
                  </a:tcPr>
                </a:tc>
              </a:tr>
              <a:tr h="121920">
                <a:tc>
                  <a:txBody>
                    <a:bodyPr/>
                    <a:lstStyle/>
                    <a:p>
                      <a:r>
                        <a:rPr sz="1000" b="1"/>
                        <a:t>NLSR, SR</a:t>
                      </a:r>
                    </a:p>
                  </a:txBody>
                  <a:tcPr>
                    <a:solidFill>
                      <a:srgbClr val="FFFFFF"/>
                    </a:solidFill>
                  </a:tcPr>
                </a:tc>
                <a:tc>
                  <a:txBody>
                    <a:bodyPr/>
                    <a:lstStyle/>
                    <a:p>
                      <a:r>
                        <a:rPr sz="1000" strike="sngStrike">
                          <a:solidFill>
                            <a:srgbClr val="B00000"/>
                          </a:solidFill>
                        </a:rPr>
                        <a:t>As threshold, with specification of</a:t>
                      </a:r>
                      <a:r>
                        <a:rPr sz="1000" b="1">
                          <a:solidFill>
                            <a:srgbClr val="2E7D32"/>
                          </a:solidFill>
                        </a:rPr>
                        <a:t>Metadata indicates</a:t>
                      </a:r>
                      <a:r>
                        <a:rPr sz="1000"/>
                        <a:t> which pixels are</a:t>
                      </a:r>
                      <a:r>
                        <a:rPr sz="1000" strike="sngStrike">
                          <a:solidFill>
                            <a:srgbClr val="B00000"/>
                          </a:solidFill>
                        </a:rPr>
                        <a:t> radiometrically</a:t>
                      </a:r>
                      <a:r>
                        <a:rPr sz="1000"/>
                        <a:t> saturated for each spectral band.</a:t>
                      </a:r>
                    </a:p>
                  </a:txBody>
                  <a:tcPr>
                    <a:solidFill>
                      <a:srgbClr val="FFFFFF"/>
                    </a:solidFill>
                  </a:tcPr>
                </a:tc>
                <a:tc>
                  <a:txBody>
                    <a:bodyPr/>
                    <a:lstStyle/>
                    <a:p>
                      <a:r>
                        <a:rPr sz="1000" strike="sngStrike">
                          <a:solidFill>
                            <a:srgbClr val="B00000"/>
                          </a:solidFill>
                        </a:rPr>
                        <a:t>Metadata indicates</a:t>
                      </a:r>
                      <a:r>
                        <a:rPr sz="1000" b="1">
                          <a:solidFill>
                            <a:srgbClr val="2E7D32"/>
                          </a:solidFill>
                        </a:rPr>
                        <a:t>As threshold, with specification of</a:t>
                      </a:r>
                      <a:r>
                        <a:rPr sz="1000"/>
                        <a:t> which pixels are</a:t>
                      </a:r>
                      <a:r>
                        <a:rPr sz="1000" b="1">
                          <a:solidFill>
                            <a:srgbClr val="2E7D32"/>
                          </a:solidFill>
                        </a:rPr>
                        <a:t> radiometrically</a:t>
                      </a:r>
                      <a:r>
                        <a:rPr sz="1000"/>
                        <a:t> saturated for each spectral band.</a:t>
                      </a:r>
                    </a:p>
                  </a:txBody>
                  <a:tcPr>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Saturation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Saturation</a:t>
            </a:r>
          </a:p>
          <a:p>
            <a:r>
              <a:rPr sz="1100">
                <a:latin typeface="Consolas"/>
              </a:rPr>
              <a:t>requirements:</a:t>
            </a:r>
          </a:p>
          <a:p>
            <a:r>
              <a:rPr sz="1100">
                <a:latin typeface="Consolas"/>
              </a:rPr>
              <a:t>  threshold:</a:t>
            </a:r>
          </a:p>
          <a:p>
            <a:r>
              <a:rPr sz="1100">
                <a:latin typeface="Consolas"/>
              </a:rPr>
              <a:t>    description: Specification of whether there is pixel radiometric saturation at Level 1 in one or more spectral bands.</a:t>
            </a:r>
          </a:p>
          <a:p>
            <a:r>
              <a:rPr sz="1100">
                <a:latin typeface="Consolas"/>
              </a:rPr>
              <a:t>  goal:</a:t>
            </a:r>
          </a:p>
          <a:p>
            <a:r>
              <a:rPr sz="1100">
                <a:latin typeface="Consolas"/>
              </a:rPr>
              <a:t>    description: As threshold, with specification of which pixels are radiometrically saturated for each spectral band.</a:t>
            </a:r>
          </a:p>
          <a:p>
            <a:r>
              <a:rPr sz="1100">
                <a:latin typeface="Consolas"/>
              </a:rPr>
              <a:t>    optional: true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Snow/Ice Mask</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NLSR</a:t>
                      </a:r>
                    </a:p>
                    <a:p>
                      <a:r>
                        <a:rPr sz="1000" i="1">
                          <a:solidFill>
                            <a:srgbClr val="808080"/>
                          </a:solidFill>
                        </a:rPr>
                        <a:t>(baseline)</a:t>
                      </a:r>
                    </a:p>
                  </a:txBody>
                  <a:tcPr>
                    <a:solidFill>
                      <a:srgbClr val="FFFFFF"/>
                    </a:solidFill>
                  </a:tcPr>
                </a:tc>
                <a:tc>
                  <a:txBody>
                    <a:bodyPr/>
                    <a:lstStyle/>
                    <a:p>
                      <a:r>
                        <a:rPr sz="1000"/>
                        <a:t>Metadata indicates whether a pixel is snow/ice.</a:t>
                      </a:r>
                    </a:p>
                  </a:txBody>
                  <a:tcPr>
                    <a:solidFill>
                      <a:srgbClr val="FFFFFF"/>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snow/ice</a:t>
                      </a:r>
                      <a:r>
                        <a:rPr sz="1000" strike="sngStrike">
                          <a:solidFill>
                            <a:srgbClr val="B00000"/>
                          </a:solidFill>
                        </a:rPr>
                        <a:t>.</a:t>
                      </a:r>
                    </a:p>
                  </a:txBody>
                  <a:tcPr>
                    <a:solidFill>
                      <a:srgbClr val="FFFFFF"/>
                    </a:solidFill>
                  </a:tcPr>
                </a:tc>
              </a:tr>
              <a:tr h="121920">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r>
                        <a:rPr sz="1000"/>
                        <a:t>(not set)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22656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NLSR</a:t>
                      </a:r>
                    </a:p>
                    <a:p>
                      <a:r>
                        <a:rPr sz="1000" i="1">
                          <a:solidFill>
                            <a:srgbClr val="808080"/>
                          </a:solidFill>
                        </a:rPr>
                        <a:t>(baseline)</a:t>
                      </a:r>
                    </a:p>
                  </a:txBody>
                  <a:tcPr>
                    <a:solidFill>
                      <a:srgbClr val="FFFFFF"/>
                    </a:solidFill>
                  </a:tcPr>
                </a:tc>
                <a:tc>
                  <a:txBody>
                    <a:bodyPr/>
                    <a:lstStyle/>
                    <a:p>
                      <a:r>
                        <a:rPr sz="1000"/>
                        <a:t>As threshold, information on snow/ice mask should be available in the metadata as a single DOI landing page.</a:t>
                      </a:r>
                    </a:p>
                  </a:txBody>
                  <a:tcPr>
                    <a:solidFill>
                      <a:srgbClr val="FFFFFF"/>
                    </a:solidFill>
                  </a:tcPr>
                </a:tc>
                <a:tc>
                  <a:txBody>
                    <a:bodyPr/>
                    <a:lstStyle/>
                    <a:p>
                      <a:r>
                        <a:rPr sz="1000"/>
                        <a:t>As threshold</a:t>
                      </a:r>
                      <a:r>
                        <a:rPr sz="1000" strike="sngStrike">
                          <a:solidFill>
                            <a:srgbClr val="B00000"/>
                          </a:solidFill>
                        </a:rPr>
                        <a:t>, information on snow/ice mask should be available in the metadata as a single DOI landing page.</a:t>
                      </a:r>
                    </a:p>
                  </a:txBody>
                  <a:tcPr>
                    <a:solidFill>
                      <a:srgbClr val="FFFFFF"/>
                    </a:solidFill>
                  </a:tcPr>
                </a:tc>
              </a:tr>
              <a:tr h="121920">
                <a:tc>
                  <a:txBody>
                    <a:bodyPr/>
                    <a:lstStyle/>
                    <a:p>
                      <a:r>
                        <a:rPr sz="1000" b="1"/>
                        <a:t>SR</a:t>
                      </a:r>
                    </a:p>
                  </a:txBody>
                  <a:tcPr>
                    <a:solidFill>
                      <a:srgbClr val="FFFFFF"/>
                    </a:solidFill>
                  </a:tcPr>
                </a:tc>
                <a:tc>
                  <a:txBody>
                    <a:bodyPr/>
                    <a:lstStyle/>
                    <a:p>
                      <a:r>
                        <a:rPr sz="1000" strike="sngStrike">
                          <a:solidFill>
                            <a:srgbClr val="B00000"/>
                          </a:solidFill>
                        </a:rPr>
                        <a:t>As threshold, i</a:t>
                      </a:r>
                      <a:r>
                        <a:rPr sz="1000" b="1">
                          <a:solidFill>
                            <a:srgbClr val="2E7D32"/>
                          </a:solidFill>
                        </a:rPr>
                        <a:t>The metadata indicates whether a pixel is assessed as being snow/ice or not. I</a:t>
                      </a:r>
                      <a:r>
                        <a:rPr sz="1000"/>
                        <a:t>nformation on snow/ice mask should be available in the metadata as a single DOI landing page.</a:t>
                      </a:r>
                    </a:p>
                  </a:txBody>
                  <a:tcPr>
                    <a:solidFill>
                      <a:srgbClr val="FFFFFF"/>
                    </a:solidFill>
                  </a:tcPr>
                </a:tc>
                <a:tc>
                  <a:txBody>
                    <a:bodyPr/>
                    <a:lstStyle/>
                    <a:p>
                      <a:r>
                        <a:rPr sz="1000"/>
                        <a:t>Specification of</a:t>
                      </a:r>
                      <a:r>
                        <a:rPr sz="1000">
                          <a:solidFill>
                            <a:srgbClr val="1565C0"/>
                          </a:solidFill>
                        </a:rPr>
                        <a:t> whether a pixel is </a:t>
                      </a:r>
                      <a:r>
                        <a:rPr sz="1000"/>
                        <a:t>snow/ice</a:t>
                      </a:r>
                    </a:p>
                  </a:txBody>
                  <a:tcPr>
                    <a:solidFill>
                      <a:srgbClr val="FFFFFF"/>
                    </a:solidFill>
                  </a:tcPr>
                </a:tc>
              </a:tr>
            </a:tbl>
          </a:graphicData>
        </a:graphic>
      </p:graphicFrame>
      <p:sp>
        <p:nvSpPr>
          <p:cNvPr id="5" name="TextBox 4"/>
          <p:cNvSpPr txBox="1"/>
          <p:nvPr/>
        </p:nvSpPr>
        <p:spPr>
          <a:xfrm>
            <a:off x="457200" y="3749040"/>
            <a:ext cx="11277295" cy="621792"/>
          </a:xfrm>
          <a:prstGeom prst="rect">
            <a:avLst/>
          </a:prstGeom>
          <a:noFill/>
        </p:spPr>
        <p:txBody>
          <a:bodyPr wrap="square">
            <a:spAutoFit/>
          </a:bodyPr>
          <a:lstStyle/>
          <a:p>
            <a:r>
              <a:rPr sz="1200" b="1"/>
              <a:t>Internal notes: </a:t>
            </a:r>
            <a:r>
              <a:rPr sz="1200" i="1"/>
              <a:t>Append "DOI-landing page" verbiage to the General Metadata and Per-Pixel Metadata sections for SR, ST and NLSR.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Snow/Ice Mask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Snow/Ice Mask</a:t>
            </a:r>
          </a:p>
          <a:p>
            <a:r>
              <a:rPr sz="1100">
                <a:latin typeface="Consolas"/>
              </a:rPr>
              <a:t>requirements:</a:t>
            </a:r>
          </a:p>
          <a:p>
            <a:r>
              <a:rPr sz="1100">
                <a:latin typeface="Consolas"/>
              </a:rPr>
              <a:t>  threshold:</a:t>
            </a:r>
          </a:p>
          <a:p>
            <a:r>
              <a:rPr sz="1100">
                <a:latin typeface="Consolas"/>
              </a:rPr>
              <a:t>    description: Specification of whether a pixel is snow/ice  # TODO: differs per PFS</a:t>
            </a:r>
          </a:p>
          <a:p>
            <a:r>
              <a:rPr sz="1100">
                <a:latin typeface="Consolas"/>
              </a:rPr>
              <a:t>  goal:</a:t>
            </a:r>
          </a:p>
          <a:p>
            <a:r>
              <a:rPr sz="1100">
                <a:latin typeface="Consolas"/>
              </a:rPr>
              <a:t>    description: As threshold  # TODO: differs per PFS</a:t>
            </a:r>
          </a:p>
          <a:p>
            <a:r>
              <a:rPr sz="1100">
                <a:latin typeface="Consolas"/>
              </a:rPr>
              <a:t>    optional: true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Terrain Occlusion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Not required.</a:t>
                      </a:r>
                    </a:p>
                  </a:txBody>
                  <a:tcPr>
                    <a:solidFill>
                      <a:srgbClr val="FFFFFF"/>
                    </a:solidFill>
                  </a:tcPr>
                </a:tc>
                <a:tc>
                  <a:txBody>
                    <a:bodyPr/>
                    <a:lstStyle/>
                    <a:p/>
                  </a:txBody>
                  <a:tcPr>
                    <a:solidFill>
                      <a:srgbClr val="FFFFFF"/>
                    </a:solidFill>
                  </a:tcPr>
                </a:tc>
              </a:tr>
              <a:tr h="121920">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txBody>
                  <a:tcPr>
                    <a:solidFill>
                      <a:srgbClr val="FFFFFF"/>
                    </a:solidFill>
                  </a:tcPr>
                </a:tc>
              </a:tr>
            </a:tbl>
          </a:graphicData>
        </a:graphic>
      </p:graphicFrame>
      <p:graphicFrame>
        <p:nvGraphicFramePr>
          <p:cNvPr id="4" name="Table 3"/>
          <p:cNvGraphicFramePr>
            <a:graphicFrameLocks noGrp="1"/>
          </p:cNvGraphicFramePr>
          <p:nvPr/>
        </p:nvGraphicFramePr>
        <p:xfrm>
          <a:off x="457200" y="222656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Identifies pixels that are not visible to the sensor due to terrain occlusion during off-nadir viewing.</a:t>
                      </a:r>
                    </a:p>
                  </a:txBody>
                  <a:tcPr>
                    <a:solidFill>
                      <a:srgbClr val="FFFFFF"/>
                    </a:solidFill>
                  </a:tcPr>
                </a:tc>
                <a:tc>
                  <a:txBody>
                    <a:bodyPr/>
                    <a:lstStyle/>
                    <a:p/>
                  </a:txBody>
                  <a:tcPr>
                    <a:solidFill>
                      <a:srgbClr val="FFFFFF"/>
                    </a:solidFill>
                  </a:tcPr>
                </a:tc>
              </a:tr>
              <a:tr h="121920">
                <a:tc>
                  <a:txBody>
                    <a:bodyPr/>
                    <a:lstStyle/>
                    <a:p>
                      <a:r>
                        <a:rPr sz="1000" b="1"/>
                        <a:t>NLSR, SR</a:t>
                      </a:r>
                    </a:p>
                  </a:txBody>
                  <a:tcPr>
                    <a:solidFill>
                      <a:srgbClr val="FFFFFF"/>
                    </a:solidFill>
                  </a:tcPr>
                </a:tc>
                <a:tc>
                  <a:txBody>
                    <a:bodyPr/>
                    <a:lstStyle/>
                    <a:p>
                      <a:r>
                        <a:rPr sz="1000" strike="sngStrike">
                          <a:solidFill>
                            <a:srgbClr val="B00000"/>
                          </a:solidFill>
                        </a:rPr>
                        <a:t>Identifi</a:t>
                      </a:r>
                      <a:r>
                        <a:rPr sz="1000" b="1">
                          <a:solidFill>
                            <a:srgbClr val="2E7D32"/>
                          </a:solidFill>
                        </a:rPr>
                        <a:t>The metadata indicat</a:t>
                      </a:r>
                      <a:r>
                        <a:rPr sz="1000"/>
                        <a:t>es pixels that are not visible to the sensor due to terrain occlusion during off-nadir viewing.</a:t>
                      </a:r>
                    </a:p>
                  </a:txBody>
                  <a:tcPr>
                    <a:solidFill>
                      <a:srgbClr val="FFFFFF"/>
                    </a:solidFill>
                  </a:tcPr>
                </a:tc>
                <a:tc>
                  <a:txBody>
                    <a:bodyPr/>
                    <a:lstStyle/>
                    <a:p>
                      <a:r>
                        <a:rPr sz="1000" strike="sngStrike">
                          <a:solidFill>
                            <a:srgbClr val="B00000"/>
                          </a:solidFill>
                        </a:rPr>
                        <a:t>The metadata indicates</a:t>
                      </a:r>
                      <a:r>
                        <a:rPr sz="1000" b="1">
                          <a:solidFill>
                            <a:srgbClr val="2E7D32"/>
                          </a:solidFill>
                        </a:rPr>
                        <a:t>Specification of whether</a:t>
                      </a:r>
                      <a:r>
                        <a:rPr sz="1000"/>
                        <a:t> pixels that are not visible to the sensor due to terrain occlusion during off-nadir viewing.</a:t>
                      </a:r>
                    </a:p>
                  </a:txBody>
                  <a:tcPr>
                    <a:solidFill>
                      <a:srgbClr val="FFFFFF"/>
                    </a:solidFill>
                  </a:tcPr>
                </a:tc>
              </a:tr>
            </a:tbl>
          </a:graphicData>
        </a:graphic>
      </p:graphicFrame>
      <p:sp>
        <p:nvSpPr>
          <p:cNvPr id="5" name="TextBox 4"/>
          <p:cNvSpPr txBox="1"/>
          <p:nvPr/>
        </p:nvSpPr>
        <p:spPr>
          <a:xfrm>
            <a:off x="457200" y="3598164"/>
            <a:ext cx="11277295" cy="841247"/>
          </a:xfrm>
          <a:prstGeom prst="rect">
            <a:avLst/>
          </a:prstGeom>
          <a:noFill/>
        </p:spPr>
        <p:txBody>
          <a:bodyPr wrap="square">
            <a:spAutoFit/>
          </a:bodyPr>
          <a:lstStyle/>
          <a:p>
            <a:r>
              <a:rPr sz="1200" b="1"/>
              <a:t>Internal notes: </a:t>
            </a:r>
            <a:r>
              <a:rPr sz="1200" i="1"/>
              <a:t>Resolved: ST 6.0 defines Terrain Occlusion for ST (goal only, threshold "Not required.") — the earlier observation that ST lacks terrain occlusion no longer applies. ST's goal wording ("Identifies pixels that are not visible…") differs slightly from the SR/NLSR proposal — align during consolidation.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Terrain Occlusion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Terrain Occlusion</a:t>
            </a:r>
          </a:p>
          <a:p>
            <a:r>
              <a:rPr sz="1100">
                <a:latin typeface="Consolas"/>
              </a:rPr>
              <a:t>requirements:</a:t>
            </a:r>
          </a:p>
          <a:p>
            <a:r>
              <a:rPr sz="1100">
                <a:latin typeface="Consolas"/>
              </a:rPr>
              <a:t>  threshold:</a:t>
            </a:r>
          </a:p>
          <a:p>
            <a:r>
              <a:rPr sz="1100">
                <a:latin typeface="Consolas"/>
              </a:rPr>
              <a:t>    description: Not required.  # TODO: differs per PFS</a:t>
            </a:r>
          </a:p>
          <a:p>
            <a:r>
              <a:rPr sz="1100">
                <a:latin typeface="Consolas"/>
              </a:rPr>
              <a:t>  goal:</a:t>
            </a:r>
          </a:p>
          <a:p>
            <a:r>
              <a:rPr sz="1100">
                <a:latin typeface="Consolas"/>
              </a:rPr>
              <a:t>    description: Identifies pixels that are not visible to the sensor due to terrain occlusion during off-nadir viewing.  # TODO: differs per PFS</a:t>
            </a:r>
          </a:p>
          <a:p>
            <a:r>
              <a:rPr sz="1100">
                <a:latin typeface="Consolas"/>
              </a:rPr>
              <a:t>    optional: true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Solar and Viewing Geometry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the solar and sensor viewing azimuth and zenith angles.</a:t>
                      </a:r>
                    </a:p>
                  </a:txBody>
                  <a:tcPr>
                    <a:solidFill>
                      <a:srgbClr val="FFFFFF"/>
                    </a:solidFill>
                  </a:tcPr>
                </a:tc>
                <a:tc>
                  <a:txBody>
                    <a:bodyPr/>
                    <a:lstStyle/>
                    <a:p>
                      <a:r>
                        <a:rPr sz="1000"/>
                        <a:t>Specification of the solar and sensor viewing azimuth and zenith angles.</a:t>
                      </a:r>
                    </a:p>
                  </a:txBody>
                  <a:tcPr>
                    <a:solidFill>
                      <a:srgbClr val="FFFFFF"/>
                    </a:solidFill>
                  </a:tcPr>
                </a:tc>
              </a:tr>
              <a:tr h="121920">
                <a:tc>
                  <a:txBody>
                    <a:bodyPr/>
                    <a:lstStyle/>
                    <a:p>
                      <a:r>
                        <a:rPr sz="1000" b="1"/>
                        <a:t>SR</a:t>
                      </a:r>
                    </a:p>
                  </a:txBody>
                  <a:tcPr>
                    <a:solidFill>
                      <a:srgbClr val="FFFFFF"/>
                    </a:solidFill>
                  </a:tcPr>
                </a:tc>
                <a:tc>
                  <a:txBody>
                    <a:bodyPr/>
                    <a:lstStyle/>
                    <a:p>
                      <a:r>
                        <a:rPr sz="1000" strike="sngStrike">
                          <a:solidFill>
                            <a:srgbClr val="B00000"/>
                          </a:solidFill>
                        </a:rPr>
                        <a:t>Specification of th</a:t>
                      </a:r>
                      <a:r>
                        <a:rPr sz="1000" b="1">
                          <a:solidFill>
                            <a:srgbClr val="2E7D32"/>
                          </a:solidFill>
                        </a:rPr>
                        <a:t>Provide averag</a:t>
                      </a:r>
                      <a:r>
                        <a:rPr sz="1000"/>
                        <a:t>e solar and sensor viewing azimuth and zenith angles.</a:t>
                      </a:r>
                    </a:p>
                  </a:txBody>
                  <a:tcPr>
                    <a:solidFill>
                      <a:srgbClr val="FFFFFF"/>
                    </a:solidFill>
                  </a:tcPr>
                </a:tc>
                <a:tc>
                  <a:txBody>
                    <a:bodyPr/>
                    <a:lstStyle/>
                    <a:p>
                      <a:r>
                        <a:rPr sz="1000" strike="sngStrike">
                          <a:solidFill>
                            <a:srgbClr val="B00000"/>
                          </a:solidFill>
                        </a:rPr>
                        <a:t>Provide averag</a:t>
                      </a:r>
                      <a:r>
                        <a:rPr sz="1000" b="1">
                          <a:solidFill>
                            <a:srgbClr val="2E7D32"/>
                          </a:solidFill>
                        </a:rPr>
                        <a:t>Specification of th</a:t>
                      </a:r>
                      <a:r>
                        <a:rPr sz="1000"/>
                        <a:t>e solar and sensor viewing azimuth and zenith angles.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3774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Specification of the per-pixel solar and sensor viewing azimuth and zenith angles.</a:t>
                      </a:r>
                    </a:p>
                  </a:txBody>
                  <a:tcPr>
                    <a:solidFill>
                      <a:srgbClr val="FFFFFF"/>
                    </a:solidFill>
                  </a:tcPr>
                </a:tc>
              </a:tr>
              <a:tr h="121920">
                <a:tc>
                  <a:txBody>
                    <a:bodyPr/>
                    <a:lstStyle/>
                    <a:p>
                      <a:r>
                        <a:rPr sz="1000" b="1"/>
                        <a:t>SR</a:t>
                      </a:r>
                    </a:p>
                    <a:p>
                      <a:r>
                        <a:rPr sz="1000" i="1">
                          <a:solidFill>
                            <a:srgbClr val="808080"/>
                          </a:solidFill>
                        </a:rPr>
                        <a:t>(baseline)</a:t>
                      </a:r>
                    </a:p>
                  </a:txBody>
                  <a:tcPr>
                    <a:solidFill>
                      <a:srgbClr val="FFFFFF"/>
                    </a:solidFill>
                  </a:tcPr>
                </a:tc>
                <a:tc>
                  <a:txBody>
                    <a:bodyPr/>
                    <a:lstStyle/>
                    <a:p>
                      <a:r>
                        <a:rPr sz="1000"/>
                        <a:t>Provide per-pixel solar and sensor viewing azimuth and zenith angles.</a:t>
                      </a:r>
                    </a:p>
                    <a:p>
                      <a:r>
                        <a:rPr sz="1000" i="1">
                          <a:solidFill>
                            <a:srgbClr val="808080"/>
                          </a:solidFill>
                        </a:rPr>
                        <a:t>(optional)</a:t>
                      </a:r>
                    </a:p>
                  </a:txBody>
                  <a:tcPr>
                    <a:solidFill>
                      <a:srgbClr val="FFFFFF"/>
                    </a:solidFill>
                  </a:tcPr>
                </a:tc>
                <a:tc>
                  <a:txBody>
                    <a:bodyPr/>
                    <a:lstStyle/>
                    <a:p>
                      <a:r>
                        <a:rPr sz="1000" strike="sngStrike">
                          <a:solidFill>
                            <a:srgbClr val="B00000"/>
                          </a:solidFill>
                        </a:rPr>
                        <a:t>Provid</a:t>
                      </a:r>
                      <a:r>
                        <a:rPr sz="1000" b="1">
                          <a:solidFill>
                            <a:srgbClr val="2E7D32"/>
                          </a:solidFill>
                        </a:rPr>
                        <a:t>Specification of th</a:t>
                      </a:r>
                      <a:r>
                        <a:rPr sz="1000"/>
                        <a:t>e per-pixel solar and sensor viewing azimuth and zenith angles.</a:t>
                      </a:r>
                    </a:p>
                  </a:txBody>
                  <a:tcPr>
                    <a:solidFill>
                      <a:srgbClr val="FFFFFF"/>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Solar and Viewing Geometry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Solar and Viewing Geometry</a:t>
            </a:r>
          </a:p>
          <a:p>
            <a:r>
              <a:rPr sz="1100">
                <a:latin typeface="Consolas"/>
              </a:rPr>
              <a:t>requirements:</a:t>
            </a:r>
          </a:p>
          <a:p>
            <a:r>
              <a:rPr sz="1100">
                <a:latin typeface="Consolas"/>
              </a:rPr>
              <a:t>  threshold:</a:t>
            </a:r>
          </a:p>
          <a:p>
            <a:r>
              <a:rPr sz="1100">
                <a:latin typeface="Consolas"/>
              </a:rPr>
              <a:t>    description: Specification of the solar and sensor viewing azimuth and zenith angles.</a:t>
            </a:r>
          </a:p>
          <a:p>
            <a:r>
              <a:rPr sz="1100">
                <a:latin typeface="Consolas"/>
              </a:rPr>
              <a:t>  goal:</a:t>
            </a:r>
          </a:p>
          <a:p>
            <a:r>
              <a:rPr sz="1100">
                <a:latin typeface="Consolas"/>
              </a:rPr>
              <a:t>    description: Specification of the per-pixel solar and sensor viewing azimuth and zenith angles.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PFS-specific overrides of requirement categories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Category</a:t>
                      </a:r>
                    </a:p>
                  </a:txBody>
                  <a:tcPr>
                    <a:solidFill>
                      <a:srgbClr val="000000"/>
                    </a:solidFill>
                  </a:tcPr>
                </a:tc>
                <a:tc>
                  <a:txBody>
                    <a:bodyPr/>
                    <a:lstStyle/>
                    <a:p>
                      <a:r>
                        <a:rPr b="1" sz="1100">
                          <a:solidFill>
                            <a:srgbClr val="FFFFFF"/>
                          </a:solidFill>
                        </a:rPr>
                        <a:t>Text</a:t>
                      </a:r>
                    </a:p>
                  </a:txBody>
                  <a:tcPr>
                    <a:solidFill>
                      <a:srgbClr val="000000"/>
                    </a:solidFill>
                  </a:tcPr>
                </a:tc>
              </a:tr>
              <a:tr h="121920">
                <a:tc>
                  <a:txBody>
                    <a:bodyPr/>
                    <a:lstStyle/>
                    <a:p>
                      <a:r>
                        <a:rPr sz="1000" b="1"/>
                        <a:t>AR</a:t>
                      </a:r>
                    </a:p>
                  </a:txBody>
                  <a:tcPr>
                    <a:solidFill>
                      <a:srgbClr val="FFFFFF"/>
                    </a:solidFill>
                  </a:tcPr>
                </a:tc>
                <a:tc>
                  <a:txBody>
                    <a:bodyPr/>
                    <a:lstStyle/>
                    <a:p>
                      <a:r>
                        <a:rPr sz="1000"/>
                        <a:t>general-metadata — appends to description</a:t>
                      </a:r>
                    </a:p>
                  </a:txBody>
                  <a:tcPr>
                    <a:solidFill>
                      <a:srgbClr val="FFFFFF"/>
                    </a:solidFill>
                  </a:tcPr>
                </a:tc>
                <a:tc>
                  <a:txBody>
                    <a:bodyPr/>
                    <a:lstStyle/>
                    <a:p>
                      <a:r>
                        <a:rPr sz="1000"/>
                        <a:t>Information should be available in the metadata as a single DOI landing page, which may include links to further detailed documents and references to citable peer-reviewed algorithms or technical documentation.</a:t>
                      </a:r>
                    </a:p>
                  </a:txBody>
                  <a:tcPr>
                    <a:solidFill>
                      <a:srgbClr val="FFFFFF"/>
                    </a:solidFill>
                  </a:tcPr>
                </a:tc>
              </a:tr>
              <a:tr h="121920">
                <a:tc>
                  <a:txBody>
                    <a:bodyPr/>
                    <a:lstStyle/>
                    <a:p>
                      <a:r>
                        <a:rPr sz="1000" b="1"/>
                        <a:t>AR</a:t>
                      </a:r>
                    </a:p>
                  </a:txBody>
                  <a:tcPr>
                    <a:solidFill>
                      <a:srgbClr val="FFFFFF"/>
                    </a:solidFill>
                  </a:tcPr>
                </a:tc>
                <a:tc>
                  <a:txBody>
                    <a:bodyPr/>
                    <a:lstStyle/>
                    <a:p>
                      <a:r>
                        <a:rPr sz="1000"/>
                        <a:t>per-pixel-metadata — appends to description</a:t>
                      </a:r>
                    </a:p>
                  </a:txBody>
                  <a:tcPr>
                    <a:solidFill>
                      <a:srgbClr val="FFFFFF"/>
                    </a:solidFill>
                  </a:tcPr>
                </a:tc>
                <a:tc>
                  <a:txBody>
                    <a:bodyPr/>
                    <a:lstStyle/>
                    <a:p>
                      <a:r>
                        <a:rPr sz="1000"/>
                        <a:t>Information should be available in the metadata as a single DOI landing page, which may include links to further detailed documents and references to citable peer-reviewed algorithms or technical documentation.</a:t>
                      </a:r>
                    </a:p>
                  </a:txBody>
                  <a:tcPr>
                    <a:solidFill>
                      <a:srgbClr val="FFFFFF"/>
                    </a:solidFill>
                  </a:tcPr>
                </a:tc>
              </a:tr>
            </a:tbl>
          </a:graphicData>
        </a:graphic>
      </p:graphicFrame>
      <p:sp>
        <p:nvSpPr>
          <p:cNvPr id="4" name="TextBox 3"/>
          <p:cNvSpPr txBox="1"/>
          <p:nvPr/>
        </p:nvSpPr>
        <p:spPr>
          <a:xfrm>
            <a:off x="457200" y="2587752"/>
            <a:ext cx="11277295" cy="914400"/>
          </a:xfrm>
          <a:prstGeom prst="rect">
            <a:avLst/>
          </a:prstGeom>
          <a:noFill/>
        </p:spPr>
        <p:txBody>
          <a:bodyPr wrap="square">
            <a:spAutoFit/>
          </a:bodyPr>
          <a:lstStyle/>
          <a:p>
            <a:r>
              <a:rPr sz="1200" b="1">
                <a:solidFill>
                  <a:srgbClr val="2E7D32"/>
                </a:solidFill>
              </a:rPr>
              <a:t>Proposal (from feedback): Append "DOI-landing page" verbiage to the General Metadata and Per-Pixel Metadata sections for SR, ST and NLSR.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