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56" r:id="rId2"/>
    <p:sldId id="311" r:id="rId3"/>
    <p:sldId id="312"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2" r:id="rId19"/>
    <p:sldId id="273" r:id="rId20"/>
    <p:sldId id="274" r:id="rId21"/>
    <p:sldId id="275" r:id="rId22"/>
    <p:sldId id="276" r:id="rId23"/>
    <p:sldId id="285" r:id="rId24"/>
    <p:sldId id="277" r:id="rId25"/>
    <p:sldId id="278" r:id="rId26"/>
    <p:sldId id="280" r:id="rId27"/>
    <p:sldId id="282" r:id="rId28"/>
    <p:sldId id="283" r:id="rId29"/>
    <p:sldId id="284" r:id="rId30"/>
    <p:sldId id="286" r:id="rId31"/>
    <p:sldId id="288" r:id="rId32"/>
    <p:sldId id="289" r:id="rId33"/>
    <p:sldId id="291" r:id="rId34"/>
    <p:sldId id="292" r:id="rId35"/>
    <p:sldId id="313" r:id="rId36"/>
    <p:sldId id="293" r:id="rId37"/>
    <p:sldId id="295" r:id="rId38"/>
    <p:sldId id="296" r:id="rId39"/>
    <p:sldId id="297" r:id="rId40"/>
    <p:sldId id="298" r:id="rId41"/>
    <p:sldId id="299" r:id="rId42"/>
    <p:sldId id="301" r:id="rId43"/>
    <p:sldId id="303" r:id="rId44"/>
    <p:sldId id="304" r:id="rId45"/>
    <p:sldId id="305" r:id="rId46"/>
    <p:sldId id="306" r:id="rId47"/>
    <p:sldId id="307" r:id="rId48"/>
    <p:sldId id="308" r:id="rId49"/>
    <p:sldId id="309" r:id="rId50"/>
    <p:sldId id="310"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B71F84-5F5C-4E16-8F93-65D1F88058B2}" type="datetimeFigureOut">
              <a:rPr lang="de-DE" smtClean="0"/>
              <a:t>19.08.2026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5066D9-BC68-44EA-BCEC-AE7779B2CBF9}" type="slidenum">
              <a:rPr lang="de-DE" smtClean="0"/>
              <a:t>‹Nr.›</a:t>
            </a:fld>
            <a:endParaRPr lang="de-DE"/>
          </a:p>
        </p:txBody>
      </p:sp>
    </p:spTree>
    <p:extLst>
      <p:ext uri="{BB962C8B-B14F-4D97-AF65-F5344CB8AC3E}">
        <p14:creationId xmlns:p14="http://schemas.microsoft.com/office/powerpoint/2010/main" val="756438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PROPOSAL:</a:t>
            </a:r>
          </a:p>
          <a:p>
            <a:r>
              <a:rPr dirty="0"/>
              <a:t>**Title (ST)**:</a:t>
            </a:r>
          </a:p>
          <a:p>
            <a:endParaRPr dirty="0"/>
          </a:p>
          <a:p>
            <a:r>
              <a:rPr dirty="0"/>
              <a:t>```</a:t>
            </a:r>
          </a:p>
          <a:p>
            <a:r>
              <a:rPr dirty="0"/>
              <a:t>Atmospheric Corrections</a:t>
            </a:r>
          </a:p>
          <a:p>
            <a:r>
              <a:rPr dirty="0"/>
              <a:t>```</a:t>
            </a:r>
          </a:p>
          <a:p>
            <a:endParaRPr dirty="0"/>
          </a:p>
          <a:p>
            <a:r>
              <a:rPr dirty="0"/>
              <a:t>**Threshold — description (NLSR)**:</a:t>
            </a:r>
          </a:p>
          <a:p>
            <a:endParaRPr dirty="0"/>
          </a:p>
          <a:p>
            <a:r>
              <a:rPr dirty="0"/>
              <a:t>```</a:t>
            </a:r>
          </a:p>
          <a:p>
            <a:r>
              <a:rPr dirty="0"/>
              <a:t>Corrections are applied for atmospheric scattering.</a:t>
            </a:r>
          </a:p>
          <a:p>
            <a:r>
              <a:rPr dirty="0"/>
              <a:t>```</a:t>
            </a:r>
          </a:p>
          <a:p>
            <a:endParaRPr dirty="0"/>
          </a:p>
          <a:p>
            <a:r>
              <a:rPr dirty="0"/>
              <a:t>**Threshold — notes (NLSR)**: Remove</a:t>
            </a:r>
          </a:p>
          <a:p>
            <a:endParaRPr dirty="0"/>
          </a:p>
          <a:p>
            <a:r>
              <a:rPr dirty="0"/>
              <a:t>INTERNAL NOTES:</a:t>
            </a:r>
          </a:p>
          <a:p>
            <a:r>
              <a:rPr dirty="0"/>
              <a:t>For DOI related discussions </a:t>
            </a:r>
            <a:r>
              <a:rPr lang="de-DE" dirty="0" err="1"/>
              <a:t>see</a:t>
            </a:r>
            <a:r>
              <a:rPr lang="de-DE" dirty="0"/>
              <a:t> "DOIs" </a:t>
            </a:r>
            <a:r>
              <a:rPr lang="de-DE" dirty="0" err="1"/>
              <a:t>slide</a:t>
            </a:r>
            <a:r>
              <a:rPr dirty="0"/>
              <a:t>.</a:t>
            </a:r>
          </a:p>
          <a:p>
            <a:endParaRPr dirty="0"/>
          </a:p>
          <a:p>
            <a:r>
              <a:rPr dirty="0"/>
              <a:t>The two requirements intentionally differ in content (ST: surface temperature retrieval methods; NLSR: atmospheric scattering) and stay separate; only the title and the boilerplate are aligned.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PROPOSAL:</a:t>
            </a:r>
          </a:p>
          <a:p>
            <a:r>
              <a:rPr dirty="0"/>
              <a:t>**Threshold — description (AR, SR)**:</a:t>
            </a:r>
          </a:p>
          <a:p>
            <a:endParaRPr dirty="0"/>
          </a:p>
          <a:p>
            <a:r>
              <a:rPr dirty="0"/>
              <a:t>```</a:t>
            </a:r>
          </a:p>
          <a:p>
            <a:r>
              <a:rPr dirty="0"/>
              <a:t>Specification of corrections applied for molecular (Rayleigh) scattering and for aerosol scattering and absorption.</a:t>
            </a:r>
          </a:p>
          <a:p>
            <a:r>
              <a:rPr dirty="0"/>
              <a:t>```</a:t>
            </a:r>
          </a:p>
          <a:p>
            <a:endParaRPr dirty="0"/>
          </a:p>
          <a:p>
            <a:r>
              <a:rPr dirty="0"/>
              <a:t>**Threshold — notes (SR)**: Remove</a:t>
            </a:r>
          </a:p>
          <a:p>
            <a:endParaRPr dirty="0"/>
          </a:p>
          <a:p>
            <a:r>
              <a:rPr dirty="0"/>
              <a:t>INTERNAL NOTES:</a:t>
            </a:r>
          </a:p>
          <a:p>
            <a:r>
              <a:rPr dirty="0"/>
              <a:t>For DOI related discussions </a:t>
            </a:r>
            <a:r>
              <a:rPr lang="de-DE" dirty="0" err="1"/>
              <a:t>see</a:t>
            </a:r>
            <a:r>
              <a:rPr lang="de-DE" dirty="0"/>
              <a:t> "DOIs" </a:t>
            </a:r>
            <a:r>
              <a:rPr lang="de-DE" dirty="0" err="1"/>
              <a:t>slide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PROPOSAL:</a:t>
            </a:r>
          </a:p>
          <a:p>
            <a:r>
              <a:t>**Threshold — description**:</a:t>
            </a:r>
          </a:p>
          <a:p>
            <a:endParaRPr/>
          </a:p>
          <a:p>
            <a:r>
              <a:t>```</a:t>
            </a:r>
          </a:p>
          <a:p>
            <a:r>
              <a:t>Sub-pixel uncertainty is achieved in **relative** geolocation, that is, the pixels from the same instrument and platform are consistently located, and are thus comparable, through time. Sub-pixel uncertainty is taken to be less than or equal to 0.5-pixel radial root mean square error (rRMSE) or equivalent in Circular Error Probability (CEP) relative to a defined reference image. A consistent gridding/sampling frame is used, including common cell size, origin, and nominal sample point location within the cell (centre, ll, ur).</a:t>
            </a:r>
          </a:p>
          <a:p>
            <a:endParaRPr/>
          </a:p>
          <a:p>
            <a:r>
              <a:t>Relevant metadata must be provided under [@geometric-uncertainty] and [@instrument].</a:t>
            </a:r>
          </a:p>
          <a:p>
            <a:r>
              <a:t>```</a:t>
            </a:r>
          </a:p>
          <a:p>
            <a:endParaRPr/>
          </a:p>
          <a:p>
            <a:r>
              <a:t>**Threshold — notes**:</a:t>
            </a:r>
          </a:p>
          <a:p>
            <a:endParaRPr/>
          </a:p>
          <a:p>
            <a:r>
              <a:t>```</a:t>
            </a:r>
          </a:p>
          <a:p>
            <a:r>
              <a:t>1. The threshold level will not necessarily enable interoperability between data from different sources as the geometric corrections for each of the sources may differ.</a:t>
            </a:r>
          </a:p>
          <a:p>
            <a:r>
              <a:t>2. It is useful to note if the sensor is used at its native resolution before geometric correction or that some resampling must be done.</a:t>
            </a:r>
          </a:p>
          <a:p>
            <a:r>
              <a:t>```</a:t>
            </a:r>
          </a:p>
          <a:p>
            <a:endParaRPr/>
          </a:p>
          <a:p>
            <a:r>
              <a:t>**Goal — description**:</a:t>
            </a:r>
          </a:p>
          <a:p>
            <a:endParaRPr/>
          </a:p>
          <a:p>
            <a:r>
              <a:t>```</a:t>
            </a:r>
          </a:p>
          <a:p>
            <a:r>
              <a:t>Sub-pixel uncertainty is achieved relative to an identified absolute independent terrestrial referencing system (such as a national map grid). Relevant metadata must be provided under Section “General Metadata: Geometric Uncertainty of the Data” and Section “General Metadata: Instrument”.</a:t>
            </a:r>
          </a:p>
          <a:p>
            <a:r>
              <a:t>```</a:t>
            </a:r>
          </a:p>
          <a:p>
            <a:endParaRPr/>
          </a:p>
          <a:p>
            <a:r>
              <a:t>**Goal — notes (NLSR, SR, ST)**:</a:t>
            </a:r>
          </a:p>
          <a:p>
            <a:endParaRPr/>
          </a:p>
          <a:p>
            <a:r>
              <a:t>```</a:t>
            </a:r>
          </a:p>
          <a:p>
            <a:r>
              <a:t>This requirement is intended to enable interoperability between imagery from different platforms that meet this level of correction and with non-image spatial data such as GIS layers and terrain models.</a:t>
            </a:r>
          </a:p>
          <a:p>
            <a:r>
              <a:t>```</a:t>
            </a:r>
          </a:p>
          <a:p>
            <a:endParaRPr/>
          </a:p>
          <a:p>
            <a:r>
              <a:t>INTERNAL NOTES:</a:t>
            </a:r>
          </a:p>
          <a:p>
            <a:r>
              <a:t>ST 6.0 already aligned the metadata references ([@geometric-uncertainty]); remaining differences to the proposal: "accuracy" vs "uncertainty", "0.5 pixel" vs "0.5-pixel", and the gridding/sampling sentence.</a:t>
            </a:r>
          </a:p>
          <a:p>
            <a:endParaRPr/>
          </a:p>
          <a:p>
            <a:r>
              <a:t>ST: requirement not yet touched; will accept any proposal for consistency (action: Ferran and Peter). In the same approach as AR, ST decided to replace "Accuracy" with "Uncertainty" across the document.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PROPOSAL:</a:t>
            </a:r>
          </a:p>
          <a:p>
            <a:r>
              <a:rPr dirty="0"/>
              <a:t>**Goal — description (SR)**:</a:t>
            </a:r>
          </a:p>
          <a:p>
            <a:endParaRPr dirty="0"/>
          </a:p>
          <a:p>
            <a:r>
              <a:rPr dirty="0"/>
              <a:t>```</a:t>
            </a:r>
          </a:p>
          <a:p>
            <a:r>
              <a:rPr dirty="0"/>
              <a:t>Data is corrected for ozone if spectral bands are affected.</a:t>
            </a:r>
          </a:p>
          <a:p>
            <a:r>
              <a:rPr dirty="0"/>
              <a:t>```</a:t>
            </a:r>
          </a:p>
          <a:p>
            <a:endParaRPr dirty="0"/>
          </a:p>
          <a:p>
            <a:r>
              <a:rPr dirty="0"/>
              <a:t>INTERNAL NOTES:</a:t>
            </a:r>
          </a:p>
          <a:p>
            <a:r>
              <a:rPr dirty="0"/>
              <a:t>For DOI related discussions </a:t>
            </a:r>
            <a:r>
              <a:rPr lang="de-DE" dirty="0" err="1"/>
              <a:t>see</a:t>
            </a:r>
            <a:r>
              <a:rPr lang="de-DE" dirty="0"/>
              <a:t> "DOIs" </a:t>
            </a:r>
            <a:r>
              <a:rPr lang="de-DE" dirty="0" err="1"/>
              <a:t>slide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PROPOSAL:</a:t>
            </a:r>
          </a:p>
          <a:p>
            <a:r>
              <a:rPr dirty="0"/>
              <a:t>**Threshold — description (SR)**:</a:t>
            </a:r>
          </a:p>
          <a:p>
            <a:endParaRPr dirty="0"/>
          </a:p>
          <a:p>
            <a:r>
              <a:rPr dirty="0"/>
              <a:t>```</a:t>
            </a:r>
          </a:p>
          <a:p>
            <a:r>
              <a:rPr dirty="0"/>
              <a:t>Corrections are applied for water </a:t>
            </a:r>
            <a:r>
              <a:rPr dirty="0" err="1"/>
              <a:t>vapour</a:t>
            </a:r>
            <a:r>
              <a:rPr dirty="0"/>
              <a:t> if spectral bands are affected.</a:t>
            </a:r>
          </a:p>
          <a:p>
            <a:r>
              <a:rPr dirty="0"/>
              <a:t>```</a:t>
            </a:r>
          </a:p>
          <a:p>
            <a:endParaRPr dirty="0"/>
          </a:p>
          <a:p>
            <a:r>
              <a:rPr dirty="0"/>
              <a:t>**Threshold — notes (SR)**: Remove</a:t>
            </a:r>
          </a:p>
          <a:p>
            <a:endParaRPr dirty="0"/>
          </a:p>
          <a:p>
            <a:r>
              <a:rPr dirty="0"/>
              <a:t>INTERNAL NOTES:</a:t>
            </a:r>
          </a:p>
          <a:p>
            <a:r>
              <a:rPr dirty="0"/>
              <a:t>For DOI related discussions </a:t>
            </a:r>
            <a:r>
              <a:rPr lang="de-DE" dirty="0" err="1"/>
              <a:t>see</a:t>
            </a:r>
            <a:r>
              <a:rPr lang="de-DE" dirty="0"/>
              <a:t> "DOIs" </a:t>
            </a:r>
            <a:r>
              <a:rPr lang="de-DE" dirty="0" err="1"/>
              <a:t>slide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PROPOSAL:</a:t>
            </a:r>
          </a:p>
          <a:p>
            <a:r>
              <a:rPr dirty="0"/>
              <a:t>**Goal — description (NLSR, SR)**:</a:t>
            </a:r>
          </a:p>
          <a:p>
            <a:endParaRPr dirty="0"/>
          </a:p>
          <a:p>
            <a:r>
              <a:rPr dirty="0"/>
              <a:t>```</a:t>
            </a:r>
          </a:p>
          <a:p>
            <a:r>
              <a:rPr dirty="0"/>
              <a:t>Measurements are </a:t>
            </a:r>
            <a:r>
              <a:rPr dirty="0" err="1"/>
              <a:t>normalised</a:t>
            </a:r>
            <a:r>
              <a:rPr dirty="0"/>
              <a:t> (to nadir) to remove the effect of bidirectional dependence of the upwelling radiance on observation and solar-illumination geometries.</a:t>
            </a:r>
          </a:p>
          <a:p>
            <a:r>
              <a:rPr dirty="0"/>
              <a:t>```</a:t>
            </a:r>
          </a:p>
          <a:p>
            <a:endParaRPr dirty="0"/>
          </a:p>
          <a:p>
            <a:r>
              <a:rPr dirty="0"/>
              <a:t>**Goal — notes (NLSR, SR)**: Remove</a:t>
            </a:r>
          </a:p>
          <a:p>
            <a:endParaRPr dirty="0"/>
          </a:p>
          <a:p>
            <a:r>
              <a:rPr dirty="0"/>
              <a:t>INTERNAL NOTES:</a:t>
            </a:r>
          </a:p>
          <a:p>
            <a:r>
              <a:rPr dirty="0"/>
              <a:t>For DOI related discussions </a:t>
            </a:r>
            <a:r>
              <a:rPr lang="de-DE" dirty="0" err="1"/>
              <a:t>see</a:t>
            </a:r>
            <a:r>
              <a:rPr lang="de-DE" dirty="0"/>
              <a:t> "DOIs" </a:t>
            </a:r>
            <a:r>
              <a:rPr lang="de-DE" dirty="0" err="1"/>
              <a:t>slide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PROPOSAL:</a:t>
            </a:r>
          </a:p>
          <a:p>
            <a:r>
              <a:rPr dirty="0"/>
              <a:t>**Threshold — description (NLSR, SR, ST)**: Remove</a:t>
            </a:r>
          </a:p>
          <a:p>
            <a:endParaRPr dirty="0"/>
          </a:p>
          <a:p>
            <a:r>
              <a:rPr dirty="0"/>
              <a:t>**Threshold — notes (AR)**: Remove</a:t>
            </a:r>
          </a:p>
          <a:p>
            <a:endParaRPr dirty="0"/>
          </a:p>
          <a:p>
            <a:r>
              <a:rPr dirty="0"/>
              <a:t>**Goal — description (NLSR, SR, ST)**:</a:t>
            </a:r>
          </a:p>
          <a:p>
            <a:endParaRPr dirty="0"/>
          </a:p>
          <a:p>
            <a:r>
              <a:rPr dirty="0"/>
              <a:t>```</a:t>
            </a:r>
          </a:p>
          <a:p>
            <a:r>
              <a:rPr dirty="0"/>
              <a:t>All algorithms and the sequence in which they were applied in the generation process are identified.</a:t>
            </a:r>
          </a:p>
          <a:p>
            <a:endParaRPr dirty="0"/>
          </a:p>
          <a:p>
            <a:r>
              <a:rPr dirty="0"/>
              <a:t>Algorithms must be published and validated, and a description of the validation process is included.</a:t>
            </a:r>
          </a:p>
          <a:p>
            <a:r>
              <a:rPr dirty="0"/>
              <a:t>```</a:t>
            </a:r>
          </a:p>
          <a:p>
            <a:endParaRPr dirty="0"/>
          </a:p>
          <a:p>
            <a:r>
              <a:rPr dirty="0"/>
              <a:t>INTERNAL NOTES:</a:t>
            </a:r>
          </a:p>
          <a:p>
            <a:r>
              <a:rPr dirty="0"/>
              <a:t>For DOI related discussions </a:t>
            </a:r>
            <a:r>
              <a:rPr lang="de-DE" dirty="0" err="1"/>
              <a:t>see</a:t>
            </a:r>
            <a:r>
              <a:rPr lang="de-DE" dirty="0"/>
              <a:t> "DOIs" </a:t>
            </a:r>
            <a:r>
              <a:rPr lang="de-DE" dirty="0" err="1"/>
              <a:t>slide</a:t>
            </a:r>
            <a:r>
              <a:rPr dirty="0"/>
              <a:t>.</a:t>
            </a:r>
          </a:p>
          <a:p>
            <a:endParaRPr dirty="0"/>
          </a:p>
          <a:p>
            <a:r>
              <a:rPr dirty="0"/>
              <a:t>ST agrees to adopt the AR requirement with swapped levels and without the note: with an uncertainty requirement at threshold, full provision of algorithm information is not required at threshold too, aiding commercial sector compliance (issue #55).</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PROPOSAL:</a:t>
            </a:r>
          </a:p>
          <a:p>
            <a:r>
              <a:rPr dirty="0"/>
              <a:t>**Threshold — description (NLSR, SR)**:</a:t>
            </a:r>
          </a:p>
          <a:p>
            <a:endParaRPr dirty="0"/>
          </a:p>
          <a:p>
            <a:r>
              <a:rPr dirty="0"/>
              <a:t>```</a:t>
            </a:r>
          </a:p>
          <a:p>
            <a:r>
              <a:rPr dirty="0"/>
              <a:t>Lists the sources of auxiliary data used in the generation process.</a:t>
            </a:r>
          </a:p>
          <a:p>
            <a:r>
              <a:rPr dirty="0"/>
              <a:t>```</a:t>
            </a:r>
          </a:p>
          <a:p>
            <a:endParaRPr dirty="0"/>
          </a:p>
          <a:p>
            <a:r>
              <a:rPr dirty="0"/>
              <a:t>**Threshold — notes (NLSR, SR)**:</a:t>
            </a:r>
          </a:p>
          <a:p>
            <a:endParaRPr dirty="0"/>
          </a:p>
          <a:p>
            <a:r>
              <a:rPr dirty="0"/>
              <a:t>```</a:t>
            </a:r>
          </a:p>
          <a:p>
            <a:r>
              <a:rPr dirty="0"/>
              <a:t>Auxiliary data includes DEMs, etc., and any additional data sources used in the generation of the product.</a:t>
            </a:r>
          </a:p>
          <a:p>
            <a:r>
              <a:rPr dirty="0"/>
              <a:t>```</a:t>
            </a:r>
          </a:p>
          <a:p>
            <a:endParaRPr dirty="0"/>
          </a:p>
          <a:p>
            <a:r>
              <a:rPr dirty="0"/>
              <a:t>**Goal — description (NLSR, SR)**:</a:t>
            </a:r>
          </a:p>
          <a:p>
            <a:endParaRPr dirty="0"/>
          </a:p>
          <a:p>
            <a:r>
              <a:rPr dirty="0"/>
              <a:t>```</a:t>
            </a:r>
          </a:p>
          <a:p>
            <a:r>
              <a:rPr dirty="0"/>
              <a:t>As threshold, but information on auxiliary data should be available for free online download, contemporaneously with the product or through a link to the source.</a:t>
            </a:r>
          </a:p>
          <a:p>
            <a:r>
              <a:rPr dirty="0"/>
              <a:t>```</a:t>
            </a:r>
          </a:p>
          <a:p>
            <a:endParaRPr dirty="0"/>
          </a:p>
          <a:p>
            <a:r>
              <a:rPr dirty="0"/>
              <a:t>INTERNAL NOTES:</a:t>
            </a:r>
          </a:p>
          <a:p>
            <a:r>
              <a:rPr dirty="0"/>
              <a:t>For DOI related discussions </a:t>
            </a:r>
            <a:r>
              <a:rPr lang="de-DE" dirty="0" err="1"/>
              <a:t>see</a:t>
            </a:r>
            <a:r>
              <a:rPr lang="de-DE" dirty="0"/>
              <a:t> "DOIs" </a:t>
            </a:r>
            <a:r>
              <a:rPr lang="de-DE" dirty="0" err="1"/>
              <a:t>slide</a:t>
            </a:r>
            <a:r>
              <a:rPr dirty="0"/>
              <a:t>.</a:t>
            </a:r>
          </a:p>
          <a:p>
            <a:endParaRPr dirty="0"/>
          </a:p>
          <a:p>
            <a:r>
              <a:rPr dirty="0"/>
              <a:t>The SAR variant only defines a goal; consider adding the aligned threshold requirement there as well.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PROPOSAL:</a:t>
            </a:r>
          </a:p>
          <a:p>
            <a:r>
              <a:t>**Title (CB, GSLC, INSAR, NRB, ORB, POL)**:</a:t>
            </a:r>
          </a:p>
          <a:p>
            <a:endParaRPr/>
          </a:p>
          <a:p>
            <a:r>
              <a:t>```</a:t>
            </a:r>
          </a:p>
          <a:p>
            <a:r>
              <a:t>Coordinate Reference System</a:t>
            </a:r>
          </a:p>
          <a:p>
            <a:r>
              <a:t>```</a:t>
            </a:r>
          </a:p>
          <a:p>
            <a:endParaRPr/>
          </a:p>
          <a:p>
            <a:r>
              <a:t>**Threshold — description (NLSR, SR, ST)**:</a:t>
            </a:r>
          </a:p>
          <a:p>
            <a:endParaRPr/>
          </a:p>
          <a:p>
            <a:r>
              <a:t>```</a:t>
            </a:r>
          </a:p>
          <a:p>
            <a:r>
              <a:t>The coordinate reference system that has been used is detailed.</a:t>
            </a:r>
          </a:p>
          <a:p>
            <a:r>
              <a:t>```</a:t>
            </a:r>
          </a:p>
          <a:p>
            <a:endParaRPr/>
          </a:p>
          <a:p>
            <a:r>
              <a:t>INTERNAL NOTES:</a:t>
            </a:r>
          </a:p>
          <a:p>
            <a:r>
              <a:t>The SAR variant additionally requires a standardised format (e.g., WKT) and the EPSG code — consider adopting this for the optical PFS in a future revision.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PROPOSAL:</a:t>
            </a:r>
          </a:p>
          <a:p>
            <a:r>
              <a:t>**Threshold — description (NLSR, SR)**:</a:t>
            </a:r>
          </a:p>
          <a:p>
            <a:endParaRPr/>
          </a:p>
          <a:p>
            <a:r>
              <a:t>```</a:t>
            </a:r>
          </a:p>
          <a:p>
            <a:r>
              <a:t>The map projection that has been used and any relevant parameters required in relation to use of data in that map projection is detailed.</a:t>
            </a:r>
          </a:p>
          <a:p>
            <a:r>
              <a:t>```</a:t>
            </a:r>
          </a:p>
          <a:p>
            <a:endParaRPr/>
          </a:p>
          <a:p>
            <a:r>
              <a:t>INTERNAL NOTES:</a:t>
            </a:r>
          </a:p>
          <a:p>
            <a:r>
              <a:t>Resolved: ST now uses the AR requirement directly (map-projection-st was removed). ST: it is unclear why the threshold became "Not Required" (introduced somewhere between v3.0 and v4.0); the ST team intends to adopt the AR PFS approach.</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PROPOSAL:</a:t>
            </a:r>
          </a:p>
          <a:p>
            <a:r>
              <a:rPr dirty="0"/>
              <a:t>**Goal — description (NLSR, SR)**:</a:t>
            </a:r>
          </a:p>
          <a:p>
            <a:endParaRPr dirty="0"/>
          </a:p>
          <a:p>
            <a:r>
              <a:rPr dirty="0"/>
              <a:t>```</a:t>
            </a:r>
          </a:p>
          <a:p>
            <a:r>
              <a:rPr dirty="0"/>
              <a:t>Information on geometric correction source and methods are provided, including reference database and auxiliary data such as elevation model(s) and reference chip-sets.</a:t>
            </a:r>
          </a:p>
          <a:p>
            <a:r>
              <a:rPr dirty="0"/>
              <a:t>```</a:t>
            </a:r>
          </a:p>
          <a:p>
            <a:endParaRPr dirty="0"/>
          </a:p>
          <a:p>
            <a:r>
              <a:rPr dirty="0"/>
              <a:t>INTERNAL NOTES:</a:t>
            </a:r>
          </a:p>
          <a:p>
            <a:r>
              <a:rPr dirty="0"/>
              <a:t>For DOI related discussions </a:t>
            </a:r>
            <a:r>
              <a:rPr lang="de-DE" dirty="0" err="1"/>
              <a:t>see</a:t>
            </a:r>
            <a:r>
              <a:rPr lang="de-DE" dirty="0"/>
              <a:t> "DOIs" </a:t>
            </a:r>
            <a:r>
              <a:rPr lang="de-DE" dirty="0" err="1"/>
              <a:t>slide</a:t>
            </a:r>
            <a:r>
              <a:rPr dirty="0"/>
              <a:t>.</a:t>
            </a:r>
          </a:p>
          <a:p>
            <a:endParaRPr dirty="0"/>
          </a:p>
          <a:p>
            <a:r>
              <a:rPr dirty="0"/>
              <a:t>Resolved for ST: it now uses the AR requirement directly (geometric-correction-methods-st was removed). ST team: agree to adopt the AR approach.</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PROPOSAL:</a:t>
            </a:r>
          </a:p>
          <a:p>
            <a:r>
              <a:rPr dirty="0"/>
              <a:t>**Threshold — description**:</a:t>
            </a:r>
          </a:p>
          <a:p>
            <a:endParaRPr dirty="0"/>
          </a:p>
          <a:p>
            <a:r>
              <a:rPr dirty="0"/>
              <a:t>```</a:t>
            </a:r>
          </a:p>
          <a:p>
            <a:r>
              <a:rPr dirty="0"/>
              <a:t>The instrument used to collect the data is identified:</a:t>
            </a:r>
          </a:p>
          <a:p>
            <a:endParaRPr dirty="0"/>
          </a:p>
          <a:p>
            <a:r>
              <a:rPr dirty="0"/>
              <a:t>- Satellite name</a:t>
            </a:r>
          </a:p>
          <a:p>
            <a:r>
              <a:rPr dirty="0"/>
              <a:t>- Instrument name</a:t>
            </a:r>
          </a:p>
          <a:p>
            <a:r>
              <a:rPr dirty="0"/>
              <a:t>```</a:t>
            </a:r>
          </a:p>
          <a:p>
            <a:endParaRPr dirty="0"/>
          </a:p>
          <a:p>
            <a:r>
              <a:rPr dirty="0"/>
              <a:t>**Goal — description**:</a:t>
            </a:r>
          </a:p>
          <a:p>
            <a:endParaRPr dirty="0"/>
          </a:p>
          <a:p>
            <a:r>
              <a:rPr dirty="0"/>
              <a:t>```</a:t>
            </a:r>
          </a:p>
          <a:p>
            <a:r>
              <a:rPr dirty="0"/>
              <a:t>As threshold, with references to the relevant CEOS Missions, Instruments, and Measurements (MIM) database record (https://ceos.org/mim-database).</a:t>
            </a:r>
          </a:p>
          <a:p>
            <a:r>
              <a:rPr dirty="0"/>
              <a:t>```</a:t>
            </a:r>
          </a:p>
          <a:p>
            <a:endParaRPr dirty="0"/>
          </a:p>
          <a:p>
            <a:r>
              <a:rPr dirty="0"/>
              <a:t>INTERNAL NOTES:</a:t>
            </a:r>
          </a:p>
          <a:p>
            <a:r>
              <a:rPr dirty="0"/>
              <a:t>For DOI related discussions </a:t>
            </a:r>
            <a:r>
              <a:rPr lang="de-DE" dirty="0" err="1"/>
              <a:t>see</a:t>
            </a:r>
            <a:r>
              <a:rPr lang="de-DE" dirty="0"/>
              <a:t> "DOIs" </a:t>
            </a:r>
            <a:r>
              <a:rPr lang="de-DE" dirty="0" err="1"/>
              <a:t>slide</a:t>
            </a:r>
            <a:r>
              <a:rPr dirty="0"/>
              <a:t>.</a:t>
            </a:r>
          </a:p>
          <a:p>
            <a:endParaRPr dirty="0"/>
          </a:p>
          <a:p>
            <a:r>
              <a:rPr dirty="0"/>
              <a:t>The MIM database URL (ceos.org/</a:t>
            </a:r>
            <a:r>
              <a:rPr dirty="0" err="1"/>
              <a:t>mim</a:t>
            </a:r>
            <a:r>
              <a:rPr dirty="0"/>
              <a:t>-database) supersedes the old database.eohandbook.com link used by AR.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PROPOSAL:</a:t>
            </a:r>
          </a:p>
          <a:p>
            <a:r>
              <a:t>**Threshold — description (AR, NLSR, SR, ST)**:</a:t>
            </a:r>
          </a:p>
          <a:p>
            <a:endParaRPr/>
          </a:p>
          <a:p>
            <a:r>
              <a:t>```</a:t>
            </a:r>
          </a:p>
          <a:p>
            <a:r>
              <a:t>Metadata is provided in a structure that enables a computer algorithm to be used to consistently and automatically identify and extract each component/variable for further use.</a:t>
            </a:r>
          </a:p>
          <a:p>
            <a:r>
              <a:t>```</a:t>
            </a:r>
          </a:p>
          <a:p>
            <a:endParaRPr/>
          </a:p>
          <a:p>
            <a:r>
              <a:t>**Goal — description (AR, NLSR, SR, ST)**:</a:t>
            </a:r>
          </a:p>
          <a:p>
            <a:endParaRPr/>
          </a:p>
          <a:p>
            <a:r>
              <a:t>```</a:t>
            </a:r>
          </a:p>
          <a:p>
            <a:r>
              <a:t>As threshold, but metadata should be provided in a community endorsed standard that facilitates machine-readability, such as ISO 19115-2, the Climate and Forecast (CF) convention, or the Attribute Convention for Data Discovery (ACDD).</a:t>
            </a:r>
          </a:p>
          <a:p>
            <a:r>
              <a:t>```</a:t>
            </a:r>
          </a:p>
          <a:p>
            <a:endParaRPr/>
          </a:p>
          <a:p>
            <a:r>
              <a:t>INTERNAL NOTES:</a:t>
            </a:r>
          </a:p>
          <a:p>
            <a:r>
              <a:t>The reference to the CEOS-ARD SAR Metadata Specifications remains specific to the SAR variant. The per-pixel variant has no goal — consider adding the same goal (optional) there for consistency.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PROPOSAL:</a:t>
            </a:r>
          </a:p>
          <a:p>
            <a:r>
              <a:rPr dirty="0"/>
              <a:t>**Goal — notes (NLSR, SR)**: Remove</a:t>
            </a:r>
          </a:p>
          <a:p>
            <a:endParaRPr dirty="0"/>
          </a:p>
          <a:p>
            <a:r>
              <a:rPr dirty="0"/>
              <a:t>INTERNAL NOTES:</a:t>
            </a:r>
          </a:p>
          <a:p>
            <a:r>
              <a:rPr dirty="0"/>
              <a:t>For DOI related discussions </a:t>
            </a:r>
            <a:r>
              <a:rPr lang="de-DE" dirty="0" err="1"/>
              <a:t>see</a:t>
            </a:r>
            <a:r>
              <a:rPr lang="de-DE" dirty="0"/>
              <a:t> "DOIs" </a:t>
            </a:r>
            <a:r>
              <a:rPr lang="de-DE" dirty="0" err="1"/>
              <a:t>slide</a:t>
            </a:r>
            <a:r>
              <a:rPr dirty="0"/>
              <a:t>.</a:t>
            </a:r>
          </a:p>
          <a:p>
            <a:endParaRPr dirty="0"/>
          </a:p>
          <a:p>
            <a:r>
              <a:rPr dirty="0"/>
              <a:t>ST dropped its radiometric accuracy requirement in ST 6.0 (the file was removed).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PROPOSAL:</a:t>
            </a:r>
          </a:p>
          <a:p>
            <a:r>
              <a:rPr dirty="0"/>
              <a:t>**Threshold — description**:</a:t>
            </a:r>
          </a:p>
          <a:p>
            <a:endParaRPr dirty="0"/>
          </a:p>
          <a:p>
            <a:r>
              <a:rPr dirty="0"/>
              <a:t>```</a:t>
            </a:r>
          </a:p>
          <a:p>
            <a:r>
              <a:rPr dirty="0"/>
              <a:t>Spectral response function and method of assessment is provided.</a:t>
            </a:r>
          </a:p>
          <a:p>
            <a:r>
              <a:rPr dirty="0"/>
              <a:t>```</a:t>
            </a:r>
          </a:p>
          <a:p>
            <a:endParaRPr dirty="0"/>
          </a:p>
          <a:p>
            <a:r>
              <a:rPr dirty="0"/>
              <a:t>**Goal — description (NLSR, SR)**: Remove</a:t>
            </a:r>
          </a:p>
          <a:p>
            <a:endParaRPr dirty="0"/>
          </a:p>
          <a:p>
            <a:r>
              <a:rPr dirty="0"/>
              <a:t>INTERNAL NOTES:</a:t>
            </a:r>
          </a:p>
          <a:p>
            <a:r>
              <a:rPr dirty="0"/>
              <a:t>For DOI related discussions </a:t>
            </a:r>
            <a:r>
              <a:rPr lang="de-DE" dirty="0" err="1"/>
              <a:t>see</a:t>
            </a:r>
            <a:r>
              <a:rPr lang="de-DE" dirty="0"/>
              <a:t> "DOIs" </a:t>
            </a:r>
            <a:r>
              <a:rPr lang="de-DE" dirty="0" err="1"/>
              <a:t>slide</a:t>
            </a:r>
            <a:r>
              <a:rPr dirty="0"/>
              <a:t>.</a:t>
            </a:r>
          </a:p>
          <a:p>
            <a:endParaRPr dirty="0"/>
          </a:p>
          <a:p>
            <a:r>
              <a:rPr dirty="0"/>
              <a:t>ST has proposed to adopt the AR PFS requirement.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735066D9-BC68-44EA-BCEC-AE7779B2CBF9}" type="slidenum">
              <a:rPr lang="de-DE" smtClean="0"/>
              <a:t>35</a:t>
            </a:fld>
            <a:endParaRPr lang="de-DE"/>
          </a:p>
        </p:txBody>
      </p:sp>
    </p:spTree>
    <p:extLst>
      <p:ext uri="{BB962C8B-B14F-4D97-AF65-F5344CB8AC3E}">
        <p14:creationId xmlns:p14="http://schemas.microsoft.com/office/powerpoint/2010/main" val="40903081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PROPOSAL:</a:t>
            </a:r>
          </a:p>
          <a:p>
            <a:r>
              <a:rPr dirty="0"/>
              <a:t>**Title (ST)**:</a:t>
            </a:r>
          </a:p>
          <a:p>
            <a:endParaRPr dirty="0"/>
          </a:p>
          <a:p>
            <a:r>
              <a:rPr dirty="0"/>
              <a:t>```</a:t>
            </a:r>
          </a:p>
          <a:p>
            <a:r>
              <a:rPr dirty="0"/>
              <a:t>Traceability</a:t>
            </a:r>
          </a:p>
          <a:p>
            <a:r>
              <a:rPr dirty="0"/>
              <a:t>```</a:t>
            </a:r>
          </a:p>
          <a:p>
            <a:endParaRPr dirty="0"/>
          </a:p>
          <a:p>
            <a:r>
              <a:rPr dirty="0"/>
              <a:t>**Goal — description (ST)**:</a:t>
            </a:r>
          </a:p>
          <a:p>
            <a:endParaRPr dirty="0"/>
          </a:p>
          <a:p>
            <a:r>
              <a:rPr dirty="0"/>
              <a:t>```</a:t>
            </a:r>
          </a:p>
          <a:p>
            <a:r>
              <a:rPr dirty="0"/>
              <a:t>Data must be traceable to SI reference standard.</a:t>
            </a:r>
          </a:p>
          <a:p>
            <a:r>
              <a:rPr dirty="0"/>
              <a:t>```</a:t>
            </a:r>
          </a:p>
          <a:p>
            <a:endParaRPr dirty="0"/>
          </a:p>
          <a:p>
            <a:r>
              <a:rPr dirty="0"/>
              <a:t>**Goal — notes (CB, GSLC, INSAR, NRB, ORB, POL, NLSR, SR)**: Remove the DOI landing page note</a:t>
            </a:r>
          </a:p>
          <a:p>
            <a:endParaRPr dirty="0"/>
          </a:p>
          <a:p>
            <a:r>
              <a:rPr dirty="0"/>
              <a:t>INTERNAL NOTES:</a:t>
            </a:r>
          </a:p>
          <a:p>
            <a:r>
              <a:rPr dirty="0"/>
              <a:t>For DOI related discussions </a:t>
            </a:r>
            <a:r>
              <a:rPr lang="de-DE" dirty="0" err="1"/>
              <a:t>see</a:t>
            </a:r>
            <a:r>
              <a:rPr lang="de-DE" dirty="0"/>
              <a:t> "DOIs" </a:t>
            </a:r>
            <a:r>
              <a:rPr lang="de-DE" dirty="0" err="1"/>
              <a:t>slide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PROPOSAL:</a:t>
            </a:r>
          </a:p>
          <a:p>
            <a:r>
              <a:rPr dirty="0"/>
              <a:t>**Threshold — description (AR, NLSR, SR)**:</a:t>
            </a:r>
          </a:p>
          <a:p>
            <a:endParaRPr dirty="0"/>
          </a:p>
          <a:p>
            <a:r>
              <a:rPr dirty="0"/>
              <a:t>```</a:t>
            </a:r>
          </a:p>
          <a:p>
            <a:r>
              <a:rPr dirty="0"/>
              <a:t>Specification of whether a pixel is cloud-affected.</a:t>
            </a:r>
          </a:p>
          <a:p>
            <a:r>
              <a:rPr dirty="0"/>
              <a:t>```</a:t>
            </a:r>
          </a:p>
          <a:p>
            <a:endParaRPr dirty="0"/>
          </a:p>
          <a:p>
            <a:r>
              <a:rPr dirty="0"/>
              <a:t>**Goal — description (AR, NLSR, SR)**:</a:t>
            </a:r>
          </a:p>
          <a:p>
            <a:endParaRPr dirty="0"/>
          </a:p>
          <a:p>
            <a:r>
              <a:rPr dirty="0"/>
              <a:t>```</a:t>
            </a:r>
          </a:p>
          <a:p>
            <a:r>
              <a:rPr dirty="0"/>
              <a:t>As threshold, but information on cloud type or confidence is included.</a:t>
            </a:r>
          </a:p>
          <a:p>
            <a:r>
              <a:rPr dirty="0"/>
              <a:t>```</a:t>
            </a:r>
          </a:p>
          <a:p>
            <a:endParaRPr dirty="0"/>
          </a:p>
          <a:p>
            <a:r>
              <a:rPr dirty="0"/>
              <a:t>INTERNAL NOTES:</a:t>
            </a:r>
          </a:p>
          <a:p>
            <a:r>
              <a:rPr dirty="0"/>
              <a:t>For DOI related discussions </a:t>
            </a:r>
            <a:r>
              <a:rPr lang="de-DE" dirty="0" err="1"/>
              <a:t>see</a:t>
            </a:r>
            <a:r>
              <a:rPr lang="de-DE" dirty="0"/>
              <a:t> "DOIs" </a:t>
            </a:r>
            <a:r>
              <a:rPr lang="de-DE" dirty="0" err="1"/>
              <a:t>slide</a:t>
            </a:r>
            <a:r>
              <a:rPr dirty="0"/>
              <a:t>.</a:t>
            </a:r>
          </a:p>
          <a:p>
            <a:endParaRPr dirty="0"/>
          </a:p>
          <a:p>
            <a:r>
              <a:rPr dirty="0"/>
              <a:t>Agreed to adopt the requirement with this simplified wording (matches the ST 6.0 texts; GitHub issue #112).</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PROPOSAL:</a:t>
            </a:r>
          </a:p>
          <a:p>
            <a:r>
              <a:rPr dirty="0"/>
              <a:t>**Threshold — description (NLSR)**:</a:t>
            </a:r>
          </a:p>
          <a:p>
            <a:endParaRPr dirty="0"/>
          </a:p>
          <a:p>
            <a:r>
              <a:rPr dirty="0"/>
              <a:t>```</a:t>
            </a:r>
          </a:p>
          <a:p>
            <a:r>
              <a:rPr dirty="0"/>
              <a:t>Specification of whether a pixel is land or water</a:t>
            </a:r>
          </a:p>
          <a:p>
            <a:r>
              <a:rPr dirty="0"/>
              <a:t>```</a:t>
            </a:r>
          </a:p>
          <a:p>
            <a:endParaRPr dirty="0"/>
          </a:p>
          <a:p>
            <a:r>
              <a:rPr dirty="0"/>
              <a:t>**Goal — description (NLSR)**:</a:t>
            </a:r>
          </a:p>
          <a:p>
            <a:endParaRPr dirty="0"/>
          </a:p>
          <a:p>
            <a:r>
              <a:rPr dirty="0"/>
              <a:t>```</a:t>
            </a:r>
          </a:p>
          <a:p>
            <a:r>
              <a:rPr dirty="0"/>
              <a:t>As threshold</a:t>
            </a:r>
          </a:p>
          <a:p>
            <a:r>
              <a:rPr dirty="0"/>
              <a:t>```</a:t>
            </a:r>
          </a:p>
          <a:p>
            <a:endParaRPr dirty="0"/>
          </a:p>
          <a:p>
            <a:r>
              <a:rPr dirty="0"/>
              <a:t>**Goal — description (SR)**:</a:t>
            </a:r>
          </a:p>
          <a:p>
            <a:endParaRPr dirty="0"/>
          </a:p>
          <a:p>
            <a:r>
              <a:rPr dirty="0"/>
              <a:t>```</a:t>
            </a:r>
          </a:p>
          <a:p>
            <a:r>
              <a:rPr dirty="0"/>
              <a:t>Specification of whether a pixel is land or water</a:t>
            </a:r>
          </a:p>
          <a:p>
            <a:r>
              <a:rPr dirty="0"/>
              <a:t>```</a:t>
            </a:r>
          </a:p>
          <a:p>
            <a:endParaRPr dirty="0"/>
          </a:p>
          <a:p>
            <a:r>
              <a:rPr dirty="0"/>
              <a:t>INTERNAL NOTES:</a:t>
            </a:r>
          </a:p>
          <a:p>
            <a:r>
              <a:rPr dirty="0"/>
              <a:t>For DOI related discussions </a:t>
            </a:r>
            <a:r>
              <a:rPr lang="de-DE" dirty="0" err="1"/>
              <a:t>see</a:t>
            </a:r>
            <a:r>
              <a:rPr lang="de-DE" dirty="0"/>
              <a:t> "DOIs" </a:t>
            </a:r>
            <a:r>
              <a:rPr lang="de-DE" dirty="0" err="1"/>
              <a:t>slide</a:t>
            </a:r>
            <a:r>
              <a:rPr dirty="0"/>
              <a:t>.</a:t>
            </a:r>
          </a:p>
          <a:p>
            <a:endParaRPr dirty="0"/>
          </a:p>
          <a:p>
            <a:r>
              <a:rPr dirty="0"/>
              <a:t>ST replaced its Snow/Ice requirement with a combined "Surface" requirement (threshold: land or water, including the information source and other relevant surface characteristic classification; goal: as threshold, plus snow or ice; external data sources listed under Auxiliary Data) — could be considered for the other optical PFS.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PROPOSAL:</a:t>
            </a:r>
          </a:p>
          <a:p>
            <a:r>
              <a:t>**Threshold — description (AR, NLSR, SR)**:</a:t>
            </a:r>
          </a:p>
          <a:p>
            <a:endParaRPr/>
          </a:p>
          <a:p>
            <a:r>
              <a:t>```</a:t>
            </a:r>
          </a:p>
          <a:p>
            <a:r>
              <a:t>Pixels that do not correspond to an observation (‘No Data / Invalid / Falsified / Valid / Modelled’) are flagged.</a:t>
            </a:r>
          </a:p>
          <a:p>
            <a:r>
              <a:t>```</a:t>
            </a:r>
          </a:p>
          <a:p>
            <a:endParaRPr/>
          </a:p>
          <a:p>
            <a:r>
              <a:t>**Goal — description (AR, NLSR, SR, ST)**:</a:t>
            </a:r>
          </a:p>
          <a:p>
            <a:endParaRPr/>
          </a:p>
          <a:p>
            <a:r>
              <a:t>```</a:t>
            </a:r>
          </a:p>
          <a:p>
            <a:r>
              <a:t>As threshold.</a:t>
            </a:r>
          </a:p>
          <a:p>
            <a:r>
              <a:t>```</a:t>
            </a:r>
          </a:p>
          <a:p>
            <a:endParaRPr/>
          </a:p>
          <a:p>
            <a:r>
              <a:t>INTERNAL NOTES:</a:t>
            </a:r>
          </a:p>
          <a:p>
            <a:r>
              <a:t>ST proposes all other optical PFS adopt the five-class flag wording, addressing Peter's comment in issue #4.</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PROPOSAL:</a:t>
            </a:r>
          </a:p>
          <a:p>
            <a:r>
              <a:t>**Threshold — description (NLSR, SR)**:</a:t>
            </a:r>
          </a:p>
          <a:p>
            <a:endParaRPr/>
          </a:p>
          <a:p>
            <a:r>
              <a:t>```</a:t>
            </a:r>
          </a:p>
          <a:p>
            <a:r>
              <a:t>Specification of whether there is pixel radiometric saturation at Level 1 in one or more spectral bands.</a:t>
            </a:r>
          </a:p>
          <a:p>
            <a:r>
              <a:t>```</a:t>
            </a:r>
          </a:p>
          <a:p>
            <a:endParaRPr/>
          </a:p>
          <a:p>
            <a:r>
              <a:t>**Goal — description (NLSR, SR)**:</a:t>
            </a:r>
          </a:p>
          <a:p>
            <a:endParaRPr/>
          </a:p>
          <a:p>
            <a:r>
              <a:t>```</a:t>
            </a:r>
          </a:p>
          <a:p>
            <a:r>
              <a:t>As threshold, with specification of which pixels are radiometrically saturated for each spectral band.</a:t>
            </a:r>
          </a:p>
          <a:p>
            <a:r>
              <a: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PROPOSAL:</a:t>
            </a:r>
          </a:p>
          <a:p>
            <a:r>
              <a:rPr dirty="0"/>
              <a:t>**Threshold — description (NLSR)**:</a:t>
            </a:r>
          </a:p>
          <a:p>
            <a:endParaRPr dirty="0"/>
          </a:p>
          <a:p>
            <a:r>
              <a:rPr dirty="0"/>
              <a:t>```</a:t>
            </a:r>
          </a:p>
          <a:p>
            <a:r>
              <a:rPr dirty="0"/>
              <a:t>Specification of whether a pixel is snow/ice</a:t>
            </a:r>
          </a:p>
          <a:p>
            <a:r>
              <a:rPr dirty="0"/>
              <a:t>```</a:t>
            </a:r>
          </a:p>
          <a:p>
            <a:endParaRPr dirty="0"/>
          </a:p>
          <a:p>
            <a:r>
              <a:rPr dirty="0"/>
              <a:t>**Goal — description (NLSR)**:</a:t>
            </a:r>
          </a:p>
          <a:p>
            <a:endParaRPr dirty="0"/>
          </a:p>
          <a:p>
            <a:r>
              <a:rPr dirty="0"/>
              <a:t>```</a:t>
            </a:r>
          </a:p>
          <a:p>
            <a:r>
              <a:rPr dirty="0"/>
              <a:t>As threshold</a:t>
            </a:r>
          </a:p>
          <a:p>
            <a:r>
              <a:rPr dirty="0"/>
              <a:t>```</a:t>
            </a:r>
          </a:p>
          <a:p>
            <a:endParaRPr dirty="0"/>
          </a:p>
          <a:p>
            <a:r>
              <a:rPr dirty="0"/>
              <a:t>**Goal — description (SR)**:</a:t>
            </a:r>
          </a:p>
          <a:p>
            <a:endParaRPr dirty="0"/>
          </a:p>
          <a:p>
            <a:r>
              <a:rPr dirty="0"/>
              <a:t>```</a:t>
            </a:r>
          </a:p>
          <a:p>
            <a:r>
              <a:rPr dirty="0"/>
              <a:t>Specification of whether a pixel is snow/ice</a:t>
            </a:r>
          </a:p>
          <a:p>
            <a:r>
              <a:rPr dirty="0"/>
              <a:t>```</a:t>
            </a:r>
          </a:p>
          <a:p>
            <a:endParaRPr dirty="0"/>
          </a:p>
          <a:p>
            <a:r>
              <a:rPr dirty="0"/>
              <a:t>INTERNAL NOTES:</a:t>
            </a:r>
          </a:p>
          <a:p>
            <a:r>
              <a:rPr dirty="0"/>
              <a:t>For DOI related discussions </a:t>
            </a:r>
            <a:r>
              <a:rPr lang="de-DE" dirty="0" err="1"/>
              <a:t>see</a:t>
            </a:r>
            <a:r>
              <a:rPr lang="de-DE" dirty="0"/>
              <a:t> "DOIs" </a:t>
            </a:r>
            <a:r>
              <a:rPr lang="de-DE" dirty="0" err="1"/>
              <a:t>slide</a:t>
            </a:r>
            <a:r>
              <a:rPr dirty="0"/>
              <a:t>.</a:t>
            </a:r>
          </a:p>
          <a:p>
            <a:endParaRPr dirty="0"/>
          </a:p>
          <a:p>
            <a:r>
              <a:rPr dirty="0"/>
              <a:t>ST replaced its Snow/Ice requirement with a combined "Surface" requirement (threshold: land or water, including the information source and other relevant surface characteristic classification; goal: as threshold, plus snow or ice) — could be considered for the other optical PFS.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PROPOSAL:</a:t>
            </a:r>
          </a:p>
          <a:p>
            <a:r>
              <a:t>**Goal — description (NLSR, SR, ST)**:</a:t>
            </a:r>
          </a:p>
          <a:p>
            <a:endParaRPr/>
          </a:p>
          <a:p>
            <a:r>
              <a:t>```</a:t>
            </a:r>
          </a:p>
          <a:p>
            <a:r>
              <a:t>Specification of whether pixels that are not visible to the sensor due to terrain occlusion during off-nadir viewing.</a:t>
            </a:r>
          </a:p>
          <a:p>
            <a:r>
              <a:t>```</a:t>
            </a:r>
          </a:p>
          <a:p>
            <a:endParaRPr/>
          </a:p>
          <a:p>
            <a:r>
              <a:t>INTERNAL NOTES:</a:t>
            </a:r>
          </a:p>
          <a:p>
            <a:r>
              <a:t>ST removed the threshold ("Not required.") — the requirement is now goal-only like the SR/NLSR variant.</a:t>
            </a:r>
          </a:p>
          <a:p>
            <a:endParaRPr/>
          </a:p>
          <a:p>
            <a:r>
              <a:t>Confirmed: Terrain Occlusion was introduced to the ST PFS with the initial pull request (hence visible in the draft but not in the released version). ST proposes to adopt the consistent wording proposed here.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PROPOSAL:</a:t>
            </a:r>
          </a:p>
          <a:p>
            <a:r>
              <a:t>**Threshold — description (SR, ST)**:</a:t>
            </a:r>
          </a:p>
          <a:p>
            <a:endParaRPr/>
          </a:p>
          <a:p>
            <a:r>
              <a:t>```</a:t>
            </a:r>
          </a:p>
          <a:p>
            <a:r>
              <a:t>Specification of the solar and sensor viewing azimuth and zenith angles.</a:t>
            </a:r>
          </a:p>
          <a:p>
            <a:r>
              <a:t>```</a:t>
            </a:r>
          </a:p>
          <a:p>
            <a:endParaRPr/>
          </a:p>
          <a:p>
            <a:r>
              <a:t>**Goal — description (SR, ST)**:</a:t>
            </a:r>
          </a:p>
          <a:p>
            <a:endParaRPr/>
          </a:p>
          <a:p>
            <a:r>
              <a:t>```</a:t>
            </a:r>
          </a:p>
          <a:p>
            <a:r>
              <a:t>Specification of the per-pixel solar and sensor viewing azimuth and zenith angles.</a:t>
            </a:r>
          </a:p>
          <a:p>
            <a:r>
              <a:t>```</a:t>
            </a:r>
          </a:p>
          <a:p>
            <a:endParaRPr/>
          </a:p>
          <a:p>
            <a:r>
              <a:t>INTERNAL NOTES:</a:t>
            </a:r>
          </a:p>
          <a:p>
            <a:r>
              <a:t>Proposal accepted by the ST team.</a:t>
            </a:r>
          </a:p>
          <a:p>
            <a:endParaRPr/>
          </a:p>
          <a:p>
            <a:r>
              <a:t>Providing the angles instead of average angles would be a breaking change — the averages may be intentional, since the per-pixel requirement may already contain all angles specifically per pixel. It is unclear what the difference between non-average and per-pixel angles would be.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slide" Target="slide16.xml"/><Relationship Id="rId13" Type="http://schemas.openxmlformats.org/officeDocument/2006/relationships/slide" Target="slide26.xml"/><Relationship Id="rId3" Type="http://schemas.openxmlformats.org/officeDocument/2006/relationships/slide" Target="slide7.xml"/><Relationship Id="rId7" Type="http://schemas.openxmlformats.org/officeDocument/2006/relationships/slide" Target="slide15.xml"/><Relationship Id="rId12" Type="http://schemas.openxmlformats.org/officeDocument/2006/relationships/slide" Target="slide24.xml"/><Relationship Id="rId17" Type="http://schemas.openxmlformats.org/officeDocument/2006/relationships/slide" Target="slide23.xml"/><Relationship Id="rId2" Type="http://schemas.openxmlformats.org/officeDocument/2006/relationships/slide" Target="slide6.xml"/><Relationship Id="rId16" Type="http://schemas.openxmlformats.org/officeDocument/2006/relationships/slide" Target="slide29.xml"/><Relationship Id="rId1" Type="http://schemas.openxmlformats.org/officeDocument/2006/relationships/slideLayout" Target="../slideLayouts/slideLayout7.xml"/><Relationship Id="rId6" Type="http://schemas.openxmlformats.org/officeDocument/2006/relationships/slide" Target="slide14.xml"/><Relationship Id="rId11" Type="http://schemas.openxmlformats.org/officeDocument/2006/relationships/slide" Target="slide22.xml"/><Relationship Id="rId5" Type="http://schemas.openxmlformats.org/officeDocument/2006/relationships/slide" Target="slide13.xml"/><Relationship Id="rId15" Type="http://schemas.openxmlformats.org/officeDocument/2006/relationships/slide" Target="slide28.xml"/><Relationship Id="rId10" Type="http://schemas.openxmlformats.org/officeDocument/2006/relationships/slide" Target="slide20.xml"/><Relationship Id="rId4" Type="http://schemas.openxmlformats.org/officeDocument/2006/relationships/slide" Target="slide8.xml"/><Relationship Id="rId9" Type="http://schemas.openxmlformats.org/officeDocument/2006/relationships/slide" Target="slide18.xml"/><Relationship Id="rId14" Type="http://schemas.openxmlformats.org/officeDocument/2006/relationships/slide" Target="slide27.xml"/></Relationships>
</file>

<file path=ppt/slides/_rels/slide3.xml.rels><?xml version="1.0" encoding="UTF-8" standalone="yes"?>
<Relationships xmlns="http://schemas.openxmlformats.org/package/2006/relationships"><Relationship Id="rId8" Type="http://schemas.openxmlformats.org/officeDocument/2006/relationships/slide" Target="slide40.xml"/><Relationship Id="rId13" Type="http://schemas.openxmlformats.org/officeDocument/2006/relationships/slide" Target="slide46.xml"/><Relationship Id="rId3" Type="http://schemas.openxmlformats.org/officeDocument/2006/relationships/slide" Target="slide31.xml"/><Relationship Id="rId7" Type="http://schemas.openxmlformats.org/officeDocument/2006/relationships/slide" Target="slide37.xml"/><Relationship Id="rId12" Type="http://schemas.openxmlformats.org/officeDocument/2006/relationships/slide" Target="slide45.xml"/><Relationship Id="rId17" Type="http://schemas.openxmlformats.org/officeDocument/2006/relationships/slide" Target="slide50.xml"/><Relationship Id="rId2" Type="http://schemas.openxmlformats.org/officeDocument/2006/relationships/slide" Target="slide30.xml"/><Relationship Id="rId16" Type="http://schemas.openxmlformats.org/officeDocument/2006/relationships/slide" Target="slide49.xml"/><Relationship Id="rId1" Type="http://schemas.openxmlformats.org/officeDocument/2006/relationships/slideLayout" Target="../slideLayouts/slideLayout7.xml"/><Relationship Id="rId6" Type="http://schemas.openxmlformats.org/officeDocument/2006/relationships/slide" Target="slide34.xml"/><Relationship Id="rId11" Type="http://schemas.openxmlformats.org/officeDocument/2006/relationships/slide" Target="slide43.xml"/><Relationship Id="rId5" Type="http://schemas.openxmlformats.org/officeDocument/2006/relationships/slide" Target="slide33.xml"/><Relationship Id="rId15" Type="http://schemas.openxmlformats.org/officeDocument/2006/relationships/slide" Target="slide48.xml"/><Relationship Id="rId10" Type="http://schemas.openxmlformats.org/officeDocument/2006/relationships/slide" Target="slide42.xml"/><Relationship Id="rId4" Type="http://schemas.openxmlformats.org/officeDocument/2006/relationships/slide" Target="slide32.xml"/><Relationship Id="rId9" Type="http://schemas.openxmlformats.org/officeDocument/2006/relationships/slide" Target="slide41.xml"/><Relationship Id="rId14" Type="http://schemas.openxmlformats.org/officeDocument/2006/relationships/slide" Target="slide4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377440"/>
            <a:ext cx="11277295" cy="2011680"/>
          </a:xfrm>
          <a:prstGeom prst="rect">
            <a:avLst/>
          </a:prstGeom>
          <a:noFill/>
        </p:spPr>
        <p:txBody>
          <a:bodyPr wrap="square">
            <a:spAutoFit/>
          </a:bodyPr>
          <a:lstStyle/>
          <a:p>
            <a:pPr algn="ctr"/>
            <a:r>
              <a:rPr sz="4000" b="1"/>
              <a:t>Differences between similar building blocks</a:t>
            </a:r>
          </a:p>
          <a:p>
            <a:pPr algn="ctr"/>
            <a:r>
              <a:rPr sz="1800">
                <a:solidFill>
                  <a:srgbClr val="808080"/>
                </a:solidFill>
              </a:rPr>
              <a:t>CEOS-ARD Product Family Specifications — current wording per PFS and alignment proposals from the review feedback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Contents (1/2)</a:t>
            </a:r>
          </a:p>
        </p:txBody>
      </p:sp>
      <p:graphicFrame>
        <p:nvGraphicFramePr>
          <p:cNvPr id="3" name="Table 2"/>
          <p:cNvGraphicFramePr>
            <a:graphicFrameLocks noGrp="1"/>
          </p:cNvGraphicFramePr>
          <p:nvPr>
            <p:extLst>
              <p:ext uri="{D42A27DB-BD31-4B8C-83A1-F6EECF244321}">
                <p14:modId xmlns:p14="http://schemas.microsoft.com/office/powerpoint/2010/main" val="2890607774"/>
              </p:ext>
            </p:extLst>
          </p:nvPr>
        </p:nvGraphicFramePr>
        <p:xfrm>
          <a:off x="457200" y="914400"/>
          <a:ext cx="11247112" cy="5102352"/>
        </p:xfrm>
        <a:graphic>
          <a:graphicData uri="http://schemas.openxmlformats.org/drawingml/2006/table">
            <a:tbl>
              <a:tblPr>
                <a:tableStyleId>{5C22544A-7EE6-4342-B048-85BDC9FD1C3A}</a:tableStyleId>
              </a:tblPr>
              <a:tblGrid>
                <a:gridCol w="4233672">
                  <a:extLst>
                    <a:ext uri="{9D8B030D-6E8A-4147-A177-3AD203B41FA5}">
                      <a16:colId xmlns:a16="http://schemas.microsoft.com/office/drawing/2014/main" val="20000"/>
                    </a:ext>
                  </a:extLst>
                </a:gridCol>
                <a:gridCol w="701344">
                  <a:extLst>
                    <a:ext uri="{9D8B030D-6E8A-4147-A177-3AD203B41FA5}">
                      <a16:colId xmlns:a16="http://schemas.microsoft.com/office/drawing/2014/main" val="20001"/>
                    </a:ext>
                  </a:extLst>
                </a:gridCol>
                <a:gridCol w="701344">
                  <a:extLst>
                    <a:ext uri="{9D8B030D-6E8A-4147-A177-3AD203B41FA5}">
                      <a16:colId xmlns:a16="http://schemas.microsoft.com/office/drawing/2014/main" val="20002"/>
                    </a:ext>
                  </a:extLst>
                </a:gridCol>
                <a:gridCol w="701344">
                  <a:extLst>
                    <a:ext uri="{9D8B030D-6E8A-4147-A177-3AD203B41FA5}">
                      <a16:colId xmlns:a16="http://schemas.microsoft.com/office/drawing/2014/main" val="20003"/>
                    </a:ext>
                  </a:extLst>
                </a:gridCol>
                <a:gridCol w="701344">
                  <a:extLst>
                    <a:ext uri="{9D8B030D-6E8A-4147-A177-3AD203B41FA5}">
                      <a16:colId xmlns:a16="http://schemas.microsoft.com/office/drawing/2014/main" val="20004"/>
                    </a:ext>
                  </a:extLst>
                </a:gridCol>
                <a:gridCol w="701344">
                  <a:extLst>
                    <a:ext uri="{9D8B030D-6E8A-4147-A177-3AD203B41FA5}">
                      <a16:colId xmlns:a16="http://schemas.microsoft.com/office/drawing/2014/main" val="20005"/>
                    </a:ext>
                  </a:extLst>
                </a:gridCol>
                <a:gridCol w="701344">
                  <a:extLst>
                    <a:ext uri="{9D8B030D-6E8A-4147-A177-3AD203B41FA5}">
                      <a16:colId xmlns:a16="http://schemas.microsoft.com/office/drawing/2014/main" val="20006"/>
                    </a:ext>
                  </a:extLst>
                </a:gridCol>
                <a:gridCol w="701344">
                  <a:extLst>
                    <a:ext uri="{9D8B030D-6E8A-4147-A177-3AD203B41FA5}">
                      <a16:colId xmlns:a16="http://schemas.microsoft.com/office/drawing/2014/main" val="20007"/>
                    </a:ext>
                  </a:extLst>
                </a:gridCol>
                <a:gridCol w="701344">
                  <a:extLst>
                    <a:ext uri="{9D8B030D-6E8A-4147-A177-3AD203B41FA5}">
                      <a16:colId xmlns:a16="http://schemas.microsoft.com/office/drawing/2014/main" val="20008"/>
                    </a:ext>
                  </a:extLst>
                </a:gridCol>
                <a:gridCol w="701344">
                  <a:extLst>
                    <a:ext uri="{9D8B030D-6E8A-4147-A177-3AD203B41FA5}">
                      <a16:colId xmlns:a16="http://schemas.microsoft.com/office/drawing/2014/main" val="20009"/>
                    </a:ext>
                  </a:extLst>
                </a:gridCol>
                <a:gridCol w="701344">
                  <a:extLst>
                    <a:ext uri="{9D8B030D-6E8A-4147-A177-3AD203B41FA5}">
                      <a16:colId xmlns:a16="http://schemas.microsoft.com/office/drawing/2014/main" val="20010"/>
                    </a:ext>
                  </a:extLst>
                </a:gridCol>
              </a:tblGrid>
              <a:tr h="274320">
                <a:tc>
                  <a:txBody>
                    <a:bodyPr/>
                    <a:lstStyle/>
                    <a:p>
                      <a:r>
                        <a:rPr sz="1100" b="1">
                          <a:solidFill>
                            <a:srgbClr val="FFFFFF"/>
                          </a:solidFill>
                        </a:rPr>
                        <a:t>Requirement</a:t>
                      </a:r>
                    </a:p>
                  </a:txBody>
                  <a:tcPr marL="27432" marR="27432" marT="27432" marB="27432">
                    <a:solidFill>
                      <a:srgbClr val="000000"/>
                    </a:solidFill>
                  </a:tcPr>
                </a:tc>
                <a:tc>
                  <a:txBody>
                    <a:bodyPr/>
                    <a:lstStyle/>
                    <a:p>
                      <a:pPr algn="ctr"/>
                      <a:r>
                        <a:rPr sz="1100" b="1">
                          <a:solidFill>
                            <a:srgbClr val="FFFFFF"/>
                          </a:solidFill>
                        </a:rPr>
                        <a:t>AR</a:t>
                      </a:r>
                    </a:p>
                  </a:txBody>
                  <a:tcPr marL="27432" marR="27432" marT="27432" marB="27432">
                    <a:solidFill>
                      <a:srgbClr val="000000"/>
                    </a:solidFill>
                  </a:tcPr>
                </a:tc>
                <a:tc>
                  <a:txBody>
                    <a:bodyPr/>
                    <a:lstStyle/>
                    <a:p>
                      <a:pPr algn="ctr"/>
                      <a:r>
                        <a:rPr sz="1100" b="1">
                          <a:solidFill>
                            <a:srgbClr val="FFFFFF"/>
                          </a:solidFill>
                        </a:rPr>
                        <a:t>NLSR</a:t>
                      </a:r>
                    </a:p>
                  </a:txBody>
                  <a:tcPr marL="27432" marR="27432" marT="27432" marB="27432">
                    <a:solidFill>
                      <a:srgbClr val="000000"/>
                    </a:solidFill>
                  </a:tcPr>
                </a:tc>
                <a:tc>
                  <a:txBody>
                    <a:bodyPr/>
                    <a:lstStyle/>
                    <a:p>
                      <a:pPr algn="ctr"/>
                      <a:r>
                        <a:rPr sz="1100" b="1">
                          <a:solidFill>
                            <a:srgbClr val="FFFFFF"/>
                          </a:solidFill>
                        </a:rPr>
                        <a:t>SR</a:t>
                      </a:r>
                    </a:p>
                  </a:txBody>
                  <a:tcPr marL="27432" marR="27432" marT="27432" marB="27432">
                    <a:solidFill>
                      <a:srgbClr val="000000"/>
                    </a:solidFill>
                  </a:tcPr>
                </a:tc>
                <a:tc>
                  <a:txBody>
                    <a:bodyPr/>
                    <a:lstStyle/>
                    <a:p>
                      <a:pPr algn="ctr"/>
                      <a:r>
                        <a:rPr sz="1100" b="1">
                          <a:solidFill>
                            <a:srgbClr val="FFFFFF"/>
                          </a:solidFill>
                        </a:rPr>
                        <a:t>ST</a:t>
                      </a:r>
                    </a:p>
                  </a:txBody>
                  <a:tcPr marL="27432" marR="27432" marT="27432" marB="27432">
                    <a:solidFill>
                      <a:srgbClr val="000000"/>
                    </a:solidFill>
                  </a:tcPr>
                </a:tc>
                <a:tc>
                  <a:txBody>
                    <a:bodyPr/>
                    <a:lstStyle/>
                    <a:p>
                      <a:pPr algn="ctr"/>
                      <a:r>
                        <a:rPr sz="1100" b="1">
                          <a:solidFill>
                            <a:srgbClr val="FFFFFF"/>
                          </a:solidFill>
                        </a:rPr>
                        <a:t>CB</a:t>
                      </a:r>
                    </a:p>
                  </a:txBody>
                  <a:tcPr marL="27432" marR="27432" marT="27432" marB="27432">
                    <a:solidFill>
                      <a:srgbClr val="000000"/>
                    </a:solidFill>
                  </a:tcPr>
                </a:tc>
                <a:tc>
                  <a:txBody>
                    <a:bodyPr/>
                    <a:lstStyle/>
                    <a:p>
                      <a:pPr algn="ctr"/>
                      <a:r>
                        <a:rPr sz="1100" b="1">
                          <a:solidFill>
                            <a:srgbClr val="FFFFFF"/>
                          </a:solidFill>
                        </a:rPr>
                        <a:t>GSLC</a:t>
                      </a:r>
                    </a:p>
                  </a:txBody>
                  <a:tcPr marL="27432" marR="27432" marT="27432" marB="27432">
                    <a:solidFill>
                      <a:srgbClr val="000000"/>
                    </a:solidFill>
                  </a:tcPr>
                </a:tc>
                <a:tc>
                  <a:txBody>
                    <a:bodyPr/>
                    <a:lstStyle/>
                    <a:p>
                      <a:pPr algn="ctr"/>
                      <a:r>
                        <a:rPr sz="1100" b="1">
                          <a:solidFill>
                            <a:srgbClr val="FFFFFF"/>
                          </a:solidFill>
                        </a:rPr>
                        <a:t>INSAR</a:t>
                      </a:r>
                    </a:p>
                  </a:txBody>
                  <a:tcPr marL="27432" marR="27432" marT="27432" marB="27432">
                    <a:solidFill>
                      <a:srgbClr val="000000"/>
                    </a:solidFill>
                  </a:tcPr>
                </a:tc>
                <a:tc>
                  <a:txBody>
                    <a:bodyPr/>
                    <a:lstStyle/>
                    <a:p>
                      <a:pPr algn="ctr"/>
                      <a:r>
                        <a:rPr sz="1100" b="1">
                          <a:solidFill>
                            <a:srgbClr val="FFFFFF"/>
                          </a:solidFill>
                        </a:rPr>
                        <a:t>NRB</a:t>
                      </a:r>
                    </a:p>
                  </a:txBody>
                  <a:tcPr marL="27432" marR="27432" marT="27432" marB="27432">
                    <a:solidFill>
                      <a:srgbClr val="000000"/>
                    </a:solidFill>
                  </a:tcPr>
                </a:tc>
                <a:tc>
                  <a:txBody>
                    <a:bodyPr/>
                    <a:lstStyle/>
                    <a:p>
                      <a:pPr algn="ctr"/>
                      <a:r>
                        <a:rPr sz="1100" b="1">
                          <a:solidFill>
                            <a:srgbClr val="FFFFFF"/>
                          </a:solidFill>
                        </a:rPr>
                        <a:t>ORB</a:t>
                      </a:r>
                    </a:p>
                  </a:txBody>
                  <a:tcPr marL="27432" marR="27432" marT="27432" marB="27432">
                    <a:solidFill>
                      <a:srgbClr val="000000"/>
                    </a:solidFill>
                  </a:tcPr>
                </a:tc>
                <a:tc>
                  <a:txBody>
                    <a:bodyPr/>
                    <a:lstStyle/>
                    <a:p>
                      <a:pPr algn="ctr"/>
                      <a:r>
                        <a:rPr sz="1100" b="1">
                          <a:solidFill>
                            <a:srgbClr val="FFFFFF"/>
                          </a:solidFill>
                        </a:rPr>
                        <a:t>POL</a:t>
                      </a:r>
                    </a:p>
                  </a:txBody>
                  <a:tcPr marL="27432" marR="27432" marT="27432" marB="27432">
                    <a:solidFill>
                      <a:srgbClr val="000000"/>
                    </a:solidFill>
                  </a:tcPr>
                </a:tc>
                <a:extLst>
                  <a:ext uri="{0D108BD9-81ED-4DB2-BD59-A6C34878D82A}">
                    <a16:rowId xmlns:a16="http://schemas.microsoft.com/office/drawing/2014/main" val="10000"/>
                  </a:ext>
                </a:extLst>
              </a:tr>
              <a:tr h="256032">
                <a:tc>
                  <a:txBody>
                    <a:bodyPr/>
                    <a:lstStyle/>
                    <a:p>
                      <a:r>
                        <a:rPr sz="1100">
                          <a:hlinkClick r:id="rId2" action="ppaction://hlinksldjump"/>
                        </a:rPr>
                        <a:t>corrections/atmosphere-*</a:t>
                      </a: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extLst>
                  <a:ext uri="{0D108BD9-81ED-4DB2-BD59-A6C34878D82A}">
                    <a16:rowId xmlns:a16="http://schemas.microsoft.com/office/drawing/2014/main" val="10001"/>
                  </a:ext>
                </a:extLst>
              </a:tr>
              <a:tr h="256032">
                <a:tc>
                  <a:txBody>
                    <a:bodyPr/>
                    <a:lstStyle/>
                    <a:p>
                      <a:r>
                        <a:rPr sz="1100">
                          <a:hlinkClick r:id="rId3" action="ppaction://hlinksldjump"/>
                        </a:rPr>
                        <a:t>Directional Atmospheric Scattering</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extLst>
                  <a:ext uri="{0D108BD9-81ED-4DB2-BD59-A6C34878D82A}">
                    <a16:rowId xmlns:a16="http://schemas.microsoft.com/office/drawing/2014/main" val="10002"/>
                  </a:ext>
                </a:extLst>
              </a:tr>
              <a:tr h="256032">
                <a:tc>
                  <a:txBody>
                    <a:bodyPr/>
                    <a:lstStyle/>
                    <a:p>
                      <a:r>
                        <a:rPr sz="1100">
                          <a:hlinkClick r:id="rId4" action="ppaction://hlinksldjump"/>
                        </a:rPr>
                        <a:t>Geometric Correction</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extLst>
                  <a:ext uri="{0D108BD9-81ED-4DB2-BD59-A6C34878D82A}">
                    <a16:rowId xmlns:a16="http://schemas.microsoft.com/office/drawing/2014/main" val="10003"/>
                  </a:ext>
                </a:extLst>
              </a:tr>
              <a:tr h="256032">
                <a:tc>
                  <a:txBody>
                    <a:bodyPr/>
                    <a:lstStyle/>
                    <a:p>
                      <a:r>
                        <a:rPr sz="1100">
                          <a:hlinkClick r:id="rId5" action="ppaction://hlinksldjump"/>
                        </a:rPr>
                        <a:t>Ozone Corrections</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extLst>
                  <a:ext uri="{0D108BD9-81ED-4DB2-BD59-A6C34878D82A}">
                    <a16:rowId xmlns:a16="http://schemas.microsoft.com/office/drawing/2014/main" val="10004"/>
                  </a:ext>
                </a:extLst>
              </a:tr>
              <a:tr h="256032">
                <a:tc>
                  <a:txBody>
                    <a:bodyPr/>
                    <a:lstStyle/>
                    <a:p>
                      <a:r>
                        <a:rPr sz="1100">
                          <a:hlinkClick r:id="rId6" action="ppaction://hlinksldjump"/>
                        </a:rPr>
                        <a:t>Water Vapour Corrections</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extLst>
                  <a:ext uri="{0D108BD9-81ED-4DB2-BD59-A6C34878D82A}">
                    <a16:rowId xmlns:a16="http://schemas.microsoft.com/office/drawing/2014/main" val="10005"/>
                  </a:ext>
                </a:extLst>
              </a:tr>
              <a:tr h="256032">
                <a:tc>
                  <a:txBody>
                    <a:bodyPr/>
                    <a:lstStyle/>
                    <a:p>
                      <a:r>
                        <a:rPr sz="1100" dirty="0">
                          <a:hlinkClick r:id="rId7" action="ppaction://hlinksldjump"/>
                        </a:rPr>
                        <a:t>Measurement </a:t>
                      </a:r>
                      <a:r>
                        <a:rPr sz="1100" dirty="0" err="1">
                          <a:hlinkClick r:id="rId7" action="ppaction://hlinksldjump"/>
                        </a:rPr>
                        <a:t>Normalisation</a:t>
                      </a:r>
                      <a:endParaRPr sz="1100" dirty="0">
                        <a:hlinkClick r:id="rId7" action="ppaction://hlinksldjump"/>
                      </a:endParaRP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extLst>
                  <a:ext uri="{0D108BD9-81ED-4DB2-BD59-A6C34878D82A}">
                    <a16:rowId xmlns:a16="http://schemas.microsoft.com/office/drawing/2014/main" val="10006"/>
                  </a:ext>
                </a:extLst>
              </a:tr>
              <a:tr h="256032">
                <a:tc>
                  <a:txBody>
                    <a:bodyPr/>
                    <a:lstStyle/>
                    <a:p>
                      <a:r>
                        <a:rPr sz="1100" dirty="0">
                          <a:hlinkClick r:id="rId8" action="ppaction://hlinksldjump"/>
                        </a:rPr>
                        <a:t>Measurement Uncertainty</a:t>
                      </a:r>
                      <a:endParaRPr sz="1100" dirty="0">
                        <a:hlinkClick r:id="rId8" action="ppaction://hlinksldjump"/>
                      </a:endParaRP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extLst>
                  <a:ext uri="{0D108BD9-81ED-4DB2-BD59-A6C34878D82A}">
                    <a16:rowId xmlns:a16="http://schemas.microsoft.com/office/drawing/2014/main" val="10007"/>
                  </a:ext>
                </a:extLst>
              </a:tr>
              <a:tr h="256032">
                <a:tc>
                  <a:txBody>
                    <a:bodyPr/>
                    <a:lstStyle/>
                    <a:p>
                      <a:r>
                        <a:rPr sz="1100">
                          <a:hlinkClick r:id="rId9" action="ppaction://hlinksldjump"/>
                        </a:rPr>
                        <a:t>Algorithms</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extLst>
                  <a:ext uri="{0D108BD9-81ED-4DB2-BD59-A6C34878D82A}">
                    <a16:rowId xmlns:a16="http://schemas.microsoft.com/office/drawing/2014/main" val="10008"/>
                  </a:ext>
                </a:extLst>
              </a:tr>
              <a:tr h="256032">
                <a:tc>
                  <a:txBody>
                    <a:bodyPr/>
                    <a:lstStyle/>
                    <a:p>
                      <a:r>
                        <a:rPr sz="1100">
                          <a:hlinkClick r:id="rId10" action="ppaction://hlinksldjump"/>
                        </a:rPr>
                        <a:t>Auxiliary Data</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extLst>
                  <a:ext uri="{0D108BD9-81ED-4DB2-BD59-A6C34878D82A}">
                    <a16:rowId xmlns:a16="http://schemas.microsoft.com/office/drawing/2014/main" val="10009"/>
                  </a:ext>
                </a:extLst>
              </a:tr>
              <a:tr h="256032">
                <a:tc>
                  <a:txBody>
                    <a:bodyPr/>
                    <a:lstStyle/>
                    <a:p>
                      <a:r>
                        <a:rPr sz="1100">
                          <a:hlinkClick r:id="rId11" action="ppaction://hlinksldjump"/>
                        </a:rPr>
                        <a:t>metadata/crs-*</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extLst>
                  <a:ext uri="{0D108BD9-81ED-4DB2-BD59-A6C34878D82A}">
                    <a16:rowId xmlns:a16="http://schemas.microsoft.com/office/drawing/2014/main" val="10010"/>
                  </a:ext>
                </a:extLst>
              </a:tr>
              <a:tr h="256032">
                <a:tc>
                  <a:txBody>
                    <a:bodyPr/>
                    <a:lstStyle/>
                    <a:p>
                      <a:r>
                        <a:rPr sz="1100">
                          <a:hlinkClick r:id="rId12" action="ppaction://hlinksldjump"/>
                        </a:rPr>
                        <a:t>metadata/data-access-*</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extLst>
                  <a:ext uri="{0D108BD9-81ED-4DB2-BD59-A6C34878D82A}">
                    <a16:rowId xmlns:a16="http://schemas.microsoft.com/office/drawing/2014/main" val="10011"/>
                  </a:ext>
                </a:extLst>
              </a:tr>
              <a:tr h="256032">
                <a:tc>
                  <a:txBody>
                    <a:bodyPr/>
                    <a:lstStyle/>
                    <a:p>
                      <a:r>
                        <a:rPr sz="1100">
                          <a:hlinkClick r:id="rId13" action="ppaction://hlinksldjump"/>
                        </a:rPr>
                        <a:t>metadata/geo-area-*</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extLst>
                  <a:ext uri="{0D108BD9-81ED-4DB2-BD59-A6C34878D82A}">
                    <a16:rowId xmlns:a16="http://schemas.microsoft.com/office/drawing/2014/main" val="10012"/>
                  </a:ext>
                </a:extLst>
              </a:tr>
              <a:tr h="256032">
                <a:tc>
                  <a:txBody>
                    <a:bodyPr/>
                    <a:lstStyle/>
                    <a:p>
                      <a:r>
                        <a:rPr sz="1100">
                          <a:hlinkClick r:id="rId14" action="ppaction://hlinksldjump"/>
                        </a:rPr>
                        <a:t>Geometric Correction Methods</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extLst>
                  <a:ext uri="{0D108BD9-81ED-4DB2-BD59-A6C34878D82A}">
                    <a16:rowId xmlns:a16="http://schemas.microsoft.com/office/drawing/2014/main" val="10013"/>
                  </a:ext>
                </a:extLst>
              </a:tr>
              <a:tr h="256032">
                <a:tc>
                  <a:txBody>
                    <a:bodyPr/>
                    <a:lstStyle/>
                    <a:p>
                      <a:r>
                        <a:rPr sz="1100">
                          <a:hlinkClick r:id="rId15" action="ppaction://hlinksldjump"/>
                        </a:rPr>
                        <a:t>Instrument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extLst>
                  <a:ext uri="{0D108BD9-81ED-4DB2-BD59-A6C34878D82A}">
                    <a16:rowId xmlns:a16="http://schemas.microsoft.com/office/drawing/2014/main" val="10014"/>
                  </a:ext>
                </a:extLst>
              </a:tr>
              <a:tr h="256032">
                <a:tc>
                  <a:txBody>
                    <a:bodyPr/>
                    <a:lstStyle/>
                    <a:p>
                      <a:r>
                        <a:rPr sz="1100">
                          <a:hlinkClick r:id="rId16" action="ppaction://hlinksldjump"/>
                        </a:rPr>
                        <a:t>Metadata Machine Readability</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extLst>
                  <a:ext uri="{0D108BD9-81ED-4DB2-BD59-A6C34878D82A}">
                    <a16:rowId xmlns:a16="http://schemas.microsoft.com/office/drawing/2014/main" val="10015"/>
                  </a:ext>
                </a:extLst>
              </a:tr>
              <a:tr h="256032">
                <a:tc>
                  <a:txBody>
                    <a:bodyPr/>
                    <a:lstStyle/>
                    <a:p>
                      <a:r>
                        <a:rPr sz="1100">
                          <a:hlinkClick r:id="rId17" action="ppaction://hlinksldjump"/>
                        </a:rPr>
                        <a:t>Map Projection</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dirty="0"/>
                    </a:p>
                  </a:txBody>
                  <a:tcPr marL="27432" marR="27432" marT="27432" marB="27432">
                    <a:solidFill>
                      <a:srgbClr val="F2F2F2"/>
                    </a:solidFill>
                  </a:tcPr>
                </a:tc>
                <a:extLst>
                  <a:ext uri="{0D108BD9-81ED-4DB2-BD59-A6C34878D82A}">
                    <a16:rowId xmlns:a16="http://schemas.microsoft.com/office/drawing/2014/main" val="10016"/>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Contents (2/2)</a:t>
            </a:r>
          </a:p>
        </p:txBody>
      </p:sp>
      <p:graphicFrame>
        <p:nvGraphicFramePr>
          <p:cNvPr id="3" name="Table 2"/>
          <p:cNvGraphicFramePr>
            <a:graphicFrameLocks noGrp="1"/>
          </p:cNvGraphicFramePr>
          <p:nvPr>
            <p:extLst>
              <p:ext uri="{D42A27DB-BD31-4B8C-83A1-F6EECF244321}">
                <p14:modId xmlns:p14="http://schemas.microsoft.com/office/powerpoint/2010/main" val="135865374"/>
              </p:ext>
            </p:extLst>
          </p:nvPr>
        </p:nvGraphicFramePr>
        <p:xfrm>
          <a:off x="457200" y="914400"/>
          <a:ext cx="11247112" cy="5321808"/>
        </p:xfrm>
        <a:graphic>
          <a:graphicData uri="http://schemas.openxmlformats.org/drawingml/2006/table">
            <a:tbl>
              <a:tblPr>
                <a:tableStyleId>{5C22544A-7EE6-4342-B048-85BDC9FD1C3A}</a:tableStyleId>
              </a:tblPr>
              <a:tblGrid>
                <a:gridCol w="4233672">
                  <a:extLst>
                    <a:ext uri="{9D8B030D-6E8A-4147-A177-3AD203B41FA5}">
                      <a16:colId xmlns:a16="http://schemas.microsoft.com/office/drawing/2014/main" val="20000"/>
                    </a:ext>
                  </a:extLst>
                </a:gridCol>
                <a:gridCol w="701344">
                  <a:extLst>
                    <a:ext uri="{9D8B030D-6E8A-4147-A177-3AD203B41FA5}">
                      <a16:colId xmlns:a16="http://schemas.microsoft.com/office/drawing/2014/main" val="20001"/>
                    </a:ext>
                  </a:extLst>
                </a:gridCol>
                <a:gridCol w="701344">
                  <a:extLst>
                    <a:ext uri="{9D8B030D-6E8A-4147-A177-3AD203B41FA5}">
                      <a16:colId xmlns:a16="http://schemas.microsoft.com/office/drawing/2014/main" val="20002"/>
                    </a:ext>
                  </a:extLst>
                </a:gridCol>
                <a:gridCol w="701344">
                  <a:extLst>
                    <a:ext uri="{9D8B030D-6E8A-4147-A177-3AD203B41FA5}">
                      <a16:colId xmlns:a16="http://schemas.microsoft.com/office/drawing/2014/main" val="20003"/>
                    </a:ext>
                  </a:extLst>
                </a:gridCol>
                <a:gridCol w="701344">
                  <a:extLst>
                    <a:ext uri="{9D8B030D-6E8A-4147-A177-3AD203B41FA5}">
                      <a16:colId xmlns:a16="http://schemas.microsoft.com/office/drawing/2014/main" val="20004"/>
                    </a:ext>
                  </a:extLst>
                </a:gridCol>
                <a:gridCol w="701344">
                  <a:extLst>
                    <a:ext uri="{9D8B030D-6E8A-4147-A177-3AD203B41FA5}">
                      <a16:colId xmlns:a16="http://schemas.microsoft.com/office/drawing/2014/main" val="20005"/>
                    </a:ext>
                  </a:extLst>
                </a:gridCol>
                <a:gridCol w="701344">
                  <a:extLst>
                    <a:ext uri="{9D8B030D-6E8A-4147-A177-3AD203B41FA5}">
                      <a16:colId xmlns:a16="http://schemas.microsoft.com/office/drawing/2014/main" val="20006"/>
                    </a:ext>
                  </a:extLst>
                </a:gridCol>
                <a:gridCol w="701344">
                  <a:extLst>
                    <a:ext uri="{9D8B030D-6E8A-4147-A177-3AD203B41FA5}">
                      <a16:colId xmlns:a16="http://schemas.microsoft.com/office/drawing/2014/main" val="20007"/>
                    </a:ext>
                  </a:extLst>
                </a:gridCol>
                <a:gridCol w="701344">
                  <a:extLst>
                    <a:ext uri="{9D8B030D-6E8A-4147-A177-3AD203B41FA5}">
                      <a16:colId xmlns:a16="http://schemas.microsoft.com/office/drawing/2014/main" val="20008"/>
                    </a:ext>
                  </a:extLst>
                </a:gridCol>
                <a:gridCol w="701344">
                  <a:extLst>
                    <a:ext uri="{9D8B030D-6E8A-4147-A177-3AD203B41FA5}">
                      <a16:colId xmlns:a16="http://schemas.microsoft.com/office/drawing/2014/main" val="20009"/>
                    </a:ext>
                  </a:extLst>
                </a:gridCol>
                <a:gridCol w="701344">
                  <a:extLst>
                    <a:ext uri="{9D8B030D-6E8A-4147-A177-3AD203B41FA5}">
                      <a16:colId xmlns:a16="http://schemas.microsoft.com/office/drawing/2014/main" val="20010"/>
                    </a:ext>
                  </a:extLst>
                </a:gridCol>
              </a:tblGrid>
              <a:tr h="274320">
                <a:tc>
                  <a:txBody>
                    <a:bodyPr/>
                    <a:lstStyle/>
                    <a:p>
                      <a:r>
                        <a:rPr sz="1100" b="1" dirty="0">
                          <a:solidFill>
                            <a:srgbClr val="FFFFFF"/>
                          </a:solidFill>
                        </a:rPr>
                        <a:t>Requirement</a:t>
                      </a:r>
                    </a:p>
                  </a:txBody>
                  <a:tcPr marL="27432" marR="27432" marT="27432" marB="27432">
                    <a:solidFill>
                      <a:srgbClr val="000000"/>
                    </a:solidFill>
                  </a:tcPr>
                </a:tc>
                <a:tc>
                  <a:txBody>
                    <a:bodyPr/>
                    <a:lstStyle/>
                    <a:p>
                      <a:pPr algn="ctr"/>
                      <a:r>
                        <a:rPr sz="1100" b="1">
                          <a:solidFill>
                            <a:srgbClr val="FFFFFF"/>
                          </a:solidFill>
                        </a:rPr>
                        <a:t>AR</a:t>
                      </a:r>
                    </a:p>
                  </a:txBody>
                  <a:tcPr marL="27432" marR="27432" marT="27432" marB="27432">
                    <a:solidFill>
                      <a:srgbClr val="000000"/>
                    </a:solidFill>
                  </a:tcPr>
                </a:tc>
                <a:tc>
                  <a:txBody>
                    <a:bodyPr/>
                    <a:lstStyle/>
                    <a:p>
                      <a:pPr algn="ctr"/>
                      <a:r>
                        <a:rPr sz="1100" b="1">
                          <a:solidFill>
                            <a:srgbClr val="FFFFFF"/>
                          </a:solidFill>
                        </a:rPr>
                        <a:t>NLSR</a:t>
                      </a:r>
                    </a:p>
                  </a:txBody>
                  <a:tcPr marL="27432" marR="27432" marT="27432" marB="27432">
                    <a:solidFill>
                      <a:srgbClr val="000000"/>
                    </a:solidFill>
                  </a:tcPr>
                </a:tc>
                <a:tc>
                  <a:txBody>
                    <a:bodyPr/>
                    <a:lstStyle/>
                    <a:p>
                      <a:pPr algn="ctr"/>
                      <a:r>
                        <a:rPr sz="1100" b="1">
                          <a:solidFill>
                            <a:srgbClr val="FFFFFF"/>
                          </a:solidFill>
                        </a:rPr>
                        <a:t>SR</a:t>
                      </a:r>
                    </a:p>
                  </a:txBody>
                  <a:tcPr marL="27432" marR="27432" marT="27432" marB="27432">
                    <a:solidFill>
                      <a:srgbClr val="000000"/>
                    </a:solidFill>
                  </a:tcPr>
                </a:tc>
                <a:tc>
                  <a:txBody>
                    <a:bodyPr/>
                    <a:lstStyle/>
                    <a:p>
                      <a:pPr algn="ctr"/>
                      <a:r>
                        <a:rPr sz="1100" b="1">
                          <a:solidFill>
                            <a:srgbClr val="FFFFFF"/>
                          </a:solidFill>
                        </a:rPr>
                        <a:t>ST</a:t>
                      </a:r>
                    </a:p>
                  </a:txBody>
                  <a:tcPr marL="27432" marR="27432" marT="27432" marB="27432">
                    <a:solidFill>
                      <a:srgbClr val="000000"/>
                    </a:solidFill>
                  </a:tcPr>
                </a:tc>
                <a:tc>
                  <a:txBody>
                    <a:bodyPr/>
                    <a:lstStyle/>
                    <a:p>
                      <a:pPr algn="ctr"/>
                      <a:r>
                        <a:rPr sz="1100" b="1">
                          <a:solidFill>
                            <a:srgbClr val="FFFFFF"/>
                          </a:solidFill>
                        </a:rPr>
                        <a:t>CB</a:t>
                      </a:r>
                    </a:p>
                  </a:txBody>
                  <a:tcPr marL="27432" marR="27432" marT="27432" marB="27432">
                    <a:solidFill>
                      <a:srgbClr val="000000"/>
                    </a:solidFill>
                  </a:tcPr>
                </a:tc>
                <a:tc>
                  <a:txBody>
                    <a:bodyPr/>
                    <a:lstStyle/>
                    <a:p>
                      <a:pPr algn="ctr"/>
                      <a:r>
                        <a:rPr sz="1100" b="1">
                          <a:solidFill>
                            <a:srgbClr val="FFFFFF"/>
                          </a:solidFill>
                        </a:rPr>
                        <a:t>GSLC</a:t>
                      </a:r>
                    </a:p>
                  </a:txBody>
                  <a:tcPr marL="27432" marR="27432" marT="27432" marB="27432">
                    <a:solidFill>
                      <a:srgbClr val="000000"/>
                    </a:solidFill>
                  </a:tcPr>
                </a:tc>
                <a:tc>
                  <a:txBody>
                    <a:bodyPr/>
                    <a:lstStyle/>
                    <a:p>
                      <a:pPr algn="ctr"/>
                      <a:r>
                        <a:rPr sz="1100" b="1">
                          <a:solidFill>
                            <a:srgbClr val="FFFFFF"/>
                          </a:solidFill>
                        </a:rPr>
                        <a:t>INSAR</a:t>
                      </a:r>
                    </a:p>
                  </a:txBody>
                  <a:tcPr marL="27432" marR="27432" marT="27432" marB="27432">
                    <a:solidFill>
                      <a:srgbClr val="000000"/>
                    </a:solidFill>
                  </a:tcPr>
                </a:tc>
                <a:tc>
                  <a:txBody>
                    <a:bodyPr/>
                    <a:lstStyle/>
                    <a:p>
                      <a:pPr algn="ctr"/>
                      <a:r>
                        <a:rPr sz="1100" b="1">
                          <a:solidFill>
                            <a:srgbClr val="FFFFFF"/>
                          </a:solidFill>
                        </a:rPr>
                        <a:t>NRB</a:t>
                      </a:r>
                    </a:p>
                  </a:txBody>
                  <a:tcPr marL="27432" marR="27432" marT="27432" marB="27432">
                    <a:solidFill>
                      <a:srgbClr val="000000"/>
                    </a:solidFill>
                  </a:tcPr>
                </a:tc>
                <a:tc>
                  <a:txBody>
                    <a:bodyPr/>
                    <a:lstStyle/>
                    <a:p>
                      <a:pPr algn="ctr"/>
                      <a:r>
                        <a:rPr sz="1100" b="1">
                          <a:solidFill>
                            <a:srgbClr val="FFFFFF"/>
                          </a:solidFill>
                        </a:rPr>
                        <a:t>ORB</a:t>
                      </a:r>
                    </a:p>
                  </a:txBody>
                  <a:tcPr marL="27432" marR="27432" marT="27432" marB="27432">
                    <a:solidFill>
                      <a:srgbClr val="000000"/>
                    </a:solidFill>
                  </a:tcPr>
                </a:tc>
                <a:tc>
                  <a:txBody>
                    <a:bodyPr/>
                    <a:lstStyle/>
                    <a:p>
                      <a:pPr algn="ctr"/>
                      <a:r>
                        <a:rPr sz="1100" b="1">
                          <a:solidFill>
                            <a:srgbClr val="FFFFFF"/>
                          </a:solidFill>
                        </a:rPr>
                        <a:t>POL</a:t>
                      </a:r>
                    </a:p>
                  </a:txBody>
                  <a:tcPr marL="27432" marR="27432" marT="27432" marB="27432">
                    <a:solidFill>
                      <a:srgbClr val="000000"/>
                    </a:solidFill>
                  </a:tcPr>
                </a:tc>
                <a:extLst>
                  <a:ext uri="{0D108BD9-81ED-4DB2-BD59-A6C34878D82A}">
                    <a16:rowId xmlns:a16="http://schemas.microsoft.com/office/drawing/2014/main" val="10000"/>
                  </a:ext>
                </a:extLst>
              </a:tr>
              <a:tr h="256032">
                <a:tc>
                  <a:txBody>
                    <a:bodyPr/>
                    <a:lstStyle/>
                    <a:p>
                      <a:r>
                        <a:rPr sz="1100">
                          <a:hlinkClick r:id="rId2" action="ppaction://hlinksldjump"/>
                        </a:rPr>
                        <a:t>Processing Chain Provenance</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extLst>
                  <a:ext uri="{0D108BD9-81ED-4DB2-BD59-A6C34878D82A}">
                    <a16:rowId xmlns:a16="http://schemas.microsoft.com/office/drawing/2014/main" val="10001"/>
                  </a:ext>
                </a:extLst>
              </a:tr>
              <a:tr h="256032">
                <a:tc>
                  <a:txBody>
                    <a:bodyPr/>
                    <a:lstStyle/>
                    <a:p>
                      <a:r>
                        <a:rPr sz="1100">
                          <a:hlinkClick r:id="rId3" action="ppaction://hlinksldjump"/>
                        </a:rPr>
                        <a:t>Radiometric Accuracy</a:t>
                      </a: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extLst>
                  <a:ext uri="{0D108BD9-81ED-4DB2-BD59-A6C34878D82A}">
                    <a16:rowId xmlns:a16="http://schemas.microsoft.com/office/drawing/2014/main" val="10002"/>
                  </a:ext>
                </a:extLst>
              </a:tr>
              <a:tr h="256032">
                <a:tc>
                  <a:txBody>
                    <a:bodyPr/>
                    <a:lstStyle/>
                    <a:p>
                      <a:r>
                        <a:rPr sz="1100">
                          <a:hlinkClick r:id="rId4" action="ppaction://hlinksldjump"/>
                        </a:rPr>
                        <a:t>Sensor Calibration</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extLst>
                  <a:ext uri="{0D108BD9-81ED-4DB2-BD59-A6C34878D82A}">
                    <a16:rowId xmlns:a16="http://schemas.microsoft.com/office/drawing/2014/main" val="10003"/>
                  </a:ext>
                </a:extLst>
              </a:tr>
              <a:tr h="256032">
                <a:tc>
                  <a:txBody>
                    <a:bodyPr/>
                    <a:lstStyle/>
                    <a:p>
                      <a:r>
                        <a:rPr sz="1100">
                          <a:hlinkClick r:id="rId5" action="ppaction://hlinksldjump"/>
                        </a:rPr>
                        <a:t>Spectral Bands</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extLst>
                  <a:ext uri="{0D108BD9-81ED-4DB2-BD59-A6C34878D82A}">
                    <a16:rowId xmlns:a16="http://schemas.microsoft.com/office/drawing/2014/main" val="10004"/>
                  </a:ext>
                </a:extLst>
              </a:tr>
              <a:tr h="256032">
                <a:tc>
                  <a:txBody>
                    <a:bodyPr/>
                    <a:lstStyle/>
                    <a:p>
                      <a:r>
                        <a:rPr sz="1100">
                          <a:hlinkClick r:id="rId6" action="ppaction://hlinksldjump"/>
                        </a:rPr>
                        <a:t>metadata/time-*</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extLst>
                  <a:ext uri="{0D108BD9-81ED-4DB2-BD59-A6C34878D82A}">
                    <a16:rowId xmlns:a16="http://schemas.microsoft.com/office/drawing/2014/main" val="10005"/>
                  </a:ext>
                </a:extLst>
              </a:tr>
              <a:tr h="256032">
                <a:tc>
                  <a:txBody>
                    <a:bodyPr/>
                    <a:lstStyle/>
                    <a:p>
                      <a:r>
                        <a:rPr sz="1100">
                          <a:hlinkClick r:id="rId7" action="ppaction://hlinksldjump"/>
                        </a:rPr>
                        <a:t>metadata/traceability-*</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dirty="0"/>
                        <a:t>✓</a:t>
                      </a:r>
                    </a:p>
                  </a:txBody>
                  <a:tcPr marL="27432" marR="27432" marT="27432" marB="27432">
                    <a:solidFill>
                      <a:srgbClr val="F2F2F2"/>
                    </a:solidFill>
                  </a:tcPr>
                </a:tc>
                <a:extLst>
                  <a:ext uri="{0D108BD9-81ED-4DB2-BD59-A6C34878D82A}">
                    <a16:rowId xmlns:a16="http://schemas.microsoft.com/office/drawing/2014/main" val="10006"/>
                  </a:ext>
                </a:extLst>
              </a:tr>
              <a:tr h="256032">
                <a:tc>
                  <a:txBody>
                    <a:bodyPr/>
                    <a:lstStyle/>
                    <a:p>
                      <a:r>
                        <a:rPr sz="1100">
                          <a:hlinkClick r:id="rId8" action="ppaction://hlinksldjump"/>
                        </a:rPr>
                        <a:t>Cloud</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extLst>
                  <a:ext uri="{0D108BD9-81ED-4DB2-BD59-A6C34878D82A}">
                    <a16:rowId xmlns:a16="http://schemas.microsoft.com/office/drawing/2014/main" val="10007"/>
                  </a:ext>
                </a:extLst>
              </a:tr>
              <a:tr h="256032">
                <a:tc>
                  <a:txBody>
                    <a:bodyPr/>
                    <a:lstStyle/>
                    <a:p>
                      <a:r>
                        <a:rPr sz="1100">
                          <a:hlinkClick r:id="rId9" action="ppaction://hlinksldjump"/>
                        </a:rPr>
                        <a:t>Cloud Shadow</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extLst>
                  <a:ext uri="{0D108BD9-81ED-4DB2-BD59-A6C34878D82A}">
                    <a16:rowId xmlns:a16="http://schemas.microsoft.com/office/drawing/2014/main" val="10008"/>
                  </a:ext>
                </a:extLst>
              </a:tr>
              <a:tr h="256032">
                <a:tc>
                  <a:txBody>
                    <a:bodyPr/>
                    <a:lstStyle/>
                    <a:p>
                      <a:r>
                        <a:rPr sz="1100">
                          <a:hlinkClick r:id="rId10" action="ppaction://hlinksldjump"/>
                        </a:rPr>
                        <a:t>per-pixel/incomplete-testing-*</a:t>
                      </a:r>
                    </a:p>
                  </a:txBody>
                  <a:tcPr marL="27432" marR="27432" marT="27432" marB="27432">
                    <a:solidFill>
                      <a:srgbClr val="FFFFFF"/>
                    </a:solidFill>
                  </a:tcPr>
                </a:tc>
                <a:tc>
                  <a:txBody>
                    <a:bodyPr/>
                    <a:lstStyle/>
                    <a:p>
                      <a:pPr algn="ctr"/>
                      <a:r>
                        <a:rPr sz="1100" dirty="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extLst>
                  <a:ext uri="{0D108BD9-81ED-4DB2-BD59-A6C34878D82A}">
                    <a16:rowId xmlns:a16="http://schemas.microsoft.com/office/drawing/2014/main" val="10009"/>
                  </a:ext>
                </a:extLst>
              </a:tr>
              <a:tr h="256032">
                <a:tc>
                  <a:txBody>
                    <a:bodyPr/>
                    <a:lstStyle/>
                    <a:p>
                      <a:r>
                        <a:rPr sz="1100">
                          <a:hlinkClick r:id="rId11" action="ppaction://hlinksldjump"/>
                        </a:rPr>
                        <a:t>per-pixel/land-water-*</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extLst>
                  <a:ext uri="{0D108BD9-81ED-4DB2-BD59-A6C34878D82A}">
                    <a16:rowId xmlns:a16="http://schemas.microsoft.com/office/drawing/2014/main" val="10010"/>
                  </a:ext>
                </a:extLst>
              </a:tr>
              <a:tr h="256032">
                <a:tc>
                  <a:txBody>
                    <a:bodyPr/>
                    <a:lstStyle/>
                    <a:p>
                      <a:r>
                        <a:rPr sz="1100">
                          <a:hlinkClick r:id="rId12" action="ppaction://hlinksldjump"/>
                        </a:rPr>
                        <a:t>No Data</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extLst>
                  <a:ext uri="{0D108BD9-81ED-4DB2-BD59-A6C34878D82A}">
                    <a16:rowId xmlns:a16="http://schemas.microsoft.com/office/drawing/2014/main" val="10011"/>
                  </a:ext>
                </a:extLst>
              </a:tr>
              <a:tr h="256032">
                <a:tc>
                  <a:txBody>
                    <a:bodyPr/>
                    <a:lstStyle/>
                    <a:p>
                      <a:r>
                        <a:rPr sz="1100">
                          <a:hlinkClick r:id="rId13" action="ppaction://hlinksldjump"/>
                        </a:rPr>
                        <a:t>Saturation</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extLst>
                  <a:ext uri="{0D108BD9-81ED-4DB2-BD59-A6C34878D82A}">
                    <a16:rowId xmlns:a16="http://schemas.microsoft.com/office/drawing/2014/main" val="10012"/>
                  </a:ext>
                </a:extLst>
              </a:tr>
              <a:tr h="256032">
                <a:tc>
                  <a:txBody>
                    <a:bodyPr/>
                    <a:lstStyle/>
                    <a:p>
                      <a:r>
                        <a:rPr sz="1100">
                          <a:hlinkClick r:id="rId14" action="ppaction://hlinksldjump"/>
                        </a:rPr>
                        <a:t>Snow/Ice Mask</a:t>
                      </a: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extLst>
                  <a:ext uri="{0D108BD9-81ED-4DB2-BD59-A6C34878D82A}">
                    <a16:rowId xmlns:a16="http://schemas.microsoft.com/office/drawing/2014/main" val="10013"/>
                  </a:ext>
                </a:extLst>
              </a:tr>
              <a:tr h="256032">
                <a:tc>
                  <a:txBody>
                    <a:bodyPr/>
                    <a:lstStyle/>
                    <a:p>
                      <a:r>
                        <a:rPr sz="1100" dirty="0">
                          <a:hlinkClick r:id="rId15" action="ppaction://hlinksldjump"/>
                        </a:rPr>
                        <a:t>Terrain Occlusion</a:t>
                      </a: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tc>
                  <a:txBody>
                    <a:bodyPr/>
                    <a:lstStyle/>
                    <a:p>
                      <a:pPr algn="ctr"/>
                      <a:endParaRPr/>
                    </a:p>
                  </a:txBody>
                  <a:tcPr marL="27432" marR="27432" marT="27432" marB="27432">
                    <a:solidFill>
                      <a:srgbClr val="F2F2F2"/>
                    </a:solidFill>
                  </a:tcPr>
                </a:tc>
                <a:extLst>
                  <a:ext uri="{0D108BD9-81ED-4DB2-BD59-A6C34878D82A}">
                    <a16:rowId xmlns:a16="http://schemas.microsoft.com/office/drawing/2014/main" val="10014"/>
                  </a:ext>
                </a:extLst>
              </a:tr>
              <a:tr h="256032">
                <a:tc>
                  <a:txBody>
                    <a:bodyPr/>
                    <a:lstStyle/>
                    <a:p>
                      <a:r>
                        <a:rPr sz="1100" dirty="0">
                          <a:hlinkClick r:id="rId16" action="ppaction://hlinksldjump"/>
                        </a:rPr>
                        <a:t>Solar and Viewing Geometry</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r>
                        <a:rPr sz="1100"/>
                        <a:t>✓</a:t>
                      </a: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a:p>
                  </a:txBody>
                  <a:tcPr marL="27432" marR="27432" marT="27432" marB="27432">
                    <a:solidFill>
                      <a:srgbClr val="FFFFFF"/>
                    </a:solidFill>
                  </a:tcPr>
                </a:tc>
                <a:tc>
                  <a:txBody>
                    <a:bodyPr/>
                    <a:lstStyle/>
                    <a:p>
                      <a:pPr algn="ctr"/>
                      <a:endParaRPr dirty="0"/>
                    </a:p>
                  </a:txBody>
                  <a:tcPr marL="27432" marR="27432" marT="27432" marB="27432">
                    <a:solidFill>
                      <a:srgbClr val="FFFFFF"/>
                    </a:solidFill>
                  </a:tcPr>
                </a:tc>
                <a:extLst>
                  <a:ext uri="{0D108BD9-81ED-4DB2-BD59-A6C34878D82A}">
                    <a16:rowId xmlns:a16="http://schemas.microsoft.com/office/drawing/2014/main" val="10015"/>
                  </a:ext>
                </a:extLst>
              </a:tr>
              <a:tr h="256032">
                <a:tc>
                  <a:txBody>
                    <a:bodyPr/>
                    <a:lstStyle/>
                    <a:p>
                      <a:r>
                        <a:rPr lang="de-DE" sz="1100" dirty="0">
                          <a:hlinkClick r:id="rId17" action="ppaction://hlinksldjump"/>
                        </a:rPr>
                        <a:t>DOIs / DOIs</a:t>
                      </a:r>
                      <a:endParaRPr sz="1100" dirty="0">
                        <a:hlinkClick r:id="rId17" action="ppaction://hlinksldjump"/>
                      </a:endParaRPr>
                    </a:p>
                  </a:txBody>
                  <a:tcPr marL="27432" marR="27432" marT="27432" marB="27432">
                    <a:solidFill>
                      <a:srgbClr val="F2F2F2"/>
                    </a:solidFill>
                  </a:tcPr>
                </a:tc>
                <a:tc>
                  <a:txBody>
                    <a:bodyPr/>
                    <a:lstStyle/>
                    <a:p>
                      <a:pPr algn="ctr"/>
                      <a:r>
                        <a:rPr sz="1100" dirty="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a:t>✓</a:t>
                      </a:r>
                    </a:p>
                  </a:txBody>
                  <a:tcPr marL="27432" marR="27432" marT="27432" marB="27432">
                    <a:solidFill>
                      <a:srgbClr val="F2F2F2"/>
                    </a:solidFill>
                  </a:tcPr>
                </a:tc>
                <a:tc>
                  <a:txBody>
                    <a:bodyPr/>
                    <a:lstStyle/>
                    <a:p>
                      <a:pPr algn="ctr"/>
                      <a:r>
                        <a:rPr sz="1100" dirty="0"/>
                        <a:t>✓</a:t>
                      </a:r>
                    </a:p>
                  </a:txBody>
                  <a:tcPr marL="27432" marR="27432" marT="27432" marB="27432">
                    <a:solidFill>
                      <a:srgbClr val="F2F2F2"/>
                    </a:solidFill>
                  </a:tcPr>
                </a:tc>
                <a:extLst>
                  <a:ext uri="{0D108BD9-81ED-4DB2-BD59-A6C34878D82A}">
                    <a16:rowId xmlns:a16="http://schemas.microsoft.com/office/drawing/2014/main" val="1001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Scope</a:t>
            </a:r>
          </a:p>
        </p:txBody>
      </p:sp>
      <p:sp>
        <p:nvSpPr>
          <p:cNvPr id="3" name="TextBox 2"/>
          <p:cNvSpPr txBox="1"/>
          <p:nvPr/>
        </p:nvSpPr>
        <p:spPr>
          <a:xfrm>
            <a:off x="457200" y="1097280"/>
            <a:ext cx="11277295" cy="3323987"/>
          </a:xfrm>
          <a:prstGeom prst="rect">
            <a:avLst/>
          </a:prstGeom>
          <a:noFill/>
        </p:spPr>
        <p:txBody>
          <a:bodyPr wrap="square">
            <a:spAutoFit/>
          </a:bodyPr>
          <a:lstStyle/>
          <a:p>
            <a:pPr marL="285750" indent="-285750">
              <a:spcAft>
                <a:spcPts val="1000"/>
              </a:spcAft>
              <a:buFont typeface="Arial" panose="020B0604020202020204" pitchFamily="34" charset="0"/>
              <a:buChar char="•"/>
            </a:pPr>
            <a:r>
              <a:rPr lang="de-DE" sz="1600" dirty="0"/>
              <a:t>B</a:t>
            </a:r>
            <a:r>
              <a:rPr sz="1600" dirty="0" err="1"/>
              <a:t>uilding</a:t>
            </a:r>
            <a:r>
              <a:rPr sz="1600" dirty="0"/>
              <a:t> blocks that exist in several variants (e.g. time-</a:t>
            </a:r>
            <a:r>
              <a:rPr sz="1600" dirty="0" err="1"/>
              <a:t>ar</a:t>
            </a:r>
            <a:r>
              <a:rPr sz="1600" dirty="0"/>
              <a:t>/-</a:t>
            </a:r>
            <a:r>
              <a:rPr sz="1600" dirty="0" err="1"/>
              <a:t>sar</a:t>
            </a:r>
            <a:r>
              <a:rPr sz="1600" dirty="0"/>
              <a:t>/-</a:t>
            </a:r>
            <a:r>
              <a:rPr sz="1600" dirty="0" err="1"/>
              <a:t>sr</a:t>
            </a:r>
            <a:r>
              <a:rPr sz="1600" dirty="0"/>
              <a:t>/-st) are compared; only the differences are shown — fields that are identical across all variants of a group are omitted.</a:t>
            </a:r>
            <a:endParaRPr lang="de-DE" sz="1600" dirty="0"/>
          </a:p>
          <a:p>
            <a:pPr marL="742950" lvl="1" indent="-285750">
              <a:spcAft>
                <a:spcPts val="1000"/>
              </a:spcAft>
              <a:buFont typeface="Arial" panose="020B0604020202020204" pitchFamily="34" charset="0"/>
              <a:buChar char="•"/>
            </a:pPr>
            <a:r>
              <a:rPr lang="de-DE" sz="1600" b="1" dirty="0"/>
              <a:t>This </a:t>
            </a:r>
            <a:r>
              <a:rPr lang="de-DE" sz="1600" b="1" dirty="0" err="1"/>
              <a:t>is</a:t>
            </a:r>
            <a:r>
              <a:rPr lang="de-DE" sz="1600" b="1" dirty="0"/>
              <a:t> just a </a:t>
            </a:r>
            <a:r>
              <a:rPr lang="de-DE" sz="1600" b="1" dirty="0" err="1"/>
              <a:t>first</a:t>
            </a:r>
            <a:r>
              <a:rPr lang="de-DE" sz="1600" b="1" dirty="0"/>
              <a:t> step to </a:t>
            </a:r>
            <a:r>
              <a:rPr lang="de-DE" sz="1600" b="1" dirty="0" err="1"/>
              <a:t>get</a:t>
            </a:r>
            <a:r>
              <a:rPr lang="de-DE" sz="1600" b="1" dirty="0"/>
              <a:t> </a:t>
            </a:r>
            <a:r>
              <a:rPr lang="de-DE" sz="1600" b="1" dirty="0" err="1"/>
              <a:t>some</a:t>
            </a:r>
            <a:r>
              <a:rPr lang="de-DE" sz="1600" b="1" dirty="0"/>
              <a:t> initial </a:t>
            </a:r>
            <a:r>
              <a:rPr lang="de-DE" sz="1600" b="1" dirty="0" err="1"/>
              <a:t>alignment</a:t>
            </a:r>
            <a:r>
              <a:rPr lang="de-DE" sz="1600" b="1" dirty="0"/>
              <a:t>, </a:t>
            </a:r>
            <a:r>
              <a:rPr lang="de-DE" sz="1600" b="1" dirty="0" err="1"/>
              <a:t>more</a:t>
            </a:r>
            <a:r>
              <a:rPr lang="de-DE" sz="1600" b="1" dirty="0"/>
              <a:t> </a:t>
            </a:r>
            <a:r>
              <a:rPr lang="de-DE" sz="1600" b="1" dirty="0" err="1"/>
              <a:t>steps</a:t>
            </a:r>
            <a:r>
              <a:rPr lang="de-DE" sz="1600" b="1" dirty="0"/>
              <a:t> </a:t>
            </a:r>
            <a:r>
              <a:rPr lang="de-DE" sz="1600" b="1" dirty="0" err="1"/>
              <a:t>are</a:t>
            </a:r>
            <a:r>
              <a:rPr lang="de-DE" sz="1600" b="1" dirty="0"/>
              <a:t> </a:t>
            </a:r>
            <a:r>
              <a:rPr lang="de-DE" sz="1600" b="1" dirty="0" err="1"/>
              <a:t>likely</a:t>
            </a:r>
            <a:r>
              <a:rPr lang="de-DE" sz="1600" b="1" dirty="0"/>
              <a:t> </a:t>
            </a:r>
            <a:r>
              <a:rPr lang="de-DE" sz="1600" b="1" dirty="0" err="1"/>
              <a:t>needed</a:t>
            </a:r>
            <a:r>
              <a:rPr lang="de-DE" sz="1600" b="1" dirty="0"/>
              <a:t>.</a:t>
            </a:r>
          </a:p>
          <a:p>
            <a:pPr marL="285750" indent="-285750">
              <a:spcAft>
                <a:spcPts val="1000"/>
              </a:spcAft>
              <a:buFont typeface="Arial" panose="020B0604020202020204" pitchFamily="34" charset="0"/>
              <a:buChar char="•"/>
            </a:pPr>
            <a:r>
              <a:rPr sz="1600" dirty="0"/>
              <a:t>The groups are split by the type of the PFS that use them: used by both SAR and Optical PFS, or used only by Optical PFS.</a:t>
            </a:r>
            <a:endParaRPr lang="de-DE" sz="1600" dirty="0"/>
          </a:p>
          <a:p>
            <a:pPr marL="285750" indent="-285750">
              <a:spcAft>
                <a:spcPts val="1000"/>
              </a:spcAft>
              <a:buFont typeface="Arial" panose="020B0604020202020204" pitchFamily="34" charset="0"/>
              <a:buChar char="•"/>
            </a:pPr>
            <a:r>
              <a:rPr sz="1600" dirty="0"/>
              <a:t>Building blocks used only by SAR PFS are omitted (as are PFS overrides that only affect them): their differences are intentional, as the SAR PFS were a combined document before being split.</a:t>
            </a:r>
            <a:endParaRPr lang="de-DE" sz="1600" dirty="0"/>
          </a:p>
          <a:p>
            <a:pPr marL="285750" indent="-285750">
              <a:spcAft>
                <a:spcPts val="1000"/>
              </a:spcAft>
              <a:buFont typeface="Arial" panose="020B0604020202020204" pitchFamily="34" charset="0"/>
              <a:buChar char="•"/>
            </a:pPr>
            <a:r>
              <a:rPr lang="de-DE" sz="1600" dirty="0"/>
              <a:t>C</a:t>
            </a:r>
            <a:r>
              <a:rPr sz="1600" dirty="0" err="1"/>
              <a:t>ompared</a:t>
            </a:r>
            <a:r>
              <a:rPr sz="1600" dirty="0"/>
              <a:t> fields: title, description, and per requirement level (threshold/goal/image) the description, the optional flag, and the notes.</a:t>
            </a:r>
            <a:endParaRPr lang="de-DE" sz="1600" dirty="0"/>
          </a:p>
          <a:p>
            <a:pPr marL="285750" indent="-285750">
              <a:spcAft>
                <a:spcPts val="1000"/>
              </a:spcAft>
              <a:buFont typeface="Arial" panose="020B0604020202020204" pitchFamily="34" charset="0"/>
              <a:buChar char="•"/>
            </a:pPr>
            <a:r>
              <a:rPr sz="1600" dirty="0"/>
              <a:t>Ignored fields: id, dependencies, glossary, references, changes, history, remarks.</a:t>
            </a:r>
            <a:endParaRPr lang="de-DE" sz="1600" dirty="0"/>
          </a:p>
          <a:p>
            <a:pPr marL="285750" indent="-285750">
              <a:spcAft>
                <a:spcPts val="1000"/>
              </a:spcAft>
              <a:buFont typeface="Arial" panose="020B0604020202020204" pitchFamily="34" charset="0"/>
              <a:buChar char="•"/>
            </a:pPr>
            <a:r>
              <a:rPr sz="1600" dirty="0"/>
              <a:t>Not compared: the measurement/measurand</a:t>
            </a:r>
            <a:r>
              <a:rPr lang="de-DE" sz="1600" dirty="0"/>
              <a:t>/b</a:t>
            </a:r>
            <a:r>
              <a:rPr sz="1600" dirty="0" err="1"/>
              <a:t>ackscatter</a:t>
            </a:r>
            <a:r>
              <a:rPr lang="de-DE" sz="1600" dirty="0"/>
              <a:t>/…</a:t>
            </a:r>
            <a:r>
              <a:rPr sz="1600" dirty="0"/>
              <a:t> building blocks (intentionally different per product).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How to read the tables</a:t>
            </a:r>
          </a:p>
        </p:txBody>
      </p:sp>
      <p:sp>
        <p:nvSpPr>
          <p:cNvPr id="3" name="TextBox 2"/>
          <p:cNvSpPr txBox="1"/>
          <p:nvPr/>
        </p:nvSpPr>
        <p:spPr>
          <a:xfrm>
            <a:off x="457200" y="1097280"/>
            <a:ext cx="11277295" cy="3323987"/>
          </a:xfrm>
          <a:prstGeom prst="rect">
            <a:avLst/>
          </a:prstGeom>
          <a:noFill/>
        </p:spPr>
        <p:txBody>
          <a:bodyPr wrap="square">
            <a:spAutoFit/>
          </a:bodyPr>
          <a:lstStyle/>
          <a:p>
            <a:r>
              <a:rPr sz="1400" dirty="0"/>
              <a:t>One slide per building block group. For every field that differs between the variants, a table shows the current text per PFS and the proposed alignment.</a:t>
            </a:r>
          </a:p>
          <a:p>
            <a:endParaRPr sz="1400" dirty="0"/>
          </a:p>
          <a:p>
            <a:r>
              <a:rPr sz="1400" dirty="0"/>
              <a:t>Current column — differences to the row marked </a:t>
            </a:r>
            <a:r>
              <a:rPr sz="1400" i="1" dirty="0">
                <a:solidFill>
                  <a:srgbClr val="808080"/>
                </a:solidFill>
              </a:rPr>
              <a:t>(baseline)</a:t>
            </a:r>
            <a:r>
              <a:rPr sz="1400" dirty="0"/>
              <a:t> are highlighted:</a:t>
            </a:r>
          </a:p>
          <a:p>
            <a:r>
              <a:rPr sz="1400" dirty="0"/>
              <a:t>    </a:t>
            </a:r>
            <a:r>
              <a:rPr sz="1400" strike="sngStrike" dirty="0">
                <a:solidFill>
                  <a:srgbClr val="B00000"/>
                </a:solidFill>
              </a:rPr>
              <a:t>red struck-through</a:t>
            </a:r>
            <a:r>
              <a:rPr sz="1400" dirty="0"/>
              <a:t> text only appears in the baseline variant</a:t>
            </a:r>
          </a:p>
          <a:p>
            <a:r>
              <a:rPr sz="1400" dirty="0"/>
              <a:t>    </a:t>
            </a:r>
            <a:r>
              <a:rPr sz="1400" b="1" dirty="0">
                <a:solidFill>
                  <a:srgbClr val="2E7D32"/>
                </a:solidFill>
              </a:rPr>
              <a:t>green</a:t>
            </a:r>
            <a:r>
              <a:rPr sz="1400" dirty="0"/>
              <a:t> text only appears in this variant</a:t>
            </a:r>
          </a:p>
          <a:p>
            <a:r>
              <a:rPr sz="1400" dirty="0"/>
              <a:t>    </a:t>
            </a:r>
            <a:r>
              <a:rPr sz="1400" dirty="0">
                <a:solidFill>
                  <a:srgbClr val="1565C0"/>
                </a:solidFill>
              </a:rPr>
              <a:t>blue passages</a:t>
            </a:r>
            <a:r>
              <a:rPr sz="1400" dirty="0"/>
              <a:t> are shared with the baseline — used where texts are too different for a diff</a:t>
            </a:r>
          </a:p>
          <a:p>
            <a:r>
              <a:rPr sz="1400" dirty="0"/>
              <a:t>    (not set) = the field or the whole requirement level is absent in that file</a:t>
            </a:r>
          </a:p>
          <a:p>
            <a:endParaRPr sz="1400" dirty="0"/>
          </a:p>
          <a:p>
            <a:r>
              <a:rPr sz="1400" dirty="0"/>
              <a:t>Proposed column — proposed changes relative to the row's current text:</a:t>
            </a:r>
          </a:p>
          <a:p>
            <a:r>
              <a:rPr sz="1400" dirty="0"/>
              <a:t>    </a:t>
            </a:r>
            <a:r>
              <a:rPr sz="1400" strike="sngStrike" dirty="0">
                <a:solidFill>
                  <a:srgbClr val="B00000"/>
                </a:solidFill>
              </a:rPr>
              <a:t>red struck-through</a:t>
            </a:r>
            <a:r>
              <a:rPr sz="1400" dirty="0"/>
              <a:t> text is removed, </a:t>
            </a:r>
            <a:r>
              <a:rPr sz="1400" b="1" dirty="0">
                <a:solidFill>
                  <a:srgbClr val="2E7D32"/>
                </a:solidFill>
              </a:rPr>
              <a:t>green</a:t>
            </a:r>
            <a:r>
              <a:rPr sz="1400" dirty="0"/>
              <a:t> text is added by the proposal</a:t>
            </a:r>
          </a:p>
          <a:p>
            <a:r>
              <a:rPr sz="1400" dirty="0"/>
              <a:t>    </a:t>
            </a:r>
            <a:r>
              <a:rPr sz="1400" i="1" dirty="0">
                <a:solidFill>
                  <a:srgbClr val="808080"/>
                </a:solidFill>
              </a:rPr>
              <a:t>(keep as is)</a:t>
            </a:r>
            <a:r>
              <a:rPr sz="1400" dirty="0"/>
              <a:t> = unchanged (explicitly kept or nothing proposed)</a:t>
            </a:r>
          </a:p>
          <a:p>
            <a:r>
              <a:rPr sz="1400" dirty="0"/>
              <a:t>    </a:t>
            </a:r>
            <a:r>
              <a:rPr sz="1400" b="1" dirty="0">
                <a:solidFill>
                  <a:srgbClr val="B00000"/>
                </a:solidFill>
              </a:rPr>
              <a:t>DELETE NOTE</a:t>
            </a:r>
            <a:r>
              <a:rPr sz="1400" dirty="0"/>
              <a:t> = proposed removal</a:t>
            </a:r>
          </a:p>
          <a:p>
            <a:r>
              <a:rPr sz="1400" dirty="0"/>
              <a:t>    </a:t>
            </a:r>
            <a:r>
              <a:rPr sz="1400" i="1" dirty="0">
                <a:solidFill>
                  <a:srgbClr val="808080"/>
                </a:solidFill>
              </a:rPr>
              <a:t>gray italic</a:t>
            </a:r>
            <a:r>
              <a:rPr sz="1400" dirty="0"/>
              <a:t> text = proposal that could not be interpreted automatically, shown verbatim</a:t>
            </a:r>
          </a:p>
          <a:p>
            <a:endParaRPr sz="1400" dirty="0"/>
          </a:p>
          <a:p>
            <a:r>
              <a:rPr sz="1400" dirty="0"/>
              <a:t>Internal notes are shown below the tables; the raw proposal text is in the slide's speaker notes.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corrections/atmosphere-* (NLSR, ST)</a:t>
            </a:r>
          </a:p>
        </p:txBody>
      </p:sp>
      <p:graphicFrame>
        <p:nvGraphicFramePr>
          <p:cNvPr id="3" name="Table 2"/>
          <p:cNvGraphicFramePr>
            <a:graphicFrameLocks noGrp="1"/>
          </p:cNvGraphicFramePr>
          <p:nvPr>
            <p:extLst>
              <p:ext uri="{D42A27DB-BD31-4B8C-83A1-F6EECF244321}">
                <p14:modId xmlns:p14="http://schemas.microsoft.com/office/powerpoint/2010/main" val="981574666"/>
              </p:ext>
            </p:extLst>
          </p:nvPr>
        </p:nvGraphicFramePr>
        <p:xfrm>
          <a:off x="457200" y="1005840"/>
          <a:ext cx="11265408" cy="8991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Title</a:t>
                      </a:r>
                    </a:p>
                  </a:txBody>
                  <a:tcPr>
                    <a:solidFill>
                      <a:srgbClr val="000000"/>
                    </a:solidFill>
                  </a:tcPr>
                </a:tc>
                <a:tc>
                  <a:txBody>
                    <a:bodyPr/>
                    <a:lstStyle/>
                    <a:p>
                      <a:r>
                        <a:rPr sz="1100" b="1">
                          <a:solidFill>
                            <a:srgbClr val="FFFFFF"/>
                          </a:solidFill>
                        </a:rPr>
                        <a:t>Proposed Title</a:t>
                      </a:r>
                    </a:p>
                  </a:txBody>
                  <a:tcPr>
                    <a:solidFill>
                      <a:srgbClr val="000000"/>
                    </a:solidFill>
                  </a:tcPr>
                </a:tc>
                <a:extLst>
                  <a:ext uri="{0D108BD9-81ED-4DB2-BD59-A6C34878D82A}">
                    <a16:rowId xmlns:a16="http://schemas.microsoft.com/office/drawing/2014/main" val="10000"/>
                  </a:ext>
                </a:extLst>
              </a:tr>
              <a:tr h="121920">
                <a:tc>
                  <a:txBody>
                    <a:bodyPr/>
                    <a:lstStyle/>
                    <a:p>
                      <a:r>
                        <a:rPr sz="1000" b="1"/>
                        <a:t>ST</a:t>
                      </a:r>
                    </a:p>
                    <a:p>
                      <a:r>
                        <a:rPr sz="1000" i="1">
                          <a:solidFill>
                            <a:srgbClr val="808080"/>
                          </a:solidFill>
                        </a:rPr>
                        <a:t>(baseline)</a:t>
                      </a:r>
                    </a:p>
                  </a:txBody>
                  <a:tcPr>
                    <a:solidFill>
                      <a:srgbClr val="FFFFFF"/>
                    </a:solidFill>
                  </a:tcPr>
                </a:tc>
                <a:tc>
                  <a:txBody>
                    <a:bodyPr/>
                    <a:lstStyle/>
                    <a:p>
                      <a:r>
                        <a:rPr sz="1000"/>
                        <a:t>Corrections for Atmosphere</a:t>
                      </a:r>
                    </a:p>
                  </a:txBody>
                  <a:tcPr>
                    <a:solidFill>
                      <a:srgbClr val="FFFFFF"/>
                    </a:solidFill>
                  </a:tcPr>
                </a:tc>
                <a:tc>
                  <a:txBody>
                    <a:bodyPr/>
                    <a:lstStyle/>
                    <a:p>
                      <a:r>
                        <a:rPr sz="1000" dirty="0">
                          <a:solidFill>
                            <a:schemeClr val="tx1"/>
                          </a:solidFill>
                        </a:rPr>
                        <a:t>Atmospheric Corrections</a:t>
                      </a:r>
                      <a:r>
                        <a:rPr lang="de-DE" sz="1000" i="1" dirty="0">
                          <a:solidFill>
                            <a:schemeClr val="tx1"/>
                          </a:solidFill>
                        </a:rPr>
                        <a:t> </a:t>
                      </a:r>
                      <a:r>
                        <a:rPr lang="de-DE" sz="1000" i="1" dirty="0">
                          <a:solidFill>
                            <a:schemeClr val="bg1">
                              <a:lumMod val="50000"/>
                            </a:schemeClr>
                          </a:solidFill>
                        </a:rPr>
                        <a:t>(</a:t>
                      </a:r>
                      <a:r>
                        <a:rPr lang="de-DE" sz="1000" i="1" dirty="0" err="1">
                          <a:solidFill>
                            <a:schemeClr val="bg1">
                              <a:lumMod val="50000"/>
                            </a:schemeClr>
                          </a:solidFill>
                        </a:rPr>
                        <a:t>see</a:t>
                      </a:r>
                      <a:r>
                        <a:rPr lang="de-DE" sz="1000" i="1" dirty="0">
                          <a:solidFill>
                            <a:schemeClr val="bg1">
                              <a:lumMod val="50000"/>
                            </a:schemeClr>
                          </a:solidFill>
                        </a:rPr>
                        <a:t> </a:t>
                      </a:r>
                      <a:r>
                        <a:rPr lang="de-DE" sz="1000" i="1" dirty="0" err="1">
                          <a:solidFill>
                            <a:schemeClr val="bg1">
                              <a:lumMod val="50000"/>
                            </a:schemeClr>
                          </a:solidFill>
                        </a:rPr>
                        <a:t>notes</a:t>
                      </a:r>
                      <a:r>
                        <a:rPr lang="de-DE" sz="1000" i="1" dirty="0">
                          <a:solidFill>
                            <a:schemeClr val="bg1">
                              <a:lumMod val="50000"/>
                            </a:schemeClr>
                          </a:solidFill>
                        </a:rPr>
                        <a:t>)</a:t>
                      </a:r>
                      <a:endParaRPr sz="1000" i="1" dirty="0">
                        <a:solidFill>
                          <a:schemeClr val="bg1">
                            <a:lumMod val="50000"/>
                          </a:schemeClr>
                        </a:solidFill>
                      </a:endParaRPr>
                    </a:p>
                  </a:txBody>
                  <a:tcPr>
                    <a:solidFill>
                      <a:srgbClr val="FFFFFF"/>
                    </a:solidFill>
                  </a:tcPr>
                </a:tc>
                <a:extLst>
                  <a:ext uri="{0D108BD9-81ED-4DB2-BD59-A6C34878D82A}">
                    <a16:rowId xmlns:a16="http://schemas.microsoft.com/office/drawing/2014/main" val="10001"/>
                  </a:ext>
                </a:extLst>
              </a:tr>
              <a:tr h="121920">
                <a:tc>
                  <a:txBody>
                    <a:bodyPr/>
                    <a:lstStyle/>
                    <a:p>
                      <a:r>
                        <a:rPr sz="1000" b="1"/>
                        <a:t>NLSR</a:t>
                      </a:r>
                    </a:p>
                  </a:txBody>
                  <a:tcPr>
                    <a:solidFill>
                      <a:srgbClr val="F2F2F2"/>
                    </a:solidFill>
                  </a:tcPr>
                </a:tc>
                <a:tc>
                  <a:txBody>
                    <a:bodyPr/>
                    <a:lstStyle/>
                    <a:p>
                      <a:r>
                        <a:rPr sz="1000"/>
                        <a:t>Atmospheric </a:t>
                      </a:r>
                      <a:r>
                        <a:rPr sz="1000">
                          <a:solidFill>
                            <a:srgbClr val="1565C0"/>
                          </a:solidFill>
                        </a:rPr>
                        <a:t>Corrections</a:t>
                      </a:r>
                    </a:p>
                  </a:txBody>
                  <a:tcPr>
                    <a:solidFill>
                      <a:srgbClr val="F2F2F2"/>
                    </a:solidFill>
                  </a:tcPr>
                </a:tc>
                <a:tc>
                  <a:txBody>
                    <a:bodyPr/>
                    <a:lstStyle/>
                    <a:p>
                      <a:r>
                        <a:rPr sz="1000" i="1" dirty="0">
                          <a:solidFill>
                            <a:srgbClr val="808080"/>
                          </a:solidFill>
                        </a:rPr>
                        <a:t>(keep as is)</a:t>
                      </a:r>
                    </a:p>
                  </a:txBody>
                  <a:tcPr>
                    <a:solidFill>
                      <a:srgbClr val="F2F2F2"/>
                    </a:solidFill>
                  </a:tcPr>
                </a:tc>
                <a:extLst>
                  <a:ext uri="{0D108BD9-81ED-4DB2-BD59-A6C34878D82A}">
                    <a16:rowId xmlns:a16="http://schemas.microsoft.com/office/drawing/2014/main" val="10002"/>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811946124"/>
              </p:ext>
            </p:extLst>
          </p:nvPr>
        </p:nvGraphicFramePr>
        <p:xfrm>
          <a:off x="457200" y="2258568"/>
          <a:ext cx="11265408" cy="18135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121920">
                <a:tc>
                  <a:txBody>
                    <a:bodyPr/>
                    <a:lstStyle/>
                    <a:p>
                      <a:r>
                        <a:rPr sz="1000" b="1"/>
                        <a:t>ST</a:t>
                      </a:r>
                    </a:p>
                    <a:p>
                      <a:r>
                        <a:rPr sz="1000" i="1">
                          <a:solidFill>
                            <a:srgbClr val="808080"/>
                          </a:solidFill>
                        </a:rPr>
                        <a:t>(baseline)</a:t>
                      </a:r>
                    </a:p>
                  </a:txBody>
                  <a:tcPr>
                    <a:solidFill>
                      <a:srgbClr val="FFFFFF"/>
                    </a:solidFill>
                  </a:tcPr>
                </a:tc>
                <a:tc>
                  <a:txBody>
                    <a:bodyPr/>
                    <a:lstStyle/>
                    <a:p>
                      <a:r>
                        <a:rPr sz="1000"/>
                        <a:t>Retrieval methods for estimating surface temperature are provided.</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121920">
                <a:tc>
                  <a:txBody>
                    <a:bodyPr/>
                    <a:lstStyle/>
                    <a:p>
                      <a:r>
                        <a:rPr sz="1000" b="1"/>
                        <a:t>NLSR</a:t>
                      </a:r>
                    </a:p>
                  </a:txBody>
                  <a:tcPr>
                    <a:solidFill>
                      <a:srgbClr val="F2F2F2"/>
                    </a:solidFill>
                  </a:tcPr>
                </a:tc>
                <a:tc>
                  <a:txBody>
                    <a:bodyPr/>
                    <a:lstStyle/>
                    <a:p>
                      <a:r>
                        <a:rPr sz="1000"/>
                        <a:t>Corrections are applied for atmospheric scattering.</a:t>
                      </a:r>
                    </a:p>
                    <a:p>
                      <a:endParaRPr sz="1000"/>
                    </a:p>
                    <a:p>
                      <a:r>
                        <a:rPr sz="1000"/>
                        <a:t>Metadata contains a single DOI landing page with references to:</a:t>
                      </a:r>
                    </a:p>
                    <a:p>
                      <a:endParaRPr sz="1000"/>
                    </a:p>
                    <a:p>
                      <a:r>
                        <a:rPr sz="1000"/>
                        <a:t>- a citable peer-reviewed algorithm</a:t>
                      </a:r>
                    </a:p>
                    <a:p>
                      <a:r>
                        <a:rPr sz="1000"/>
                        <a:t>- technical documentation regarding the implementation of that algorithm</a:t>
                      </a:r>
                    </a:p>
                    <a:p>
                      <a:r>
                        <a:rPr sz="1000"/>
                        <a:t>- the sources of ancillary data used to make corrections</a:t>
                      </a:r>
                    </a:p>
                  </a:txBody>
                  <a:tcPr>
                    <a:solidFill>
                      <a:srgbClr val="F2F2F2"/>
                    </a:solidFill>
                  </a:tcPr>
                </a:tc>
                <a:tc>
                  <a:txBody>
                    <a:bodyPr/>
                    <a:lstStyle/>
                    <a:p>
                      <a:r>
                        <a:rPr sz="1000" dirty="0"/>
                        <a:t>Corrections are applied for atmospheric scattering</a:t>
                      </a:r>
                      <a:r>
                        <a:rPr lang="de-DE" sz="1000" dirty="0"/>
                        <a:t>.</a:t>
                      </a:r>
                      <a:endParaRPr sz="1000" dirty="0"/>
                    </a:p>
                  </a:txBody>
                  <a:tcPr>
                    <a:solidFill>
                      <a:srgbClr val="F2F2F2"/>
                    </a:solidFill>
                  </a:tcP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nvGraphicFramePr>
        <p:xfrm>
          <a:off x="457200" y="4443983"/>
          <a:ext cx="11265408" cy="8991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Notes</a:t>
                      </a:r>
                    </a:p>
                  </a:txBody>
                  <a:tcPr>
                    <a:solidFill>
                      <a:srgbClr val="000000"/>
                    </a:solidFill>
                  </a:tcPr>
                </a:tc>
                <a:tc>
                  <a:txBody>
                    <a:bodyPr/>
                    <a:lstStyle/>
                    <a:p>
                      <a:r>
                        <a:rPr sz="1100" b="1">
                          <a:solidFill>
                            <a:srgbClr val="FFFFFF"/>
                          </a:solidFill>
                        </a:rPr>
                        <a:t>Proposed Threshold Notes</a:t>
                      </a:r>
                    </a:p>
                  </a:txBody>
                  <a:tcPr>
                    <a:solidFill>
                      <a:srgbClr val="000000"/>
                    </a:solidFill>
                  </a:tcPr>
                </a:tc>
                <a:extLst>
                  <a:ext uri="{0D108BD9-81ED-4DB2-BD59-A6C34878D82A}">
                    <a16:rowId xmlns:a16="http://schemas.microsoft.com/office/drawing/2014/main" val="10000"/>
                  </a:ext>
                </a:extLst>
              </a:tr>
              <a:tr h="121920">
                <a:tc>
                  <a:txBody>
                    <a:bodyPr/>
                    <a:lstStyle/>
                    <a:p>
                      <a:r>
                        <a:rPr sz="1000" b="1"/>
                        <a:t>ST</a:t>
                      </a:r>
                    </a:p>
                  </a:txBody>
                  <a:tcPr>
                    <a:solidFill>
                      <a:srgbClr val="FFFFFF"/>
                    </a:solidFill>
                  </a:tcPr>
                </a:tc>
                <a:tc>
                  <a:txBody>
                    <a:bodyPr/>
                    <a:lstStyle/>
                    <a:p>
                      <a:r>
                        <a:rPr sz="1000"/>
                        <a:t>(no notes)</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121920">
                <a:tc>
                  <a:txBody>
                    <a:bodyPr/>
                    <a:lstStyle/>
                    <a:p>
                      <a:r>
                        <a:rPr sz="1000" b="1"/>
                        <a:t>NLSR</a:t>
                      </a:r>
                    </a:p>
                    <a:p>
                      <a:r>
                        <a:rPr sz="1000" i="1">
                          <a:solidFill>
                            <a:srgbClr val="808080"/>
                          </a:solidFill>
                        </a:rPr>
                        <a:t>(baseline)</a:t>
                      </a:r>
                    </a:p>
                  </a:txBody>
                  <a:tcPr>
                    <a:solidFill>
                      <a:srgbClr val="F2F2F2"/>
                    </a:solidFill>
                  </a:tcPr>
                </a:tc>
                <a:tc>
                  <a:txBody>
                    <a:bodyPr/>
                    <a:lstStyle/>
                    <a:p>
                      <a:r>
                        <a:rPr sz="1000"/>
                        <a:t>Examples of technical documentation include an Algorithm Theoretical Basis Document, product user guide, etc.</a:t>
                      </a:r>
                    </a:p>
                  </a:txBody>
                  <a:tcPr>
                    <a:solidFill>
                      <a:srgbClr val="F2F2F2"/>
                    </a:solidFill>
                  </a:tcPr>
                </a:tc>
                <a:tc>
                  <a:txBody>
                    <a:bodyPr/>
                    <a:lstStyle/>
                    <a:p>
                      <a:r>
                        <a:rPr sz="1000" b="1">
                          <a:solidFill>
                            <a:srgbClr val="B00000"/>
                          </a:solidFill>
                        </a:rPr>
                        <a:t>DELETE NOTE</a:t>
                      </a:r>
                    </a:p>
                  </a:txBody>
                  <a:tcPr>
                    <a:solidFill>
                      <a:srgbClr val="F2F2F2"/>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457200" y="5415259"/>
            <a:ext cx="11277295" cy="738664"/>
          </a:xfrm>
          <a:prstGeom prst="rect">
            <a:avLst/>
          </a:prstGeom>
          <a:noFill/>
        </p:spPr>
        <p:txBody>
          <a:bodyPr wrap="square" lIns="0" tIns="0" rIns="0" bIns="0">
            <a:spAutoFit/>
          </a:bodyPr>
          <a:lstStyle/>
          <a:p>
            <a:r>
              <a:rPr sz="1200" b="1" dirty="0"/>
              <a:t>Internal notes: </a:t>
            </a:r>
            <a:r>
              <a:rPr sz="1200" i="1" dirty="0"/>
              <a:t>For DOI related discussions </a:t>
            </a:r>
            <a:r>
              <a:rPr lang="de-DE" sz="1200" i="1" dirty="0" err="1"/>
              <a:t>see</a:t>
            </a:r>
            <a:r>
              <a:rPr lang="de-DE" sz="1200" i="1" dirty="0"/>
              <a:t> "DOIs" </a:t>
            </a:r>
            <a:r>
              <a:rPr lang="de-DE" sz="1200" i="1" dirty="0" err="1"/>
              <a:t>slide</a:t>
            </a:r>
            <a:r>
              <a:rPr sz="1200" i="1" dirty="0"/>
              <a:t>.</a:t>
            </a:r>
          </a:p>
          <a:p>
            <a:endParaRPr sz="1200" i="1" dirty="0"/>
          </a:p>
          <a:p>
            <a:r>
              <a:rPr sz="1200" i="1" dirty="0"/>
              <a:t>The two requirements intentionally</a:t>
            </a:r>
            <a:r>
              <a:rPr lang="de-DE" sz="1200" i="1" dirty="0"/>
              <a:t>(?)</a:t>
            </a:r>
            <a:r>
              <a:rPr sz="1200" i="1" dirty="0"/>
              <a:t> differ in content (ST: surface temperature retrieval methods; NLSR: atmospheric scattering) and </a:t>
            </a:r>
            <a:r>
              <a:rPr lang="de-DE" sz="1200" i="1" dirty="0" err="1"/>
              <a:t>may</a:t>
            </a:r>
            <a:r>
              <a:rPr lang="de-DE" sz="1200" i="1" dirty="0"/>
              <a:t> </a:t>
            </a:r>
            <a:r>
              <a:rPr sz="1200" i="1" dirty="0"/>
              <a:t>stay separate; </a:t>
            </a:r>
            <a:r>
              <a:rPr lang="de-DE" sz="1200" i="1" dirty="0" err="1"/>
              <a:t>we</a:t>
            </a:r>
            <a:r>
              <a:rPr lang="de-DE" sz="1200" i="1" dirty="0"/>
              <a:t> </a:t>
            </a:r>
            <a:r>
              <a:rPr lang="de-DE" sz="1200" i="1" dirty="0" err="1"/>
              <a:t>may</a:t>
            </a:r>
            <a:r>
              <a:rPr lang="de-DE" sz="1200" i="1" dirty="0"/>
              <a:t> </a:t>
            </a:r>
            <a:r>
              <a:rPr lang="de-DE" sz="1200" i="1" dirty="0" err="1"/>
              <a:t>want</a:t>
            </a:r>
            <a:r>
              <a:rPr lang="de-DE" sz="1200" i="1" dirty="0"/>
              <a:t> to </a:t>
            </a:r>
            <a:r>
              <a:rPr lang="de-DE" sz="1200" i="1" dirty="0" err="1"/>
              <a:t>choose</a:t>
            </a:r>
            <a:r>
              <a:rPr lang="de-DE" sz="1200" i="1" dirty="0"/>
              <a:t> </a:t>
            </a:r>
            <a:r>
              <a:rPr lang="de-DE" sz="1200" i="1" dirty="0" err="1"/>
              <a:t>distinct</a:t>
            </a:r>
            <a:r>
              <a:rPr lang="de-DE" sz="1200" i="1" dirty="0"/>
              <a:t> </a:t>
            </a:r>
            <a:r>
              <a:rPr lang="de-DE" sz="1200" i="1" dirty="0" err="1"/>
              <a:t>titles</a:t>
            </a:r>
            <a:r>
              <a:rPr lang="de-DE" sz="1200" i="1" dirty="0"/>
              <a:t> </a:t>
            </a:r>
            <a:r>
              <a:rPr lang="de-DE" sz="1200" i="1" dirty="0" err="1"/>
              <a:t>if</a:t>
            </a:r>
            <a:r>
              <a:rPr lang="de-DE" sz="1200" i="1" dirty="0"/>
              <a:t> the </a:t>
            </a:r>
            <a:r>
              <a:rPr lang="de-DE" sz="1200" i="1" dirty="0" err="1"/>
              <a:t>requirements</a:t>
            </a:r>
            <a:r>
              <a:rPr lang="de-DE" sz="1200" i="1" dirty="0"/>
              <a:t> do different </a:t>
            </a:r>
            <a:r>
              <a:rPr lang="de-DE" sz="1200" i="1" dirty="0" err="1"/>
              <a:t>things</a:t>
            </a:r>
            <a:r>
              <a:rPr lang="de-DE" sz="1200" i="1" dirty="0"/>
              <a:t>.</a:t>
            </a:r>
            <a:endParaRPr sz="1200" i="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Directional Atmospheric Scattering (AR, SR)</a:t>
            </a:r>
          </a:p>
        </p:txBody>
      </p:sp>
      <p:graphicFrame>
        <p:nvGraphicFramePr>
          <p:cNvPr id="3" name="Table 2"/>
          <p:cNvGraphicFramePr>
            <a:graphicFrameLocks noGrp="1"/>
          </p:cNvGraphicFramePr>
          <p:nvPr>
            <p:extLst>
              <p:ext uri="{D42A27DB-BD31-4B8C-83A1-F6EECF244321}">
                <p14:modId xmlns:p14="http://schemas.microsoft.com/office/powerpoint/2010/main" val="422145653"/>
              </p:ext>
            </p:extLst>
          </p:nvPr>
        </p:nvGraphicFramePr>
        <p:xfrm>
          <a:off x="457200" y="1005840"/>
          <a:ext cx="11265408" cy="18135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121920">
                <a:tc>
                  <a:txBody>
                    <a:bodyPr/>
                    <a:lstStyle/>
                    <a:p>
                      <a:r>
                        <a:rPr sz="1000" b="1"/>
                        <a:t>AR</a:t>
                      </a:r>
                    </a:p>
                    <a:p>
                      <a:r>
                        <a:rPr sz="1000" i="1">
                          <a:solidFill>
                            <a:srgbClr val="808080"/>
                          </a:solidFill>
                        </a:rPr>
                        <a:t>(baseline)</a:t>
                      </a:r>
                    </a:p>
                  </a:txBody>
                  <a:tcPr>
                    <a:solidFill>
                      <a:srgbClr val="FFFFFF"/>
                    </a:solidFill>
                  </a:tcPr>
                </a:tc>
                <a:tc>
                  <a:txBody>
                    <a:bodyPr/>
                    <a:lstStyle/>
                    <a:p>
                      <a:r>
                        <a:rPr sz="1000"/>
                        <a:t>Specification of corrections applied for molecular (Rayleigh) scattering and for aerosol scattering and absorption..</a:t>
                      </a:r>
                    </a:p>
                  </a:txBody>
                  <a:tcPr>
                    <a:solidFill>
                      <a:srgbClr val="FFFFFF"/>
                    </a:solidFill>
                  </a:tcPr>
                </a:tc>
                <a:tc>
                  <a:txBody>
                    <a:bodyPr/>
                    <a:lstStyle/>
                    <a:p>
                      <a:r>
                        <a:rPr sz="1000"/>
                        <a:t>Specification of corrections applied for molecular (Rayleigh) scattering and for aerosol scattering and absorption.</a:t>
                      </a:r>
                      <a:r>
                        <a:rPr sz="1000" strike="sngStrike">
                          <a:solidFill>
                            <a:srgbClr val="B00000"/>
                          </a:solidFill>
                        </a:rPr>
                        <a:t>.</a:t>
                      </a:r>
                    </a:p>
                  </a:txBody>
                  <a:tcPr>
                    <a:solidFill>
                      <a:srgbClr val="FFFFFF"/>
                    </a:solidFill>
                  </a:tcPr>
                </a:tc>
                <a:extLst>
                  <a:ext uri="{0D108BD9-81ED-4DB2-BD59-A6C34878D82A}">
                    <a16:rowId xmlns:a16="http://schemas.microsoft.com/office/drawing/2014/main" val="10001"/>
                  </a:ext>
                </a:extLst>
              </a:tr>
              <a:tr h="121920">
                <a:tc>
                  <a:txBody>
                    <a:bodyPr/>
                    <a:lstStyle/>
                    <a:p>
                      <a:r>
                        <a:rPr sz="1000" b="1"/>
                        <a:t>SR</a:t>
                      </a:r>
                    </a:p>
                  </a:txBody>
                  <a:tcPr>
                    <a:solidFill>
                      <a:srgbClr val="F2F2F2"/>
                    </a:solidFill>
                  </a:tcPr>
                </a:tc>
                <a:tc>
                  <a:txBody>
                    <a:bodyPr/>
                    <a:lstStyle/>
                    <a:p>
                      <a:r>
                        <a:rPr sz="1000"/>
                        <a:t>C</a:t>
                      </a:r>
                      <a:r>
                        <a:rPr sz="1000">
                          <a:solidFill>
                            <a:srgbClr val="1565C0"/>
                          </a:solidFill>
                        </a:rPr>
                        <a:t>orrections a</a:t>
                      </a:r>
                      <a:r>
                        <a:rPr sz="1000"/>
                        <a:t>re a</a:t>
                      </a:r>
                      <a:r>
                        <a:rPr sz="1000">
                          <a:solidFill>
                            <a:srgbClr val="1565C0"/>
                          </a:solidFill>
                        </a:rPr>
                        <a:t>pplied for</a:t>
                      </a:r>
                      <a:r>
                        <a:rPr sz="1000"/>
                        <a:t> aerosols and</a:t>
                      </a:r>
                      <a:r>
                        <a:rPr sz="1000">
                          <a:solidFill>
                            <a:srgbClr val="1565C0"/>
                          </a:solidFill>
                        </a:rPr>
                        <a:t> molecular (Rayleigh) scattering</a:t>
                      </a:r>
                      <a:r>
                        <a:rPr sz="1000"/>
                        <a:t>.</a:t>
                      </a:r>
                    </a:p>
                    <a:p>
                      <a:endParaRPr sz="1000"/>
                    </a:p>
                    <a:p>
                      <a:r>
                        <a:rPr sz="1000"/>
                        <a:t>Metadata contains a single DOI landing page with references to:</a:t>
                      </a:r>
                    </a:p>
                    <a:p>
                      <a:endParaRPr sz="1000"/>
                    </a:p>
                    <a:p>
                      <a:r>
                        <a:rPr sz="1000"/>
                        <a:t>- a citable peer-reviewed algorithm</a:t>
                      </a:r>
                    </a:p>
                    <a:p>
                      <a:r>
                        <a:rPr sz="1000"/>
                        <a:t>- technical documentation regarding the implementation of that algorithm</a:t>
                      </a:r>
                    </a:p>
                    <a:p>
                      <a:r>
                        <a:rPr sz="1000"/>
                        <a:t>- the sources of ancillary data used to make corrections</a:t>
                      </a:r>
                    </a:p>
                  </a:txBody>
                  <a:tcPr>
                    <a:solidFill>
                      <a:srgbClr val="F2F2F2"/>
                    </a:solidFill>
                  </a:tcPr>
                </a:tc>
                <a:tc>
                  <a:txBody>
                    <a:bodyPr/>
                    <a:lstStyle/>
                    <a:p>
                      <a:r>
                        <a:rPr sz="1000" dirty="0">
                          <a:solidFill>
                            <a:schemeClr val="tx1"/>
                          </a:solidFill>
                        </a:rPr>
                        <a:t>Specification of corrections applied for molecular (Rayleigh) scattering and for aerosol scattering and absorption.</a:t>
                      </a:r>
                    </a:p>
                  </a:txBody>
                  <a:tcPr>
                    <a:solidFill>
                      <a:srgbClr val="F2F2F2"/>
                    </a:solidFill>
                  </a:tcPr>
                </a:tc>
                <a:extLst>
                  <a:ext uri="{0D108BD9-81ED-4DB2-BD59-A6C34878D82A}">
                    <a16:rowId xmlns:a16="http://schemas.microsoft.com/office/drawing/2014/main" val="10002"/>
                  </a:ext>
                </a:extLst>
              </a:tr>
            </a:tbl>
          </a:graphicData>
        </a:graphic>
      </p:graphicFrame>
      <p:graphicFrame>
        <p:nvGraphicFramePr>
          <p:cNvPr id="4" name="Table 3"/>
          <p:cNvGraphicFramePr>
            <a:graphicFrameLocks noGrp="1"/>
          </p:cNvGraphicFramePr>
          <p:nvPr/>
        </p:nvGraphicFramePr>
        <p:xfrm>
          <a:off x="457200" y="3191256"/>
          <a:ext cx="11265408" cy="10515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Notes</a:t>
                      </a:r>
                    </a:p>
                  </a:txBody>
                  <a:tcPr>
                    <a:solidFill>
                      <a:srgbClr val="000000"/>
                    </a:solidFill>
                  </a:tcPr>
                </a:tc>
                <a:tc>
                  <a:txBody>
                    <a:bodyPr/>
                    <a:lstStyle/>
                    <a:p>
                      <a:r>
                        <a:rPr sz="1100" b="1">
                          <a:solidFill>
                            <a:srgbClr val="FFFFFF"/>
                          </a:solidFill>
                        </a:rPr>
                        <a:t>Proposed Threshold Notes</a:t>
                      </a:r>
                    </a:p>
                  </a:txBody>
                  <a:tcPr>
                    <a:solidFill>
                      <a:srgbClr val="000000"/>
                    </a:solidFill>
                  </a:tcPr>
                </a:tc>
                <a:extLst>
                  <a:ext uri="{0D108BD9-81ED-4DB2-BD59-A6C34878D82A}">
                    <a16:rowId xmlns:a16="http://schemas.microsoft.com/office/drawing/2014/main" val="10000"/>
                  </a:ext>
                </a:extLst>
              </a:tr>
              <a:tr h="121920">
                <a:tc>
                  <a:txBody>
                    <a:bodyPr/>
                    <a:lstStyle/>
                    <a:p>
                      <a:r>
                        <a:rPr sz="1000" b="1"/>
                        <a:t>AR</a:t>
                      </a:r>
                    </a:p>
                    <a:p>
                      <a:r>
                        <a:rPr sz="1000" i="1">
                          <a:solidFill>
                            <a:srgbClr val="808080"/>
                          </a:solidFill>
                        </a:rPr>
                        <a:t>(baseline)</a:t>
                      </a:r>
                    </a:p>
                  </a:txBody>
                  <a:tcPr>
                    <a:solidFill>
                      <a:srgbClr val="FFFFFF"/>
                    </a:solidFill>
                  </a:tcPr>
                </a:tc>
                <a:tc>
                  <a:txBody>
                    <a:bodyPr/>
                    <a:lstStyle/>
                    <a:p>
                      <a:r>
                        <a:rPr sz="1000"/>
                        <a:t>See @mobley2016.</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121920">
                <a:tc>
                  <a:txBody>
                    <a:bodyPr/>
                    <a:lstStyle/>
                    <a:p>
                      <a:r>
                        <a:rPr sz="1000" b="1"/>
                        <a:t>SR</a:t>
                      </a:r>
                    </a:p>
                  </a:txBody>
                  <a:tcPr>
                    <a:solidFill>
                      <a:srgbClr val="F2F2F2"/>
                    </a:solidFill>
                  </a:tcPr>
                </a:tc>
                <a:tc>
                  <a:txBody>
                    <a:bodyPr/>
                    <a:lstStyle/>
                    <a:p>
                      <a:r>
                        <a:rPr sz="1000"/>
                        <a:t>Examples of technical documentation include an Algorithm Theoretical Basis Document, product user guide, etc.</a:t>
                      </a:r>
                    </a:p>
                  </a:txBody>
                  <a:tcPr>
                    <a:solidFill>
                      <a:srgbClr val="F2F2F2"/>
                    </a:solidFill>
                  </a:tcPr>
                </a:tc>
                <a:tc>
                  <a:txBody>
                    <a:bodyPr/>
                    <a:lstStyle/>
                    <a:p>
                      <a:r>
                        <a:rPr sz="1000" b="1">
                          <a:solidFill>
                            <a:srgbClr val="B00000"/>
                          </a:solidFill>
                        </a:rPr>
                        <a:t>DELETE NOTE</a:t>
                      </a:r>
                    </a:p>
                  </a:txBody>
                  <a:tcPr>
                    <a:solidFill>
                      <a:srgbClr val="F2F2F2"/>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457200" y="4383816"/>
            <a:ext cx="11277295" cy="184666"/>
          </a:xfrm>
          <a:prstGeom prst="rect">
            <a:avLst/>
          </a:prstGeom>
          <a:noFill/>
        </p:spPr>
        <p:txBody>
          <a:bodyPr wrap="square" lIns="0" tIns="0" rIns="0" bIns="0">
            <a:spAutoFit/>
          </a:bodyPr>
          <a:lstStyle/>
          <a:p>
            <a:r>
              <a:rPr sz="1200" b="1" dirty="0"/>
              <a:t>Internal notes: </a:t>
            </a:r>
            <a:r>
              <a:rPr sz="1200" i="1" dirty="0"/>
              <a:t>For DOI related discussions </a:t>
            </a:r>
            <a:r>
              <a:rPr lang="de-DE" sz="1200" i="1" dirty="0" err="1"/>
              <a:t>see</a:t>
            </a:r>
            <a:r>
              <a:rPr lang="de-DE" sz="1200" i="1" dirty="0"/>
              <a:t> "DOIs" </a:t>
            </a:r>
            <a:r>
              <a:rPr lang="de-DE" sz="1200" i="1" dirty="0" err="1"/>
              <a:t>slide</a:t>
            </a:r>
            <a:r>
              <a:rPr sz="1200" i="1"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Geometric Correction (AR, NLSR, SR, ST)</a:t>
            </a:r>
          </a:p>
        </p:txBody>
      </p:sp>
      <p:graphicFrame>
        <p:nvGraphicFramePr>
          <p:cNvPr id="3" name="Table 2"/>
          <p:cNvGraphicFramePr>
            <a:graphicFrameLocks noGrp="1"/>
          </p:cNvGraphicFramePr>
          <p:nvPr/>
        </p:nvGraphicFramePr>
        <p:xfrm>
          <a:off x="457200" y="1005840"/>
          <a:ext cx="11265408" cy="14478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Description</a:t>
                      </a:r>
                    </a:p>
                  </a:txBody>
                  <a:tcPr>
                    <a:solidFill>
                      <a:srgbClr val="000000"/>
                    </a:solidFill>
                  </a:tcPr>
                </a:tc>
                <a:tc>
                  <a:txBody>
                    <a:bodyPr/>
                    <a:lstStyle/>
                    <a:p>
                      <a:r>
                        <a:rPr sz="1100" b="1">
                          <a:solidFill>
                            <a:srgbClr val="FFFFFF"/>
                          </a:solidFill>
                        </a:rPr>
                        <a:t>Proposed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p>
                      <a:r>
                        <a:rPr sz="1000" i="1">
                          <a:solidFill>
                            <a:srgbClr val="808080"/>
                          </a:solidFill>
                        </a:rPr>
                        <a:t>(baseline)</a:t>
                      </a:r>
                    </a:p>
                  </a:txBody>
                  <a:tcPr>
                    <a:solidFill>
                      <a:srgbClr val="FFFFFF"/>
                    </a:solidFill>
                  </a:tcPr>
                </a:tc>
                <a:tc>
                  <a:txBody>
                    <a:bodyPr/>
                    <a:lstStyle/>
                    <a:p>
                      <a:r>
                        <a:rPr sz="1000"/>
                        <a:t>Applies for:</a:t>
                      </a:r>
                    </a:p>
                    <a:p>
                      <a:endParaRPr sz="1000"/>
                    </a:p>
                    <a:p>
                      <a:r>
                        <a:rPr sz="1000"/>
                        <a:t>1. land </a:t>
                      </a:r>
                    </a:p>
                    <a:p>
                      <a:r>
                        <a:rPr sz="1000"/>
                        <a:t>2. inland waters where an independent terrestrial referencing system is available</a:t>
                      </a:r>
                    </a:p>
                  </a:txBody>
                  <a:tcPr>
                    <a:solidFill>
                      <a:srgbClr val="FFFFFF"/>
                    </a:solidFill>
                  </a:tcPr>
                </a:tc>
                <a:tc>
                  <a:txBody>
                    <a:bodyPr/>
                    <a:lstStyle/>
                    <a:p>
                      <a:r>
                        <a:rPr sz="1000" i="1" dirty="0">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NLSR, SR</a:t>
                      </a:r>
                    </a:p>
                  </a:txBody>
                  <a:tcPr>
                    <a:solidFill>
                      <a:srgbClr val="F2F2F2"/>
                    </a:solidFill>
                  </a:tcPr>
                </a:tc>
                <a:tc>
                  <a:txBody>
                    <a:bodyPr/>
                    <a:lstStyle/>
                    <a:p>
                      <a:r>
                        <a:rPr sz="1000"/>
                        <a:t>(not set)</a:t>
                      </a:r>
                    </a:p>
                  </a:txBody>
                  <a:tcPr>
                    <a:solidFill>
                      <a:srgbClr val="F2F2F2"/>
                    </a:solidFill>
                  </a:tcPr>
                </a:tc>
                <a:tc>
                  <a:txBody>
                    <a:bodyPr/>
                    <a:lstStyle/>
                    <a:p>
                      <a:r>
                        <a:rPr sz="1000" i="1">
                          <a:solidFill>
                            <a:srgbClr val="808080"/>
                          </a:solidFill>
                        </a:rPr>
                        <a:t>(keep as is)</a:t>
                      </a:r>
                    </a:p>
                  </a:txBody>
                  <a:tcPr>
                    <a:solidFill>
                      <a:srgbClr val="F2F2F2"/>
                    </a:solidFill>
                  </a:tcPr>
                </a:tc>
                <a:extLst>
                  <a:ext uri="{0D108BD9-81ED-4DB2-BD59-A6C34878D82A}">
                    <a16:rowId xmlns:a16="http://schemas.microsoft.com/office/drawing/2014/main" val="10002"/>
                  </a:ext>
                </a:extLst>
              </a:tr>
              <a:tr h="0">
                <a:tc>
                  <a:txBody>
                    <a:bodyPr/>
                    <a:lstStyle/>
                    <a:p>
                      <a:r>
                        <a:rPr sz="1000" b="1"/>
                        <a:t>ST</a:t>
                      </a:r>
                    </a:p>
                  </a:txBody>
                  <a:tcPr>
                    <a:solidFill>
                      <a:srgbClr val="FFFFFF"/>
                    </a:solidFill>
                  </a:tcPr>
                </a:tc>
                <a:tc>
                  <a:txBody>
                    <a:bodyPr/>
                    <a:lstStyle/>
                    <a:p>
                      <a:r>
                        <a:rPr sz="1000"/>
                        <a:t>(not set)</a:t>
                      </a:r>
                    </a:p>
                  </a:txBody>
                  <a:tcPr>
                    <a:solidFill>
                      <a:srgbClr val="FFFFFF"/>
                    </a:solidFill>
                  </a:tcPr>
                </a:tc>
                <a:tc>
                  <a:txBody>
                    <a:bodyPr/>
                    <a:lstStyle/>
                    <a:p>
                      <a:r>
                        <a:rPr sz="1000" i="1" dirty="0">
                          <a:solidFill>
                            <a:srgbClr val="808080"/>
                          </a:solidFill>
                        </a:rPr>
                        <a:t>(keep as is)</a:t>
                      </a:r>
                    </a:p>
                  </a:txBody>
                  <a:tcP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Geometric Correction (AR, NLSR, SR, ST) (cont.)</a:t>
            </a:r>
          </a:p>
        </p:txBody>
      </p:sp>
      <p:graphicFrame>
        <p:nvGraphicFramePr>
          <p:cNvPr id="3" name="Table 2"/>
          <p:cNvGraphicFramePr>
            <a:graphicFrameLocks noGrp="1"/>
          </p:cNvGraphicFramePr>
          <p:nvPr/>
        </p:nvGraphicFramePr>
        <p:xfrm>
          <a:off x="457200" y="1005840"/>
          <a:ext cx="11265408" cy="55626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p>
                      <a:r>
                        <a:rPr sz="1000" i="1">
                          <a:solidFill>
                            <a:srgbClr val="808080"/>
                          </a:solidFill>
                        </a:rPr>
                        <a:t>(baseline)</a:t>
                      </a:r>
                    </a:p>
                  </a:txBody>
                  <a:tcPr>
                    <a:solidFill>
                      <a:srgbClr val="FFFFFF"/>
                    </a:solidFill>
                  </a:tcPr>
                </a:tc>
                <a:tc>
                  <a:txBody>
                    <a:bodyPr/>
                    <a:lstStyle/>
                    <a:p>
                      <a:r>
                        <a:rPr sz="1000"/>
                        <a:t>Sub-pixel uncertainty is achieved in relative geolocation, that is, the pixels from the same instrument and platform are consistently located, and are thus comparable, through time.</a:t>
                      </a:r>
                    </a:p>
                    <a:p>
                      <a:endParaRPr sz="1000"/>
                    </a:p>
                    <a:p>
                      <a:r>
                        <a:rPr sz="1000"/>
                        <a:t>Sub-pixel uncertainty is taken to be less than or equal to 0.5-pixel radial root mean square error (rRMSE) or equivalent in Circular Error Probability (CEP) relative to a defined reference image.</a:t>
                      </a:r>
                    </a:p>
                    <a:p>
                      <a:endParaRPr sz="1000"/>
                    </a:p>
                    <a:p>
                      <a:r>
                        <a:rPr sz="1000"/>
                        <a:t>A consistent gridding/sampling frame is used, including common cell size, origin, and nominal sample point location within the cell (centre, ll, ur).</a:t>
                      </a:r>
                    </a:p>
                    <a:p>
                      <a:endParaRPr sz="1000"/>
                    </a:p>
                    <a:p>
                      <a:r>
                        <a:rPr sz="1000"/>
                        <a:t>Relevant metadata must be provided under [@geometric-uncertainty] and [@instrument].</a:t>
                      </a:r>
                    </a:p>
                  </a:txBody>
                  <a:tcPr>
                    <a:solidFill>
                      <a:srgbClr val="FFFFFF"/>
                    </a:solidFill>
                  </a:tcPr>
                </a:tc>
                <a:tc>
                  <a:txBody>
                    <a:bodyPr/>
                    <a:lstStyle/>
                    <a:p>
                      <a:r>
                        <a:rPr sz="1000"/>
                        <a:t>Sub-pixel uncertainty is achieved in relative geolocation, that is, the pixels from the same instrument and platform are consistently located, and are thus comparable, through time.</a:t>
                      </a:r>
                    </a:p>
                    <a:p>
                      <a:endParaRPr sz="1000"/>
                    </a:p>
                    <a:p>
                      <a:r>
                        <a:rPr sz="1000" b="1">
                          <a:solidFill>
                            <a:srgbClr val="2E7D32"/>
                          </a:solidFill>
                        </a:rPr>
                        <a:t> </a:t>
                      </a:r>
                      <a:r>
                        <a:rPr sz="1000"/>
                        <a:t>Sub-pixel uncertainty is taken to be less than or equal to 0.5-pixel radial root mean square error (rRMSE) or equivalent in Circular Error Probability (CEP) relative to a defined reference image.</a:t>
                      </a:r>
                    </a:p>
                    <a:p>
                      <a:endParaRPr sz="1000"/>
                    </a:p>
                    <a:p>
                      <a:r>
                        <a:rPr sz="1000" b="1">
                          <a:solidFill>
                            <a:srgbClr val="2E7D32"/>
                          </a:solidFill>
                        </a:rPr>
                        <a:t> </a:t>
                      </a:r>
                      <a:r>
                        <a:rPr sz="1000"/>
                        <a:t>A consistent gridding/sampling frame is used, including common cell size, origin, and nominal sample point location within the cell (centre, ll, ur).</a:t>
                      </a:r>
                    </a:p>
                    <a:p>
                      <a:endParaRPr sz="1000"/>
                    </a:p>
                    <a:p>
                      <a:r>
                        <a:rPr sz="1000"/>
                        <a:t>Relevant metadata must be provided under [@geometric-uncertainty] and [@instrument].</a:t>
                      </a:r>
                    </a:p>
                  </a:txBody>
                  <a:tcPr>
                    <a:solidFill>
                      <a:srgbClr val="FFFFFF"/>
                    </a:solidFill>
                  </a:tcPr>
                </a:tc>
                <a:extLst>
                  <a:ext uri="{0D108BD9-81ED-4DB2-BD59-A6C34878D82A}">
                    <a16:rowId xmlns:a16="http://schemas.microsoft.com/office/drawing/2014/main" val="10001"/>
                  </a:ext>
                </a:extLst>
              </a:tr>
              <a:tr h="0">
                <a:tc>
                  <a:txBody>
                    <a:bodyPr/>
                    <a:lstStyle/>
                    <a:p>
                      <a:r>
                        <a:rPr sz="1000" b="1"/>
                        <a:t>NLSR, SR</a:t>
                      </a:r>
                    </a:p>
                  </a:txBody>
                  <a:tcPr>
                    <a:solidFill>
                      <a:srgbClr val="F2F2F2"/>
                    </a:solidFill>
                  </a:tcPr>
                </a:tc>
                <a:tc>
                  <a:txBody>
                    <a:bodyPr/>
                    <a:lstStyle/>
                    <a:p>
                      <a:r>
                        <a:rPr sz="1000"/>
                        <a:t>Sub-pixel </a:t>
                      </a:r>
                      <a:r>
                        <a:rPr sz="1000" strike="sngStrike">
                          <a:solidFill>
                            <a:srgbClr val="B00000"/>
                          </a:solidFill>
                        </a:rPr>
                        <a:t>uncertaint</a:t>
                      </a:r>
                      <a:r>
                        <a:rPr sz="1000" b="1">
                          <a:solidFill>
                            <a:srgbClr val="2E7D32"/>
                          </a:solidFill>
                        </a:rPr>
                        <a:t>accurac</a:t>
                      </a:r>
                      <a:r>
                        <a:rPr sz="1000"/>
                        <a:t>y is achieved in relative geolocation, that is, the pixels from the same instrument and platform are consistently located, and are thus comparable, through time.</a:t>
                      </a:r>
                    </a:p>
                    <a:p>
                      <a:endParaRPr sz="1000"/>
                    </a:p>
                    <a:p>
                      <a:r>
                        <a:rPr sz="1000"/>
                        <a:t>Sub-pixel </a:t>
                      </a:r>
                      <a:r>
                        <a:rPr sz="1000" strike="sngStrike">
                          <a:solidFill>
                            <a:srgbClr val="B00000"/>
                          </a:solidFill>
                        </a:rPr>
                        <a:t>uncertaint</a:t>
                      </a:r>
                      <a:r>
                        <a:rPr sz="1000" b="1">
                          <a:solidFill>
                            <a:srgbClr val="2E7D32"/>
                          </a:solidFill>
                        </a:rPr>
                        <a:t>accurac</a:t>
                      </a:r>
                      <a:r>
                        <a:rPr sz="1000"/>
                        <a:t>y is taken to be less than or equal to 0.5</a:t>
                      </a:r>
                      <a:r>
                        <a:rPr sz="1000" strike="sngStrike">
                          <a:solidFill>
                            <a:srgbClr val="B00000"/>
                          </a:solidFill>
                        </a:rPr>
                        <a:t>-</a:t>
                      </a:r>
                      <a:r>
                        <a:rPr sz="1000" b="1">
                          <a:solidFill>
                            <a:srgbClr val="2E7D32"/>
                          </a:solidFill>
                        </a:rPr>
                        <a:t> </a:t>
                      </a:r>
                      <a:r>
                        <a:rPr sz="1000"/>
                        <a:t>pixel radial root mean square error (rRMSE) or equivalent in Circular Error Probability (CEP) relative to a defined reference image.</a:t>
                      </a:r>
                    </a:p>
                    <a:p>
                      <a:endParaRPr sz="1000"/>
                    </a:p>
                    <a:p>
                      <a:r>
                        <a:rPr sz="1000"/>
                        <a:t>A consistent gridding/sampling frame is used, including common cell size, origin, and nominal sample point location within the cell (centre, ll, ur).</a:t>
                      </a:r>
                    </a:p>
                    <a:p>
                      <a:endParaRPr sz="1000"/>
                    </a:p>
                    <a:p>
                      <a:r>
                        <a:rPr sz="1000"/>
                        <a:t>Relevant metadata must be provided under [@geometric-</a:t>
                      </a:r>
                      <a:r>
                        <a:rPr sz="1000" strike="sngStrike">
                          <a:solidFill>
                            <a:srgbClr val="B00000"/>
                          </a:solidFill>
                        </a:rPr>
                        <a:t>uncertaint</a:t>
                      </a:r>
                      <a:r>
                        <a:rPr sz="1000" b="1">
                          <a:solidFill>
                            <a:srgbClr val="2E7D32"/>
                          </a:solidFill>
                        </a:rPr>
                        <a:t>accurac</a:t>
                      </a:r>
                      <a:r>
                        <a:rPr sz="1000"/>
                        <a:t>y] and [@instrument].</a:t>
                      </a:r>
                    </a:p>
                  </a:txBody>
                  <a:tcPr>
                    <a:solidFill>
                      <a:srgbClr val="F2F2F2"/>
                    </a:solidFill>
                  </a:tcPr>
                </a:tc>
                <a:tc>
                  <a:txBody>
                    <a:bodyPr/>
                    <a:lstStyle/>
                    <a:p>
                      <a:r>
                        <a:rPr sz="1000" dirty="0"/>
                        <a:t>Sub-pixel </a:t>
                      </a:r>
                      <a:r>
                        <a:rPr sz="1000" strike="sngStrike" dirty="0" err="1">
                          <a:solidFill>
                            <a:srgbClr val="B00000"/>
                          </a:solidFill>
                        </a:rPr>
                        <a:t>accurac</a:t>
                      </a:r>
                      <a:r>
                        <a:rPr sz="1000" b="1" dirty="0" err="1">
                          <a:solidFill>
                            <a:srgbClr val="2E7D32"/>
                          </a:solidFill>
                        </a:rPr>
                        <a:t>uncertaint</a:t>
                      </a:r>
                      <a:r>
                        <a:rPr sz="1000" dirty="0" err="1"/>
                        <a:t>y</a:t>
                      </a:r>
                      <a:r>
                        <a:rPr sz="1000" dirty="0"/>
                        <a:t> is achieved in relative geolocation, that is, the pixels from the same instrument and platform are consistently located, and are thus comparable, through time.</a:t>
                      </a:r>
                    </a:p>
                    <a:p>
                      <a:endParaRPr sz="1000" dirty="0"/>
                    </a:p>
                    <a:p>
                      <a:r>
                        <a:rPr sz="1000" b="1" dirty="0">
                          <a:solidFill>
                            <a:srgbClr val="2E7D32"/>
                          </a:solidFill>
                        </a:rPr>
                        <a:t> </a:t>
                      </a:r>
                      <a:r>
                        <a:rPr sz="1000" dirty="0"/>
                        <a:t>Sub-pixel </a:t>
                      </a:r>
                      <a:r>
                        <a:rPr sz="1000" strike="sngStrike" dirty="0" err="1">
                          <a:solidFill>
                            <a:srgbClr val="B00000"/>
                          </a:solidFill>
                        </a:rPr>
                        <a:t>accurac</a:t>
                      </a:r>
                      <a:r>
                        <a:rPr sz="1000" b="1" dirty="0" err="1">
                          <a:solidFill>
                            <a:srgbClr val="2E7D32"/>
                          </a:solidFill>
                        </a:rPr>
                        <a:t>uncertaint</a:t>
                      </a:r>
                      <a:r>
                        <a:rPr sz="1000" dirty="0" err="1"/>
                        <a:t>y</a:t>
                      </a:r>
                      <a:r>
                        <a:rPr sz="1000" dirty="0"/>
                        <a:t> is taken to be less than or equal to 0.5</a:t>
                      </a:r>
                      <a:r>
                        <a:rPr sz="1000" strike="sngStrike" dirty="0">
                          <a:solidFill>
                            <a:srgbClr val="B00000"/>
                          </a:solidFill>
                        </a:rPr>
                        <a:t> </a:t>
                      </a:r>
                      <a:r>
                        <a:rPr sz="1000" b="1" dirty="0">
                          <a:solidFill>
                            <a:srgbClr val="2E7D32"/>
                          </a:solidFill>
                        </a:rPr>
                        <a:t>-</a:t>
                      </a:r>
                      <a:r>
                        <a:rPr sz="1000" dirty="0"/>
                        <a:t>pixel radial root mean square error (</a:t>
                      </a:r>
                      <a:r>
                        <a:rPr sz="1000" dirty="0" err="1"/>
                        <a:t>rRMSE</a:t>
                      </a:r>
                      <a:r>
                        <a:rPr sz="1000" dirty="0"/>
                        <a:t>) or equivalent in Circular Error Probability (CEP) relative to a defined reference image.</a:t>
                      </a:r>
                    </a:p>
                    <a:p>
                      <a:endParaRPr sz="1000" dirty="0"/>
                    </a:p>
                    <a:p>
                      <a:r>
                        <a:rPr sz="1000" b="1" dirty="0">
                          <a:solidFill>
                            <a:srgbClr val="2E7D32"/>
                          </a:solidFill>
                        </a:rPr>
                        <a:t> </a:t>
                      </a:r>
                      <a:r>
                        <a:rPr sz="1000" dirty="0"/>
                        <a:t>A consistent gridding/sampling frame is used, including common cell size, origin, and nominal sample point location within the cell (</a:t>
                      </a:r>
                      <a:r>
                        <a:rPr sz="1000" dirty="0" err="1"/>
                        <a:t>centre</a:t>
                      </a:r>
                      <a:r>
                        <a:rPr sz="1000" dirty="0"/>
                        <a:t>, </a:t>
                      </a:r>
                      <a:r>
                        <a:rPr sz="1000" dirty="0" err="1"/>
                        <a:t>ll</a:t>
                      </a:r>
                      <a:r>
                        <a:rPr sz="1000" dirty="0"/>
                        <a:t>, </a:t>
                      </a:r>
                      <a:r>
                        <a:rPr sz="1000" dirty="0" err="1"/>
                        <a:t>ur</a:t>
                      </a:r>
                      <a:r>
                        <a:rPr sz="1000" dirty="0"/>
                        <a:t>).</a:t>
                      </a:r>
                    </a:p>
                    <a:p>
                      <a:endParaRPr sz="1000" dirty="0"/>
                    </a:p>
                    <a:p>
                      <a:r>
                        <a:rPr sz="1000" dirty="0"/>
                        <a:t>Relevant metadata must be provided under [@geometric-</a:t>
                      </a:r>
                      <a:r>
                        <a:rPr sz="1000" strike="sngStrike" dirty="0">
                          <a:solidFill>
                            <a:srgbClr val="B00000"/>
                          </a:solidFill>
                        </a:rPr>
                        <a:t>accurac</a:t>
                      </a:r>
                      <a:r>
                        <a:rPr sz="1000" b="1" dirty="0">
                          <a:solidFill>
                            <a:srgbClr val="2E7D32"/>
                          </a:solidFill>
                        </a:rPr>
                        <a:t>uncertaint</a:t>
                      </a:r>
                      <a:r>
                        <a:rPr sz="1000" dirty="0"/>
                        <a:t>y] and [@instrument].</a:t>
                      </a:r>
                    </a:p>
                  </a:txBody>
                  <a:tcPr>
                    <a:solidFill>
                      <a:srgbClr val="F2F2F2"/>
                    </a:solidFill>
                  </a:tcPr>
                </a:tc>
                <a:extLst>
                  <a:ext uri="{0D108BD9-81ED-4DB2-BD59-A6C34878D82A}">
                    <a16:rowId xmlns:a16="http://schemas.microsoft.com/office/drawing/2014/main" val="10002"/>
                  </a:ext>
                </a:extLst>
              </a:tr>
              <a:tr h="0">
                <a:tc>
                  <a:txBody>
                    <a:bodyPr/>
                    <a:lstStyle/>
                    <a:p>
                      <a:r>
                        <a:rPr sz="1000" b="1"/>
                        <a:t>ST</a:t>
                      </a:r>
                    </a:p>
                  </a:txBody>
                  <a:tcPr>
                    <a:solidFill>
                      <a:srgbClr val="FFFFFF"/>
                    </a:solidFill>
                  </a:tcPr>
                </a:tc>
                <a:tc>
                  <a:txBody>
                    <a:bodyPr/>
                    <a:lstStyle/>
                    <a:p>
                      <a:r>
                        <a:rPr sz="1000"/>
                        <a:t>Sub-pixel </a:t>
                      </a:r>
                      <a:r>
                        <a:rPr sz="1000" strike="sngStrike">
                          <a:solidFill>
                            <a:srgbClr val="B00000"/>
                          </a:solidFill>
                        </a:rPr>
                        <a:t>uncertaint</a:t>
                      </a:r>
                      <a:r>
                        <a:rPr sz="1000" b="1">
                          <a:solidFill>
                            <a:srgbClr val="2E7D32"/>
                          </a:solidFill>
                        </a:rPr>
                        <a:t>accurac</a:t>
                      </a:r>
                      <a:r>
                        <a:rPr sz="1000"/>
                        <a:t>y is achieved in relative geolocation, that is, the pixels from the same instrument and platform are consistently located, and are thus comparable, through time.</a:t>
                      </a:r>
                    </a:p>
                    <a:p>
                      <a:endParaRPr sz="1000"/>
                    </a:p>
                    <a:p>
                      <a:r>
                        <a:rPr sz="1000"/>
                        <a:t>Sub-pixel </a:t>
                      </a:r>
                      <a:r>
                        <a:rPr sz="1000" strike="sngStrike">
                          <a:solidFill>
                            <a:srgbClr val="B00000"/>
                          </a:solidFill>
                        </a:rPr>
                        <a:t>uncertaint</a:t>
                      </a:r>
                      <a:r>
                        <a:rPr sz="1000" b="1">
                          <a:solidFill>
                            <a:srgbClr val="2E7D32"/>
                          </a:solidFill>
                        </a:rPr>
                        <a:t>accurac</a:t>
                      </a:r>
                      <a:r>
                        <a:rPr sz="1000"/>
                        <a:t>y is taken to be less than or equal to 0.5</a:t>
                      </a:r>
                      <a:r>
                        <a:rPr sz="1000" strike="sngStrike">
                          <a:solidFill>
                            <a:srgbClr val="B00000"/>
                          </a:solidFill>
                        </a:rPr>
                        <a:t>-</a:t>
                      </a:r>
                      <a:r>
                        <a:rPr sz="1000" b="1">
                          <a:solidFill>
                            <a:srgbClr val="2E7D32"/>
                          </a:solidFill>
                        </a:rPr>
                        <a:t> </a:t>
                      </a:r>
                      <a:r>
                        <a:rPr sz="1000"/>
                        <a:t>pixel radial root mean square error (rRMSE) or equivalent in Circular Error Probability (CEP) relative to a defined reference image.</a:t>
                      </a:r>
                    </a:p>
                    <a:p>
                      <a:endParaRPr sz="1000"/>
                    </a:p>
                    <a:p>
                      <a:r>
                        <a:rPr sz="1000"/>
                        <a:t>A consistent gridding/sampling frame is </a:t>
                      </a:r>
                      <a:r>
                        <a:rPr sz="1000" strike="sngStrike">
                          <a:solidFill>
                            <a:srgbClr val="B00000"/>
                          </a:solidFill>
                        </a:rPr>
                        <a:t>used, including common cell size, origin, and nominal sample point location within the cell (centre, ll, ur)</a:t>
                      </a:r>
                      <a:r>
                        <a:rPr sz="1000" b="1">
                          <a:solidFill>
                            <a:srgbClr val="2E7D32"/>
                          </a:solidFill>
                        </a:rPr>
                        <a:t>necessary to meet this requirement</a:t>
                      </a:r>
                      <a:r>
                        <a:rPr sz="1000"/>
                        <a:t>.</a:t>
                      </a:r>
                    </a:p>
                    <a:p>
                      <a:endParaRPr sz="1000"/>
                    </a:p>
                    <a:p>
                      <a:r>
                        <a:rPr sz="1000"/>
                        <a:t>Relevant metadata must be provided under [@geometric-uncertainty] and [@instrument].</a:t>
                      </a:r>
                    </a:p>
                  </a:txBody>
                  <a:tcPr>
                    <a:solidFill>
                      <a:srgbClr val="FFFFFF"/>
                    </a:solidFill>
                  </a:tcPr>
                </a:tc>
                <a:tc>
                  <a:txBody>
                    <a:bodyPr/>
                    <a:lstStyle/>
                    <a:p>
                      <a:r>
                        <a:rPr sz="1000" dirty="0"/>
                        <a:t>Sub-pixel </a:t>
                      </a:r>
                      <a:r>
                        <a:rPr sz="1000" strike="sngStrike" dirty="0" err="1">
                          <a:solidFill>
                            <a:srgbClr val="B00000"/>
                          </a:solidFill>
                        </a:rPr>
                        <a:t>accurac</a:t>
                      </a:r>
                      <a:r>
                        <a:rPr sz="1000" b="1" dirty="0" err="1">
                          <a:solidFill>
                            <a:srgbClr val="2E7D32"/>
                          </a:solidFill>
                        </a:rPr>
                        <a:t>uncertaint</a:t>
                      </a:r>
                      <a:r>
                        <a:rPr sz="1000" dirty="0" err="1"/>
                        <a:t>y</a:t>
                      </a:r>
                      <a:r>
                        <a:rPr sz="1000" dirty="0"/>
                        <a:t> is achieved in relative geolocation, that is, the pixels from the same instrument and platform are consistently located, and are thus comparable, through time.</a:t>
                      </a:r>
                    </a:p>
                    <a:p>
                      <a:endParaRPr sz="1000" dirty="0"/>
                    </a:p>
                    <a:p>
                      <a:r>
                        <a:rPr sz="1000" b="1" dirty="0">
                          <a:solidFill>
                            <a:srgbClr val="2E7D32"/>
                          </a:solidFill>
                        </a:rPr>
                        <a:t> </a:t>
                      </a:r>
                      <a:r>
                        <a:rPr sz="1000" dirty="0"/>
                        <a:t>Sub-pixel </a:t>
                      </a:r>
                      <a:r>
                        <a:rPr sz="1000" strike="sngStrike" dirty="0" err="1">
                          <a:solidFill>
                            <a:srgbClr val="B00000"/>
                          </a:solidFill>
                        </a:rPr>
                        <a:t>accurac</a:t>
                      </a:r>
                      <a:r>
                        <a:rPr sz="1000" b="1" dirty="0" err="1">
                          <a:solidFill>
                            <a:srgbClr val="2E7D32"/>
                          </a:solidFill>
                        </a:rPr>
                        <a:t>uncertaint</a:t>
                      </a:r>
                      <a:r>
                        <a:rPr sz="1000" dirty="0" err="1"/>
                        <a:t>y</a:t>
                      </a:r>
                      <a:r>
                        <a:rPr sz="1000" dirty="0"/>
                        <a:t> is taken to be less than or equal to 0.5</a:t>
                      </a:r>
                      <a:r>
                        <a:rPr sz="1000" strike="sngStrike" dirty="0">
                          <a:solidFill>
                            <a:srgbClr val="B00000"/>
                          </a:solidFill>
                        </a:rPr>
                        <a:t> </a:t>
                      </a:r>
                      <a:r>
                        <a:rPr sz="1000" b="1" dirty="0">
                          <a:solidFill>
                            <a:srgbClr val="2E7D32"/>
                          </a:solidFill>
                        </a:rPr>
                        <a:t>-</a:t>
                      </a:r>
                      <a:r>
                        <a:rPr sz="1000" dirty="0"/>
                        <a:t>pixel radial root mean square error (</a:t>
                      </a:r>
                      <a:r>
                        <a:rPr sz="1000" dirty="0" err="1"/>
                        <a:t>rRMSE</a:t>
                      </a:r>
                      <a:r>
                        <a:rPr sz="1000" dirty="0"/>
                        <a:t>) or equivalent in Circular Error Probability (CEP) relative to a defined reference image.</a:t>
                      </a:r>
                    </a:p>
                    <a:p>
                      <a:endParaRPr sz="1000" dirty="0"/>
                    </a:p>
                    <a:p>
                      <a:r>
                        <a:rPr sz="1000" b="1" dirty="0">
                          <a:solidFill>
                            <a:srgbClr val="2E7D32"/>
                          </a:solidFill>
                        </a:rPr>
                        <a:t> </a:t>
                      </a:r>
                      <a:r>
                        <a:rPr sz="1000" dirty="0"/>
                        <a:t>A consistent gridding/sampling frame is </a:t>
                      </a:r>
                      <a:r>
                        <a:rPr sz="1000" strike="sngStrike" dirty="0">
                          <a:solidFill>
                            <a:srgbClr val="B00000"/>
                          </a:solidFill>
                        </a:rPr>
                        <a:t>necessary to meet this </a:t>
                      </a:r>
                      <a:r>
                        <a:rPr sz="1000" strike="sngStrike" dirty="0" err="1">
                          <a:solidFill>
                            <a:srgbClr val="B00000"/>
                          </a:solidFill>
                        </a:rPr>
                        <a:t>requirement</a:t>
                      </a:r>
                      <a:r>
                        <a:rPr sz="1000" b="1" dirty="0" err="1">
                          <a:solidFill>
                            <a:srgbClr val="2E7D32"/>
                          </a:solidFill>
                        </a:rPr>
                        <a:t>used</a:t>
                      </a:r>
                      <a:r>
                        <a:rPr sz="1000" b="1" dirty="0">
                          <a:solidFill>
                            <a:srgbClr val="2E7D32"/>
                          </a:solidFill>
                        </a:rPr>
                        <a:t>, including common cell size, origin, and nominal sample point location within the cell (</a:t>
                      </a:r>
                      <a:r>
                        <a:rPr sz="1000" b="1" dirty="0" err="1">
                          <a:solidFill>
                            <a:srgbClr val="2E7D32"/>
                          </a:solidFill>
                        </a:rPr>
                        <a:t>centre</a:t>
                      </a:r>
                      <a:r>
                        <a:rPr sz="1000" b="1" dirty="0">
                          <a:solidFill>
                            <a:srgbClr val="2E7D32"/>
                          </a:solidFill>
                        </a:rPr>
                        <a:t>, </a:t>
                      </a:r>
                      <a:r>
                        <a:rPr sz="1000" b="1" dirty="0" err="1">
                          <a:solidFill>
                            <a:srgbClr val="2E7D32"/>
                          </a:solidFill>
                        </a:rPr>
                        <a:t>ll</a:t>
                      </a:r>
                      <a:r>
                        <a:rPr sz="1000" b="1" dirty="0">
                          <a:solidFill>
                            <a:srgbClr val="2E7D32"/>
                          </a:solidFill>
                        </a:rPr>
                        <a:t>, </a:t>
                      </a:r>
                      <a:r>
                        <a:rPr sz="1000" b="1" dirty="0" err="1">
                          <a:solidFill>
                            <a:srgbClr val="2E7D32"/>
                          </a:solidFill>
                        </a:rPr>
                        <a:t>ur</a:t>
                      </a:r>
                      <a:r>
                        <a:rPr sz="1000" b="1" dirty="0">
                          <a:solidFill>
                            <a:srgbClr val="2E7D32"/>
                          </a:solidFill>
                        </a:rPr>
                        <a:t>)</a:t>
                      </a:r>
                      <a:r>
                        <a:rPr sz="1000" dirty="0"/>
                        <a:t>.</a:t>
                      </a:r>
                    </a:p>
                    <a:p>
                      <a:endParaRPr sz="1000" dirty="0"/>
                    </a:p>
                    <a:p>
                      <a:r>
                        <a:rPr sz="1000" dirty="0"/>
                        <a:t>Relevant metadata must be provided under [@geometric-uncertainty] and [@instrument].</a:t>
                      </a:r>
                    </a:p>
                  </a:txBody>
                  <a:tcP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Geometric Correction (AR, NLSR, SR, ST) (cont.)</a:t>
            </a:r>
          </a:p>
        </p:txBody>
      </p:sp>
      <p:graphicFrame>
        <p:nvGraphicFramePr>
          <p:cNvPr id="3" name="Table 2"/>
          <p:cNvGraphicFramePr>
            <a:graphicFrameLocks noGrp="1"/>
          </p:cNvGraphicFramePr>
          <p:nvPr>
            <p:extLst>
              <p:ext uri="{D42A27DB-BD31-4B8C-83A1-F6EECF244321}">
                <p14:modId xmlns:p14="http://schemas.microsoft.com/office/powerpoint/2010/main" val="1482557344"/>
              </p:ext>
            </p:extLst>
          </p:nvPr>
        </p:nvGraphicFramePr>
        <p:xfrm>
          <a:off x="457200" y="1005840"/>
          <a:ext cx="11265408" cy="23622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Notes</a:t>
                      </a:r>
                    </a:p>
                  </a:txBody>
                  <a:tcPr>
                    <a:solidFill>
                      <a:srgbClr val="000000"/>
                    </a:solidFill>
                  </a:tcPr>
                </a:tc>
                <a:tc>
                  <a:txBody>
                    <a:bodyPr/>
                    <a:lstStyle/>
                    <a:p>
                      <a:r>
                        <a:rPr sz="1100" b="1">
                          <a:solidFill>
                            <a:srgbClr val="FFFFFF"/>
                          </a:solidFill>
                        </a:rPr>
                        <a:t>Proposed Threshold Notes</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txBody>
                  <a:tcPr>
                    <a:solidFill>
                      <a:srgbClr val="FFFFFF"/>
                    </a:solidFill>
                  </a:tcPr>
                </a:tc>
                <a:tc>
                  <a:txBody>
                    <a:bodyPr/>
                    <a:lstStyle/>
                    <a:p>
                      <a:r>
                        <a:rPr lang="de-DE" sz="1000" dirty="0"/>
                        <a:t>1. </a:t>
                      </a:r>
                      <a:r>
                        <a:rPr sz="1000" dirty="0"/>
                        <a:t>The threshold level will not necessarily enable interoperability between data from **different** sources as the geometric corrections for each of the sources may differ.</a:t>
                      </a:r>
                    </a:p>
                    <a:p>
                      <a:r>
                        <a:rPr lang="de-DE" sz="1000" b="1" dirty="0">
                          <a:solidFill>
                            <a:srgbClr val="2E7D32"/>
                          </a:solidFill>
                        </a:rPr>
                        <a:t>2. </a:t>
                      </a:r>
                      <a:r>
                        <a:rPr sz="1000" b="1" dirty="0">
                          <a:solidFill>
                            <a:srgbClr val="2E7D32"/>
                          </a:solidFill>
                        </a:rPr>
                        <a:t>It is useful to note if the sensor is used at its native resolution before geometric correction or that some resampling must be done.</a:t>
                      </a:r>
                    </a:p>
                  </a:txBody>
                  <a:tcPr>
                    <a:solidFill>
                      <a:srgbClr val="FFFFFF"/>
                    </a:solidFill>
                  </a:tcPr>
                </a:tc>
                <a:tc>
                  <a:txBody>
                    <a:bodyPr/>
                    <a:lstStyle/>
                    <a:p>
                      <a:r>
                        <a:rPr sz="1000" b="1" dirty="0">
                          <a:solidFill>
                            <a:srgbClr val="2E7D32"/>
                          </a:solidFill>
                        </a:rPr>
                        <a:t>1. </a:t>
                      </a:r>
                      <a:r>
                        <a:rPr sz="1000" dirty="0"/>
                        <a:t>The threshold level will not necessarily enable interoperability between data from </a:t>
                      </a:r>
                      <a:r>
                        <a:rPr sz="1000" strike="sngStrike" dirty="0">
                          <a:solidFill>
                            <a:srgbClr val="B00000"/>
                          </a:solidFill>
                        </a:rPr>
                        <a:t>**different**</a:t>
                      </a:r>
                      <a:r>
                        <a:rPr sz="1000" b="1" dirty="0">
                          <a:solidFill>
                            <a:srgbClr val="2E7D32"/>
                          </a:solidFill>
                        </a:rPr>
                        <a:t>different</a:t>
                      </a:r>
                      <a:r>
                        <a:rPr sz="1000" dirty="0"/>
                        <a:t> sources as the geometric corrections for each of the sources may differ.</a:t>
                      </a:r>
                      <a:endParaRPr lang="de-DE" sz="1000" dirty="0"/>
                    </a:p>
                    <a:p>
                      <a:r>
                        <a:rPr sz="1000" b="1" dirty="0">
                          <a:solidFill>
                            <a:srgbClr val="2E7D32"/>
                          </a:solidFill>
                        </a:rPr>
                        <a:t>2. </a:t>
                      </a:r>
                      <a:r>
                        <a:rPr sz="1000" dirty="0"/>
                        <a:t>It is useful to note if the sensor is used at its native resolution before geometric correction or that some resampling must be done.</a:t>
                      </a:r>
                    </a:p>
                  </a:txBody>
                  <a:tcPr>
                    <a:solidFill>
                      <a:srgbClr val="FFFFFF"/>
                    </a:solidFill>
                  </a:tcPr>
                </a:tc>
                <a:extLst>
                  <a:ext uri="{0D108BD9-81ED-4DB2-BD59-A6C34878D82A}">
                    <a16:rowId xmlns:a16="http://schemas.microsoft.com/office/drawing/2014/main" val="10001"/>
                  </a:ext>
                </a:extLst>
              </a:tr>
              <a:tr h="0">
                <a:tc>
                  <a:txBody>
                    <a:bodyPr/>
                    <a:lstStyle/>
                    <a:p>
                      <a:r>
                        <a:rPr sz="1000" b="1"/>
                        <a:t>NLSR, SR</a:t>
                      </a:r>
                    </a:p>
                    <a:p>
                      <a:r>
                        <a:rPr sz="1000" i="1">
                          <a:solidFill>
                            <a:srgbClr val="808080"/>
                          </a:solidFill>
                        </a:rPr>
                        <a:t>(baseline)</a:t>
                      </a:r>
                    </a:p>
                  </a:txBody>
                  <a:tcPr>
                    <a:solidFill>
                      <a:srgbClr val="F2F2F2"/>
                    </a:solidFill>
                  </a:tcPr>
                </a:tc>
                <a:tc>
                  <a:txBody>
                    <a:bodyPr/>
                    <a:lstStyle/>
                    <a:p>
                      <a:r>
                        <a:rPr sz="1000"/>
                        <a:t>The threshold level will not necessarily enable interoperability between data from **different** sources as the geometric corrections for each of the sources may differ.</a:t>
                      </a:r>
                    </a:p>
                  </a:txBody>
                  <a:tcPr>
                    <a:solidFill>
                      <a:srgbClr val="F2F2F2"/>
                    </a:solidFill>
                  </a:tcPr>
                </a:tc>
                <a:tc>
                  <a:txBody>
                    <a:bodyPr/>
                    <a:lstStyle/>
                    <a:p>
                      <a:r>
                        <a:rPr sz="1000" b="1">
                          <a:solidFill>
                            <a:srgbClr val="2E7D32"/>
                          </a:solidFill>
                        </a:rPr>
                        <a:t>1. </a:t>
                      </a:r>
                      <a:r>
                        <a:rPr sz="1000"/>
                        <a:t>The threshold level will not necessarily enable interoperability between data from </a:t>
                      </a:r>
                      <a:r>
                        <a:rPr sz="1000" strike="sngStrike">
                          <a:solidFill>
                            <a:srgbClr val="B00000"/>
                          </a:solidFill>
                        </a:rPr>
                        <a:t>**different**</a:t>
                      </a:r>
                      <a:r>
                        <a:rPr sz="1000" b="1">
                          <a:solidFill>
                            <a:srgbClr val="2E7D32"/>
                          </a:solidFill>
                        </a:rPr>
                        <a:t>different</a:t>
                      </a:r>
                      <a:r>
                        <a:rPr sz="1000"/>
                        <a:t> sources as the geometric corrections for each of the sources may differ.</a:t>
                      </a:r>
                    </a:p>
                    <a:p>
                      <a:r>
                        <a:rPr sz="1000" b="1">
                          <a:solidFill>
                            <a:srgbClr val="2E7D32"/>
                          </a:solidFill>
                        </a:rPr>
                        <a:t>2. It is useful to note if the sensor is used at its native resolution before geometric correction or that some resampling must be done.</a:t>
                      </a:r>
                    </a:p>
                  </a:txBody>
                  <a:tcPr>
                    <a:solidFill>
                      <a:srgbClr val="F2F2F2"/>
                    </a:solidFill>
                  </a:tcPr>
                </a:tc>
                <a:extLst>
                  <a:ext uri="{0D108BD9-81ED-4DB2-BD59-A6C34878D82A}">
                    <a16:rowId xmlns:a16="http://schemas.microsoft.com/office/drawing/2014/main" val="10002"/>
                  </a:ext>
                </a:extLst>
              </a:tr>
              <a:tr h="0">
                <a:tc>
                  <a:txBody>
                    <a:bodyPr/>
                    <a:lstStyle/>
                    <a:p>
                      <a:r>
                        <a:rPr sz="1000" b="1"/>
                        <a:t>ST</a:t>
                      </a:r>
                    </a:p>
                  </a:txBody>
                  <a:tcPr>
                    <a:solidFill>
                      <a:srgbClr val="FFFFFF"/>
                    </a:solidFill>
                  </a:tcPr>
                </a:tc>
                <a:tc>
                  <a:txBody>
                    <a:bodyPr/>
                    <a:lstStyle/>
                    <a:p>
                      <a:r>
                        <a:rPr sz="1000"/>
                        <a:t>The threshold level will not necessarily enable interoperability between data from **different** sources as the geometric corrections for each of the sources may differ.</a:t>
                      </a:r>
                    </a:p>
                  </a:txBody>
                  <a:tcPr>
                    <a:solidFill>
                      <a:srgbClr val="FFFFFF"/>
                    </a:solidFill>
                  </a:tcPr>
                </a:tc>
                <a:tc>
                  <a:txBody>
                    <a:bodyPr/>
                    <a:lstStyle/>
                    <a:p>
                      <a:r>
                        <a:rPr sz="1000" b="1" dirty="0">
                          <a:solidFill>
                            <a:srgbClr val="2E7D32"/>
                          </a:solidFill>
                        </a:rPr>
                        <a:t>1. </a:t>
                      </a:r>
                      <a:r>
                        <a:rPr sz="1000" dirty="0"/>
                        <a:t>The threshold level will not necessarily enable interoperability between data from </a:t>
                      </a:r>
                      <a:r>
                        <a:rPr sz="1000" strike="sngStrike" dirty="0">
                          <a:solidFill>
                            <a:srgbClr val="B00000"/>
                          </a:solidFill>
                        </a:rPr>
                        <a:t>**different**</a:t>
                      </a:r>
                      <a:r>
                        <a:rPr sz="1000" b="1" dirty="0">
                          <a:solidFill>
                            <a:srgbClr val="2E7D32"/>
                          </a:solidFill>
                        </a:rPr>
                        <a:t>different</a:t>
                      </a:r>
                      <a:r>
                        <a:rPr sz="1000" dirty="0"/>
                        <a:t> sources as the geometric corrections for each of the sources may differ.</a:t>
                      </a:r>
                    </a:p>
                    <a:p>
                      <a:r>
                        <a:rPr sz="1000" b="1" dirty="0">
                          <a:solidFill>
                            <a:srgbClr val="2E7D32"/>
                          </a:solidFill>
                        </a:rPr>
                        <a:t>2. It is useful to note if the sensor is used at its native resolution before geometric correction or that some resampling must be done.</a:t>
                      </a:r>
                    </a:p>
                  </a:txBody>
                  <a:tcP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Geometric Correction (AR, NLSR, SR, ST) (cont.)</a:t>
            </a:r>
          </a:p>
        </p:txBody>
      </p:sp>
      <p:graphicFrame>
        <p:nvGraphicFramePr>
          <p:cNvPr id="3" name="Table 2"/>
          <p:cNvGraphicFramePr>
            <a:graphicFrameLocks noGrp="1"/>
          </p:cNvGraphicFramePr>
          <p:nvPr>
            <p:extLst>
              <p:ext uri="{D42A27DB-BD31-4B8C-83A1-F6EECF244321}">
                <p14:modId xmlns:p14="http://schemas.microsoft.com/office/powerpoint/2010/main" val="220783270"/>
              </p:ext>
            </p:extLst>
          </p:nvPr>
        </p:nvGraphicFramePr>
        <p:xfrm>
          <a:off x="457200" y="1005840"/>
          <a:ext cx="11265408" cy="34290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p>
                      <a:r>
                        <a:rPr sz="1000" i="1">
                          <a:solidFill>
                            <a:srgbClr val="808080"/>
                          </a:solidFill>
                        </a:rPr>
                        <a:t>(baseline)</a:t>
                      </a:r>
                    </a:p>
                  </a:txBody>
                  <a:tcPr>
                    <a:solidFill>
                      <a:srgbClr val="FFFFFF"/>
                    </a:solidFill>
                  </a:tcPr>
                </a:tc>
                <a:tc>
                  <a:txBody>
                    <a:bodyPr/>
                    <a:lstStyle/>
                    <a:p>
                      <a:r>
                        <a:rPr sz="1000" dirty="0"/>
                        <a:t>Sub-pixel uncertainty is achieved relative to an identified absolute independent terrestrial referencing system (such as a national map grid).</a:t>
                      </a:r>
                    </a:p>
                    <a:p>
                      <a:endParaRPr sz="1000" dirty="0"/>
                    </a:p>
                    <a:p>
                      <a:r>
                        <a:rPr sz="1000" dirty="0"/>
                        <a:t>Relevant metadata must be provided under [@geometric-uncertainty] and [@instrument].</a:t>
                      </a:r>
                    </a:p>
                  </a:txBody>
                  <a:tcPr>
                    <a:solidFill>
                      <a:srgbClr val="FFFFF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DE" sz="1000" i="1" dirty="0">
                          <a:solidFill>
                            <a:srgbClr val="808080"/>
                          </a:solidFill>
                        </a:rPr>
                        <a:t>(</a:t>
                      </a:r>
                      <a:r>
                        <a:rPr lang="de-DE" sz="1000" i="1" dirty="0" err="1">
                          <a:solidFill>
                            <a:srgbClr val="808080"/>
                          </a:solidFill>
                        </a:rPr>
                        <a:t>keep</a:t>
                      </a:r>
                      <a:r>
                        <a:rPr lang="de-DE" sz="1000" i="1" dirty="0">
                          <a:solidFill>
                            <a:srgbClr val="808080"/>
                          </a:solidFill>
                        </a:rPr>
                        <a:t> as </a:t>
                      </a:r>
                      <a:r>
                        <a:rPr lang="de-DE" sz="1000" i="1" dirty="0" err="1">
                          <a:solidFill>
                            <a:srgbClr val="808080"/>
                          </a:solidFill>
                        </a:rPr>
                        <a:t>is</a:t>
                      </a:r>
                      <a:r>
                        <a:rPr lang="de-DE" sz="1000" i="1" dirty="0">
                          <a:solidFill>
                            <a:srgbClr val="808080"/>
                          </a:solidFill>
                        </a:rPr>
                        <a:t>)</a:t>
                      </a:r>
                    </a:p>
                  </a:txBody>
                  <a:tcPr>
                    <a:solidFill>
                      <a:srgbClr val="FFFFFF"/>
                    </a:solidFill>
                  </a:tcPr>
                </a:tc>
                <a:extLst>
                  <a:ext uri="{0D108BD9-81ED-4DB2-BD59-A6C34878D82A}">
                    <a16:rowId xmlns:a16="http://schemas.microsoft.com/office/drawing/2014/main" val="10001"/>
                  </a:ext>
                </a:extLst>
              </a:tr>
              <a:tr h="0">
                <a:tc>
                  <a:txBody>
                    <a:bodyPr/>
                    <a:lstStyle/>
                    <a:p>
                      <a:r>
                        <a:rPr sz="1000" b="1"/>
                        <a:t>NLSR, SR</a:t>
                      </a:r>
                    </a:p>
                  </a:txBody>
                  <a:tcPr>
                    <a:solidFill>
                      <a:srgbClr val="F2F2F2"/>
                    </a:solidFill>
                  </a:tcPr>
                </a:tc>
                <a:tc>
                  <a:txBody>
                    <a:bodyPr/>
                    <a:lstStyle/>
                    <a:p>
                      <a:r>
                        <a:rPr sz="1000" dirty="0"/>
                        <a:t>Sub-pixel </a:t>
                      </a:r>
                      <a:r>
                        <a:rPr sz="1000" strike="sngStrike" dirty="0" err="1">
                          <a:solidFill>
                            <a:srgbClr val="B00000"/>
                          </a:solidFill>
                        </a:rPr>
                        <a:t>uncertaint</a:t>
                      </a:r>
                      <a:r>
                        <a:rPr sz="1000" b="1" dirty="0" err="1">
                          <a:solidFill>
                            <a:srgbClr val="2E7D32"/>
                          </a:solidFill>
                        </a:rPr>
                        <a:t>accurac</a:t>
                      </a:r>
                      <a:r>
                        <a:rPr sz="1000" dirty="0" err="1"/>
                        <a:t>y</a:t>
                      </a:r>
                      <a:r>
                        <a:rPr sz="1000" dirty="0"/>
                        <a:t> is achieved relative to an identified absolute independent terrestrial referencing system (such as a national map grid).</a:t>
                      </a:r>
                    </a:p>
                    <a:p>
                      <a:endParaRPr sz="1000" dirty="0"/>
                    </a:p>
                    <a:p>
                      <a:r>
                        <a:rPr sz="1000" b="1" dirty="0">
                          <a:solidFill>
                            <a:srgbClr val="2E7D32"/>
                          </a:solidFill>
                        </a:rPr>
                        <a:t>A consistent gridding/sampling frame is necessary to meet this requirement.</a:t>
                      </a:r>
                    </a:p>
                    <a:p>
                      <a:endParaRPr sz="1000" b="1" dirty="0">
                        <a:solidFill>
                          <a:srgbClr val="2E7D32"/>
                        </a:solidFill>
                      </a:endParaRPr>
                    </a:p>
                    <a:p>
                      <a:r>
                        <a:rPr sz="1000" dirty="0"/>
                        <a:t>Relevant metadata must be provided under [@geometric-</a:t>
                      </a:r>
                      <a:r>
                        <a:rPr sz="1000" strike="sngStrike" dirty="0">
                          <a:solidFill>
                            <a:srgbClr val="B00000"/>
                          </a:solidFill>
                        </a:rPr>
                        <a:t>uncertaint</a:t>
                      </a:r>
                      <a:r>
                        <a:rPr sz="1000" b="1" dirty="0">
                          <a:solidFill>
                            <a:srgbClr val="2E7D32"/>
                          </a:solidFill>
                        </a:rPr>
                        <a:t>accurac</a:t>
                      </a:r>
                      <a:r>
                        <a:rPr sz="1000" dirty="0"/>
                        <a:t>y] and [@instrument].</a:t>
                      </a:r>
                    </a:p>
                  </a:txBody>
                  <a:tcPr>
                    <a:solidFill>
                      <a:srgbClr val="F2F2F2"/>
                    </a:solidFill>
                  </a:tcPr>
                </a:tc>
                <a:tc>
                  <a:txBody>
                    <a:bodyPr/>
                    <a:lstStyle/>
                    <a:p>
                      <a:r>
                        <a:rPr sz="1000" dirty="0"/>
                        <a:t>Sub-pixel </a:t>
                      </a:r>
                      <a:r>
                        <a:rPr sz="1000" strike="sngStrike" dirty="0" err="1">
                          <a:solidFill>
                            <a:srgbClr val="B00000"/>
                          </a:solidFill>
                        </a:rPr>
                        <a:t>accurac</a:t>
                      </a:r>
                      <a:r>
                        <a:rPr sz="1000" b="1" dirty="0" err="1">
                          <a:solidFill>
                            <a:srgbClr val="2E7D32"/>
                          </a:solidFill>
                        </a:rPr>
                        <a:t>uncertaint</a:t>
                      </a:r>
                      <a:r>
                        <a:rPr sz="1000" dirty="0" err="1"/>
                        <a:t>y</a:t>
                      </a:r>
                      <a:r>
                        <a:rPr sz="1000" dirty="0"/>
                        <a:t> is achieved relative to an identified absolute independent terrestrial referencing system (such as a national map grid).</a:t>
                      </a:r>
                    </a:p>
                    <a:p>
                      <a:endParaRPr sz="1000" dirty="0"/>
                    </a:p>
                    <a:p>
                      <a:r>
                        <a:rPr sz="1000" strike="sngStrike" dirty="0">
                          <a:solidFill>
                            <a:srgbClr val="B00000"/>
                          </a:solidFill>
                        </a:rPr>
                        <a:t>A consistent gridding/sampling frame is necessary to meet this requirement.</a:t>
                      </a:r>
                    </a:p>
                    <a:p>
                      <a:endParaRPr sz="1000" strike="sngStrike" dirty="0">
                        <a:solidFill>
                          <a:srgbClr val="B00000"/>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sz="1000" b="1" dirty="0">
                          <a:solidFill>
                            <a:srgbClr val="2E7D32"/>
                          </a:solidFill>
                        </a:rPr>
                        <a:t> </a:t>
                      </a:r>
                      <a:r>
                        <a:rPr lang="en-US" sz="1000" dirty="0"/>
                        <a:t>Relevant metadata must be provided under [@geometric-</a:t>
                      </a:r>
                      <a:r>
                        <a:rPr lang="en-US" sz="1000" strike="sngStrike" dirty="0">
                          <a:solidFill>
                            <a:srgbClr val="B00000"/>
                          </a:solidFill>
                        </a:rPr>
                        <a:t>uncertaint</a:t>
                      </a:r>
                      <a:r>
                        <a:rPr lang="en-US" sz="1000" b="1" dirty="0">
                          <a:solidFill>
                            <a:srgbClr val="2E7D32"/>
                          </a:solidFill>
                        </a:rPr>
                        <a:t>accurac</a:t>
                      </a:r>
                      <a:r>
                        <a:rPr lang="en-US" sz="1000" dirty="0"/>
                        <a:t>y] and [@instrument].</a:t>
                      </a:r>
                    </a:p>
                    <a:p>
                      <a:endParaRPr sz="1000" dirty="0"/>
                    </a:p>
                  </a:txBody>
                  <a:tcPr>
                    <a:solidFill>
                      <a:srgbClr val="F2F2F2"/>
                    </a:solidFill>
                  </a:tcPr>
                </a:tc>
                <a:extLst>
                  <a:ext uri="{0D108BD9-81ED-4DB2-BD59-A6C34878D82A}">
                    <a16:rowId xmlns:a16="http://schemas.microsoft.com/office/drawing/2014/main" val="10002"/>
                  </a:ext>
                </a:extLst>
              </a:tr>
              <a:tr h="0">
                <a:tc>
                  <a:txBody>
                    <a:bodyPr/>
                    <a:lstStyle/>
                    <a:p>
                      <a:r>
                        <a:rPr sz="1000" b="1"/>
                        <a:t>ST</a:t>
                      </a:r>
                    </a:p>
                  </a:txBody>
                  <a:tcPr>
                    <a:solidFill>
                      <a:srgbClr val="FFFFFF"/>
                    </a:solidFill>
                  </a:tcPr>
                </a:tc>
                <a:tc>
                  <a:txBody>
                    <a:bodyPr/>
                    <a:lstStyle/>
                    <a:p>
                      <a:r>
                        <a:rPr sz="1000"/>
                        <a:t>Sub-pixel </a:t>
                      </a:r>
                      <a:r>
                        <a:rPr sz="1000" strike="sngStrike">
                          <a:solidFill>
                            <a:srgbClr val="B00000"/>
                          </a:solidFill>
                        </a:rPr>
                        <a:t>uncertaint</a:t>
                      </a:r>
                      <a:r>
                        <a:rPr sz="1000" b="1">
                          <a:solidFill>
                            <a:srgbClr val="2E7D32"/>
                          </a:solidFill>
                        </a:rPr>
                        <a:t>accurac</a:t>
                      </a:r>
                      <a:r>
                        <a:rPr sz="1000"/>
                        <a:t>y is achieved relative to an identified absolute independent terrestrial referencing system (such as a national map grid).</a:t>
                      </a:r>
                    </a:p>
                    <a:p>
                      <a:endParaRPr sz="1000"/>
                    </a:p>
                    <a:p>
                      <a:r>
                        <a:rPr sz="1000" b="1">
                          <a:solidFill>
                            <a:srgbClr val="2E7D32"/>
                          </a:solidFill>
                        </a:rPr>
                        <a:t>A consistent gridding/sampling frame is necessary to meet this requirement.</a:t>
                      </a:r>
                    </a:p>
                    <a:p>
                      <a:endParaRPr sz="1000" b="1">
                        <a:solidFill>
                          <a:srgbClr val="2E7D32"/>
                        </a:solidFill>
                      </a:endParaRPr>
                    </a:p>
                    <a:p>
                      <a:r>
                        <a:rPr sz="1000"/>
                        <a:t>Relevant metadata must be provided under [@geometric-uncertainty] and [@instrument].</a:t>
                      </a:r>
                    </a:p>
                  </a:txBody>
                  <a:tcPr>
                    <a:solidFill>
                      <a:srgbClr val="FFFFFF"/>
                    </a:solidFill>
                  </a:tcPr>
                </a:tc>
                <a:tc>
                  <a:txBody>
                    <a:bodyPr/>
                    <a:lstStyle/>
                    <a:p>
                      <a:r>
                        <a:rPr sz="1000" dirty="0"/>
                        <a:t>Sub-pixel </a:t>
                      </a:r>
                      <a:r>
                        <a:rPr sz="1000" strike="sngStrike" dirty="0" err="1">
                          <a:solidFill>
                            <a:srgbClr val="B00000"/>
                          </a:solidFill>
                        </a:rPr>
                        <a:t>accurac</a:t>
                      </a:r>
                      <a:r>
                        <a:rPr sz="1000" b="1" dirty="0" err="1">
                          <a:solidFill>
                            <a:srgbClr val="2E7D32"/>
                          </a:solidFill>
                        </a:rPr>
                        <a:t>uncertaint</a:t>
                      </a:r>
                      <a:r>
                        <a:rPr sz="1000" dirty="0" err="1"/>
                        <a:t>y</a:t>
                      </a:r>
                      <a:r>
                        <a:rPr sz="1000" dirty="0"/>
                        <a:t> is achieved relative to an identified absolute independent terrestrial referencing system (such as a national map grid).</a:t>
                      </a:r>
                    </a:p>
                    <a:p>
                      <a:endParaRPr sz="1000" dirty="0"/>
                    </a:p>
                    <a:p>
                      <a:r>
                        <a:rPr sz="1000" strike="sngStrike" dirty="0">
                          <a:solidFill>
                            <a:srgbClr val="B00000"/>
                          </a:solidFill>
                        </a:rPr>
                        <a:t>A consistent gridding/sampling frame is necessary to meet this requirement.</a:t>
                      </a:r>
                    </a:p>
                    <a:p>
                      <a:endParaRPr sz="1000" strike="sngStrike" dirty="0">
                        <a:solidFill>
                          <a:srgbClr val="B00000"/>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sz="1000" b="1" dirty="0">
                          <a:solidFill>
                            <a:srgbClr val="2E7D32"/>
                          </a:solidFill>
                        </a:rPr>
                        <a:t> </a:t>
                      </a:r>
                      <a:r>
                        <a:rPr lang="en-US" sz="1000" dirty="0"/>
                        <a:t>Relevant metadata must be provided under [@geometric-</a:t>
                      </a:r>
                      <a:r>
                        <a:rPr lang="en-US" sz="1000" strike="sngStrike" dirty="0">
                          <a:solidFill>
                            <a:srgbClr val="B00000"/>
                          </a:solidFill>
                        </a:rPr>
                        <a:t>uncertaint</a:t>
                      </a:r>
                      <a:r>
                        <a:rPr lang="en-US" sz="1000" b="1" dirty="0">
                          <a:solidFill>
                            <a:srgbClr val="2E7D32"/>
                          </a:solidFill>
                        </a:rPr>
                        <a:t>accurac</a:t>
                      </a:r>
                      <a:r>
                        <a:rPr lang="en-US" sz="1000" dirty="0"/>
                        <a:t>y] and [@instrument].</a:t>
                      </a:r>
                    </a:p>
                  </a:txBody>
                  <a:tcPr>
                    <a:solidFill>
                      <a:srgbClr val="FFFFFF"/>
                    </a:solidFill>
                  </a:tcPr>
                </a:tc>
                <a:extLst>
                  <a:ext uri="{0D108BD9-81ED-4DB2-BD59-A6C34878D82A}">
                    <a16:rowId xmlns:a16="http://schemas.microsoft.com/office/drawing/2014/main" val="10003"/>
                  </a:ext>
                </a:extLst>
              </a:tr>
            </a:tbl>
          </a:graphicData>
        </a:graphic>
      </p:graphicFrame>
      <p:sp>
        <p:nvSpPr>
          <p:cNvPr id="5" name="TextBox 3">
            <a:extLst>
              <a:ext uri="{FF2B5EF4-FFF2-40B4-BE49-F238E27FC236}">
                <a16:creationId xmlns:a16="http://schemas.microsoft.com/office/drawing/2014/main" id="{8796D84B-79A5-DCBF-0686-01946B4E80F8}"/>
              </a:ext>
            </a:extLst>
          </p:cNvPr>
          <p:cNvSpPr txBox="1"/>
          <p:nvPr/>
        </p:nvSpPr>
        <p:spPr>
          <a:xfrm>
            <a:off x="457200" y="4754148"/>
            <a:ext cx="11277295" cy="553998"/>
          </a:xfrm>
          <a:prstGeom prst="rect">
            <a:avLst/>
          </a:prstGeom>
          <a:noFill/>
        </p:spPr>
        <p:txBody>
          <a:bodyPr wrap="square" lIns="0" tIns="0" rIns="0" bIns="0">
            <a:spAutoFit/>
          </a:bodyPr>
          <a:lstStyle/>
          <a:p>
            <a:r>
              <a:rPr sz="1200" b="1" dirty="0"/>
              <a:t>Internal notes: </a:t>
            </a:r>
            <a:r>
              <a:rPr sz="1200" i="1" dirty="0"/>
              <a:t>ST 6.0 already aligned the metadata references ([@geometric-uncertainty]); remaining differences to the proposal: "accuracy" vs "uncertainty", "0.5 pixel" vs "0.5-pixel", and the gridding/sampling sentence.</a:t>
            </a:r>
            <a:r>
              <a:rPr lang="de-DE" sz="1200" i="1" dirty="0"/>
              <a:t> W</a:t>
            </a:r>
            <a:r>
              <a:rPr sz="1200" i="1" dirty="0"/>
              <a:t>ill accept any proposal for consistency (action: Ferran and Peter). In the same approach as AR, ST decided to replace "Accuracy" with "Uncertainty" across the document.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Geometric Correction (AR, NLSR, SR, ST) (cont.)</a:t>
            </a:r>
          </a:p>
        </p:txBody>
      </p:sp>
      <p:graphicFrame>
        <p:nvGraphicFramePr>
          <p:cNvPr id="3" name="Table 2"/>
          <p:cNvGraphicFramePr>
            <a:graphicFrameLocks noGrp="1"/>
          </p:cNvGraphicFramePr>
          <p:nvPr>
            <p:extLst>
              <p:ext uri="{D42A27DB-BD31-4B8C-83A1-F6EECF244321}">
                <p14:modId xmlns:p14="http://schemas.microsoft.com/office/powerpoint/2010/main" val="1091420581"/>
              </p:ext>
            </p:extLst>
          </p:nvPr>
        </p:nvGraphicFramePr>
        <p:xfrm>
          <a:off x="457200" y="1005840"/>
          <a:ext cx="11265408" cy="20574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Notes</a:t>
                      </a:r>
                    </a:p>
                  </a:txBody>
                  <a:tcPr>
                    <a:solidFill>
                      <a:srgbClr val="000000"/>
                    </a:solidFill>
                  </a:tcPr>
                </a:tc>
                <a:tc>
                  <a:txBody>
                    <a:bodyPr/>
                    <a:lstStyle/>
                    <a:p>
                      <a:r>
                        <a:rPr sz="1100" b="1">
                          <a:solidFill>
                            <a:srgbClr val="FFFFFF"/>
                          </a:solidFill>
                        </a:rPr>
                        <a:t>Proposed Goal Notes</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txBody>
                  <a:tcPr>
                    <a:solidFill>
                      <a:srgbClr val="FFFFFF"/>
                    </a:solidFill>
                  </a:tcPr>
                </a:tc>
                <a:tc>
                  <a:txBody>
                    <a:bodyPr/>
                    <a:lstStyle/>
                    <a:p>
                      <a:r>
                        <a:rPr sz="1000" dirty="0"/>
                        <a:t>This requirement is intended to enable interoperability between imagery from different platforms that meet this level of correction</a:t>
                      </a:r>
                      <a:r>
                        <a:rPr sz="1000" strike="sngStrike" dirty="0">
                          <a:solidFill>
                            <a:srgbClr val="B00000"/>
                          </a:solidFill>
                        </a:rPr>
                        <a:t>,</a:t>
                      </a:r>
                      <a:r>
                        <a:rPr sz="1000" dirty="0"/>
                        <a:t> and with non-image spatial data such as GIS layers and terrain models.</a:t>
                      </a:r>
                    </a:p>
                    <a:p>
                      <a:r>
                        <a:rPr sz="1000" i="1" dirty="0">
                          <a:solidFill>
                            <a:srgbClr val="808080"/>
                          </a:solidFill>
                        </a:rPr>
                        <a:t>(differs only in punctuation/whitespace)</a:t>
                      </a:r>
                    </a:p>
                  </a:txBody>
                  <a:tcPr>
                    <a:solidFill>
                      <a:srgbClr val="FFFFFF"/>
                    </a:solidFill>
                  </a:tcPr>
                </a:tc>
                <a:tc>
                  <a:txBody>
                    <a:bodyPr/>
                    <a:lstStyle/>
                    <a:p>
                      <a:r>
                        <a:rPr lang="de-DE" sz="1000" i="1" dirty="0">
                          <a:solidFill>
                            <a:srgbClr val="808080"/>
                          </a:solidFill>
                        </a:rPr>
                        <a:t>The only </a:t>
                      </a:r>
                      <a:r>
                        <a:rPr lang="de-DE" sz="1000" i="1" dirty="0" err="1">
                          <a:solidFill>
                            <a:srgbClr val="808080"/>
                          </a:solidFill>
                        </a:rPr>
                        <a:t>question</a:t>
                      </a:r>
                      <a:r>
                        <a:rPr lang="de-DE" sz="1000" i="1" dirty="0">
                          <a:solidFill>
                            <a:srgbClr val="808080"/>
                          </a:solidFill>
                        </a:rPr>
                        <a:t> </a:t>
                      </a:r>
                      <a:r>
                        <a:rPr lang="de-DE" sz="1000" i="1" dirty="0" err="1">
                          <a:solidFill>
                            <a:srgbClr val="808080"/>
                          </a:solidFill>
                        </a:rPr>
                        <a:t>here</a:t>
                      </a:r>
                      <a:r>
                        <a:rPr lang="de-DE" sz="1000" i="1" dirty="0">
                          <a:solidFill>
                            <a:srgbClr val="808080"/>
                          </a:solidFill>
                        </a:rPr>
                        <a:t> </a:t>
                      </a:r>
                      <a:r>
                        <a:rPr lang="de-DE" sz="1000" i="1" dirty="0" err="1">
                          <a:solidFill>
                            <a:srgbClr val="808080"/>
                          </a:solidFill>
                        </a:rPr>
                        <a:t>is</a:t>
                      </a:r>
                      <a:r>
                        <a:rPr lang="de-DE" sz="1000" i="1" dirty="0">
                          <a:solidFill>
                            <a:srgbClr val="808080"/>
                          </a:solidFill>
                        </a:rPr>
                        <a:t>: </a:t>
                      </a:r>
                      <a:r>
                        <a:rPr lang="de-DE" sz="1000" i="1" dirty="0" err="1">
                          <a:solidFill>
                            <a:srgbClr val="808080"/>
                          </a:solidFill>
                        </a:rPr>
                        <a:t>with</a:t>
                      </a:r>
                      <a:r>
                        <a:rPr lang="de-DE" sz="1000" i="1" dirty="0">
                          <a:solidFill>
                            <a:srgbClr val="808080"/>
                          </a:solidFill>
                        </a:rPr>
                        <a:t> </a:t>
                      </a:r>
                      <a:r>
                        <a:rPr lang="de-DE" sz="1000" i="1" dirty="0" err="1">
                          <a:solidFill>
                            <a:srgbClr val="808080"/>
                          </a:solidFill>
                        </a:rPr>
                        <a:t>or</a:t>
                      </a:r>
                      <a:r>
                        <a:rPr lang="de-DE" sz="1000" i="1" dirty="0">
                          <a:solidFill>
                            <a:srgbClr val="808080"/>
                          </a:solidFill>
                        </a:rPr>
                        <a:t> </a:t>
                      </a:r>
                      <a:r>
                        <a:rPr lang="de-DE" sz="1000" i="1" dirty="0" err="1">
                          <a:solidFill>
                            <a:srgbClr val="808080"/>
                          </a:solidFill>
                        </a:rPr>
                        <a:t>without</a:t>
                      </a:r>
                      <a:r>
                        <a:rPr lang="de-DE" sz="1000" i="1" dirty="0">
                          <a:solidFill>
                            <a:srgbClr val="808080"/>
                          </a:solidFill>
                        </a:rPr>
                        <a:t> </a:t>
                      </a:r>
                      <a:r>
                        <a:rPr lang="de-DE" sz="1000" i="1" dirty="0" err="1">
                          <a:solidFill>
                            <a:srgbClr val="808080"/>
                          </a:solidFill>
                        </a:rPr>
                        <a:t>comma</a:t>
                      </a:r>
                      <a:r>
                        <a:rPr lang="de-DE" sz="1000" i="1" dirty="0">
                          <a:solidFill>
                            <a:srgbClr val="808080"/>
                          </a:solidFill>
                        </a:rPr>
                        <a:t>?</a:t>
                      </a:r>
                      <a:endParaRPr sz="1000" i="1" dirty="0">
                        <a:solidFill>
                          <a:srgbClr val="808080"/>
                        </a:solidFill>
                      </a:endParaRPr>
                    </a:p>
                  </a:txBody>
                  <a:tcPr>
                    <a:solidFill>
                      <a:srgbClr val="FFFFFF"/>
                    </a:solidFill>
                  </a:tcPr>
                </a:tc>
                <a:extLst>
                  <a:ext uri="{0D108BD9-81ED-4DB2-BD59-A6C34878D82A}">
                    <a16:rowId xmlns:a16="http://schemas.microsoft.com/office/drawing/2014/main" val="10001"/>
                  </a:ext>
                </a:extLst>
              </a:tr>
              <a:tr h="0">
                <a:tc>
                  <a:txBody>
                    <a:bodyPr/>
                    <a:lstStyle/>
                    <a:p>
                      <a:r>
                        <a:rPr sz="1000" b="1"/>
                        <a:t>NLSR, SR</a:t>
                      </a:r>
                    </a:p>
                    <a:p>
                      <a:r>
                        <a:rPr sz="1000" i="1">
                          <a:solidFill>
                            <a:srgbClr val="808080"/>
                          </a:solidFill>
                        </a:rPr>
                        <a:t>(baseline)</a:t>
                      </a:r>
                    </a:p>
                  </a:txBody>
                  <a:tcPr>
                    <a:solidFill>
                      <a:srgbClr val="F2F2F2"/>
                    </a:solidFill>
                  </a:tcPr>
                </a:tc>
                <a:tc>
                  <a:txBody>
                    <a:bodyPr/>
                    <a:lstStyle/>
                    <a:p>
                      <a:r>
                        <a:rPr sz="1000" dirty="0"/>
                        <a:t>This requirement is intended to enable interoperability between imagery from different platforms that meet this level of correction, and with non-image spatial data such as GIS layers and terrain models.</a:t>
                      </a:r>
                    </a:p>
                  </a:txBody>
                  <a:tcPr>
                    <a:solidFill>
                      <a:srgbClr val="F2F2F2"/>
                    </a:solidFill>
                  </a:tcPr>
                </a:tc>
                <a:tc>
                  <a:txBody>
                    <a:bodyPr/>
                    <a:lstStyle/>
                    <a:p>
                      <a:endParaRPr sz="1000" dirty="0"/>
                    </a:p>
                  </a:txBody>
                  <a:tcPr>
                    <a:solidFill>
                      <a:srgbClr val="F2F2F2"/>
                    </a:solidFill>
                  </a:tcPr>
                </a:tc>
                <a:extLst>
                  <a:ext uri="{0D108BD9-81ED-4DB2-BD59-A6C34878D82A}">
                    <a16:rowId xmlns:a16="http://schemas.microsoft.com/office/drawing/2014/main" val="10002"/>
                  </a:ext>
                </a:extLst>
              </a:tr>
              <a:tr h="0">
                <a:tc>
                  <a:txBody>
                    <a:bodyPr/>
                    <a:lstStyle/>
                    <a:p>
                      <a:r>
                        <a:rPr sz="1000" b="1"/>
                        <a:t>ST</a:t>
                      </a:r>
                    </a:p>
                  </a:txBody>
                  <a:tcPr>
                    <a:solidFill>
                      <a:srgbClr val="FFFFFF"/>
                    </a:solidFill>
                  </a:tcPr>
                </a:tc>
                <a:tc>
                  <a:txBody>
                    <a:bodyPr/>
                    <a:lstStyle/>
                    <a:p>
                      <a:r>
                        <a:rPr sz="1000"/>
                        <a:t>This requirement is intended to enable interoperability between imagery from different platforms that meet this level of correction, and with non-image spatial data such as GIS layers and terrain models.</a:t>
                      </a:r>
                    </a:p>
                  </a:txBody>
                  <a:tcPr>
                    <a:solidFill>
                      <a:srgbClr val="FFFFFF"/>
                    </a:solidFill>
                  </a:tcPr>
                </a:tc>
                <a:tc>
                  <a:txBody>
                    <a:bodyPr/>
                    <a:lstStyle/>
                    <a:p>
                      <a:endParaRPr sz="1000" dirty="0"/>
                    </a:p>
                  </a:txBody>
                  <a:tcP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Ozone Corrections (AR, SR)</a:t>
            </a:r>
          </a:p>
        </p:txBody>
      </p:sp>
      <p:graphicFrame>
        <p:nvGraphicFramePr>
          <p:cNvPr id="3" name="Table 2"/>
          <p:cNvGraphicFramePr>
            <a:graphicFrameLocks noGrp="1"/>
          </p:cNvGraphicFramePr>
          <p:nvPr/>
        </p:nvGraphicFramePr>
        <p:xfrm>
          <a:off x="457200" y="1005840"/>
          <a:ext cx="11265408" cy="8991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121920">
                <a:tc>
                  <a:txBody>
                    <a:bodyPr/>
                    <a:lstStyle/>
                    <a:p>
                      <a:r>
                        <a:rPr sz="1000" b="1"/>
                        <a:t>AR</a:t>
                      </a:r>
                    </a:p>
                    <a:p>
                      <a:r>
                        <a:rPr sz="1000" i="1">
                          <a:solidFill>
                            <a:srgbClr val="808080"/>
                          </a:solidFill>
                        </a:rPr>
                        <a:t>(baseline)</a:t>
                      </a:r>
                    </a:p>
                  </a:txBody>
                  <a:tcPr>
                    <a:solidFill>
                      <a:srgbClr val="FFFFFF"/>
                    </a:solidFill>
                  </a:tcPr>
                </a:tc>
                <a:tc>
                  <a:txBody>
                    <a:bodyPr/>
                    <a:lstStyle/>
                    <a:p>
                      <a:r>
                        <a:rPr sz="1000"/>
                        <a:t>Data is corrected for ozone if spectral bands are affected.</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121920">
                <a:tc>
                  <a:txBody>
                    <a:bodyPr/>
                    <a:lstStyle/>
                    <a:p>
                      <a:r>
                        <a:rPr sz="1000" b="1"/>
                        <a:t>SR</a:t>
                      </a:r>
                    </a:p>
                  </a:txBody>
                  <a:tcPr>
                    <a:solidFill>
                      <a:srgbClr val="F2F2F2"/>
                    </a:solidFill>
                  </a:tcPr>
                </a:tc>
                <a:tc>
                  <a:txBody>
                    <a:bodyPr/>
                    <a:lstStyle/>
                    <a:p>
                      <a:r>
                        <a:rPr sz="1000"/>
                        <a:t>(not set)</a:t>
                      </a:r>
                    </a:p>
                  </a:txBody>
                  <a:tcPr>
                    <a:solidFill>
                      <a:srgbClr val="F2F2F2"/>
                    </a:solidFill>
                  </a:tcPr>
                </a:tc>
                <a:tc>
                  <a:txBody>
                    <a:bodyPr/>
                    <a:lstStyle/>
                    <a:p>
                      <a:r>
                        <a:rPr sz="1000" i="1">
                          <a:solidFill>
                            <a:srgbClr val="808080"/>
                          </a:solidFill>
                        </a:rPr>
                        <a:t>(keep as is)</a:t>
                      </a:r>
                    </a:p>
                  </a:txBody>
                  <a:tcPr>
                    <a:solidFill>
                      <a:srgbClr val="F2F2F2"/>
                    </a:solidFill>
                  </a:tcPr>
                </a:tc>
                <a:extLst>
                  <a:ext uri="{0D108BD9-81ED-4DB2-BD59-A6C34878D82A}">
                    <a16:rowId xmlns:a16="http://schemas.microsoft.com/office/drawing/2014/main" val="10002"/>
                  </a:ext>
                </a:extLst>
              </a:tr>
            </a:tbl>
          </a:graphicData>
        </a:graphic>
      </p:graphicFrame>
      <p:graphicFrame>
        <p:nvGraphicFramePr>
          <p:cNvPr id="4" name="Table 3"/>
          <p:cNvGraphicFramePr>
            <a:graphicFrameLocks noGrp="1"/>
          </p:cNvGraphicFramePr>
          <p:nvPr/>
        </p:nvGraphicFramePr>
        <p:xfrm>
          <a:off x="457200" y="2258568"/>
          <a:ext cx="11265408" cy="12039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Notes</a:t>
                      </a:r>
                    </a:p>
                  </a:txBody>
                  <a:tcPr>
                    <a:solidFill>
                      <a:srgbClr val="000000"/>
                    </a:solidFill>
                  </a:tcPr>
                </a:tc>
                <a:tc>
                  <a:txBody>
                    <a:bodyPr/>
                    <a:lstStyle/>
                    <a:p>
                      <a:r>
                        <a:rPr sz="1100" b="1">
                          <a:solidFill>
                            <a:srgbClr val="FFFFFF"/>
                          </a:solidFill>
                        </a:rPr>
                        <a:t>Proposed Threshold Notes</a:t>
                      </a:r>
                    </a:p>
                  </a:txBody>
                  <a:tcPr>
                    <a:solidFill>
                      <a:srgbClr val="000000"/>
                    </a:solidFill>
                  </a:tcPr>
                </a:tc>
                <a:extLst>
                  <a:ext uri="{0D108BD9-81ED-4DB2-BD59-A6C34878D82A}">
                    <a16:rowId xmlns:a16="http://schemas.microsoft.com/office/drawing/2014/main" val="10000"/>
                  </a:ext>
                </a:extLst>
              </a:tr>
              <a:tr h="121920">
                <a:tc>
                  <a:txBody>
                    <a:bodyPr/>
                    <a:lstStyle/>
                    <a:p>
                      <a:r>
                        <a:rPr sz="1000" b="1"/>
                        <a:t>AR</a:t>
                      </a:r>
                    </a:p>
                    <a:p>
                      <a:r>
                        <a:rPr sz="1000" i="1">
                          <a:solidFill>
                            <a:srgbClr val="808080"/>
                          </a:solidFill>
                        </a:rPr>
                        <a:t>(baseline)</a:t>
                      </a:r>
                    </a:p>
                  </a:txBody>
                  <a:tcPr>
                    <a:solidFill>
                      <a:srgbClr val="FFFFFF"/>
                    </a:solidFill>
                  </a:tcPr>
                </a:tc>
                <a:tc>
                  <a:txBody>
                    <a:bodyPr/>
                    <a:lstStyle/>
                    <a:p>
                      <a:r>
                        <a:rPr sz="1000"/>
                        <a:t>Relevant metadata must be provided in [@geometric-uncertainty] and [@instrument].</a:t>
                      </a:r>
                    </a:p>
                    <a:p>
                      <a:endParaRPr sz="1000"/>
                    </a:p>
                    <a:p>
                      <a:r>
                        <a:rPr sz="1000"/>
                        <a:t>See @dekeukelaere2018, @harmel2018, @mobley2016, @pahlevan2017, @pahlevan2021, and @vanhellemont2019.</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121920">
                <a:tc>
                  <a:txBody>
                    <a:bodyPr/>
                    <a:lstStyle/>
                    <a:p>
                      <a:r>
                        <a:rPr sz="1000" b="1"/>
                        <a:t>SR</a:t>
                      </a:r>
                    </a:p>
                  </a:txBody>
                  <a:tcPr>
                    <a:solidFill>
                      <a:srgbClr val="F2F2F2"/>
                    </a:solidFill>
                  </a:tcPr>
                </a:tc>
                <a:tc>
                  <a:txBody>
                    <a:bodyPr/>
                    <a:lstStyle/>
                    <a:p>
                      <a:r>
                        <a:rPr sz="1000"/>
                        <a:t>(no notes)</a:t>
                      </a:r>
                    </a:p>
                  </a:txBody>
                  <a:tcPr>
                    <a:solidFill>
                      <a:srgbClr val="F2F2F2"/>
                    </a:solidFill>
                  </a:tcPr>
                </a:tc>
                <a:tc>
                  <a:txBody>
                    <a:bodyPr/>
                    <a:lstStyle/>
                    <a:p>
                      <a:r>
                        <a:rPr sz="1000" i="1">
                          <a:solidFill>
                            <a:srgbClr val="808080"/>
                          </a:solidFill>
                        </a:rPr>
                        <a:t>(keep as is)</a:t>
                      </a:r>
                    </a:p>
                  </a:txBody>
                  <a:tcPr>
                    <a:solidFill>
                      <a:srgbClr val="F2F2F2"/>
                    </a:solidFill>
                  </a:tcP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253281194"/>
              </p:ext>
            </p:extLst>
          </p:nvPr>
        </p:nvGraphicFramePr>
        <p:xfrm>
          <a:off x="457200" y="3977640"/>
          <a:ext cx="11265408" cy="18135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dirty="0">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121920">
                <a:tc>
                  <a:txBody>
                    <a:bodyPr/>
                    <a:lstStyle/>
                    <a:p>
                      <a:r>
                        <a:rPr sz="1000" b="1"/>
                        <a:t>AR</a:t>
                      </a:r>
                    </a:p>
                  </a:txBody>
                  <a:tcPr>
                    <a:solidFill>
                      <a:srgbClr val="FFFFFF"/>
                    </a:solidFill>
                  </a:tcPr>
                </a:tc>
                <a:tc>
                  <a:txBody>
                    <a:bodyPr/>
                    <a:lstStyle/>
                    <a:p>
                      <a:r>
                        <a:rPr sz="1000" dirty="0"/>
                        <a:t>(not set)</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121920">
                <a:tc>
                  <a:txBody>
                    <a:bodyPr/>
                    <a:lstStyle/>
                    <a:p>
                      <a:r>
                        <a:rPr sz="1000" b="1"/>
                        <a:t>SR</a:t>
                      </a:r>
                    </a:p>
                    <a:p>
                      <a:r>
                        <a:rPr sz="1000" i="1">
                          <a:solidFill>
                            <a:srgbClr val="808080"/>
                          </a:solidFill>
                        </a:rPr>
                        <a:t>(baseline)</a:t>
                      </a:r>
                    </a:p>
                  </a:txBody>
                  <a:tcPr>
                    <a:solidFill>
                      <a:srgbClr val="F2F2F2"/>
                    </a:solidFill>
                  </a:tcPr>
                </a:tc>
                <a:tc>
                  <a:txBody>
                    <a:bodyPr/>
                    <a:lstStyle/>
                    <a:p>
                      <a:r>
                        <a:rPr sz="1000" dirty="0"/>
                        <a:t>Data is corrected for ozone.</a:t>
                      </a:r>
                    </a:p>
                    <a:p>
                      <a:endParaRPr sz="1000" dirty="0"/>
                    </a:p>
                    <a:p>
                      <a:r>
                        <a:rPr sz="1000" dirty="0"/>
                        <a:t>Relevant metadata must be provided under [@geometric-accuracy] and [@instrument].</a:t>
                      </a:r>
                    </a:p>
                    <a:p>
                      <a:endParaRPr sz="1000" dirty="0"/>
                    </a:p>
                    <a:p>
                      <a:r>
                        <a:rPr sz="1000" dirty="0"/>
                        <a:t>Metadata contains a single DOI landing page with references to:</a:t>
                      </a:r>
                    </a:p>
                    <a:p>
                      <a:endParaRPr sz="1000" dirty="0"/>
                    </a:p>
                    <a:p>
                      <a:r>
                        <a:rPr sz="1000" dirty="0"/>
                        <a:t>- a citable peer-reviewed algorithm</a:t>
                      </a:r>
                    </a:p>
                    <a:p>
                      <a:r>
                        <a:rPr sz="1000" dirty="0"/>
                        <a:t>- technical documentation regarding the implementation of that algorithm</a:t>
                      </a:r>
                    </a:p>
                  </a:txBody>
                  <a:tcPr>
                    <a:solidFill>
                      <a:srgbClr val="F2F2F2"/>
                    </a:solidFill>
                  </a:tcPr>
                </a:tc>
                <a:tc>
                  <a:txBody>
                    <a:bodyPr/>
                    <a:lstStyle/>
                    <a:p>
                      <a:r>
                        <a:rPr sz="1000" dirty="0">
                          <a:solidFill>
                            <a:schemeClr val="tx1"/>
                          </a:solidFill>
                        </a:rPr>
                        <a:t>Data is corrected for ozone if spectral bands are affected.</a:t>
                      </a:r>
                    </a:p>
                  </a:txBody>
                  <a:tcPr>
                    <a:solidFill>
                      <a:srgbClr val="F2F2F2"/>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457200" y="6291986"/>
            <a:ext cx="11277295" cy="184666"/>
          </a:xfrm>
          <a:prstGeom prst="rect">
            <a:avLst/>
          </a:prstGeom>
          <a:noFill/>
        </p:spPr>
        <p:txBody>
          <a:bodyPr wrap="square" lIns="0" tIns="0" rIns="0" bIns="0">
            <a:spAutoFit/>
          </a:bodyPr>
          <a:lstStyle/>
          <a:p>
            <a:r>
              <a:rPr sz="1200" b="1" dirty="0"/>
              <a:t>Internal notes: </a:t>
            </a:r>
            <a:r>
              <a:rPr sz="1200" i="1" dirty="0"/>
              <a:t>For DOI related discussions </a:t>
            </a:r>
            <a:r>
              <a:rPr lang="de-DE" sz="1200" i="1" dirty="0" err="1"/>
              <a:t>see</a:t>
            </a:r>
            <a:r>
              <a:rPr lang="de-DE" sz="1200" i="1" dirty="0"/>
              <a:t> "DOIs" </a:t>
            </a:r>
            <a:r>
              <a:rPr lang="de-DE" sz="1200" i="1" dirty="0" err="1"/>
              <a:t>slide</a:t>
            </a:r>
            <a:r>
              <a:rPr sz="1200" i="1"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Water Vapour Corrections (AR, SR)</a:t>
            </a:r>
          </a:p>
        </p:txBody>
      </p:sp>
      <p:graphicFrame>
        <p:nvGraphicFramePr>
          <p:cNvPr id="3" name="Table 2"/>
          <p:cNvGraphicFramePr>
            <a:graphicFrameLocks noGrp="1"/>
          </p:cNvGraphicFramePr>
          <p:nvPr/>
        </p:nvGraphicFramePr>
        <p:xfrm>
          <a:off x="457200" y="1005840"/>
          <a:ext cx="11265408" cy="16611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121920">
                <a:tc>
                  <a:txBody>
                    <a:bodyPr/>
                    <a:lstStyle/>
                    <a:p>
                      <a:r>
                        <a:rPr sz="1000" b="1"/>
                        <a:t>AR</a:t>
                      </a:r>
                    </a:p>
                    <a:p>
                      <a:r>
                        <a:rPr sz="1000" i="1">
                          <a:solidFill>
                            <a:srgbClr val="808080"/>
                          </a:solidFill>
                        </a:rPr>
                        <a:t>(baseline)</a:t>
                      </a:r>
                    </a:p>
                  </a:txBody>
                  <a:tcPr>
                    <a:solidFill>
                      <a:srgbClr val="FFFFFF"/>
                    </a:solidFill>
                  </a:tcPr>
                </a:tc>
                <a:tc>
                  <a:txBody>
                    <a:bodyPr/>
                    <a:lstStyle/>
                    <a:p>
                      <a:r>
                        <a:rPr sz="1000"/>
                        <a:t>Corrections are applied for water vapour if spectral bands are affected.</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121920">
                <a:tc>
                  <a:txBody>
                    <a:bodyPr/>
                    <a:lstStyle/>
                    <a:p>
                      <a:r>
                        <a:rPr sz="1000" b="1"/>
                        <a:t>SR</a:t>
                      </a:r>
                    </a:p>
                  </a:txBody>
                  <a:tcPr>
                    <a:solidFill>
                      <a:srgbClr val="F2F2F2"/>
                    </a:solidFill>
                  </a:tcPr>
                </a:tc>
                <a:tc>
                  <a:txBody>
                    <a:bodyPr/>
                    <a:lstStyle/>
                    <a:p>
                      <a:r>
                        <a:rPr sz="1000"/>
                        <a:t>Corrections are applied for water vapour</a:t>
                      </a:r>
                      <a:r>
                        <a:rPr sz="1000" strike="sngStrike">
                          <a:solidFill>
                            <a:srgbClr val="B00000"/>
                          </a:solidFill>
                        </a:rPr>
                        <a:t> if spectral bands are affected.</a:t>
                      </a:r>
                      <a:r>
                        <a:rPr sz="1000" b="1">
                          <a:solidFill>
                            <a:srgbClr val="2E7D32"/>
                          </a:solidFill>
                        </a:rPr>
                        <a:t>. Metadata contains a single DOI landing page with references to:</a:t>
                      </a:r>
                    </a:p>
                    <a:p>
                      <a:endParaRPr sz="1000" b="1">
                        <a:solidFill>
                          <a:srgbClr val="2E7D32"/>
                        </a:solidFill>
                      </a:endParaRPr>
                    </a:p>
                    <a:p>
                      <a:r>
                        <a:rPr sz="1000" b="1">
                          <a:solidFill>
                            <a:srgbClr val="2E7D32"/>
                          </a:solidFill>
                        </a:rPr>
                        <a:t>- a citable peer-reviewed algorithm</a:t>
                      </a:r>
                    </a:p>
                    <a:p>
                      <a:r>
                        <a:rPr sz="1000" b="1">
                          <a:solidFill>
                            <a:srgbClr val="2E7D32"/>
                          </a:solidFill>
                        </a:rPr>
                        <a:t>- technical documentation regarding the implementation of that algorithm</a:t>
                      </a:r>
                    </a:p>
                  </a:txBody>
                  <a:tcPr>
                    <a:solidFill>
                      <a:srgbClr val="F2F2F2"/>
                    </a:solidFill>
                  </a:tcPr>
                </a:tc>
                <a:tc>
                  <a:txBody>
                    <a:bodyPr/>
                    <a:lstStyle/>
                    <a:p>
                      <a:r>
                        <a:rPr sz="1000"/>
                        <a:t>Corrections are applied for water vapour</a:t>
                      </a:r>
                      <a:r>
                        <a:rPr sz="1000" strike="sngStrike">
                          <a:solidFill>
                            <a:srgbClr val="B00000"/>
                          </a:solidFill>
                        </a:rPr>
                        <a:t>. Metadata contains a single DOI landing page with references to:</a:t>
                      </a:r>
                    </a:p>
                    <a:p>
                      <a:endParaRPr sz="1000" strike="sngStrike">
                        <a:solidFill>
                          <a:srgbClr val="B00000"/>
                        </a:solidFill>
                      </a:endParaRPr>
                    </a:p>
                    <a:p>
                      <a:r>
                        <a:rPr sz="1000" strike="sngStrike">
                          <a:solidFill>
                            <a:srgbClr val="B00000"/>
                          </a:solidFill>
                        </a:rPr>
                        <a:t>- a citable peer-reviewed algorithm</a:t>
                      </a:r>
                    </a:p>
                    <a:p>
                      <a:r>
                        <a:rPr sz="1000" strike="sngStrike">
                          <a:solidFill>
                            <a:srgbClr val="B00000"/>
                          </a:solidFill>
                        </a:rPr>
                        <a:t>- technical documentation regarding the implementation of that algorithm</a:t>
                      </a:r>
                      <a:r>
                        <a:rPr sz="1000" b="1">
                          <a:solidFill>
                            <a:srgbClr val="2E7D32"/>
                          </a:solidFill>
                        </a:rPr>
                        <a:t> if spectral bands are affected.</a:t>
                      </a:r>
                    </a:p>
                  </a:txBody>
                  <a:tcPr>
                    <a:solidFill>
                      <a:srgbClr val="F2F2F2"/>
                    </a:solidFill>
                  </a:tcPr>
                </a:tc>
                <a:extLst>
                  <a:ext uri="{0D108BD9-81ED-4DB2-BD59-A6C34878D82A}">
                    <a16:rowId xmlns:a16="http://schemas.microsoft.com/office/drawing/2014/main" val="10002"/>
                  </a:ext>
                </a:extLst>
              </a:tr>
            </a:tbl>
          </a:graphicData>
        </a:graphic>
      </p:graphicFrame>
      <p:graphicFrame>
        <p:nvGraphicFramePr>
          <p:cNvPr id="4" name="Table 3"/>
          <p:cNvGraphicFramePr>
            <a:graphicFrameLocks noGrp="1"/>
          </p:cNvGraphicFramePr>
          <p:nvPr/>
        </p:nvGraphicFramePr>
        <p:xfrm>
          <a:off x="457200" y="3035808"/>
          <a:ext cx="11265408" cy="8991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Notes</a:t>
                      </a:r>
                    </a:p>
                  </a:txBody>
                  <a:tcPr>
                    <a:solidFill>
                      <a:srgbClr val="000000"/>
                    </a:solidFill>
                  </a:tcPr>
                </a:tc>
                <a:tc>
                  <a:txBody>
                    <a:bodyPr/>
                    <a:lstStyle/>
                    <a:p>
                      <a:r>
                        <a:rPr sz="1100" b="1">
                          <a:solidFill>
                            <a:srgbClr val="FFFFFF"/>
                          </a:solidFill>
                        </a:rPr>
                        <a:t>Proposed Threshold Notes</a:t>
                      </a:r>
                    </a:p>
                  </a:txBody>
                  <a:tcPr>
                    <a:solidFill>
                      <a:srgbClr val="000000"/>
                    </a:solidFill>
                  </a:tcPr>
                </a:tc>
                <a:extLst>
                  <a:ext uri="{0D108BD9-81ED-4DB2-BD59-A6C34878D82A}">
                    <a16:rowId xmlns:a16="http://schemas.microsoft.com/office/drawing/2014/main" val="10000"/>
                  </a:ext>
                </a:extLst>
              </a:tr>
              <a:tr h="121920">
                <a:tc>
                  <a:txBody>
                    <a:bodyPr/>
                    <a:lstStyle/>
                    <a:p>
                      <a:r>
                        <a:rPr sz="1000" b="1"/>
                        <a:t>AR</a:t>
                      </a:r>
                    </a:p>
                  </a:txBody>
                  <a:tcPr>
                    <a:solidFill>
                      <a:srgbClr val="FFFFFF"/>
                    </a:solidFill>
                  </a:tcPr>
                </a:tc>
                <a:tc>
                  <a:txBody>
                    <a:bodyPr/>
                    <a:lstStyle/>
                    <a:p>
                      <a:r>
                        <a:rPr sz="1000"/>
                        <a:t>(no notes)</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121920">
                <a:tc>
                  <a:txBody>
                    <a:bodyPr/>
                    <a:lstStyle/>
                    <a:p>
                      <a:r>
                        <a:rPr sz="1000" b="1"/>
                        <a:t>SR</a:t>
                      </a:r>
                    </a:p>
                    <a:p>
                      <a:r>
                        <a:rPr sz="1000" i="1">
                          <a:solidFill>
                            <a:srgbClr val="808080"/>
                          </a:solidFill>
                        </a:rPr>
                        <a:t>(baseline)</a:t>
                      </a:r>
                    </a:p>
                  </a:txBody>
                  <a:tcPr>
                    <a:solidFill>
                      <a:srgbClr val="F2F2F2"/>
                    </a:solidFill>
                  </a:tcPr>
                </a:tc>
                <a:tc>
                  <a:txBody>
                    <a:bodyPr/>
                    <a:lstStyle/>
                    <a:p>
                      <a:r>
                        <a:rPr sz="1000"/>
                        <a:t>Examples of technical documentation include an Algorithm Theoretical Basis Document, product user guide, etc.</a:t>
                      </a:r>
                    </a:p>
                  </a:txBody>
                  <a:tcPr>
                    <a:solidFill>
                      <a:srgbClr val="F2F2F2"/>
                    </a:solidFill>
                  </a:tcPr>
                </a:tc>
                <a:tc>
                  <a:txBody>
                    <a:bodyPr/>
                    <a:lstStyle/>
                    <a:p>
                      <a:r>
                        <a:rPr sz="1000" b="1">
                          <a:solidFill>
                            <a:srgbClr val="B00000"/>
                          </a:solidFill>
                        </a:rPr>
                        <a:t>DELETE NOTE</a:t>
                      </a:r>
                    </a:p>
                  </a:txBody>
                  <a:tcPr>
                    <a:solidFill>
                      <a:srgbClr val="F2F2F2"/>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457200" y="4091574"/>
            <a:ext cx="11277295" cy="184666"/>
          </a:xfrm>
          <a:prstGeom prst="rect">
            <a:avLst/>
          </a:prstGeom>
          <a:noFill/>
        </p:spPr>
        <p:txBody>
          <a:bodyPr wrap="square" lIns="0" tIns="0" rIns="0" bIns="0">
            <a:spAutoFit/>
          </a:bodyPr>
          <a:lstStyle/>
          <a:p>
            <a:r>
              <a:rPr sz="1200" b="1" dirty="0"/>
              <a:t>Internal notes: </a:t>
            </a:r>
            <a:r>
              <a:rPr sz="1200" i="1" dirty="0"/>
              <a:t>For DOI related discussions </a:t>
            </a:r>
            <a:r>
              <a:rPr lang="de-DE" sz="1200" i="1" dirty="0" err="1"/>
              <a:t>see</a:t>
            </a:r>
            <a:r>
              <a:rPr lang="de-DE" sz="1200" i="1" dirty="0"/>
              <a:t> "DOIs" </a:t>
            </a:r>
            <a:r>
              <a:rPr lang="de-DE" sz="1200" i="1" dirty="0" err="1"/>
              <a:t>slide</a:t>
            </a:r>
            <a:r>
              <a:rPr sz="1200" i="1"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Measurement Normalisation (AR, NLSR, SR)</a:t>
            </a:r>
          </a:p>
        </p:txBody>
      </p:sp>
      <p:graphicFrame>
        <p:nvGraphicFramePr>
          <p:cNvPr id="3" name="Table 2"/>
          <p:cNvGraphicFramePr>
            <a:graphicFrameLocks noGrp="1"/>
          </p:cNvGraphicFramePr>
          <p:nvPr>
            <p:extLst>
              <p:ext uri="{D42A27DB-BD31-4B8C-83A1-F6EECF244321}">
                <p14:modId xmlns:p14="http://schemas.microsoft.com/office/powerpoint/2010/main" val="1717608982"/>
              </p:ext>
            </p:extLst>
          </p:nvPr>
        </p:nvGraphicFramePr>
        <p:xfrm>
          <a:off x="457200" y="1005840"/>
          <a:ext cx="11265408" cy="16002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p>
                      <a:r>
                        <a:rPr sz="1000" i="1">
                          <a:solidFill>
                            <a:srgbClr val="808080"/>
                          </a:solidFill>
                        </a:rPr>
                        <a:t>(baseline)</a:t>
                      </a:r>
                    </a:p>
                  </a:txBody>
                  <a:tcPr>
                    <a:solidFill>
                      <a:srgbClr val="FFFFFF"/>
                    </a:solidFill>
                  </a:tcPr>
                </a:tc>
                <a:tc>
                  <a:txBody>
                    <a:bodyPr/>
                    <a:lstStyle/>
                    <a:p>
                      <a:r>
                        <a:rPr sz="1000"/>
                        <a:t>Measurements are normalised (to nadir) to remove the effect of bidirectional dependence of the upwelling radiance on observation and solar-illumination geometries.</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NLSR</a:t>
                      </a:r>
                    </a:p>
                  </a:txBody>
                  <a:tcPr>
                    <a:solidFill>
                      <a:srgbClr val="F2F2F2"/>
                    </a:solidFill>
                  </a:tcPr>
                </a:tc>
                <a:tc>
                  <a:txBody>
                    <a:bodyPr/>
                    <a:lstStyle/>
                    <a:p>
                      <a:r>
                        <a:rPr sz="1000">
                          <a:solidFill>
                            <a:srgbClr val="1565C0"/>
                          </a:solidFill>
                        </a:rPr>
                        <a:t>Measurements are normalised </a:t>
                      </a:r>
                      <a:r>
                        <a:rPr sz="1000"/>
                        <a:t>for viewing conditions (i.e., nadir view angle).</a:t>
                      </a:r>
                    </a:p>
                    <a:p>
                      <a:r>
                        <a:rPr sz="1000"/>
                        <a:t>This may include radiative transfer modelling.</a:t>
                      </a:r>
                    </a:p>
                  </a:txBody>
                  <a:tcPr>
                    <a:solidFill>
                      <a:srgbClr val="F2F2F2"/>
                    </a:solidFill>
                  </a:tcPr>
                </a:tc>
                <a:tc>
                  <a:txBody>
                    <a:bodyPr/>
                    <a:lstStyle/>
                    <a:p>
                      <a:r>
                        <a:rPr sz="1000">
                          <a:solidFill>
                            <a:schemeClr val="tx1"/>
                          </a:solidFill>
                        </a:rPr>
                        <a:t>Measurements are normalised (to nadir) to remove the effect of bidirectional dependence of the upwelling radiance on observation and solar-illumination geometries.</a:t>
                      </a:r>
                    </a:p>
                  </a:txBody>
                  <a:tcPr>
                    <a:solidFill>
                      <a:srgbClr val="F2F2F2"/>
                    </a:solidFill>
                  </a:tcPr>
                </a:tc>
                <a:extLst>
                  <a:ext uri="{0D108BD9-81ED-4DB2-BD59-A6C34878D82A}">
                    <a16:rowId xmlns:a16="http://schemas.microsoft.com/office/drawing/2014/main" val="10002"/>
                  </a:ext>
                </a:extLst>
              </a:tr>
              <a:tr h="0">
                <a:tc>
                  <a:txBody>
                    <a:bodyPr/>
                    <a:lstStyle/>
                    <a:p>
                      <a:r>
                        <a:rPr sz="1000" b="1"/>
                        <a:t>SR</a:t>
                      </a:r>
                    </a:p>
                  </a:txBody>
                  <a:tcPr>
                    <a:solidFill>
                      <a:srgbClr val="FFFFFF"/>
                    </a:solidFill>
                  </a:tcPr>
                </a:tc>
                <a:tc>
                  <a:txBody>
                    <a:bodyPr/>
                    <a:lstStyle/>
                    <a:p>
                      <a:r>
                        <a:rPr sz="1000">
                          <a:solidFill>
                            <a:srgbClr val="1565C0"/>
                          </a:solidFill>
                        </a:rPr>
                        <a:t>Measurements are normalised </a:t>
                      </a:r>
                      <a:r>
                        <a:rPr sz="1000"/>
                        <a:t>for solar and viewing conditions (i.e., nadir view angle and average solar angles). This may include terrain </a:t>
                      </a:r>
                      <a:r>
                        <a:rPr sz="1000">
                          <a:solidFill>
                            <a:srgbClr val="1565C0"/>
                          </a:solidFill>
                        </a:rPr>
                        <a:t>illumination </a:t>
                      </a:r>
                      <a:r>
                        <a:rPr sz="1000"/>
                        <a:t>and/or Bi-Directional Reflectance Function (BRDF) correction.</a:t>
                      </a:r>
                    </a:p>
                  </a:txBody>
                  <a:tcPr>
                    <a:solidFill>
                      <a:srgbClr val="FFFFFF"/>
                    </a:solidFill>
                  </a:tcPr>
                </a:tc>
                <a:tc>
                  <a:txBody>
                    <a:bodyPr/>
                    <a:lstStyle/>
                    <a:p>
                      <a:r>
                        <a:rPr sz="1000" dirty="0">
                          <a:solidFill>
                            <a:schemeClr val="tx1"/>
                          </a:solidFill>
                        </a:rPr>
                        <a:t>Measurements are </a:t>
                      </a:r>
                      <a:r>
                        <a:rPr sz="1000" dirty="0" err="1">
                          <a:solidFill>
                            <a:schemeClr val="tx1"/>
                          </a:solidFill>
                        </a:rPr>
                        <a:t>normalised</a:t>
                      </a:r>
                      <a:r>
                        <a:rPr sz="1000" dirty="0">
                          <a:solidFill>
                            <a:schemeClr val="tx1"/>
                          </a:solidFill>
                        </a:rPr>
                        <a:t> (to nadir) to remove the effect of bidirectional dependence of the upwelling radiance on observation and solar-illumination geometries.</a:t>
                      </a:r>
                    </a:p>
                  </a:txBody>
                  <a:tcPr>
                    <a:solidFill>
                      <a:srgbClr val="FFFFFF"/>
                    </a:solidFill>
                  </a:tcPr>
                </a:tc>
                <a:extLst>
                  <a:ext uri="{0D108BD9-81ED-4DB2-BD59-A6C34878D82A}">
                    <a16:rowId xmlns:a16="http://schemas.microsoft.com/office/drawing/2014/main" val="10003"/>
                  </a:ext>
                </a:extLst>
              </a:tr>
            </a:tbl>
          </a:graphicData>
        </a:graphic>
      </p:graphicFrame>
      <p:graphicFrame>
        <p:nvGraphicFramePr>
          <p:cNvPr id="4" name="Table 3"/>
          <p:cNvGraphicFramePr>
            <a:graphicFrameLocks noGrp="1"/>
          </p:cNvGraphicFramePr>
          <p:nvPr/>
        </p:nvGraphicFramePr>
        <p:xfrm>
          <a:off x="457200" y="3300984"/>
          <a:ext cx="11265408" cy="12954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Notes</a:t>
                      </a:r>
                    </a:p>
                  </a:txBody>
                  <a:tcPr>
                    <a:solidFill>
                      <a:srgbClr val="000000"/>
                    </a:solidFill>
                  </a:tcPr>
                </a:tc>
                <a:tc>
                  <a:txBody>
                    <a:bodyPr/>
                    <a:lstStyle/>
                    <a:p>
                      <a:r>
                        <a:rPr sz="1100" b="1">
                          <a:solidFill>
                            <a:srgbClr val="FFFFFF"/>
                          </a:solidFill>
                        </a:rPr>
                        <a:t>Proposed Goal Notes</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txBody>
                  <a:tcPr>
                    <a:solidFill>
                      <a:srgbClr val="FFFFFF"/>
                    </a:solidFill>
                  </a:tcPr>
                </a:tc>
                <a:tc>
                  <a:txBody>
                    <a:bodyPr/>
                    <a:lstStyle/>
                    <a:p>
                      <a:r>
                        <a:rPr sz="1000"/>
                        <a:t>(no notes)</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NLSR</a:t>
                      </a:r>
                    </a:p>
                    <a:p>
                      <a:r>
                        <a:rPr sz="1000" i="1">
                          <a:solidFill>
                            <a:srgbClr val="808080"/>
                          </a:solidFill>
                        </a:rPr>
                        <a:t>(baseline)</a:t>
                      </a:r>
                    </a:p>
                  </a:txBody>
                  <a:tcPr>
                    <a:solidFill>
                      <a:srgbClr val="F2F2F2"/>
                    </a:solidFill>
                  </a:tcPr>
                </a:tc>
                <a:tc>
                  <a:txBody>
                    <a:bodyPr/>
                    <a:lstStyle/>
                    <a:p>
                      <a:r>
                        <a:rPr sz="1000"/>
                        <a:t>Information on measurement normalisation should be available in the metadata as a single DOI landing page.</a:t>
                      </a:r>
                    </a:p>
                  </a:txBody>
                  <a:tcPr>
                    <a:solidFill>
                      <a:srgbClr val="F2F2F2"/>
                    </a:solidFill>
                  </a:tcPr>
                </a:tc>
                <a:tc>
                  <a:txBody>
                    <a:bodyPr/>
                    <a:lstStyle/>
                    <a:p>
                      <a:r>
                        <a:rPr sz="1000" b="1">
                          <a:solidFill>
                            <a:srgbClr val="B00000"/>
                          </a:solidFill>
                        </a:rPr>
                        <a:t>DELETE NOTE</a:t>
                      </a:r>
                    </a:p>
                  </a:txBody>
                  <a:tcPr>
                    <a:solidFill>
                      <a:srgbClr val="F2F2F2"/>
                    </a:solidFill>
                  </a:tcPr>
                </a:tc>
                <a:extLst>
                  <a:ext uri="{0D108BD9-81ED-4DB2-BD59-A6C34878D82A}">
                    <a16:rowId xmlns:a16="http://schemas.microsoft.com/office/drawing/2014/main" val="10002"/>
                  </a:ext>
                </a:extLst>
              </a:tr>
              <a:tr h="0">
                <a:tc>
                  <a:txBody>
                    <a:bodyPr/>
                    <a:lstStyle/>
                    <a:p>
                      <a:r>
                        <a:rPr sz="1000" b="1"/>
                        <a:t>SR</a:t>
                      </a:r>
                    </a:p>
                  </a:txBody>
                  <a:tcPr>
                    <a:solidFill>
                      <a:srgbClr val="FFFFFF"/>
                    </a:solidFill>
                  </a:tcPr>
                </a:tc>
                <a:tc>
                  <a:txBody>
                    <a:bodyPr/>
                    <a:lstStyle/>
                    <a:p>
                      <a:r>
                        <a:rPr sz="1000"/>
                        <a:t>Information on measurement normalisation should be available in the metadata as a single DOI landing page.</a:t>
                      </a:r>
                    </a:p>
                  </a:txBody>
                  <a:tcPr>
                    <a:solidFill>
                      <a:srgbClr val="FFFFFF"/>
                    </a:solidFill>
                  </a:tcPr>
                </a:tc>
                <a:tc>
                  <a:txBody>
                    <a:bodyPr/>
                    <a:lstStyle/>
                    <a:p>
                      <a:r>
                        <a:rPr sz="1000" b="1">
                          <a:solidFill>
                            <a:srgbClr val="B00000"/>
                          </a:solidFill>
                        </a:rPr>
                        <a:t>DELETE NOTE</a:t>
                      </a:r>
                    </a:p>
                  </a:txBody>
                  <a:tcP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57200" y="4736226"/>
            <a:ext cx="11277295" cy="184666"/>
          </a:xfrm>
          <a:prstGeom prst="rect">
            <a:avLst/>
          </a:prstGeom>
          <a:noFill/>
        </p:spPr>
        <p:txBody>
          <a:bodyPr wrap="square" lIns="0" tIns="0" rIns="0" bIns="0">
            <a:spAutoFit/>
          </a:bodyPr>
          <a:lstStyle/>
          <a:p>
            <a:r>
              <a:rPr sz="1200" b="1" dirty="0"/>
              <a:t>Internal notes: </a:t>
            </a:r>
            <a:r>
              <a:rPr sz="1200" i="1" dirty="0"/>
              <a:t>For DOI related discussions </a:t>
            </a:r>
            <a:r>
              <a:rPr lang="de-DE" sz="1200" i="1" dirty="0" err="1"/>
              <a:t>see</a:t>
            </a:r>
            <a:r>
              <a:rPr lang="de-DE" sz="1200" i="1" dirty="0"/>
              <a:t> "DOIs" </a:t>
            </a:r>
            <a:r>
              <a:rPr lang="de-DE" sz="1200" i="1" dirty="0" err="1"/>
              <a:t>slide</a:t>
            </a:r>
            <a:r>
              <a:rPr sz="1200" i="1"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Measurement Uncertainty (AR, NLSR, SR, ST)</a:t>
            </a:r>
          </a:p>
        </p:txBody>
      </p:sp>
      <p:graphicFrame>
        <p:nvGraphicFramePr>
          <p:cNvPr id="3" name="Table 2"/>
          <p:cNvGraphicFramePr>
            <a:graphicFrameLocks noGrp="1"/>
          </p:cNvGraphicFramePr>
          <p:nvPr>
            <p:extLst>
              <p:ext uri="{D42A27DB-BD31-4B8C-83A1-F6EECF244321}">
                <p14:modId xmlns:p14="http://schemas.microsoft.com/office/powerpoint/2010/main" val="1386576651"/>
              </p:ext>
            </p:extLst>
          </p:nvPr>
        </p:nvGraphicFramePr>
        <p:xfrm>
          <a:off x="457200" y="1005840"/>
          <a:ext cx="11265408" cy="11430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Description</a:t>
                      </a:r>
                    </a:p>
                  </a:txBody>
                  <a:tcPr>
                    <a:solidFill>
                      <a:srgbClr val="000000"/>
                    </a:solidFill>
                  </a:tcPr>
                </a:tc>
                <a:tc>
                  <a:txBody>
                    <a:bodyPr/>
                    <a:lstStyle/>
                    <a:p>
                      <a:r>
                        <a:rPr sz="1100" b="1">
                          <a:solidFill>
                            <a:srgbClr val="FFFFFF"/>
                          </a:solidFill>
                        </a:rPr>
                        <a:t>Proposed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txBody>
                  <a:tcPr>
                    <a:solidFill>
                      <a:srgbClr val="FFFFFF"/>
                    </a:solidFill>
                  </a:tcPr>
                </a:tc>
                <a:tc>
                  <a:txBody>
                    <a:bodyPr/>
                    <a:lstStyle/>
                    <a:p>
                      <a:r>
                        <a:rPr sz="1000"/>
                        <a:t>(not set)</a:t>
                      </a:r>
                    </a:p>
                  </a:txBody>
                  <a:tcPr>
                    <a:solidFill>
                      <a:srgbClr val="FFFFFF"/>
                    </a:solidFill>
                  </a:tcPr>
                </a:tc>
                <a:tc>
                  <a:txBody>
                    <a:bodyPr/>
                    <a:lstStyle/>
                    <a:p>
                      <a:r>
                        <a:rPr sz="1000" i="1" dirty="0">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NLSR, SR</a:t>
                      </a:r>
                    </a:p>
                    <a:p>
                      <a:r>
                        <a:rPr sz="1000" i="1">
                          <a:solidFill>
                            <a:srgbClr val="808080"/>
                          </a:solidFill>
                        </a:rPr>
                        <a:t>(baseline)</a:t>
                      </a:r>
                    </a:p>
                  </a:txBody>
                  <a:tcPr>
                    <a:solidFill>
                      <a:srgbClr val="F2F2F2"/>
                    </a:solidFill>
                  </a:tcPr>
                </a:tc>
                <a:tc>
                  <a:txBody>
                    <a:bodyPr/>
                    <a:lstStyle/>
                    <a:p>
                      <a:r>
                        <a:rPr sz="1000"/>
                        <a:t>Note: In current practice, users determine fitness for purpose based on knowledge of the lineage of the data, rather than on a specific estimate of measurement uncertainty.</a:t>
                      </a:r>
                    </a:p>
                  </a:txBody>
                  <a:tcPr>
                    <a:solidFill>
                      <a:srgbClr val="F2F2F2"/>
                    </a:solidFill>
                  </a:tcPr>
                </a:tc>
                <a:tc>
                  <a:txBody>
                    <a:bodyPr/>
                    <a:lstStyle/>
                    <a:p>
                      <a:r>
                        <a:rPr sz="1000" b="1" dirty="0">
                          <a:solidFill>
                            <a:srgbClr val="B00000"/>
                          </a:solidFill>
                        </a:rPr>
                        <a:t>DELETE</a:t>
                      </a:r>
                      <a:r>
                        <a:rPr lang="de-DE" sz="1000" b="1" dirty="0">
                          <a:solidFill>
                            <a:srgbClr val="B00000"/>
                          </a:solidFill>
                        </a:rPr>
                        <a:t>? (BUT: AR </a:t>
                      </a:r>
                      <a:r>
                        <a:rPr lang="de-DE" sz="1000" b="1" dirty="0" err="1">
                          <a:solidFill>
                            <a:srgbClr val="B00000"/>
                          </a:solidFill>
                        </a:rPr>
                        <a:t>has</a:t>
                      </a:r>
                      <a:r>
                        <a:rPr lang="de-DE" sz="1000" b="1" dirty="0">
                          <a:solidFill>
                            <a:srgbClr val="B00000"/>
                          </a:solidFill>
                        </a:rPr>
                        <a:t> a </a:t>
                      </a:r>
                      <a:r>
                        <a:rPr lang="de-DE" sz="1000" b="1" dirty="0" err="1">
                          <a:solidFill>
                            <a:srgbClr val="B00000"/>
                          </a:solidFill>
                        </a:rPr>
                        <a:t>similar</a:t>
                      </a:r>
                      <a:r>
                        <a:rPr lang="de-DE" sz="1000" b="1" dirty="0">
                          <a:solidFill>
                            <a:srgbClr val="B00000"/>
                          </a:solidFill>
                        </a:rPr>
                        <a:t> </a:t>
                      </a:r>
                      <a:r>
                        <a:rPr lang="de-DE" sz="1000" b="1" dirty="0" err="1">
                          <a:solidFill>
                            <a:srgbClr val="B00000"/>
                          </a:solidFill>
                        </a:rPr>
                        <a:t>description</a:t>
                      </a:r>
                      <a:r>
                        <a:rPr lang="de-DE" sz="1000" b="1" dirty="0">
                          <a:solidFill>
                            <a:srgbClr val="B00000"/>
                          </a:solidFill>
                        </a:rPr>
                        <a:t>, </a:t>
                      </a:r>
                      <a:r>
                        <a:rPr lang="de-DE" sz="1000" b="1" dirty="0" err="1">
                          <a:solidFill>
                            <a:srgbClr val="B00000"/>
                          </a:solidFill>
                        </a:rPr>
                        <a:t>see</a:t>
                      </a:r>
                      <a:r>
                        <a:rPr lang="de-DE" sz="1000" b="1" dirty="0">
                          <a:solidFill>
                            <a:srgbClr val="B00000"/>
                          </a:solidFill>
                        </a:rPr>
                        <a:t> </a:t>
                      </a:r>
                      <a:r>
                        <a:rPr lang="de-DE" sz="1000" b="1" dirty="0" err="1">
                          <a:solidFill>
                            <a:srgbClr val="B00000"/>
                          </a:solidFill>
                        </a:rPr>
                        <a:t>below</a:t>
                      </a:r>
                      <a:r>
                        <a:rPr lang="de-DE" sz="1000" b="1" dirty="0">
                          <a:solidFill>
                            <a:srgbClr val="B00000"/>
                          </a:solidFill>
                        </a:rPr>
                        <a:t>)</a:t>
                      </a:r>
                      <a:endParaRPr sz="1000" b="1" dirty="0">
                        <a:solidFill>
                          <a:srgbClr val="B00000"/>
                        </a:solidFill>
                      </a:endParaRPr>
                    </a:p>
                  </a:txBody>
                  <a:tcPr>
                    <a:solidFill>
                      <a:srgbClr val="F2F2F2"/>
                    </a:solidFill>
                  </a:tcPr>
                </a:tc>
                <a:extLst>
                  <a:ext uri="{0D108BD9-81ED-4DB2-BD59-A6C34878D82A}">
                    <a16:rowId xmlns:a16="http://schemas.microsoft.com/office/drawing/2014/main" val="10002"/>
                  </a:ext>
                </a:extLst>
              </a:tr>
              <a:tr h="0">
                <a:tc>
                  <a:txBody>
                    <a:bodyPr/>
                    <a:lstStyle/>
                    <a:p>
                      <a:r>
                        <a:rPr sz="1000" b="1"/>
                        <a:t>ST</a:t>
                      </a:r>
                    </a:p>
                  </a:txBody>
                  <a:tcPr>
                    <a:solidFill>
                      <a:srgbClr val="FFFFFF"/>
                    </a:solidFill>
                  </a:tcPr>
                </a:tc>
                <a:tc>
                  <a:txBody>
                    <a:bodyPr/>
                    <a:lstStyle/>
                    <a:p>
                      <a:r>
                        <a:rPr sz="1000"/>
                        <a:t>(not set)</a:t>
                      </a:r>
                    </a:p>
                  </a:txBody>
                  <a:tcPr>
                    <a:solidFill>
                      <a:srgbClr val="FFFFFF"/>
                    </a:solidFill>
                  </a:tcPr>
                </a:tc>
                <a:tc>
                  <a:txBody>
                    <a:bodyPr/>
                    <a:lstStyle/>
                    <a:p>
                      <a:r>
                        <a:rPr sz="1000" i="1" dirty="0">
                          <a:solidFill>
                            <a:srgbClr val="808080"/>
                          </a:solidFill>
                        </a:rPr>
                        <a:t>(keep as is)</a:t>
                      </a:r>
                    </a:p>
                  </a:txBody>
                  <a:tcPr>
                    <a:solidFill>
                      <a:srgbClr val="FFFFFF"/>
                    </a:solidFill>
                  </a:tcPr>
                </a:tc>
                <a:extLst>
                  <a:ext uri="{0D108BD9-81ED-4DB2-BD59-A6C34878D82A}">
                    <a16:rowId xmlns:a16="http://schemas.microsoft.com/office/drawing/2014/main" val="10003"/>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156355731"/>
              </p:ext>
            </p:extLst>
          </p:nvPr>
        </p:nvGraphicFramePr>
        <p:xfrm>
          <a:off x="457200" y="2679192"/>
          <a:ext cx="11265408" cy="19050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p>
                      <a:r>
                        <a:rPr sz="1000" i="1">
                          <a:solidFill>
                            <a:srgbClr val="808080"/>
                          </a:solidFill>
                        </a:rPr>
                        <a:t>(baseline)</a:t>
                      </a:r>
                    </a:p>
                  </a:txBody>
                  <a:tcPr>
                    <a:solidFill>
                      <a:srgbClr val="FFFFFF"/>
                    </a:solidFill>
                  </a:tcPr>
                </a:tc>
                <a:tc>
                  <a:txBody>
                    <a:bodyPr/>
                    <a:lstStyle/>
                    <a:p>
                      <a:r>
                        <a:rPr sz="1000"/>
                        <a:t>An estimate of the uncertainty of the values is provided in measurement units, following the BIPM Guide to the Expression of Uncertainty in Measurement (GUM).</a:t>
                      </a:r>
                    </a:p>
                  </a:txBody>
                  <a:tcPr>
                    <a:solidFill>
                      <a:srgbClr val="FFFFFF"/>
                    </a:solidFill>
                  </a:tcPr>
                </a:tc>
                <a:tc>
                  <a:txBody>
                    <a:bodyPr/>
                    <a:lstStyle/>
                    <a:p>
                      <a:r>
                        <a:rPr sz="1000" dirty="0">
                          <a:solidFill>
                            <a:schemeClr val="tx1"/>
                          </a:solidFill>
                        </a:rPr>
                        <a:t>A self-assessed declaration of per-pixel measurement uncertainty, following Section 3.2.4 (Uncertainty Characterization) of the Joint Earth Observation Mission Quality Assessment Framework - Optical Guidelines is provided, meeting the Basic or Good criteria.</a:t>
                      </a:r>
                    </a:p>
                  </a:txBody>
                  <a:tcPr>
                    <a:solidFill>
                      <a:srgbClr val="FFFFFF"/>
                    </a:solidFill>
                  </a:tcPr>
                </a:tc>
                <a:extLst>
                  <a:ext uri="{0D108BD9-81ED-4DB2-BD59-A6C34878D82A}">
                    <a16:rowId xmlns:a16="http://schemas.microsoft.com/office/drawing/2014/main" val="10001"/>
                  </a:ext>
                </a:extLst>
              </a:tr>
              <a:tr h="0">
                <a:tc>
                  <a:txBody>
                    <a:bodyPr/>
                    <a:lstStyle/>
                    <a:p>
                      <a:r>
                        <a:rPr sz="1000" b="1"/>
                        <a:t>NLSR, SR</a:t>
                      </a:r>
                    </a:p>
                  </a:txBody>
                  <a:tcPr>
                    <a:solidFill>
                      <a:srgbClr val="F2F2F2"/>
                    </a:solidFill>
                  </a:tcPr>
                </a:tc>
                <a:tc>
                  <a:txBody>
                    <a:bodyPr/>
                    <a:lstStyle/>
                    <a:p>
                      <a:r>
                        <a:rPr sz="1000"/>
                        <a:t>(not set)</a:t>
                      </a:r>
                    </a:p>
                  </a:txBody>
                  <a:tcPr>
                    <a:solidFill>
                      <a:srgbClr val="F2F2F2"/>
                    </a:solidFill>
                  </a:tcPr>
                </a:tc>
                <a:tc>
                  <a:txBody>
                    <a:bodyPr/>
                    <a:lstStyle/>
                    <a:p>
                      <a:r>
                        <a:rPr sz="1000" b="1">
                          <a:solidFill>
                            <a:srgbClr val="2E7D32"/>
                          </a:solidFill>
                        </a:rPr>
                        <a:t>A self-assessed declaration of per-pixel measurement uncertainty, following Section 3.2.4 (Uncertainty Characterization) of the Joint Earth Observation Mission Quality Assessment Framework - Optical Guidelines is provided, meeting the Basic or Good criteria.</a:t>
                      </a:r>
                    </a:p>
                  </a:txBody>
                  <a:tcPr>
                    <a:solidFill>
                      <a:srgbClr val="F2F2F2"/>
                    </a:solidFill>
                  </a:tcPr>
                </a:tc>
                <a:extLst>
                  <a:ext uri="{0D108BD9-81ED-4DB2-BD59-A6C34878D82A}">
                    <a16:rowId xmlns:a16="http://schemas.microsoft.com/office/drawing/2014/main" val="10002"/>
                  </a:ext>
                </a:extLst>
              </a:tr>
              <a:tr h="0">
                <a:tc>
                  <a:txBody>
                    <a:bodyPr/>
                    <a:lstStyle/>
                    <a:p>
                      <a:r>
                        <a:rPr sz="1000" b="1"/>
                        <a:t>ST</a:t>
                      </a:r>
                    </a:p>
                  </a:txBody>
                  <a:tcPr>
                    <a:solidFill>
                      <a:srgbClr val="FFFFFF"/>
                    </a:solidFill>
                  </a:tcPr>
                </a:tc>
                <a:tc>
                  <a:txBody>
                    <a:bodyPr/>
                    <a:lstStyle/>
                    <a:p>
                      <a:r>
                        <a:rPr sz="1000"/>
                        <a:t>A self-assessed declaration of per-pixel</a:t>
                      </a:r>
                      <a:r>
                        <a:rPr sz="1000">
                          <a:solidFill>
                            <a:srgbClr val="1565C0"/>
                          </a:solidFill>
                        </a:rPr>
                        <a:t> measurement un</a:t>
                      </a:r>
                      <a:r>
                        <a:rPr sz="1000"/>
                        <a:t>certainty</a:t>
                      </a:r>
                      <a:r>
                        <a:rPr sz="1000">
                          <a:solidFill>
                            <a:srgbClr val="1565C0"/>
                          </a:solidFill>
                        </a:rPr>
                        <a:t>, following </a:t>
                      </a:r>
                      <a:r>
                        <a:rPr sz="1000"/>
                        <a:t>Section 3.2.4 (</a:t>
                      </a:r>
                      <a:r>
                        <a:rPr sz="1000">
                          <a:solidFill>
                            <a:srgbClr val="1565C0"/>
                          </a:solidFill>
                        </a:rPr>
                        <a:t>Uncertainty </a:t>
                      </a:r>
                      <a:r>
                        <a:rPr sz="1000"/>
                        <a:t>Characterization) of the Joint Earth Observation Mission Quality Assessment Framework - Optical Guidelines is provided, meeting the Basic or Good criteria.</a:t>
                      </a:r>
                    </a:p>
                  </a:txBody>
                  <a:tcPr>
                    <a:solidFill>
                      <a:srgbClr val="FFFFFF"/>
                    </a:solidFill>
                  </a:tcPr>
                </a:tc>
                <a:tc>
                  <a:txBody>
                    <a:bodyPr/>
                    <a:lstStyle/>
                    <a:p>
                      <a:r>
                        <a:rPr sz="1000" i="1" dirty="0">
                          <a:solidFill>
                            <a:srgbClr val="808080"/>
                          </a:solidFill>
                        </a:rPr>
                        <a:t>(keep as is)</a:t>
                      </a:r>
                    </a:p>
                  </a:txBody>
                  <a:tcPr>
                    <a:solidFill>
                      <a:srgbClr val="FFFFFF"/>
                    </a:solidFill>
                  </a:tcPr>
                </a:tc>
                <a:extLst>
                  <a:ext uri="{0D108BD9-81ED-4DB2-BD59-A6C34878D82A}">
                    <a16:rowId xmlns:a16="http://schemas.microsoft.com/office/drawing/2014/main" val="10003"/>
                  </a:ext>
                </a:extLst>
              </a:tr>
            </a:tbl>
          </a:graphicData>
        </a:graphic>
      </p:graphicFrame>
      <p:graphicFrame>
        <p:nvGraphicFramePr>
          <p:cNvPr id="6" name="Table 2">
            <a:extLst>
              <a:ext uri="{FF2B5EF4-FFF2-40B4-BE49-F238E27FC236}">
                <a16:creationId xmlns:a16="http://schemas.microsoft.com/office/drawing/2014/main" id="{FF5094B1-FBAC-1B3C-3908-F32C640256CC}"/>
              </a:ext>
            </a:extLst>
          </p:cNvPr>
          <p:cNvGraphicFramePr>
            <a:graphicFrameLocks noGrp="1"/>
          </p:cNvGraphicFramePr>
          <p:nvPr>
            <p:extLst>
              <p:ext uri="{D42A27DB-BD31-4B8C-83A1-F6EECF244321}">
                <p14:modId xmlns:p14="http://schemas.microsoft.com/office/powerpoint/2010/main" val="3400404163"/>
              </p:ext>
            </p:extLst>
          </p:nvPr>
        </p:nvGraphicFramePr>
        <p:xfrm>
          <a:off x="457200" y="4928616"/>
          <a:ext cx="11265408" cy="14478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Notes</a:t>
                      </a:r>
                    </a:p>
                  </a:txBody>
                  <a:tcPr>
                    <a:solidFill>
                      <a:srgbClr val="000000"/>
                    </a:solidFill>
                  </a:tcPr>
                </a:tc>
                <a:tc>
                  <a:txBody>
                    <a:bodyPr/>
                    <a:lstStyle/>
                    <a:p>
                      <a:r>
                        <a:rPr sz="1100" b="1">
                          <a:solidFill>
                            <a:srgbClr val="FFFFFF"/>
                          </a:solidFill>
                        </a:rPr>
                        <a:t>Proposed Threshold Notes</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p>
                      <a:r>
                        <a:rPr sz="1000" i="1">
                          <a:solidFill>
                            <a:srgbClr val="808080"/>
                          </a:solidFill>
                        </a:rPr>
                        <a:t>(baseline)</a:t>
                      </a:r>
                    </a:p>
                  </a:txBody>
                  <a:tcPr>
                    <a:solidFill>
                      <a:srgbClr val="FFFFFF"/>
                    </a:solidFill>
                  </a:tcPr>
                </a:tc>
                <a:tc>
                  <a:txBody>
                    <a:bodyPr/>
                    <a:lstStyle/>
                    <a:p>
                      <a:r>
                        <a:rPr sz="1000" dirty="0"/>
                        <a:t>In current practice, users determine fitness for purpose based on knowledge of the lineage of the data, rather than on a specific estimate of measurement uncertainty.</a:t>
                      </a:r>
                    </a:p>
                    <a:p>
                      <a:endParaRPr sz="1000" dirty="0"/>
                    </a:p>
                    <a:p>
                      <a:r>
                        <a:rPr sz="1000" dirty="0"/>
                        <a:t>See @gum_6_2020 and @vabson2024.</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NLSR, SR</a:t>
                      </a:r>
                    </a:p>
                  </a:txBody>
                  <a:tcPr>
                    <a:solidFill>
                      <a:srgbClr val="F2F2F2"/>
                    </a:solidFill>
                  </a:tcPr>
                </a:tc>
                <a:tc>
                  <a:txBody>
                    <a:bodyPr/>
                    <a:lstStyle/>
                    <a:p>
                      <a:r>
                        <a:rPr sz="1000"/>
                        <a:t>(no notes)</a:t>
                      </a:r>
                    </a:p>
                  </a:txBody>
                  <a:tcPr>
                    <a:solidFill>
                      <a:srgbClr val="F2F2F2"/>
                    </a:solidFill>
                  </a:tcPr>
                </a:tc>
                <a:tc>
                  <a:txBody>
                    <a:bodyPr/>
                    <a:lstStyle/>
                    <a:p>
                      <a:r>
                        <a:rPr sz="1000" i="1">
                          <a:solidFill>
                            <a:srgbClr val="808080"/>
                          </a:solidFill>
                        </a:rPr>
                        <a:t>(keep as is)</a:t>
                      </a:r>
                    </a:p>
                  </a:txBody>
                  <a:tcPr>
                    <a:solidFill>
                      <a:srgbClr val="F2F2F2"/>
                    </a:solidFill>
                  </a:tcPr>
                </a:tc>
                <a:extLst>
                  <a:ext uri="{0D108BD9-81ED-4DB2-BD59-A6C34878D82A}">
                    <a16:rowId xmlns:a16="http://schemas.microsoft.com/office/drawing/2014/main" val="10002"/>
                  </a:ext>
                </a:extLst>
              </a:tr>
              <a:tr h="0">
                <a:tc>
                  <a:txBody>
                    <a:bodyPr/>
                    <a:lstStyle/>
                    <a:p>
                      <a:r>
                        <a:rPr sz="1000" b="1"/>
                        <a:t>ST</a:t>
                      </a:r>
                    </a:p>
                  </a:txBody>
                  <a:tcPr>
                    <a:solidFill>
                      <a:srgbClr val="FFFFFF"/>
                    </a:solidFill>
                  </a:tcPr>
                </a:tc>
                <a:tc>
                  <a:txBody>
                    <a:bodyPr/>
                    <a:lstStyle/>
                    <a:p>
                      <a:r>
                        <a:rPr sz="1000"/>
                        <a:t>(no notes)</a:t>
                      </a:r>
                    </a:p>
                  </a:txBody>
                  <a:tcPr>
                    <a:solidFill>
                      <a:srgbClr val="FFFFFF"/>
                    </a:solidFill>
                  </a:tcPr>
                </a:tc>
                <a:tc>
                  <a:txBody>
                    <a:bodyPr/>
                    <a:lstStyle/>
                    <a:p>
                      <a:r>
                        <a:rPr sz="1000" i="1" dirty="0">
                          <a:solidFill>
                            <a:srgbClr val="808080"/>
                          </a:solidFill>
                        </a:rPr>
                        <a:t>(keep as is)</a:t>
                      </a:r>
                    </a:p>
                  </a:txBody>
                  <a:tcP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Measurement Uncertainty (AR, NLSR, SR, ST) (cont.)</a:t>
            </a:r>
          </a:p>
        </p:txBody>
      </p:sp>
      <p:graphicFrame>
        <p:nvGraphicFramePr>
          <p:cNvPr id="4" name="Table 3"/>
          <p:cNvGraphicFramePr>
            <a:graphicFrameLocks noGrp="1"/>
          </p:cNvGraphicFramePr>
          <p:nvPr>
            <p:extLst>
              <p:ext uri="{D42A27DB-BD31-4B8C-83A1-F6EECF244321}">
                <p14:modId xmlns:p14="http://schemas.microsoft.com/office/powerpoint/2010/main" val="3685075492"/>
              </p:ext>
            </p:extLst>
          </p:nvPr>
        </p:nvGraphicFramePr>
        <p:xfrm>
          <a:off x="457200" y="841248"/>
          <a:ext cx="11265408" cy="19050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dirty="0">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txBody>
                  <a:tcPr>
                    <a:solidFill>
                      <a:srgbClr val="FFFFFF"/>
                    </a:solidFill>
                  </a:tcPr>
                </a:tc>
                <a:tc>
                  <a:txBody>
                    <a:bodyPr/>
                    <a:lstStyle/>
                    <a:p>
                      <a:r>
                        <a:rPr sz="1000" dirty="0"/>
                        <a:t>(not set)</a:t>
                      </a:r>
                    </a:p>
                  </a:txBody>
                  <a:tcPr>
                    <a:solidFill>
                      <a:srgbClr val="FFFFFF"/>
                    </a:solidFill>
                  </a:tcPr>
                </a:tc>
                <a:tc>
                  <a:txBody>
                    <a:bodyPr/>
                    <a:lstStyle/>
                    <a:p>
                      <a:r>
                        <a:rPr sz="1000" b="1" dirty="0">
                          <a:solidFill>
                            <a:srgbClr val="2E7D32"/>
                          </a:solidFill>
                        </a:rPr>
                        <a:t>A self-assessed declaration of per-pixel measurement uncertainty, following Section 3.2.4 (Uncertainty Characterization) of the Joint Earth Observation Mission Quality Assessment Framework - Optical Guidelines is provided, meeting the Excellent or Ideal criteria.</a:t>
                      </a:r>
                    </a:p>
                  </a:txBody>
                  <a:tcPr>
                    <a:solidFill>
                      <a:srgbClr val="FFFFFF"/>
                    </a:solidFill>
                  </a:tcPr>
                </a:tc>
                <a:extLst>
                  <a:ext uri="{0D108BD9-81ED-4DB2-BD59-A6C34878D82A}">
                    <a16:rowId xmlns:a16="http://schemas.microsoft.com/office/drawing/2014/main" val="10001"/>
                  </a:ext>
                </a:extLst>
              </a:tr>
              <a:tr h="0">
                <a:tc>
                  <a:txBody>
                    <a:bodyPr/>
                    <a:lstStyle/>
                    <a:p>
                      <a:r>
                        <a:rPr sz="1000" b="1"/>
                        <a:t>NLSR, SR</a:t>
                      </a:r>
                    </a:p>
                    <a:p>
                      <a:r>
                        <a:rPr sz="1000" i="1">
                          <a:solidFill>
                            <a:srgbClr val="808080"/>
                          </a:solidFill>
                        </a:rPr>
                        <a:t>(baseline)</a:t>
                      </a:r>
                    </a:p>
                  </a:txBody>
                  <a:tcPr>
                    <a:solidFill>
                      <a:srgbClr val="F2F2F2"/>
                    </a:solidFill>
                  </a:tcPr>
                </a:tc>
                <a:tc>
                  <a:txBody>
                    <a:bodyPr/>
                    <a:lstStyle/>
                    <a:p>
                      <a:r>
                        <a:rPr sz="1000" dirty="0"/>
                        <a:t>An estimate of the certainty of the values is provided in measurement units.</a:t>
                      </a:r>
                    </a:p>
                  </a:txBody>
                  <a:tcPr>
                    <a:solidFill>
                      <a:srgbClr val="F2F2F2"/>
                    </a:solidFill>
                  </a:tcPr>
                </a:tc>
                <a:tc>
                  <a:txBody>
                    <a:bodyPr/>
                    <a:lstStyle/>
                    <a:p>
                      <a:r>
                        <a:rPr sz="1000" dirty="0">
                          <a:solidFill>
                            <a:schemeClr val="tx1"/>
                          </a:solidFill>
                        </a:rPr>
                        <a:t>A self-assessed declaration of per-pixel measurement uncertainty, following Section 3.2.4 (Uncertainty Characterization) of the Joint Earth Observation Mission Quality Assessment Framework - Optical Guidelines is provided, meeting the Excellent or Ideal criteria.</a:t>
                      </a:r>
                    </a:p>
                  </a:txBody>
                  <a:tcPr>
                    <a:solidFill>
                      <a:srgbClr val="F2F2F2"/>
                    </a:solidFill>
                  </a:tcPr>
                </a:tc>
                <a:extLst>
                  <a:ext uri="{0D108BD9-81ED-4DB2-BD59-A6C34878D82A}">
                    <a16:rowId xmlns:a16="http://schemas.microsoft.com/office/drawing/2014/main" val="10002"/>
                  </a:ext>
                </a:extLst>
              </a:tr>
              <a:tr h="0">
                <a:tc>
                  <a:txBody>
                    <a:bodyPr/>
                    <a:lstStyle/>
                    <a:p>
                      <a:r>
                        <a:rPr sz="1000" b="1"/>
                        <a:t>ST</a:t>
                      </a:r>
                    </a:p>
                  </a:txBody>
                  <a:tcPr>
                    <a:solidFill>
                      <a:srgbClr val="FFFFFF"/>
                    </a:solidFill>
                  </a:tcPr>
                </a:tc>
                <a:tc>
                  <a:txBody>
                    <a:bodyPr/>
                    <a:lstStyle/>
                    <a:p>
                      <a:r>
                        <a:rPr sz="1000" dirty="0"/>
                        <a:t>A self-assessed declaration of per-pixel</a:t>
                      </a:r>
                      <a:r>
                        <a:rPr sz="1000" dirty="0">
                          <a:solidFill>
                            <a:srgbClr val="1565C0"/>
                          </a:solidFill>
                        </a:rPr>
                        <a:t> measurement un</a:t>
                      </a:r>
                      <a:r>
                        <a:rPr sz="1000" dirty="0"/>
                        <a:t>certainty, following Section 3.2.4 (Uncertainty Characterization) of the Joint Earth Observation Mission Quality Assessment Framework - Optical Guidelines is provided, meeting the Excellent or Ideal criteria. </a:t>
                      </a:r>
                    </a:p>
                  </a:txBody>
                  <a:tcPr>
                    <a:solidFill>
                      <a:srgbClr val="FFFFFF"/>
                    </a:solidFill>
                  </a:tcPr>
                </a:tc>
                <a:tc>
                  <a:txBody>
                    <a:bodyPr/>
                    <a:lstStyle/>
                    <a:p>
                      <a:r>
                        <a:rPr sz="1000" i="1" dirty="0">
                          <a:solidFill>
                            <a:srgbClr val="808080"/>
                          </a:solidFill>
                        </a:rPr>
                        <a:t>(keep as is)</a:t>
                      </a:r>
                    </a:p>
                  </a:txBody>
                  <a:tcPr>
                    <a:solidFill>
                      <a:srgbClr val="FFFFFF"/>
                    </a:solidFill>
                  </a:tcPr>
                </a:tc>
                <a:extLst>
                  <a:ext uri="{0D108BD9-81ED-4DB2-BD59-A6C34878D82A}">
                    <a16:rowId xmlns:a16="http://schemas.microsoft.com/office/drawing/2014/main" val="10003"/>
                  </a:ext>
                </a:extLst>
              </a:tr>
            </a:tbl>
          </a:graphicData>
        </a:graphic>
      </p:graphicFrame>
      <p:graphicFrame>
        <p:nvGraphicFramePr>
          <p:cNvPr id="6" name="Table 2">
            <a:extLst>
              <a:ext uri="{FF2B5EF4-FFF2-40B4-BE49-F238E27FC236}">
                <a16:creationId xmlns:a16="http://schemas.microsoft.com/office/drawing/2014/main" id="{B9E5D775-CCA7-A270-1379-B97F4C1650D2}"/>
              </a:ext>
            </a:extLst>
          </p:cNvPr>
          <p:cNvGraphicFramePr>
            <a:graphicFrameLocks noGrp="1"/>
          </p:cNvGraphicFramePr>
          <p:nvPr>
            <p:extLst>
              <p:ext uri="{D42A27DB-BD31-4B8C-83A1-F6EECF244321}">
                <p14:modId xmlns:p14="http://schemas.microsoft.com/office/powerpoint/2010/main" val="2795367488"/>
              </p:ext>
            </p:extLst>
          </p:nvPr>
        </p:nvGraphicFramePr>
        <p:xfrm>
          <a:off x="469392" y="3136392"/>
          <a:ext cx="11265408" cy="16002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Notes</a:t>
                      </a:r>
                    </a:p>
                  </a:txBody>
                  <a:tcPr>
                    <a:solidFill>
                      <a:srgbClr val="000000"/>
                    </a:solidFill>
                  </a:tcPr>
                </a:tc>
                <a:tc>
                  <a:txBody>
                    <a:bodyPr/>
                    <a:lstStyle/>
                    <a:p>
                      <a:r>
                        <a:rPr sz="1100" b="1">
                          <a:solidFill>
                            <a:srgbClr val="FFFFFF"/>
                          </a:solidFill>
                        </a:rPr>
                        <a:t>Proposed Goal Notes</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txBody>
                  <a:tcPr>
                    <a:solidFill>
                      <a:srgbClr val="FFFFFF"/>
                    </a:solidFill>
                  </a:tcPr>
                </a:tc>
                <a:tc>
                  <a:txBody>
                    <a:bodyPr/>
                    <a:lstStyle/>
                    <a:p>
                      <a:r>
                        <a:rPr sz="1000"/>
                        <a:t>(no notes)</a:t>
                      </a:r>
                    </a:p>
                  </a:txBody>
                  <a:tcPr>
                    <a:solidFill>
                      <a:srgbClr val="FFFFFF"/>
                    </a:solidFill>
                  </a:tcPr>
                </a:tc>
                <a:tc>
                  <a:txBody>
                    <a:bodyPr/>
                    <a:lstStyle/>
                    <a:p>
                      <a:r>
                        <a:rPr sz="1000" i="1" dirty="0">
                          <a:solidFill>
                            <a:srgbClr val="808080"/>
                          </a:solidFill>
                        </a:rPr>
                        <a:t>(</a:t>
                      </a:r>
                      <a:r>
                        <a:rPr lang="de-DE" sz="1000" i="1" dirty="0" err="1">
                          <a:solidFill>
                            <a:srgbClr val="808080"/>
                          </a:solidFill>
                        </a:rPr>
                        <a:t>see</a:t>
                      </a:r>
                      <a:r>
                        <a:rPr lang="de-DE" sz="1000" i="1" dirty="0">
                          <a:solidFill>
                            <a:srgbClr val="808080"/>
                          </a:solidFill>
                        </a:rPr>
                        <a:t> ST</a:t>
                      </a:r>
                      <a:r>
                        <a:rPr sz="1000" i="1" dirty="0">
                          <a:solidFill>
                            <a:srgbClr val="808080"/>
                          </a:solidFill>
                        </a:rPr>
                        <a:t>)</a:t>
                      </a:r>
                    </a:p>
                  </a:txBody>
                  <a:tcPr>
                    <a:solidFill>
                      <a:srgbClr val="FFFFFF"/>
                    </a:solidFill>
                  </a:tcPr>
                </a:tc>
                <a:extLst>
                  <a:ext uri="{0D108BD9-81ED-4DB2-BD59-A6C34878D82A}">
                    <a16:rowId xmlns:a16="http://schemas.microsoft.com/office/drawing/2014/main" val="10001"/>
                  </a:ext>
                </a:extLst>
              </a:tr>
              <a:tr h="0">
                <a:tc>
                  <a:txBody>
                    <a:bodyPr/>
                    <a:lstStyle/>
                    <a:p>
                      <a:r>
                        <a:rPr sz="1000" b="1"/>
                        <a:t>NLSR, SR</a:t>
                      </a:r>
                    </a:p>
                    <a:p>
                      <a:r>
                        <a:rPr sz="1000" i="1">
                          <a:solidFill>
                            <a:srgbClr val="808080"/>
                          </a:solidFill>
                        </a:rPr>
                        <a:t>(baseline)</a:t>
                      </a:r>
                    </a:p>
                  </a:txBody>
                  <a:tcPr>
                    <a:solidFill>
                      <a:srgbClr val="F2F2F2"/>
                    </a:solidFill>
                  </a:tcPr>
                </a:tc>
                <a:tc>
                  <a:txBody>
                    <a:bodyPr/>
                    <a:lstStyle/>
                    <a:p>
                      <a:r>
                        <a:rPr sz="1000"/>
                        <a:t>This is a requirement for SI traceability. See also [@traceability].</a:t>
                      </a:r>
                    </a:p>
                    <a:p>
                      <a:endParaRPr sz="1000"/>
                    </a:p>
                    <a:p>
                      <a:r>
                        <a:rPr sz="1000"/>
                        <a:t>Information on measurement uncertainty should be available in the metadata as a single DOI landing page.</a:t>
                      </a:r>
                    </a:p>
                  </a:txBody>
                  <a:tcPr>
                    <a:solidFill>
                      <a:srgbClr val="F2F2F2"/>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DE" sz="1000" b="1" dirty="0">
                          <a:solidFill>
                            <a:srgbClr val="B00000"/>
                          </a:solidFill>
                        </a:rPr>
                        <a:t>DELETE</a:t>
                      </a:r>
                      <a:br>
                        <a:rPr lang="de-DE" sz="1000" b="1" dirty="0">
                          <a:solidFill>
                            <a:srgbClr val="B00000"/>
                          </a:solidFill>
                        </a:rPr>
                      </a:br>
                      <a:r>
                        <a:rPr lang="de-DE" sz="1000" i="1" dirty="0">
                          <a:solidFill>
                            <a:srgbClr val="808080"/>
                          </a:solidFill>
                        </a:rPr>
                        <a:t>(</a:t>
                      </a:r>
                      <a:r>
                        <a:rPr lang="de-DE" sz="1000" i="1" dirty="0" err="1">
                          <a:solidFill>
                            <a:srgbClr val="808080"/>
                          </a:solidFill>
                        </a:rPr>
                        <a:t>see</a:t>
                      </a:r>
                      <a:r>
                        <a:rPr lang="de-DE" sz="1000" i="1" dirty="0">
                          <a:solidFill>
                            <a:srgbClr val="808080"/>
                          </a:solidFill>
                        </a:rPr>
                        <a:t> ST)</a:t>
                      </a:r>
                    </a:p>
                  </a:txBody>
                  <a:tcPr>
                    <a:solidFill>
                      <a:srgbClr val="F2F2F2"/>
                    </a:solidFill>
                  </a:tcPr>
                </a:tc>
                <a:extLst>
                  <a:ext uri="{0D108BD9-81ED-4DB2-BD59-A6C34878D82A}">
                    <a16:rowId xmlns:a16="http://schemas.microsoft.com/office/drawing/2014/main" val="10002"/>
                  </a:ext>
                </a:extLst>
              </a:tr>
              <a:tr h="0">
                <a:tc>
                  <a:txBody>
                    <a:bodyPr/>
                    <a:lstStyle/>
                    <a:p>
                      <a:r>
                        <a:rPr sz="1000" b="1"/>
                        <a:t>ST</a:t>
                      </a:r>
                    </a:p>
                  </a:txBody>
                  <a:tcPr>
                    <a:solidFill>
                      <a:srgbClr val="FFFFFF"/>
                    </a:solidFill>
                  </a:tcPr>
                </a:tc>
                <a:tc>
                  <a:txBody>
                    <a:bodyPr/>
                    <a:lstStyle/>
                    <a:p>
                      <a:r>
                        <a:rPr sz="1000" dirty="0"/>
                        <a:t>https://science.nasa.gov/wp-content/uploads/2026/05/joint-optical-guidelines-jul2025-signed.pdf</a:t>
                      </a:r>
                    </a:p>
                  </a:txBody>
                  <a:tcPr>
                    <a:solidFill>
                      <a:srgbClr val="FFFFFF"/>
                    </a:solidFill>
                  </a:tcPr>
                </a:tc>
                <a:tc>
                  <a:txBody>
                    <a:bodyPr/>
                    <a:lstStyle/>
                    <a:p>
                      <a:r>
                        <a:rPr lang="de-DE" sz="1000" i="1" dirty="0" err="1">
                          <a:solidFill>
                            <a:srgbClr val="808080"/>
                          </a:solidFill>
                        </a:rPr>
                        <a:t>Should</a:t>
                      </a:r>
                      <a:r>
                        <a:rPr lang="de-DE" sz="1000" i="1" dirty="0">
                          <a:solidFill>
                            <a:srgbClr val="808080"/>
                          </a:solidFill>
                        </a:rPr>
                        <a:t> </a:t>
                      </a:r>
                      <a:r>
                        <a:rPr lang="de-DE" sz="1000" i="1" dirty="0" err="1">
                          <a:solidFill>
                            <a:srgbClr val="808080"/>
                          </a:solidFill>
                        </a:rPr>
                        <a:t>this</a:t>
                      </a:r>
                      <a:r>
                        <a:rPr lang="de-DE" sz="1000" i="1" dirty="0">
                          <a:solidFill>
                            <a:srgbClr val="808080"/>
                          </a:solidFill>
                        </a:rPr>
                        <a:t> </a:t>
                      </a:r>
                      <a:r>
                        <a:rPr lang="de-DE" sz="1000" i="1" dirty="0" err="1">
                          <a:solidFill>
                            <a:srgbClr val="808080"/>
                          </a:solidFill>
                        </a:rPr>
                        <a:t>get</a:t>
                      </a:r>
                      <a:r>
                        <a:rPr lang="de-DE" sz="1000" i="1" dirty="0">
                          <a:solidFill>
                            <a:srgbClr val="808080"/>
                          </a:solidFill>
                        </a:rPr>
                        <a:t> </a:t>
                      </a:r>
                      <a:r>
                        <a:rPr lang="de-DE" sz="1000" i="1" dirty="0" err="1">
                          <a:solidFill>
                            <a:srgbClr val="808080"/>
                          </a:solidFill>
                        </a:rPr>
                        <a:t>come</a:t>
                      </a:r>
                      <a:r>
                        <a:rPr lang="de-DE" sz="1000" i="1" dirty="0">
                          <a:solidFill>
                            <a:srgbClr val="808080"/>
                          </a:solidFill>
                        </a:rPr>
                        <a:t> </a:t>
                      </a:r>
                      <a:r>
                        <a:rPr lang="de-DE" sz="1000" i="1" dirty="0" err="1">
                          <a:solidFill>
                            <a:srgbClr val="808080"/>
                          </a:solidFill>
                        </a:rPr>
                        <a:t>context</a:t>
                      </a:r>
                      <a:r>
                        <a:rPr lang="de-DE" sz="1000" i="1" dirty="0">
                          <a:solidFill>
                            <a:srgbClr val="808080"/>
                          </a:solidFill>
                        </a:rPr>
                        <a:t> </a:t>
                      </a:r>
                      <a:r>
                        <a:rPr lang="de-DE" sz="1000" i="1" dirty="0" err="1">
                          <a:solidFill>
                            <a:srgbClr val="808080"/>
                          </a:solidFill>
                        </a:rPr>
                        <a:t>instead</a:t>
                      </a:r>
                      <a:r>
                        <a:rPr lang="de-DE" sz="1000" i="1" dirty="0">
                          <a:solidFill>
                            <a:srgbClr val="808080"/>
                          </a:solidFill>
                        </a:rPr>
                        <a:t> of a </a:t>
                      </a:r>
                      <a:r>
                        <a:rPr lang="de-DE" sz="1000" i="1" dirty="0" err="1">
                          <a:solidFill>
                            <a:srgbClr val="808080"/>
                          </a:solidFill>
                        </a:rPr>
                        <a:t>plain</a:t>
                      </a:r>
                      <a:r>
                        <a:rPr lang="de-DE" sz="1000" i="1" dirty="0">
                          <a:solidFill>
                            <a:srgbClr val="808080"/>
                          </a:solidFill>
                        </a:rPr>
                        <a:t> link? </a:t>
                      </a:r>
                      <a:r>
                        <a:rPr lang="de-DE" sz="1000" i="1" dirty="0" err="1">
                          <a:solidFill>
                            <a:srgbClr val="808080"/>
                          </a:solidFill>
                        </a:rPr>
                        <a:t>Or</a:t>
                      </a:r>
                      <a:r>
                        <a:rPr lang="de-DE" sz="1000" i="1" dirty="0">
                          <a:solidFill>
                            <a:srgbClr val="808080"/>
                          </a:solidFill>
                        </a:rPr>
                        <a:t> </a:t>
                      </a:r>
                      <a:r>
                        <a:rPr lang="de-DE" sz="1000" i="1" dirty="0" err="1">
                          <a:solidFill>
                            <a:srgbClr val="808080"/>
                          </a:solidFill>
                        </a:rPr>
                        <a:t>be</a:t>
                      </a:r>
                      <a:r>
                        <a:rPr lang="de-DE" sz="1000" i="1" dirty="0">
                          <a:solidFill>
                            <a:srgbClr val="808080"/>
                          </a:solidFill>
                        </a:rPr>
                        <a:t> </a:t>
                      </a:r>
                      <a:r>
                        <a:rPr lang="de-DE" sz="1000" i="1" dirty="0" err="1">
                          <a:solidFill>
                            <a:srgbClr val="808080"/>
                          </a:solidFill>
                        </a:rPr>
                        <a:t>listed</a:t>
                      </a:r>
                      <a:r>
                        <a:rPr lang="de-DE" sz="1000" i="1" dirty="0">
                          <a:solidFill>
                            <a:srgbClr val="808080"/>
                          </a:solidFill>
                        </a:rPr>
                        <a:t> as </a:t>
                      </a:r>
                      <a:r>
                        <a:rPr lang="de-DE" sz="1000" i="1" dirty="0" err="1">
                          <a:solidFill>
                            <a:srgbClr val="808080"/>
                          </a:solidFill>
                        </a:rPr>
                        <a:t>reference</a:t>
                      </a:r>
                      <a:r>
                        <a:rPr lang="de-DE" sz="1000" i="1" dirty="0">
                          <a:solidFill>
                            <a:srgbClr val="808080"/>
                          </a:solidFill>
                        </a:rPr>
                        <a:t>? </a:t>
                      </a:r>
                      <a:r>
                        <a:rPr lang="de-DE" sz="1000" i="1" dirty="0" err="1">
                          <a:solidFill>
                            <a:srgbClr val="808080"/>
                          </a:solidFill>
                        </a:rPr>
                        <a:t>Should</a:t>
                      </a:r>
                      <a:r>
                        <a:rPr lang="de-DE" sz="1000" i="1" dirty="0">
                          <a:solidFill>
                            <a:srgbClr val="808080"/>
                          </a:solidFill>
                        </a:rPr>
                        <a:t> all </a:t>
                      </a:r>
                      <a:r>
                        <a:rPr lang="de-DE" sz="1000" i="1" dirty="0" err="1">
                          <a:solidFill>
                            <a:srgbClr val="808080"/>
                          </a:solidFill>
                        </a:rPr>
                        <a:t>other</a:t>
                      </a:r>
                      <a:r>
                        <a:rPr lang="de-DE" sz="1000" i="1" dirty="0">
                          <a:solidFill>
                            <a:srgbClr val="808080"/>
                          </a:solidFill>
                        </a:rPr>
                        <a:t> PFS also link to </a:t>
                      </a:r>
                      <a:r>
                        <a:rPr lang="de-DE" sz="1000" i="1" dirty="0" err="1">
                          <a:solidFill>
                            <a:srgbClr val="808080"/>
                          </a:solidFill>
                        </a:rPr>
                        <a:t>this</a:t>
                      </a:r>
                      <a:r>
                        <a:rPr lang="de-DE" sz="1000" i="1" dirty="0">
                          <a:solidFill>
                            <a:srgbClr val="808080"/>
                          </a:solidFill>
                        </a:rPr>
                        <a:t> </a:t>
                      </a:r>
                      <a:r>
                        <a:rPr lang="de-DE" sz="1000" i="1" dirty="0" err="1">
                          <a:solidFill>
                            <a:srgbClr val="808080"/>
                          </a:solidFill>
                        </a:rPr>
                        <a:t>document</a:t>
                      </a:r>
                      <a:r>
                        <a:rPr lang="de-DE" sz="1000" i="1" dirty="0">
                          <a:solidFill>
                            <a:srgbClr val="808080"/>
                          </a:solidFill>
                        </a:rPr>
                        <a:t>?</a:t>
                      </a:r>
                      <a:endParaRPr sz="1000" i="1" dirty="0">
                        <a:solidFill>
                          <a:srgbClr val="808080"/>
                        </a:solidFill>
                      </a:endParaRPr>
                    </a:p>
                  </a:txBody>
                  <a:tcPr>
                    <a:solidFill>
                      <a:srgbClr val="FFFFFF"/>
                    </a:solidFill>
                  </a:tcPr>
                </a:tc>
                <a:extLst>
                  <a:ext uri="{0D108BD9-81ED-4DB2-BD59-A6C34878D82A}">
                    <a16:rowId xmlns:a16="http://schemas.microsoft.com/office/drawing/2014/main" val="10003"/>
                  </a:ext>
                </a:extLst>
              </a:tr>
            </a:tbl>
          </a:graphicData>
        </a:graphic>
      </p:graphicFrame>
      <p:sp>
        <p:nvSpPr>
          <p:cNvPr id="8" name="TextBox 3">
            <a:extLst>
              <a:ext uri="{FF2B5EF4-FFF2-40B4-BE49-F238E27FC236}">
                <a16:creationId xmlns:a16="http://schemas.microsoft.com/office/drawing/2014/main" id="{C584B037-D8B8-E40D-1607-2FB61FA8D643}"/>
              </a:ext>
            </a:extLst>
          </p:cNvPr>
          <p:cNvSpPr txBox="1"/>
          <p:nvPr/>
        </p:nvSpPr>
        <p:spPr>
          <a:xfrm>
            <a:off x="445313" y="5093422"/>
            <a:ext cx="11277295" cy="923330"/>
          </a:xfrm>
          <a:prstGeom prst="rect">
            <a:avLst/>
          </a:prstGeom>
          <a:noFill/>
        </p:spPr>
        <p:txBody>
          <a:bodyPr wrap="square" lIns="0" tIns="0" rIns="0" bIns="0">
            <a:spAutoFit/>
          </a:bodyPr>
          <a:lstStyle/>
          <a:p>
            <a:r>
              <a:rPr sz="1200" b="1" dirty="0"/>
              <a:t>Internal notes: </a:t>
            </a:r>
            <a:r>
              <a:rPr sz="1200" i="1" dirty="0"/>
              <a:t>For DOI related discussions </a:t>
            </a:r>
            <a:r>
              <a:rPr lang="de-DE" sz="1200" i="1" dirty="0" err="1"/>
              <a:t>see</a:t>
            </a:r>
            <a:r>
              <a:rPr lang="de-DE" sz="1200" i="1" dirty="0"/>
              <a:t> "DOIs" </a:t>
            </a:r>
            <a:r>
              <a:rPr lang="de-DE" sz="1200" i="1" dirty="0" err="1"/>
              <a:t>slide</a:t>
            </a:r>
            <a:r>
              <a:rPr sz="1200" i="1" dirty="0"/>
              <a:t>.</a:t>
            </a:r>
          </a:p>
          <a:p>
            <a:endParaRPr sz="1200" i="1" dirty="0"/>
          </a:p>
          <a:p>
            <a:r>
              <a:rPr sz="1200" i="1" dirty="0"/>
              <a:t>ST updated this requirement following WGCV's recommendation to include uncertainty information at the threshold level, including the ESA-NASA-USGS quality guidelines, and proposes adopting it for all optical PFS; it also helps address the algorithms discussion (issue #84). This would constitute a major update for SR and NLSR and potentially a minor update for AR.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Algorithms (AR, NLSR, SR, ST)</a:t>
            </a:r>
          </a:p>
        </p:txBody>
      </p:sp>
      <p:graphicFrame>
        <p:nvGraphicFramePr>
          <p:cNvPr id="3" name="Table 2"/>
          <p:cNvGraphicFramePr>
            <a:graphicFrameLocks noGrp="1"/>
          </p:cNvGraphicFramePr>
          <p:nvPr>
            <p:extLst>
              <p:ext uri="{D42A27DB-BD31-4B8C-83A1-F6EECF244321}">
                <p14:modId xmlns:p14="http://schemas.microsoft.com/office/powerpoint/2010/main" val="579924393"/>
              </p:ext>
            </p:extLst>
          </p:nvPr>
        </p:nvGraphicFramePr>
        <p:xfrm>
          <a:off x="457200" y="1005840"/>
          <a:ext cx="11265408" cy="23622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p>
                      <a:r>
                        <a:rPr sz="1000" i="1">
                          <a:solidFill>
                            <a:srgbClr val="808080"/>
                          </a:solidFill>
                        </a:rPr>
                        <a:t>(baseline)</a:t>
                      </a:r>
                    </a:p>
                  </a:txBody>
                  <a:tcPr>
                    <a:solidFill>
                      <a:srgbClr val="FFFFFF"/>
                    </a:solidFill>
                  </a:tcPr>
                </a:tc>
                <a:tc>
                  <a:txBody>
                    <a:bodyPr/>
                    <a:lstStyle/>
                    <a:p>
                      <a:r>
                        <a:rPr sz="1000" dirty="0"/>
                        <a:t>All algorithms and the sequence in which they were applied in the generation process are identified.</a:t>
                      </a:r>
                    </a:p>
                    <a:p>
                      <a:endParaRPr sz="1000" dirty="0"/>
                    </a:p>
                    <a:p>
                      <a:r>
                        <a:rPr sz="1000" dirty="0"/>
                        <a:t>Algorithms must be published and validated, and a description of the validation process is included.</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NLSR, SR</a:t>
                      </a:r>
                    </a:p>
                  </a:txBody>
                  <a:tcPr>
                    <a:solidFill>
                      <a:srgbClr val="F2F2F2"/>
                    </a:solidFill>
                  </a:tcPr>
                </a:tc>
                <a:tc>
                  <a:txBody>
                    <a:bodyPr/>
                    <a:lstStyle/>
                    <a:p>
                      <a:r>
                        <a:rPr sz="1000" dirty="0">
                          <a:solidFill>
                            <a:srgbClr val="1565C0"/>
                          </a:solidFill>
                        </a:rPr>
                        <a:t>All algorithms</a:t>
                      </a:r>
                      <a:r>
                        <a:rPr sz="1000" dirty="0"/>
                        <a:t>,</a:t>
                      </a:r>
                      <a:r>
                        <a:rPr sz="1000" dirty="0">
                          <a:solidFill>
                            <a:srgbClr val="1565C0"/>
                          </a:solidFill>
                        </a:rPr>
                        <a:t> and the sequence in which they were applied in the generation process</a:t>
                      </a:r>
                      <a:r>
                        <a:rPr sz="1000" dirty="0"/>
                        <a:t>,</a:t>
                      </a:r>
                      <a:r>
                        <a:rPr sz="1000" dirty="0">
                          <a:solidFill>
                            <a:srgbClr val="1565C0"/>
                          </a:solidFill>
                        </a:rPr>
                        <a:t> are identified</a:t>
                      </a:r>
                      <a:r>
                        <a:rPr sz="1000" dirty="0"/>
                        <a:t> in the metadata.</a:t>
                      </a:r>
                    </a:p>
                    <a:p>
                      <a:r>
                        <a:rPr sz="1000" dirty="0"/>
                        <a:t>For example, these may be available through Algorithm Theoretical Basis documents.</a:t>
                      </a:r>
                    </a:p>
                  </a:txBody>
                  <a:tcPr>
                    <a:solidFill>
                      <a:srgbClr val="F2F2F2"/>
                    </a:solidFill>
                  </a:tcPr>
                </a:tc>
                <a:tc>
                  <a:txBody>
                    <a:bodyPr/>
                    <a:lstStyle/>
                    <a:p>
                      <a:r>
                        <a:rPr lang="en-US" sz="1000" dirty="0"/>
                        <a:t>All algorithms and the sequence in which they were applied in the generation process are identified </a:t>
                      </a:r>
                      <a:r>
                        <a:rPr lang="de-DE" sz="1000" strike="sngStrike" dirty="0">
                          <a:solidFill>
                            <a:srgbClr val="B00000"/>
                          </a:solidFill>
                        </a:rPr>
                        <a:t>in the </a:t>
                      </a:r>
                      <a:r>
                        <a:rPr lang="de-DE" sz="1000" strike="sngStrike" dirty="0" err="1">
                          <a:solidFill>
                            <a:srgbClr val="B00000"/>
                          </a:solidFill>
                        </a:rPr>
                        <a:t>metadata</a:t>
                      </a:r>
                      <a:r>
                        <a:rPr lang="en-US" sz="1000" dirty="0"/>
                        <a:t>.</a:t>
                      </a:r>
                      <a:br>
                        <a:rPr lang="en-US" sz="1000" dirty="0"/>
                      </a:br>
                      <a:br>
                        <a:rPr lang="en-US" sz="1000" dirty="0"/>
                      </a:br>
                      <a:r>
                        <a:rPr lang="en-US" sz="1000" strike="sngStrike" dirty="0">
                          <a:solidFill>
                            <a:srgbClr val="B00000"/>
                          </a:solidFill>
                        </a:rPr>
                        <a:t>For example, these may be available through Algorithm Theoretical Basis documents.</a:t>
                      </a:r>
                      <a:endParaRPr lang="en-US" sz="1000" dirty="0"/>
                    </a:p>
                    <a:p>
                      <a:r>
                        <a:rPr lang="en-US" sz="1000" b="1" dirty="0">
                          <a:solidFill>
                            <a:srgbClr val="2E7D32"/>
                          </a:solidFill>
                        </a:rPr>
                        <a:t>Algorithms must be published and validated, and a description of the validation process is included.</a:t>
                      </a:r>
                      <a:endParaRPr lang="en-US" sz="1000" dirty="0">
                        <a:solidFill>
                          <a:schemeClr val="tx1"/>
                        </a:solidFill>
                      </a:endParaRPr>
                    </a:p>
                  </a:txBody>
                  <a:tcPr>
                    <a:solidFill>
                      <a:srgbClr val="F2F2F2"/>
                    </a:solidFill>
                  </a:tcPr>
                </a:tc>
                <a:extLst>
                  <a:ext uri="{0D108BD9-81ED-4DB2-BD59-A6C34878D82A}">
                    <a16:rowId xmlns:a16="http://schemas.microsoft.com/office/drawing/2014/main" val="10002"/>
                  </a:ext>
                </a:extLst>
              </a:tr>
              <a:tr h="0">
                <a:tc>
                  <a:txBody>
                    <a:bodyPr/>
                    <a:lstStyle/>
                    <a:p>
                      <a:r>
                        <a:rPr sz="1000" b="1"/>
                        <a:t>ST</a:t>
                      </a:r>
                    </a:p>
                  </a:txBody>
                  <a:tcPr>
                    <a:solidFill>
                      <a:srgbClr val="FFFFFF"/>
                    </a:solidFill>
                  </a:tcPr>
                </a:tc>
                <a:tc>
                  <a:txBody>
                    <a:bodyPr/>
                    <a:lstStyle/>
                    <a:p>
                      <a:r>
                        <a:rPr sz="1000"/>
                        <a:t>(not set)</a:t>
                      </a:r>
                    </a:p>
                  </a:txBody>
                  <a:tcPr>
                    <a:solidFill>
                      <a:srgbClr val="FFFFFF"/>
                    </a:solidFill>
                  </a:tcPr>
                </a:tc>
                <a:tc>
                  <a:txBody>
                    <a:bodyPr/>
                    <a:lstStyle/>
                    <a:p>
                      <a:r>
                        <a:rPr sz="1000" i="1" dirty="0">
                          <a:solidFill>
                            <a:srgbClr val="808080"/>
                          </a:solidFill>
                        </a:rPr>
                        <a:t>(keep as is)</a:t>
                      </a:r>
                    </a:p>
                  </a:txBody>
                  <a:tcPr>
                    <a:solidFill>
                      <a:srgbClr val="FFFFFF"/>
                    </a:solidFill>
                  </a:tcPr>
                </a:tc>
                <a:extLst>
                  <a:ext uri="{0D108BD9-81ED-4DB2-BD59-A6C34878D82A}">
                    <a16:rowId xmlns:a16="http://schemas.microsoft.com/office/drawing/2014/main" val="10003"/>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651983193"/>
              </p:ext>
            </p:extLst>
          </p:nvPr>
        </p:nvGraphicFramePr>
        <p:xfrm>
          <a:off x="457200" y="3456432"/>
          <a:ext cx="11265408" cy="12954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Notes</a:t>
                      </a:r>
                    </a:p>
                  </a:txBody>
                  <a:tcPr>
                    <a:solidFill>
                      <a:srgbClr val="000000"/>
                    </a:solidFill>
                  </a:tcPr>
                </a:tc>
                <a:tc>
                  <a:txBody>
                    <a:bodyPr/>
                    <a:lstStyle/>
                    <a:p>
                      <a:r>
                        <a:rPr sz="1100" b="1">
                          <a:solidFill>
                            <a:srgbClr val="FFFFFF"/>
                          </a:solidFill>
                        </a:rPr>
                        <a:t>Proposed Threshold Notes</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p>
                      <a:r>
                        <a:rPr sz="1000" i="1">
                          <a:solidFill>
                            <a:srgbClr val="808080"/>
                          </a:solidFill>
                        </a:rPr>
                        <a:t>(baseline)</a:t>
                      </a:r>
                    </a:p>
                  </a:txBody>
                  <a:tcPr>
                    <a:solidFill>
                      <a:srgbClr val="FFFFFF"/>
                    </a:solidFill>
                  </a:tcPr>
                </a:tc>
                <a:tc>
                  <a:txBody>
                    <a:bodyPr/>
                    <a:lstStyle/>
                    <a:p>
                      <a:r>
                        <a:rPr sz="1000" dirty="0"/>
                        <a:t>It is possible that corrections are applied through non-disclosed processes. CEOS-ARD does not require full and open data and methods.</a:t>
                      </a:r>
                    </a:p>
                  </a:txBody>
                  <a:tcPr>
                    <a:solidFill>
                      <a:srgbClr val="FFFFFF"/>
                    </a:solidFill>
                  </a:tcPr>
                </a:tc>
                <a:tc>
                  <a:txBody>
                    <a:bodyPr/>
                    <a:lstStyle/>
                    <a:p>
                      <a:r>
                        <a:rPr lang="de-DE" sz="1000" i="1" dirty="0">
                          <a:solidFill>
                            <a:srgbClr val="808080"/>
                          </a:solidFill>
                        </a:rPr>
                        <a:t>(</a:t>
                      </a:r>
                      <a:r>
                        <a:rPr lang="de-DE" sz="1000" i="1" dirty="0" err="1">
                          <a:solidFill>
                            <a:srgbClr val="808080"/>
                          </a:solidFill>
                        </a:rPr>
                        <a:t>keep</a:t>
                      </a:r>
                      <a:r>
                        <a:rPr lang="de-DE" sz="1000" i="1" dirty="0">
                          <a:solidFill>
                            <a:srgbClr val="808080"/>
                          </a:solidFill>
                        </a:rPr>
                        <a:t> as </a:t>
                      </a:r>
                      <a:r>
                        <a:rPr lang="de-DE" sz="1000" i="1" dirty="0" err="1">
                          <a:solidFill>
                            <a:srgbClr val="808080"/>
                          </a:solidFill>
                        </a:rPr>
                        <a:t>is</a:t>
                      </a:r>
                      <a:r>
                        <a:rPr lang="de-DE" sz="1000" i="1" dirty="0">
                          <a:solidFill>
                            <a:srgbClr val="808080"/>
                          </a:solidFill>
                        </a:rPr>
                        <a:t>)</a:t>
                      </a:r>
                    </a:p>
                  </a:txBody>
                  <a:tcPr>
                    <a:solidFill>
                      <a:srgbClr val="FFFFFF"/>
                    </a:solidFill>
                  </a:tcPr>
                </a:tc>
                <a:extLst>
                  <a:ext uri="{0D108BD9-81ED-4DB2-BD59-A6C34878D82A}">
                    <a16:rowId xmlns:a16="http://schemas.microsoft.com/office/drawing/2014/main" val="10001"/>
                  </a:ext>
                </a:extLst>
              </a:tr>
              <a:tr h="0">
                <a:tc>
                  <a:txBody>
                    <a:bodyPr/>
                    <a:lstStyle/>
                    <a:p>
                      <a:r>
                        <a:rPr sz="1000" b="1"/>
                        <a:t>NLSR, SR</a:t>
                      </a:r>
                    </a:p>
                  </a:txBody>
                  <a:tcPr>
                    <a:solidFill>
                      <a:srgbClr val="F2F2F2"/>
                    </a:solidFill>
                  </a:tcPr>
                </a:tc>
                <a:tc>
                  <a:txBody>
                    <a:bodyPr/>
                    <a:lstStyle/>
                    <a:p>
                      <a:r>
                        <a:rPr sz="1000" dirty="0"/>
                        <a:t>Information on algorithms should be available in the metadata as a single DOI landing page.</a:t>
                      </a:r>
                    </a:p>
                  </a:txBody>
                  <a:tcPr>
                    <a:solidFill>
                      <a:srgbClr val="F2F2F2"/>
                    </a:solidFill>
                  </a:tcPr>
                </a:tc>
                <a:tc>
                  <a:txBody>
                    <a:bodyPr/>
                    <a:lstStyle/>
                    <a:p>
                      <a:r>
                        <a:rPr lang="en-US" sz="1000" b="0" dirty="0">
                          <a:solidFill>
                            <a:schemeClr val="tx1"/>
                          </a:solidFill>
                        </a:rPr>
                        <a:t>It is possible that corrections are applied through non-disclosed processes. CEOS-ARD does not require full and open data and methods.</a:t>
                      </a:r>
                    </a:p>
                  </a:txBody>
                  <a:tcPr>
                    <a:solidFill>
                      <a:srgbClr val="F2F2F2"/>
                    </a:solidFill>
                  </a:tcPr>
                </a:tc>
                <a:extLst>
                  <a:ext uri="{0D108BD9-81ED-4DB2-BD59-A6C34878D82A}">
                    <a16:rowId xmlns:a16="http://schemas.microsoft.com/office/drawing/2014/main" val="10002"/>
                  </a:ext>
                </a:extLst>
              </a:tr>
              <a:tr h="0">
                <a:tc>
                  <a:txBody>
                    <a:bodyPr/>
                    <a:lstStyle/>
                    <a:p>
                      <a:r>
                        <a:rPr sz="1000" b="1"/>
                        <a:t>ST</a:t>
                      </a:r>
                    </a:p>
                  </a:txBody>
                  <a:tcPr>
                    <a:solidFill>
                      <a:srgbClr val="FFFFFF"/>
                    </a:solidFill>
                  </a:tcPr>
                </a:tc>
                <a:tc>
                  <a:txBody>
                    <a:bodyPr/>
                    <a:lstStyle/>
                    <a:p>
                      <a:r>
                        <a:rPr sz="1000"/>
                        <a:t>(no notes)</a:t>
                      </a:r>
                    </a:p>
                  </a:txBody>
                  <a:tcPr>
                    <a:solidFill>
                      <a:srgbClr val="FFFFFF"/>
                    </a:solidFill>
                  </a:tcPr>
                </a:tc>
                <a:tc>
                  <a:txBody>
                    <a:bodyPr/>
                    <a:lstStyle/>
                    <a:p>
                      <a:r>
                        <a:rPr sz="1000" i="1" dirty="0">
                          <a:solidFill>
                            <a:srgbClr val="808080"/>
                          </a:solidFill>
                        </a:rPr>
                        <a:t>(keep as is)</a:t>
                      </a:r>
                    </a:p>
                  </a:txBody>
                  <a:tcPr>
                    <a:solidFill>
                      <a:srgbClr val="FFFFFF"/>
                    </a:solidFill>
                  </a:tcPr>
                </a:tc>
                <a:extLst>
                  <a:ext uri="{0D108BD9-81ED-4DB2-BD59-A6C34878D82A}">
                    <a16:rowId xmlns:a16="http://schemas.microsoft.com/office/drawing/2014/main" val="10003"/>
                  </a:ext>
                </a:extLst>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Algorithms (AR, NLSR, SR, ST) (cont.)</a:t>
            </a:r>
          </a:p>
        </p:txBody>
      </p:sp>
      <p:graphicFrame>
        <p:nvGraphicFramePr>
          <p:cNvPr id="3" name="Table 2"/>
          <p:cNvGraphicFramePr>
            <a:graphicFrameLocks noGrp="1"/>
          </p:cNvGraphicFramePr>
          <p:nvPr>
            <p:extLst>
              <p:ext uri="{D42A27DB-BD31-4B8C-83A1-F6EECF244321}">
                <p14:modId xmlns:p14="http://schemas.microsoft.com/office/powerpoint/2010/main" val="3300190238"/>
              </p:ext>
            </p:extLst>
          </p:nvPr>
        </p:nvGraphicFramePr>
        <p:xfrm>
          <a:off x="457200" y="1005840"/>
          <a:ext cx="11265408" cy="22098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txBody>
                  <a:tcPr>
                    <a:solidFill>
                      <a:srgbClr val="FFFFFF"/>
                    </a:solidFill>
                  </a:tcPr>
                </a:tc>
                <a:tc>
                  <a:txBody>
                    <a:bodyPr/>
                    <a:lstStyle/>
                    <a:p>
                      <a:r>
                        <a:rPr sz="1000" dirty="0"/>
                        <a:t>(not set)</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NLSR, SR</a:t>
                      </a:r>
                    </a:p>
                    <a:p>
                      <a:r>
                        <a:rPr sz="1000" i="1">
                          <a:solidFill>
                            <a:srgbClr val="808080"/>
                          </a:solidFill>
                        </a:rPr>
                        <a:t>(baseline)</a:t>
                      </a:r>
                    </a:p>
                  </a:txBody>
                  <a:tcPr>
                    <a:solidFill>
                      <a:srgbClr val="F2F2F2"/>
                    </a:solidFill>
                  </a:tcPr>
                </a:tc>
                <a:tc>
                  <a:txBody>
                    <a:bodyPr/>
                    <a:lstStyle/>
                    <a:p>
                      <a:r>
                        <a:rPr sz="1000" dirty="0"/>
                        <a:t>As threshold, but only algorithms that have been published in a peer-reviewed journal</a:t>
                      </a:r>
                      <a:r>
                        <a:rPr lang="de-DE" sz="1000" dirty="0"/>
                        <a:t>.</a:t>
                      </a:r>
                      <a:endParaRPr sz="1000" dirty="0"/>
                    </a:p>
                  </a:txBody>
                  <a:tcPr>
                    <a:solidFill>
                      <a:srgbClr val="F2F2F2"/>
                    </a:solidFill>
                  </a:tcPr>
                </a:tc>
                <a:tc>
                  <a:txBody>
                    <a:bodyPr/>
                    <a:lstStyle/>
                    <a:p>
                      <a:pPr>
                        <a:buNone/>
                      </a:pPr>
                      <a:r>
                        <a:rPr lang="de-DE" sz="1000" dirty="0">
                          <a:effectLst/>
                          <a:latin typeface="Calibri" panose="020F0502020204030204" pitchFamily="34" charset="0"/>
                        </a:rPr>
                        <a:t>A</a:t>
                      </a:r>
                      <a:r>
                        <a:rPr lang="de-DE" sz="1000" strike="sngStrike" dirty="0">
                          <a:solidFill>
                            <a:srgbClr val="B00000"/>
                          </a:solidFill>
                          <a:effectLst/>
                          <a:latin typeface="Calibri" panose="020F0502020204030204" pitchFamily="34" charset="0"/>
                        </a:rPr>
                        <a:t>s </a:t>
                      </a:r>
                      <a:r>
                        <a:rPr lang="de-DE" sz="1000" strike="sngStrike" dirty="0" err="1">
                          <a:solidFill>
                            <a:srgbClr val="B00000"/>
                          </a:solidFill>
                          <a:effectLst/>
                          <a:latin typeface="Calibri" panose="020F0502020204030204" pitchFamily="34" charset="0"/>
                        </a:rPr>
                        <a:t>threshold</a:t>
                      </a:r>
                      <a:r>
                        <a:rPr lang="de-DE" sz="1000" strike="sngStrike" dirty="0">
                          <a:solidFill>
                            <a:srgbClr val="B00000"/>
                          </a:solidFill>
                          <a:effectLst/>
                          <a:latin typeface="Calibri" panose="020F0502020204030204" pitchFamily="34" charset="0"/>
                        </a:rPr>
                        <a:t>, but </a:t>
                      </a:r>
                      <a:r>
                        <a:rPr lang="de-DE" sz="1000" strike="sngStrike" dirty="0" err="1">
                          <a:solidFill>
                            <a:srgbClr val="B00000"/>
                          </a:solidFill>
                          <a:effectLst/>
                          <a:latin typeface="Calibri" panose="020F0502020204030204" pitchFamily="34" charset="0"/>
                        </a:rPr>
                        <a:t>only</a:t>
                      </a:r>
                      <a:r>
                        <a:rPr lang="de-DE" sz="1000" b="1" dirty="0" err="1">
                          <a:solidFill>
                            <a:srgbClr val="2E7D32"/>
                          </a:solidFill>
                          <a:effectLst/>
                          <a:latin typeface="Calibri" panose="020F0502020204030204" pitchFamily="34" charset="0"/>
                        </a:rPr>
                        <a:t>ll</a:t>
                      </a:r>
                      <a:r>
                        <a:rPr lang="de-DE" sz="1000" dirty="0">
                          <a:effectLst/>
                          <a:latin typeface="Calibri" panose="020F0502020204030204" pitchFamily="34" charset="0"/>
                        </a:rPr>
                        <a:t> </a:t>
                      </a:r>
                      <a:r>
                        <a:rPr lang="de-DE" sz="1000" dirty="0" err="1">
                          <a:effectLst/>
                          <a:latin typeface="Calibri" panose="020F0502020204030204" pitchFamily="34" charset="0"/>
                        </a:rPr>
                        <a:t>algorithms</a:t>
                      </a:r>
                      <a:r>
                        <a:rPr lang="de-DE" sz="1000" dirty="0">
                          <a:effectLst/>
                          <a:latin typeface="Calibri" panose="020F0502020204030204" pitchFamily="34" charset="0"/>
                        </a:rPr>
                        <a:t> </a:t>
                      </a:r>
                      <a:r>
                        <a:rPr lang="de-DE" sz="1000" strike="sngStrike" dirty="0" err="1">
                          <a:solidFill>
                            <a:srgbClr val="B00000"/>
                          </a:solidFill>
                          <a:effectLst/>
                          <a:latin typeface="Calibri" panose="020F0502020204030204" pitchFamily="34" charset="0"/>
                        </a:rPr>
                        <a:t>that</a:t>
                      </a:r>
                      <a:r>
                        <a:rPr lang="de-DE" sz="1000" strike="sngStrike" dirty="0">
                          <a:solidFill>
                            <a:srgbClr val="B00000"/>
                          </a:solidFill>
                          <a:effectLst/>
                          <a:latin typeface="Calibri" panose="020F0502020204030204" pitchFamily="34" charset="0"/>
                        </a:rPr>
                        <a:t> </a:t>
                      </a:r>
                      <a:r>
                        <a:rPr lang="de-DE" sz="1000" strike="sngStrike" dirty="0" err="1">
                          <a:solidFill>
                            <a:srgbClr val="B00000"/>
                          </a:solidFill>
                          <a:effectLst/>
                          <a:latin typeface="Calibri" panose="020F0502020204030204" pitchFamily="34" charset="0"/>
                        </a:rPr>
                        <a:t>have</a:t>
                      </a:r>
                      <a:r>
                        <a:rPr lang="de-DE" sz="1000" strike="sngStrike" dirty="0">
                          <a:solidFill>
                            <a:srgbClr val="B00000"/>
                          </a:solidFill>
                          <a:effectLst/>
                          <a:latin typeface="Calibri" panose="020F0502020204030204" pitchFamily="34" charset="0"/>
                        </a:rPr>
                        <a:t> </a:t>
                      </a:r>
                      <a:r>
                        <a:rPr lang="de-DE" sz="1000" strike="sngStrike" dirty="0" err="1">
                          <a:solidFill>
                            <a:srgbClr val="B00000"/>
                          </a:solidFill>
                          <a:effectLst/>
                          <a:latin typeface="Calibri" panose="020F0502020204030204" pitchFamily="34" charset="0"/>
                        </a:rPr>
                        <a:t>been</a:t>
                      </a:r>
                      <a:r>
                        <a:rPr lang="de-DE" sz="1000" b="1" dirty="0" err="1">
                          <a:solidFill>
                            <a:srgbClr val="2E7D32"/>
                          </a:solidFill>
                          <a:effectLst/>
                          <a:latin typeface="Calibri" panose="020F0502020204030204" pitchFamily="34" charset="0"/>
                        </a:rPr>
                        <a:t>and</a:t>
                      </a:r>
                      <a:r>
                        <a:rPr lang="de-DE" sz="1000" b="1" dirty="0">
                          <a:solidFill>
                            <a:srgbClr val="2E7D32"/>
                          </a:solidFill>
                          <a:effectLst/>
                          <a:latin typeface="Calibri" panose="020F0502020204030204" pitchFamily="34" charset="0"/>
                        </a:rPr>
                        <a:t> the </a:t>
                      </a:r>
                      <a:r>
                        <a:rPr lang="de-DE" sz="1000" b="1" dirty="0" err="1">
                          <a:solidFill>
                            <a:srgbClr val="2E7D32"/>
                          </a:solidFill>
                          <a:effectLst/>
                          <a:latin typeface="Calibri" panose="020F0502020204030204" pitchFamily="34" charset="0"/>
                        </a:rPr>
                        <a:t>sequence</a:t>
                      </a:r>
                      <a:r>
                        <a:rPr lang="de-DE" sz="1000" b="1" dirty="0">
                          <a:solidFill>
                            <a:srgbClr val="2E7D32"/>
                          </a:solidFill>
                          <a:effectLst/>
                          <a:latin typeface="Calibri" panose="020F0502020204030204" pitchFamily="34" charset="0"/>
                        </a:rPr>
                        <a:t> in </a:t>
                      </a:r>
                      <a:r>
                        <a:rPr lang="de-DE" sz="1000" b="1" dirty="0" err="1">
                          <a:solidFill>
                            <a:srgbClr val="2E7D32"/>
                          </a:solidFill>
                          <a:effectLst/>
                          <a:latin typeface="Calibri" panose="020F0502020204030204" pitchFamily="34" charset="0"/>
                        </a:rPr>
                        <a:t>which</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they</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were</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applied</a:t>
                      </a:r>
                      <a:r>
                        <a:rPr lang="de-DE" sz="1000" b="1" dirty="0">
                          <a:solidFill>
                            <a:srgbClr val="2E7D32"/>
                          </a:solidFill>
                          <a:effectLst/>
                          <a:latin typeface="Calibri" panose="020F0502020204030204" pitchFamily="34" charset="0"/>
                        </a:rPr>
                        <a:t> in the </a:t>
                      </a:r>
                      <a:r>
                        <a:rPr lang="de-DE" sz="1000" b="1" dirty="0" err="1">
                          <a:solidFill>
                            <a:srgbClr val="2E7D32"/>
                          </a:solidFill>
                          <a:effectLst/>
                          <a:latin typeface="Calibri" panose="020F0502020204030204" pitchFamily="34" charset="0"/>
                        </a:rPr>
                        <a:t>generation</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process</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are</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identified</a:t>
                      </a:r>
                      <a:r>
                        <a:rPr lang="de-DE" sz="1000" b="1" dirty="0">
                          <a:solidFill>
                            <a:srgbClr val="2E7D32"/>
                          </a:solidFill>
                          <a:effectLst/>
                          <a:latin typeface="Calibri" panose="020F0502020204030204" pitchFamily="34" charset="0"/>
                        </a:rPr>
                        <a:t>.</a:t>
                      </a:r>
                      <a:br>
                        <a:rPr lang="de-DE" sz="1000" b="1" dirty="0">
                          <a:solidFill>
                            <a:srgbClr val="2E7D32"/>
                          </a:solidFill>
                          <a:effectLst/>
                          <a:latin typeface="Calibri" panose="020F0502020204030204" pitchFamily="34" charset="0"/>
                        </a:rPr>
                      </a:br>
                      <a:br>
                        <a:rPr lang="de-DE" sz="1000" b="1" dirty="0">
                          <a:solidFill>
                            <a:srgbClr val="2E7D32"/>
                          </a:solidFill>
                          <a:effectLst/>
                          <a:latin typeface="Calibri" panose="020F0502020204030204" pitchFamily="34" charset="0"/>
                        </a:rPr>
                      </a:br>
                      <a:r>
                        <a:rPr lang="de-DE" sz="1000" b="1" dirty="0" err="1">
                          <a:solidFill>
                            <a:srgbClr val="2E7D32"/>
                          </a:solidFill>
                          <a:effectLst/>
                          <a:latin typeface="Calibri" panose="020F0502020204030204" pitchFamily="34" charset="0"/>
                        </a:rPr>
                        <a:t>Algorithms</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must</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be</a:t>
                      </a:r>
                      <a:r>
                        <a:rPr lang="de-DE" sz="1000" dirty="0">
                          <a:effectLst/>
                          <a:latin typeface="Calibri" panose="020F0502020204030204" pitchFamily="34" charset="0"/>
                        </a:rPr>
                        <a:t> </a:t>
                      </a:r>
                      <a:r>
                        <a:rPr lang="de-DE" sz="1000" dirty="0" err="1">
                          <a:effectLst/>
                          <a:latin typeface="Calibri" panose="020F0502020204030204" pitchFamily="34" charset="0"/>
                        </a:rPr>
                        <a:t>published</a:t>
                      </a:r>
                      <a:r>
                        <a:rPr lang="de-DE" sz="1000" dirty="0">
                          <a:effectLst/>
                          <a:latin typeface="Calibri" panose="020F0502020204030204" pitchFamily="34" charset="0"/>
                        </a:rPr>
                        <a:t> </a:t>
                      </a:r>
                      <a:r>
                        <a:rPr lang="de-DE" sz="1000" strike="sngStrike" dirty="0">
                          <a:solidFill>
                            <a:srgbClr val="B00000"/>
                          </a:solidFill>
                          <a:effectLst/>
                          <a:latin typeface="Calibri" panose="020F0502020204030204" pitchFamily="34" charset="0"/>
                        </a:rPr>
                        <a:t>in a peer-</a:t>
                      </a:r>
                      <a:r>
                        <a:rPr lang="de-DE" sz="1000" strike="sngStrike" dirty="0" err="1">
                          <a:solidFill>
                            <a:srgbClr val="B00000"/>
                          </a:solidFill>
                          <a:effectLst/>
                          <a:latin typeface="Calibri" panose="020F0502020204030204" pitchFamily="34" charset="0"/>
                        </a:rPr>
                        <a:t>reviewed</a:t>
                      </a:r>
                      <a:r>
                        <a:rPr lang="de-DE" sz="1000" strike="sngStrike" dirty="0">
                          <a:solidFill>
                            <a:srgbClr val="B00000"/>
                          </a:solidFill>
                          <a:effectLst/>
                          <a:latin typeface="Calibri" panose="020F0502020204030204" pitchFamily="34" charset="0"/>
                        </a:rPr>
                        <a:t> </a:t>
                      </a:r>
                      <a:r>
                        <a:rPr lang="de-DE" sz="1000" strike="sngStrike" dirty="0" err="1">
                          <a:solidFill>
                            <a:srgbClr val="B00000"/>
                          </a:solidFill>
                          <a:effectLst/>
                          <a:latin typeface="Calibri" panose="020F0502020204030204" pitchFamily="34" charset="0"/>
                        </a:rPr>
                        <a:t>journal</a:t>
                      </a:r>
                      <a:r>
                        <a:rPr lang="de-DE" sz="1000" b="1" dirty="0" err="1">
                          <a:solidFill>
                            <a:srgbClr val="2E7D32"/>
                          </a:solidFill>
                          <a:effectLst/>
                          <a:latin typeface="Calibri" panose="020F0502020204030204" pitchFamily="34" charset="0"/>
                        </a:rPr>
                        <a:t>and</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validated</a:t>
                      </a:r>
                      <a:r>
                        <a:rPr lang="de-DE" sz="1000" b="1" dirty="0">
                          <a:solidFill>
                            <a:srgbClr val="2E7D32"/>
                          </a:solidFill>
                          <a:effectLst/>
                          <a:latin typeface="Calibri" panose="020F0502020204030204" pitchFamily="34" charset="0"/>
                        </a:rPr>
                        <a:t>, and a </a:t>
                      </a:r>
                      <a:r>
                        <a:rPr lang="de-DE" sz="1000" b="1" dirty="0" err="1">
                          <a:solidFill>
                            <a:srgbClr val="2E7D32"/>
                          </a:solidFill>
                          <a:effectLst/>
                          <a:latin typeface="Calibri" panose="020F0502020204030204" pitchFamily="34" charset="0"/>
                        </a:rPr>
                        <a:t>description</a:t>
                      </a:r>
                      <a:r>
                        <a:rPr lang="de-DE" sz="1000" b="1" dirty="0">
                          <a:solidFill>
                            <a:srgbClr val="2E7D32"/>
                          </a:solidFill>
                          <a:effectLst/>
                          <a:latin typeface="Calibri" panose="020F0502020204030204" pitchFamily="34" charset="0"/>
                        </a:rPr>
                        <a:t> of the </a:t>
                      </a:r>
                      <a:r>
                        <a:rPr lang="de-DE" sz="1000" b="1" dirty="0" err="1">
                          <a:solidFill>
                            <a:srgbClr val="2E7D32"/>
                          </a:solidFill>
                          <a:effectLst/>
                          <a:latin typeface="Calibri" panose="020F0502020204030204" pitchFamily="34" charset="0"/>
                        </a:rPr>
                        <a:t>validation</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process</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is</a:t>
                      </a:r>
                      <a:r>
                        <a:rPr lang="de-DE" sz="1000" b="1" dirty="0">
                          <a:solidFill>
                            <a:srgbClr val="2E7D32"/>
                          </a:solidFill>
                          <a:effectLst/>
                          <a:latin typeface="Calibri" panose="020F0502020204030204" pitchFamily="34" charset="0"/>
                        </a:rPr>
                        <a:t> included</a:t>
                      </a:r>
                      <a:r>
                        <a:rPr lang="de-DE" sz="1000" dirty="0">
                          <a:effectLst/>
                          <a:latin typeface="Calibri" panose="020F0502020204030204" pitchFamily="34" charset="0"/>
                        </a:rPr>
                        <a:t>.</a:t>
                      </a:r>
                    </a:p>
                  </a:txBody>
                  <a:tcPr>
                    <a:solidFill>
                      <a:srgbClr val="F2F2F2"/>
                    </a:solidFill>
                  </a:tcPr>
                </a:tc>
                <a:extLst>
                  <a:ext uri="{0D108BD9-81ED-4DB2-BD59-A6C34878D82A}">
                    <a16:rowId xmlns:a16="http://schemas.microsoft.com/office/drawing/2014/main" val="10002"/>
                  </a:ext>
                </a:extLst>
              </a:tr>
              <a:tr h="0">
                <a:tc>
                  <a:txBody>
                    <a:bodyPr/>
                    <a:lstStyle/>
                    <a:p>
                      <a:r>
                        <a:rPr sz="1000" b="1"/>
                        <a:t>ST</a:t>
                      </a:r>
                    </a:p>
                  </a:txBody>
                  <a:tcPr>
                    <a:solidFill>
                      <a:srgbClr val="FFFFFF"/>
                    </a:solidFill>
                  </a:tcPr>
                </a:tc>
                <a:tc>
                  <a:txBody>
                    <a:bodyPr/>
                    <a:lstStyle/>
                    <a:p>
                      <a:r>
                        <a:rPr sz="1000" dirty="0"/>
                        <a:t>A</a:t>
                      </a:r>
                      <a:r>
                        <a:rPr sz="1000" strike="sngStrike" dirty="0">
                          <a:solidFill>
                            <a:srgbClr val="B00000"/>
                          </a:solidFill>
                        </a:rPr>
                        <a:t>s threshold, but </a:t>
                      </a:r>
                      <a:r>
                        <a:rPr sz="1000" strike="sngStrike" dirty="0" err="1">
                          <a:solidFill>
                            <a:srgbClr val="B00000"/>
                          </a:solidFill>
                        </a:rPr>
                        <a:t>only</a:t>
                      </a:r>
                      <a:r>
                        <a:rPr sz="1000" b="1" dirty="0" err="1">
                          <a:solidFill>
                            <a:srgbClr val="2E7D32"/>
                          </a:solidFill>
                        </a:rPr>
                        <a:t>ll</a:t>
                      </a:r>
                      <a:r>
                        <a:rPr sz="1000" dirty="0"/>
                        <a:t> algorithms </a:t>
                      </a:r>
                      <a:r>
                        <a:rPr sz="1000" strike="sngStrike" dirty="0">
                          <a:solidFill>
                            <a:srgbClr val="B00000"/>
                          </a:solidFill>
                        </a:rPr>
                        <a:t>that have </a:t>
                      </a:r>
                      <a:r>
                        <a:rPr sz="1000" strike="sngStrike" dirty="0" err="1">
                          <a:solidFill>
                            <a:srgbClr val="B00000"/>
                          </a:solidFill>
                        </a:rPr>
                        <a:t>been</a:t>
                      </a:r>
                      <a:r>
                        <a:rPr sz="1000" b="1" dirty="0" err="1">
                          <a:solidFill>
                            <a:srgbClr val="2E7D32"/>
                          </a:solidFill>
                        </a:rPr>
                        <a:t>and</a:t>
                      </a:r>
                      <a:r>
                        <a:rPr sz="1000" b="1" dirty="0">
                          <a:solidFill>
                            <a:srgbClr val="2E7D32"/>
                          </a:solidFill>
                        </a:rPr>
                        <a:t> versions, and the sequence in which they were applied in the generation process, are identified and</a:t>
                      </a:r>
                      <a:r>
                        <a:rPr sz="1000" dirty="0"/>
                        <a:t> published in a peer-reviewed journal.</a:t>
                      </a:r>
                    </a:p>
                    <a:p>
                      <a:r>
                        <a:rPr sz="1000" i="1" dirty="0">
                          <a:solidFill>
                            <a:srgbClr val="808080"/>
                          </a:solidFill>
                        </a:rPr>
                        <a:t>(optional)</a:t>
                      </a:r>
                    </a:p>
                  </a:txBody>
                  <a:tcPr>
                    <a:solidFill>
                      <a:srgbClr val="FFFFFF"/>
                    </a:solidFill>
                  </a:tcPr>
                </a:tc>
                <a:tc>
                  <a:txBody>
                    <a:bodyPr/>
                    <a:lstStyle/>
                    <a:p>
                      <a:r>
                        <a:rPr sz="1000" dirty="0"/>
                        <a:t>All algorithms</a:t>
                      </a:r>
                      <a:r>
                        <a:rPr sz="1000" strike="sngStrike" dirty="0">
                          <a:solidFill>
                            <a:srgbClr val="B00000"/>
                          </a:solidFill>
                        </a:rPr>
                        <a:t> and versions,</a:t>
                      </a:r>
                      <a:r>
                        <a:rPr sz="1000" dirty="0"/>
                        <a:t> and the sequence in which they were applied in the generation process</a:t>
                      </a:r>
                      <a:r>
                        <a:rPr sz="1000" strike="sngStrike" dirty="0">
                          <a:solidFill>
                            <a:srgbClr val="B00000"/>
                          </a:solidFill>
                        </a:rPr>
                        <a:t>,</a:t>
                      </a:r>
                      <a:r>
                        <a:rPr sz="1000" dirty="0"/>
                        <a:t> are identified</a:t>
                      </a:r>
                      <a:r>
                        <a:rPr sz="1000" strike="sngStrike" dirty="0">
                          <a:solidFill>
                            <a:srgbClr val="B00000"/>
                          </a:solidFill>
                        </a:rPr>
                        <a:t> and</a:t>
                      </a:r>
                      <a:r>
                        <a:rPr sz="1000" b="1" dirty="0">
                          <a:solidFill>
                            <a:srgbClr val="2E7D32"/>
                          </a:solidFill>
                        </a:rPr>
                        <a:t>.</a:t>
                      </a:r>
                    </a:p>
                    <a:p>
                      <a:endParaRPr sz="1000" b="1" dirty="0">
                        <a:solidFill>
                          <a:srgbClr val="2E7D32"/>
                        </a:solidFill>
                      </a:endParaRPr>
                    </a:p>
                    <a:p>
                      <a:r>
                        <a:rPr sz="1000" b="1" dirty="0">
                          <a:solidFill>
                            <a:srgbClr val="2E7D32"/>
                          </a:solidFill>
                        </a:rPr>
                        <a:t>Algorithms must be</a:t>
                      </a:r>
                      <a:r>
                        <a:rPr sz="1000" dirty="0"/>
                        <a:t> published </a:t>
                      </a:r>
                      <a:r>
                        <a:rPr sz="1000" strike="sngStrike" dirty="0">
                          <a:solidFill>
                            <a:srgbClr val="B00000"/>
                          </a:solidFill>
                        </a:rPr>
                        <a:t>in a peer-reviewed </a:t>
                      </a:r>
                      <a:r>
                        <a:rPr sz="1000" strike="sngStrike" dirty="0" err="1">
                          <a:solidFill>
                            <a:srgbClr val="B00000"/>
                          </a:solidFill>
                        </a:rPr>
                        <a:t>journal</a:t>
                      </a:r>
                      <a:r>
                        <a:rPr sz="1000" b="1" dirty="0" err="1">
                          <a:solidFill>
                            <a:srgbClr val="2E7D32"/>
                          </a:solidFill>
                        </a:rPr>
                        <a:t>and</a:t>
                      </a:r>
                      <a:r>
                        <a:rPr sz="1000" b="1" dirty="0">
                          <a:solidFill>
                            <a:srgbClr val="2E7D32"/>
                          </a:solidFill>
                        </a:rPr>
                        <a:t> validated, and a description of the validation process is included</a:t>
                      </a:r>
                      <a:r>
                        <a:rPr sz="1000" dirty="0"/>
                        <a:t>.</a:t>
                      </a:r>
                    </a:p>
                  </a:txBody>
                  <a:tcPr>
                    <a:solidFill>
                      <a:srgbClr val="FFFFFF"/>
                    </a:solidFill>
                  </a:tcPr>
                </a:tc>
                <a:extLst>
                  <a:ext uri="{0D108BD9-81ED-4DB2-BD59-A6C34878D82A}">
                    <a16:rowId xmlns:a16="http://schemas.microsoft.com/office/drawing/2014/main" val="10003"/>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1080536301"/>
              </p:ext>
            </p:extLst>
          </p:nvPr>
        </p:nvGraphicFramePr>
        <p:xfrm>
          <a:off x="457200" y="3767328"/>
          <a:ext cx="11265408" cy="14478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Notes</a:t>
                      </a:r>
                    </a:p>
                  </a:txBody>
                  <a:tcPr>
                    <a:solidFill>
                      <a:srgbClr val="000000"/>
                    </a:solidFill>
                  </a:tcPr>
                </a:tc>
                <a:tc>
                  <a:txBody>
                    <a:bodyPr/>
                    <a:lstStyle/>
                    <a:p>
                      <a:r>
                        <a:rPr sz="1100" b="1">
                          <a:solidFill>
                            <a:srgbClr val="FFFFFF"/>
                          </a:solidFill>
                        </a:rPr>
                        <a:t>Proposed Goal Notes</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txBody>
                  <a:tcPr>
                    <a:solidFill>
                      <a:srgbClr val="FFFFFF"/>
                    </a:solidFill>
                  </a:tcPr>
                </a:tc>
                <a:tc>
                  <a:txBody>
                    <a:bodyPr/>
                    <a:lstStyle/>
                    <a:p>
                      <a:r>
                        <a:rPr sz="1000"/>
                        <a:t>(no notes)</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NLSR, SR</a:t>
                      </a:r>
                    </a:p>
                    <a:p>
                      <a:r>
                        <a:rPr sz="1000" i="1">
                          <a:solidFill>
                            <a:srgbClr val="808080"/>
                          </a:solidFill>
                        </a:rPr>
                        <a:t>(baseline)</a:t>
                      </a:r>
                    </a:p>
                  </a:txBody>
                  <a:tcPr>
                    <a:solidFill>
                      <a:srgbClr val="F2F2F2"/>
                    </a:solidFill>
                  </a:tcPr>
                </a:tc>
                <a:tc>
                  <a:txBody>
                    <a:bodyPr/>
                    <a:lstStyle/>
                    <a:p>
                      <a:r>
                        <a:rPr sz="1000" dirty="0"/>
                        <a:t>It is possible that high-quality corrections are applied through non-disclosed processes. CEOS-ARD does not per-se require full and open data and methods.</a:t>
                      </a:r>
                    </a:p>
                    <a:p>
                      <a:endParaRPr sz="1000" dirty="0"/>
                    </a:p>
                    <a:p>
                      <a:r>
                        <a:rPr sz="1000" dirty="0"/>
                        <a:t>Information on algorithms should be available in the metadata as a single DOI landing page.</a:t>
                      </a:r>
                    </a:p>
                  </a:txBody>
                  <a:tcPr>
                    <a:solidFill>
                      <a:srgbClr val="F2F2F2"/>
                    </a:solidFill>
                  </a:tcPr>
                </a:tc>
                <a:tc>
                  <a:txBody>
                    <a:bodyPr/>
                    <a:lstStyle/>
                    <a:p>
                      <a:r>
                        <a:rPr lang="de-DE" sz="1000" b="1" dirty="0">
                          <a:solidFill>
                            <a:srgbClr val="B00000"/>
                          </a:solidFill>
                        </a:rPr>
                        <a:t>DELETE</a:t>
                      </a:r>
                      <a:endParaRPr sz="1000" i="1" dirty="0">
                        <a:solidFill>
                          <a:srgbClr val="808080"/>
                        </a:solidFill>
                      </a:endParaRPr>
                    </a:p>
                  </a:txBody>
                  <a:tcPr>
                    <a:solidFill>
                      <a:srgbClr val="F2F2F2"/>
                    </a:solidFill>
                  </a:tcPr>
                </a:tc>
                <a:extLst>
                  <a:ext uri="{0D108BD9-81ED-4DB2-BD59-A6C34878D82A}">
                    <a16:rowId xmlns:a16="http://schemas.microsoft.com/office/drawing/2014/main" val="10002"/>
                  </a:ext>
                </a:extLst>
              </a:tr>
              <a:tr h="0">
                <a:tc>
                  <a:txBody>
                    <a:bodyPr/>
                    <a:lstStyle/>
                    <a:p>
                      <a:r>
                        <a:rPr sz="1000" b="1"/>
                        <a:t>ST</a:t>
                      </a:r>
                    </a:p>
                  </a:txBody>
                  <a:tcPr>
                    <a:solidFill>
                      <a:srgbClr val="FFFFFF"/>
                    </a:solidFill>
                  </a:tcPr>
                </a:tc>
                <a:tc>
                  <a:txBody>
                    <a:bodyPr/>
                    <a:lstStyle/>
                    <a:p>
                      <a:r>
                        <a:rPr sz="1000"/>
                        <a:t>(no notes)</a:t>
                      </a:r>
                    </a:p>
                  </a:txBody>
                  <a:tcPr>
                    <a:solidFill>
                      <a:srgbClr val="FFFFFF"/>
                    </a:solidFill>
                  </a:tcPr>
                </a:tc>
                <a:tc>
                  <a:txBody>
                    <a:bodyPr/>
                    <a:lstStyle/>
                    <a:p>
                      <a:r>
                        <a:rPr sz="1000" i="1" dirty="0">
                          <a:solidFill>
                            <a:srgbClr val="808080"/>
                          </a:solidFill>
                        </a:rPr>
                        <a:t>(keep as is)</a:t>
                      </a:r>
                    </a:p>
                  </a:txBody>
                  <a:tcP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57200" y="5466831"/>
            <a:ext cx="11277295" cy="1107996"/>
          </a:xfrm>
          <a:prstGeom prst="rect">
            <a:avLst/>
          </a:prstGeom>
          <a:noFill/>
        </p:spPr>
        <p:txBody>
          <a:bodyPr wrap="square" lIns="0" tIns="0" rIns="0" bIns="0">
            <a:spAutoFit/>
          </a:bodyPr>
          <a:lstStyle/>
          <a:p>
            <a:r>
              <a:rPr sz="1200" b="1" dirty="0"/>
              <a:t>Internal notes: </a:t>
            </a:r>
            <a:r>
              <a:rPr sz="1200" i="1" dirty="0"/>
              <a:t>For DOI related discussions </a:t>
            </a:r>
            <a:r>
              <a:rPr lang="de-DE" sz="1200" i="1" dirty="0" err="1"/>
              <a:t>see</a:t>
            </a:r>
            <a:r>
              <a:rPr lang="de-DE" sz="1200" i="1" dirty="0"/>
              <a:t> "DOIs" </a:t>
            </a:r>
            <a:r>
              <a:rPr lang="de-DE" sz="1200" i="1" dirty="0" err="1"/>
              <a:t>slide</a:t>
            </a:r>
            <a:r>
              <a:rPr sz="1200" i="1" dirty="0"/>
              <a:t>.</a:t>
            </a:r>
          </a:p>
          <a:p>
            <a:endParaRPr sz="1200" i="1" dirty="0"/>
          </a:p>
          <a:p>
            <a:r>
              <a:rPr sz="1200" i="1" dirty="0"/>
              <a:t>ST agrees to adopt the AR requirement with swapped levels and without the note: with an uncertainty requirement at threshold, full provision of algorithm information is not required at threshold too, aiding commercial sector compliance (issue #55).</a:t>
            </a:r>
            <a:br>
              <a:rPr lang="de-DE" sz="1200" i="1" dirty="0"/>
            </a:br>
            <a:br>
              <a:rPr lang="de-DE" sz="1200" i="1" dirty="0"/>
            </a:br>
            <a:r>
              <a:rPr lang="de-DE" sz="1200" i="1" dirty="0" err="1"/>
              <a:t>Should</a:t>
            </a:r>
            <a:r>
              <a:rPr lang="de-DE" sz="1200" i="1" dirty="0"/>
              <a:t> </a:t>
            </a:r>
            <a:r>
              <a:rPr lang="de-DE" sz="1200" i="1" dirty="0" err="1"/>
              <a:t>we</a:t>
            </a:r>
            <a:r>
              <a:rPr lang="de-DE" sz="1200" i="1" dirty="0"/>
              <a:t> </a:t>
            </a:r>
            <a:r>
              <a:rPr lang="de-DE" sz="1200" i="1" dirty="0" err="1"/>
              <a:t>aim</a:t>
            </a:r>
            <a:r>
              <a:rPr lang="de-DE" sz="1200" i="1" dirty="0"/>
              <a:t> for a </a:t>
            </a:r>
            <a:r>
              <a:rPr lang="de-DE" sz="1200" i="1" dirty="0" err="1"/>
              <a:t>consistent</a:t>
            </a:r>
            <a:r>
              <a:rPr lang="de-DE" sz="1200" i="1" dirty="0"/>
              <a:t> </a:t>
            </a:r>
            <a:r>
              <a:rPr lang="de-DE" sz="1200" i="1" dirty="0" err="1"/>
              <a:t>requirement</a:t>
            </a:r>
            <a:r>
              <a:rPr lang="de-DE" sz="1200" i="1" dirty="0"/>
              <a:t> </a:t>
            </a:r>
            <a:r>
              <a:rPr lang="de-DE" sz="1200" i="1" dirty="0" err="1"/>
              <a:t>here</a:t>
            </a:r>
            <a:r>
              <a:rPr lang="de-DE" sz="1200" i="1" dirty="0"/>
              <a:t>? With the </a:t>
            </a:r>
            <a:r>
              <a:rPr lang="de-DE" sz="1200" i="1" dirty="0" err="1"/>
              <a:t>current</a:t>
            </a:r>
            <a:r>
              <a:rPr lang="de-DE" sz="1200" i="1" dirty="0"/>
              <a:t> </a:t>
            </a:r>
            <a:r>
              <a:rPr lang="de-DE" sz="1200" i="1" dirty="0" err="1"/>
              <a:t>proposal</a:t>
            </a:r>
            <a:r>
              <a:rPr lang="de-DE" sz="1200" i="1" dirty="0"/>
              <a:t> ST and AR/SR/NLSR </a:t>
            </a:r>
            <a:r>
              <a:rPr lang="de-DE" sz="1200" i="1" dirty="0" err="1"/>
              <a:t>would</a:t>
            </a:r>
            <a:r>
              <a:rPr lang="de-DE" sz="1200" i="1" dirty="0"/>
              <a:t> still </a:t>
            </a:r>
            <a:r>
              <a:rPr lang="de-DE" sz="1200" i="1" dirty="0" err="1"/>
              <a:t>differ</a:t>
            </a:r>
            <a:r>
              <a:rPr lang="de-DE" sz="1200" i="1" dirty="0"/>
              <a:t>.</a:t>
            </a:r>
            <a:endParaRPr sz="1200" i="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Auxiliary Data (AR, NLSR, SR, ST, CB, GSLC, INSAR, NRB, ORB, POL)</a:t>
            </a:r>
          </a:p>
        </p:txBody>
      </p:sp>
      <p:graphicFrame>
        <p:nvGraphicFramePr>
          <p:cNvPr id="3" name="Table 2"/>
          <p:cNvGraphicFramePr>
            <a:graphicFrameLocks noGrp="1"/>
          </p:cNvGraphicFramePr>
          <p:nvPr/>
        </p:nvGraphicFramePr>
        <p:xfrm>
          <a:off x="457200" y="1005840"/>
          <a:ext cx="11265408" cy="16002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 ST</a:t>
                      </a:r>
                    </a:p>
                    <a:p>
                      <a:r>
                        <a:rPr sz="1000" i="1">
                          <a:solidFill>
                            <a:srgbClr val="808080"/>
                          </a:solidFill>
                        </a:rPr>
                        <a:t>(baseline)</a:t>
                      </a:r>
                    </a:p>
                  </a:txBody>
                  <a:tcPr>
                    <a:solidFill>
                      <a:srgbClr val="FFFFFF"/>
                    </a:solidFill>
                  </a:tcPr>
                </a:tc>
                <a:tc>
                  <a:txBody>
                    <a:bodyPr/>
                    <a:lstStyle/>
                    <a:p>
                      <a:r>
                        <a:rPr sz="1000" dirty="0"/>
                        <a:t>Lists the sources of auxiliary data used in the generation process.</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NLSR, SR</a:t>
                      </a:r>
                    </a:p>
                  </a:txBody>
                  <a:tcPr>
                    <a:solidFill>
                      <a:srgbClr val="F2F2F2"/>
                    </a:solidFill>
                  </a:tcPr>
                </a:tc>
                <a:tc>
                  <a:txBody>
                    <a:bodyPr/>
                    <a:lstStyle/>
                    <a:p>
                      <a:r>
                        <a:rPr sz="1000" strike="sngStrike">
                          <a:solidFill>
                            <a:srgbClr val="B00000"/>
                          </a:solidFill>
                        </a:rPr>
                        <a:t>List</a:t>
                      </a:r>
                      <a:r>
                        <a:rPr sz="1000" b="1">
                          <a:solidFill>
                            <a:srgbClr val="2E7D32"/>
                          </a:solidFill>
                        </a:rPr>
                        <a:t>The metadata identifie</a:t>
                      </a:r>
                      <a:r>
                        <a:rPr sz="1000"/>
                        <a:t>s the sources of auxiliary data used in the generation process</a:t>
                      </a:r>
                      <a:r>
                        <a:rPr sz="1000" strike="sngStrike">
                          <a:solidFill>
                            <a:srgbClr val="B00000"/>
                          </a:solidFill>
                        </a:rPr>
                        <a:t>.</a:t>
                      </a:r>
                      <a:r>
                        <a:rPr sz="1000" b="1">
                          <a:solidFill>
                            <a:srgbClr val="2E7D32"/>
                          </a:solidFill>
                        </a:rPr>
                        <a:t>, ideally expressed as a single DOI landing page. </a:t>
                      </a:r>
                    </a:p>
                  </a:txBody>
                  <a:tcPr>
                    <a:solidFill>
                      <a:srgbClr val="F2F2F2"/>
                    </a:solidFill>
                  </a:tcPr>
                </a:tc>
                <a:tc>
                  <a:txBody>
                    <a:bodyPr/>
                    <a:lstStyle/>
                    <a:p>
                      <a:r>
                        <a:rPr sz="1000" strike="sngStrike" dirty="0">
                          <a:solidFill>
                            <a:srgbClr val="B00000"/>
                          </a:solidFill>
                        </a:rPr>
                        <a:t>The metadata </a:t>
                      </a:r>
                      <a:r>
                        <a:rPr sz="1000" strike="sngStrike" dirty="0" err="1">
                          <a:solidFill>
                            <a:srgbClr val="B00000"/>
                          </a:solidFill>
                        </a:rPr>
                        <a:t>identifie</a:t>
                      </a:r>
                      <a:r>
                        <a:rPr sz="1000" b="1" dirty="0" err="1">
                          <a:solidFill>
                            <a:srgbClr val="2E7D32"/>
                          </a:solidFill>
                        </a:rPr>
                        <a:t>List</a:t>
                      </a:r>
                      <a:r>
                        <a:rPr sz="1000" dirty="0" err="1"/>
                        <a:t>s</a:t>
                      </a:r>
                      <a:r>
                        <a:rPr sz="1000" dirty="0"/>
                        <a:t> the sources of auxiliary data used in the generation process</a:t>
                      </a:r>
                      <a:r>
                        <a:rPr sz="1000" strike="sngStrike" dirty="0">
                          <a:solidFill>
                            <a:srgbClr val="B00000"/>
                          </a:solidFill>
                        </a:rPr>
                        <a:t>, ideally expressed as a single DOI landing page. </a:t>
                      </a:r>
                      <a:r>
                        <a:rPr sz="1000" b="1" dirty="0">
                          <a:solidFill>
                            <a:srgbClr val="2E7D32"/>
                          </a:solidFill>
                        </a:rPr>
                        <a:t>.</a:t>
                      </a:r>
                    </a:p>
                  </a:txBody>
                  <a:tcPr>
                    <a:solidFill>
                      <a:srgbClr val="F2F2F2"/>
                    </a:solidFill>
                  </a:tcPr>
                </a:tc>
                <a:extLst>
                  <a:ext uri="{0D108BD9-81ED-4DB2-BD59-A6C34878D82A}">
                    <a16:rowId xmlns:a16="http://schemas.microsoft.com/office/drawing/2014/main" val="10002"/>
                  </a:ext>
                </a:extLst>
              </a:tr>
              <a:tr h="0">
                <a:tc>
                  <a:txBody>
                    <a:bodyPr/>
                    <a:lstStyle/>
                    <a:p>
                      <a:r>
                        <a:rPr sz="1000" b="1"/>
                        <a:t>CB, GSLC, INSAR, NRB, ORB, POL</a:t>
                      </a:r>
                    </a:p>
                  </a:txBody>
                  <a:tcPr>
                    <a:solidFill>
                      <a:srgbClr val="FFFFFF"/>
                    </a:solidFill>
                  </a:tcPr>
                </a:tc>
                <a:tc>
                  <a:txBody>
                    <a:bodyPr/>
                    <a:lstStyle/>
                    <a:p>
                      <a:r>
                        <a:rPr sz="1000" dirty="0"/>
                        <a:t>(not set)</a:t>
                      </a:r>
                    </a:p>
                  </a:txBody>
                  <a:tcPr>
                    <a:solidFill>
                      <a:srgbClr val="FFFFFF"/>
                    </a:solidFill>
                  </a:tcPr>
                </a:tc>
                <a:tc>
                  <a:txBody>
                    <a:bodyPr/>
                    <a:lstStyle/>
                    <a:p>
                      <a:r>
                        <a:rPr sz="1000" i="1" dirty="0">
                          <a:solidFill>
                            <a:srgbClr val="808080"/>
                          </a:solidFill>
                        </a:rPr>
                        <a:t>(keep as is)</a:t>
                      </a:r>
                    </a:p>
                  </a:txBody>
                  <a:tcPr>
                    <a:solidFill>
                      <a:srgbClr val="FFFFFF"/>
                    </a:solidFill>
                  </a:tcPr>
                </a:tc>
                <a:extLst>
                  <a:ext uri="{0D108BD9-81ED-4DB2-BD59-A6C34878D82A}">
                    <a16:rowId xmlns:a16="http://schemas.microsoft.com/office/drawing/2014/main" val="10003"/>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150071052"/>
              </p:ext>
            </p:extLst>
          </p:nvPr>
        </p:nvGraphicFramePr>
        <p:xfrm>
          <a:off x="457200" y="2990088"/>
          <a:ext cx="11265408" cy="16002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Notes</a:t>
                      </a:r>
                    </a:p>
                  </a:txBody>
                  <a:tcPr>
                    <a:solidFill>
                      <a:srgbClr val="000000"/>
                    </a:solidFill>
                  </a:tcPr>
                </a:tc>
                <a:tc>
                  <a:txBody>
                    <a:bodyPr/>
                    <a:lstStyle/>
                    <a:p>
                      <a:r>
                        <a:rPr sz="1100" b="1">
                          <a:solidFill>
                            <a:srgbClr val="FFFFFF"/>
                          </a:solidFill>
                        </a:rPr>
                        <a:t>Proposed Threshold Notes</a:t>
                      </a:r>
                    </a:p>
                  </a:txBody>
                  <a:tcPr>
                    <a:solidFill>
                      <a:srgbClr val="000000"/>
                    </a:solidFill>
                  </a:tcPr>
                </a:tc>
                <a:extLst>
                  <a:ext uri="{0D108BD9-81ED-4DB2-BD59-A6C34878D82A}">
                    <a16:rowId xmlns:a16="http://schemas.microsoft.com/office/drawing/2014/main" val="10000"/>
                  </a:ext>
                </a:extLst>
              </a:tr>
              <a:tr h="0">
                <a:tc>
                  <a:txBody>
                    <a:bodyPr/>
                    <a:lstStyle/>
                    <a:p>
                      <a:r>
                        <a:rPr sz="1000" b="1"/>
                        <a:t>AR, ST</a:t>
                      </a:r>
                    </a:p>
                  </a:txBody>
                  <a:tcPr>
                    <a:solidFill>
                      <a:srgbClr val="FFFFFF"/>
                    </a:solidFill>
                  </a:tcPr>
                </a:tc>
                <a:tc>
                  <a:txBody>
                    <a:bodyPr/>
                    <a:lstStyle/>
                    <a:p>
                      <a:r>
                        <a:rPr sz="1000"/>
                        <a:t>(no notes)</a:t>
                      </a:r>
                    </a:p>
                  </a:txBody>
                  <a:tcPr>
                    <a:solidFill>
                      <a:srgbClr val="FFFFFF"/>
                    </a:solidFill>
                  </a:tcPr>
                </a:tc>
                <a:tc>
                  <a:txBody>
                    <a:bodyPr/>
                    <a:lstStyle/>
                    <a:p>
                      <a:r>
                        <a:rPr lang="en-US" sz="1000" b="1" kern="1200" dirty="0">
                          <a:solidFill>
                            <a:srgbClr val="2E7D32"/>
                          </a:solidFill>
                          <a:latin typeface="+mn-lt"/>
                          <a:ea typeface="+mn-ea"/>
                          <a:cs typeface="+mn-cs"/>
                        </a:rPr>
                        <a:t>Auxiliary data includes DEMs, and any additional data sources used in the generation of the product.</a:t>
                      </a:r>
                    </a:p>
                  </a:txBody>
                  <a:tcPr>
                    <a:solidFill>
                      <a:srgbClr val="FFFFFF"/>
                    </a:solidFill>
                  </a:tcPr>
                </a:tc>
                <a:extLst>
                  <a:ext uri="{0D108BD9-81ED-4DB2-BD59-A6C34878D82A}">
                    <a16:rowId xmlns:a16="http://schemas.microsoft.com/office/drawing/2014/main" val="10001"/>
                  </a:ext>
                </a:extLst>
              </a:tr>
              <a:tr h="0">
                <a:tc>
                  <a:txBody>
                    <a:bodyPr/>
                    <a:lstStyle/>
                    <a:p>
                      <a:r>
                        <a:rPr sz="1000" b="1"/>
                        <a:t>NLSR, SR</a:t>
                      </a:r>
                    </a:p>
                    <a:p>
                      <a:r>
                        <a:rPr sz="1000" i="1">
                          <a:solidFill>
                            <a:srgbClr val="808080"/>
                          </a:solidFill>
                        </a:rPr>
                        <a:t>(baseline)</a:t>
                      </a:r>
                    </a:p>
                  </a:txBody>
                  <a:tcPr>
                    <a:solidFill>
                      <a:srgbClr val="F2F2F2"/>
                    </a:solidFill>
                  </a:tcPr>
                </a:tc>
                <a:tc>
                  <a:txBody>
                    <a:bodyPr/>
                    <a:lstStyle/>
                    <a:p>
                      <a:r>
                        <a:rPr sz="1000"/>
                        <a:t>Auxiliary data includes DEMs, aerosols, etc. data sources.</a:t>
                      </a:r>
                    </a:p>
                  </a:txBody>
                  <a:tcPr>
                    <a:solidFill>
                      <a:srgbClr val="F2F2F2"/>
                    </a:solidFill>
                  </a:tcPr>
                </a:tc>
                <a:tc>
                  <a:txBody>
                    <a:bodyPr/>
                    <a:lstStyle/>
                    <a:p>
                      <a:r>
                        <a:rPr sz="1000" dirty="0"/>
                        <a:t>Auxiliary data includes DEMs, </a:t>
                      </a:r>
                      <a:r>
                        <a:rPr sz="1000" strike="sngStrike" dirty="0">
                          <a:solidFill>
                            <a:srgbClr val="B00000"/>
                          </a:solidFill>
                        </a:rPr>
                        <a:t>aerosols, etc.</a:t>
                      </a:r>
                      <a:r>
                        <a:rPr sz="1000" b="1" dirty="0">
                          <a:solidFill>
                            <a:srgbClr val="2E7D32"/>
                          </a:solidFill>
                        </a:rPr>
                        <a:t> and any additional</a:t>
                      </a:r>
                      <a:r>
                        <a:rPr sz="1000" dirty="0"/>
                        <a:t> data sources</a:t>
                      </a:r>
                      <a:r>
                        <a:rPr sz="1000" b="1" dirty="0">
                          <a:solidFill>
                            <a:srgbClr val="2E7D32"/>
                          </a:solidFill>
                        </a:rPr>
                        <a:t> used in the generation of the product</a:t>
                      </a:r>
                      <a:r>
                        <a:rPr sz="1000" dirty="0"/>
                        <a:t>.</a:t>
                      </a:r>
                    </a:p>
                  </a:txBody>
                  <a:tcPr>
                    <a:solidFill>
                      <a:srgbClr val="F2F2F2"/>
                    </a:solidFill>
                  </a:tcPr>
                </a:tc>
                <a:extLst>
                  <a:ext uri="{0D108BD9-81ED-4DB2-BD59-A6C34878D82A}">
                    <a16:rowId xmlns:a16="http://schemas.microsoft.com/office/drawing/2014/main" val="10002"/>
                  </a:ext>
                </a:extLst>
              </a:tr>
              <a:tr h="0">
                <a:tc>
                  <a:txBody>
                    <a:bodyPr/>
                    <a:lstStyle/>
                    <a:p>
                      <a:r>
                        <a:rPr sz="1000" b="1"/>
                        <a:t>CB, GSLC, INSAR, NRB, ORB, POL</a:t>
                      </a:r>
                    </a:p>
                  </a:txBody>
                  <a:tcPr>
                    <a:solidFill>
                      <a:srgbClr val="FFFFFF"/>
                    </a:solidFill>
                  </a:tcPr>
                </a:tc>
                <a:tc>
                  <a:txBody>
                    <a:bodyPr/>
                    <a:lstStyle/>
                    <a:p>
                      <a:r>
                        <a:rPr sz="1000"/>
                        <a:t>(no notes)</a:t>
                      </a:r>
                    </a:p>
                  </a:txBody>
                  <a:tcPr>
                    <a:solidFill>
                      <a:srgbClr val="FFFFFF"/>
                    </a:solidFill>
                  </a:tcPr>
                </a:tc>
                <a:tc>
                  <a:txBody>
                    <a:bodyPr/>
                    <a:lstStyle/>
                    <a:p>
                      <a:r>
                        <a:rPr sz="1000" i="1" dirty="0">
                          <a:solidFill>
                            <a:srgbClr val="808080"/>
                          </a:solidFill>
                        </a:rPr>
                        <a:t>(keep as is)</a:t>
                      </a:r>
                    </a:p>
                  </a:txBody>
                  <a:tcP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Auxiliary Data (AR, NLSR, SR, ST, CB, GSLC, INSAR, NRB, ORB, POL) (cont.)</a:t>
            </a:r>
          </a:p>
        </p:txBody>
      </p:sp>
      <p:graphicFrame>
        <p:nvGraphicFramePr>
          <p:cNvPr id="3" name="Table 2"/>
          <p:cNvGraphicFramePr>
            <a:graphicFrameLocks noGrp="1"/>
          </p:cNvGraphicFramePr>
          <p:nvPr>
            <p:extLst>
              <p:ext uri="{D42A27DB-BD31-4B8C-83A1-F6EECF244321}">
                <p14:modId xmlns:p14="http://schemas.microsoft.com/office/powerpoint/2010/main" val="435396549"/>
              </p:ext>
            </p:extLst>
          </p:nvPr>
        </p:nvGraphicFramePr>
        <p:xfrm>
          <a:off x="457200" y="1005840"/>
          <a:ext cx="11265408" cy="17526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 ST</a:t>
                      </a:r>
                    </a:p>
                    <a:p>
                      <a:r>
                        <a:rPr sz="1000" i="1">
                          <a:solidFill>
                            <a:srgbClr val="808080"/>
                          </a:solidFill>
                        </a:rPr>
                        <a:t>(baseline)</a:t>
                      </a:r>
                    </a:p>
                  </a:txBody>
                  <a:tcPr>
                    <a:solidFill>
                      <a:srgbClr val="FFFFFF"/>
                    </a:solidFill>
                  </a:tcPr>
                </a:tc>
                <a:tc>
                  <a:txBody>
                    <a:bodyPr/>
                    <a:lstStyle/>
                    <a:p>
                      <a:r>
                        <a:rPr sz="1000" dirty="0"/>
                        <a:t>As threshold, but information on auxiliary data should be available for free online download, contemporaneously with the product or through a link to the source.</a:t>
                      </a:r>
                    </a:p>
                  </a:txBody>
                  <a:tcPr>
                    <a:solidFill>
                      <a:srgbClr val="FFFFFF"/>
                    </a:solidFill>
                  </a:tcPr>
                </a:tc>
                <a:tc>
                  <a:txBody>
                    <a:bodyPr/>
                    <a:lstStyle/>
                    <a:p>
                      <a:r>
                        <a:rPr sz="1000" i="1" dirty="0">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NLSR, SR</a:t>
                      </a:r>
                    </a:p>
                  </a:txBody>
                  <a:tcPr>
                    <a:solidFill>
                      <a:srgbClr val="F2F2F2"/>
                    </a:solidFill>
                  </a:tcPr>
                </a:tc>
                <a:tc>
                  <a:txBody>
                    <a:bodyPr/>
                    <a:lstStyle/>
                    <a:p>
                      <a:r>
                        <a:rPr sz="1000"/>
                        <a:t>As threshold, but information on auxiliary data should be</a:t>
                      </a:r>
                      <a:r>
                        <a:rPr sz="1000" b="1">
                          <a:solidFill>
                            <a:srgbClr val="2E7D32"/>
                          </a:solidFill>
                        </a:rPr>
                        <a:t> available in the metadata as a single DOI landing page and is also</a:t>
                      </a:r>
                      <a:r>
                        <a:rPr sz="1000"/>
                        <a:t> available for free online download, contemporaneously with the product or through a link to the source.</a:t>
                      </a:r>
                    </a:p>
                  </a:txBody>
                  <a:tcPr>
                    <a:solidFill>
                      <a:srgbClr val="F2F2F2"/>
                    </a:solidFill>
                  </a:tcPr>
                </a:tc>
                <a:tc>
                  <a:txBody>
                    <a:bodyPr/>
                    <a:lstStyle/>
                    <a:p>
                      <a:r>
                        <a:rPr sz="1000" dirty="0"/>
                        <a:t>As threshold, but information on auxiliary data should be</a:t>
                      </a:r>
                      <a:r>
                        <a:rPr sz="1000" strike="sngStrike" dirty="0">
                          <a:solidFill>
                            <a:srgbClr val="B00000"/>
                          </a:solidFill>
                        </a:rPr>
                        <a:t> available in the metadata as a single DOI landing page and is also</a:t>
                      </a:r>
                      <a:r>
                        <a:rPr sz="1000" dirty="0"/>
                        <a:t> available for free online download, contemporaneously with the product or through a link to the source.</a:t>
                      </a:r>
                    </a:p>
                  </a:txBody>
                  <a:tcPr>
                    <a:solidFill>
                      <a:srgbClr val="F2F2F2"/>
                    </a:solidFill>
                  </a:tcPr>
                </a:tc>
                <a:extLst>
                  <a:ext uri="{0D108BD9-81ED-4DB2-BD59-A6C34878D82A}">
                    <a16:rowId xmlns:a16="http://schemas.microsoft.com/office/drawing/2014/main" val="10002"/>
                  </a:ext>
                </a:extLst>
              </a:tr>
              <a:tr h="0">
                <a:tc>
                  <a:txBody>
                    <a:bodyPr/>
                    <a:lstStyle/>
                    <a:p>
                      <a:r>
                        <a:rPr sz="1000" b="1"/>
                        <a:t>CB, GSLC, INSAR, NRB, ORB, POL</a:t>
                      </a:r>
                    </a:p>
                  </a:txBody>
                  <a:tcPr>
                    <a:solidFill>
                      <a:srgbClr val="FFFFFF"/>
                    </a:solidFill>
                  </a:tcPr>
                </a:tc>
                <a:tc>
                  <a:txBody>
                    <a:bodyPr/>
                    <a:lstStyle/>
                    <a:p>
                      <a:r>
                        <a:rPr sz="1000" dirty="0"/>
                        <a:t>The metadata identifies the sources of</a:t>
                      </a:r>
                      <a:r>
                        <a:rPr sz="1000" dirty="0">
                          <a:solidFill>
                            <a:srgbClr val="1565C0"/>
                          </a:solidFill>
                        </a:rPr>
                        <a:t> auxiliary data </a:t>
                      </a:r>
                      <a:r>
                        <a:rPr sz="1000" dirty="0"/>
                        <a:t>used in the generation process, ideally expressed as DOIs.</a:t>
                      </a:r>
                    </a:p>
                  </a:txBody>
                  <a:tcPr>
                    <a:solidFill>
                      <a:srgbClr val="FFFFFF"/>
                    </a:solidFill>
                  </a:tcPr>
                </a:tc>
                <a:tc>
                  <a:txBody>
                    <a:bodyPr/>
                    <a:lstStyle/>
                    <a:p>
                      <a:r>
                        <a:rPr lang="en-US" sz="1000" strike="sngStrike" dirty="0">
                          <a:solidFill>
                            <a:srgbClr val="B00000"/>
                          </a:solidFill>
                        </a:rPr>
                        <a:t>The metadata </a:t>
                      </a:r>
                      <a:r>
                        <a:rPr lang="en-US" sz="1000" strike="sngStrike" dirty="0" err="1">
                          <a:solidFill>
                            <a:srgbClr val="B00000"/>
                          </a:solidFill>
                        </a:rPr>
                        <a:t>identifie</a:t>
                      </a:r>
                      <a:r>
                        <a:rPr lang="en-US" sz="1000" b="1" dirty="0" err="1">
                          <a:solidFill>
                            <a:srgbClr val="2E7D32"/>
                          </a:solidFill>
                        </a:rPr>
                        <a:t>List</a:t>
                      </a:r>
                      <a:r>
                        <a:rPr lang="en-US" sz="1000" dirty="0" err="1"/>
                        <a:t>s</a:t>
                      </a:r>
                      <a:r>
                        <a:rPr lang="en-US" sz="1000" dirty="0"/>
                        <a:t> the sources of auxiliary data used in the generation process</a:t>
                      </a:r>
                      <a:r>
                        <a:rPr lang="en-US" sz="1000" strike="sngStrike" dirty="0">
                          <a:solidFill>
                            <a:srgbClr val="B00000"/>
                          </a:solidFill>
                        </a:rPr>
                        <a:t>, ideally expressed as DOIs</a:t>
                      </a:r>
                      <a:r>
                        <a:rPr lang="en-US" sz="1000" b="1" dirty="0">
                          <a:solidFill>
                            <a:srgbClr val="2E7D32"/>
                          </a:solidFill>
                        </a:rPr>
                        <a:t>.</a:t>
                      </a:r>
                    </a:p>
                  </a:txBody>
                  <a:tcPr>
                    <a:solidFill>
                      <a:srgbClr val="FFFFFF"/>
                    </a:solidFill>
                  </a:tcPr>
                </a:tc>
                <a:extLst>
                  <a:ext uri="{0D108BD9-81ED-4DB2-BD59-A6C34878D82A}">
                    <a16:rowId xmlns:a16="http://schemas.microsoft.com/office/drawing/2014/main" val="10003"/>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488880133"/>
              </p:ext>
            </p:extLst>
          </p:nvPr>
        </p:nvGraphicFramePr>
        <p:xfrm>
          <a:off x="457200" y="3300984"/>
          <a:ext cx="11265408" cy="14478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Notes</a:t>
                      </a:r>
                    </a:p>
                  </a:txBody>
                  <a:tcPr>
                    <a:solidFill>
                      <a:srgbClr val="000000"/>
                    </a:solidFill>
                  </a:tcPr>
                </a:tc>
                <a:tc>
                  <a:txBody>
                    <a:bodyPr/>
                    <a:lstStyle/>
                    <a:p>
                      <a:r>
                        <a:rPr sz="1100" b="1">
                          <a:solidFill>
                            <a:srgbClr val="FFFFFF"/>
                          </a:solidFill>
                        </a:rPr>
                        <a:t>Proposed Goal Notes</a:t>
                      </a:r>
                    </a:p>
                  </a:txBody>
                  <a:tcPr>
                    <a:solidFill>
                      <a:srgbClr val="000000"/>
                    </a:solidFill>
                  </a:tcPr>
                </a:tc>
                <a:extLst>
                  <a:ext uri="{0D108BD9-81ED-4DB2-BD59-A6C34878D82A}">
                    <a16:rowId xmlns:a16="http://schemas.microsoft.com/office/drawing/2014/main" val="10000"/>
                  </a:ext>
                </a:extLst>
              </a:tr>
              <a:tr h="0">
                <a:tc>
                  <a:txBody>
                    <a:bodyPr/>
                    <a:lstStyle/>
                    <a:p>
                      <a:r>
                        <a:rPr sz="1000" b="1"/>
                        <a:t>AR, ST</a:t>
                      </a:r>
                    </a:p>
                  </a:txBody>
                  <a:tcPr>
                    <a:solidFill>
                      <a:srgbClr val="FFFFFF"/>
                    </a:solidFill>
                  </a:tcPr>
                </a:tc>
                <a:tc>
                  <a:txBody>
                    <a:bodyPr/>
                    <a:lstStyle/>
                    <a:p>
                      <a:r>
                        <a:rPr sz="1000"/>
                        <a:t>(no notes)</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NLSR, SR</a:t>
                      </a:r>
                    </a:p>
                  </a:txBody>
                  <a:tcPr>
                    <a:solidFill>
                      <a:srgbClr val="F2F2F2"/>
                    </a:solidFill>
                  </a:tcPr>
                </a:tc>
                <a:tc>
                  <a:txBody>
                    <a:bodyPr/>
                    <a:lstStyle/>
                    <a:p>
                      <a:r>
                        <a:rPr sz="1000"/>
                        <a:t>(no notes)</a:t>
                      </a:r>
                    </a:p>
                  </a:txBody>
                  <a:tcPr>
                    <a:solidFill>
                      <a:srgbClr val="F2F2F2"/>
                    </a:solidFill>
                  </a:tcPr>
                </a:tc>
                <a:tc>
                  <a:txBody>
                    <a:bodyPr/>
                    <a:lstStyle/>
                    <a:p>
                      <a:r>
                        <a:rPr sz="1000" i="1" dirty="0">
                          <a:solidFill>
                            <a:srgbClr val="808080"/>
                          </a:solidFill>
                        </a:rPr>
                        <a:t>(keep as is)</a:t>
                      </a:r>
                    </a:p>
                  </a:txBody>
                  <a:tcPr>
                    <a:solidFill>
                      <a:srgbClr val="F2F2F2"/>
                    </a:solidFill>
                  </a:tcPr>
                </a:tc>
                <a:extLst>
                  <a:ext uri="{0D108BD9-81ED-4DB2-BD59-A6C34878D82A}">
                    <a16:rowId xmlns:a16="http://schemas.microsoft.com/office/drawing/2014/main" val="10002"/>
                  </a:ext>
                </a:extLst>
              </a:tr>
              <a:tr h="0">
                <a:tc>
                  <a:txBody>
                    <a:bodyPr/>
                    <a:lstStyle/>
                    <a:p>
                      <a:r>
                        <a:rPr sz="1000" b="1"/>
                        <a:t>CB, GSLC, INSAR, NRB, ORB, POL</a:t>
                      </a:r>
                    </a:p>
                    <a:p>
                      <a:r>
                        <a:rPr sz="1000" i="1">
                          <a:solidFill>
                            <a:srgbClr val="808080"/>
                          </a:solidFill>
                        </a:rPr>
                        <a:t>(baseline)</a:t>
                      </a:r>
                    </a:p>
                  </a:txBody>
                  <a:tcPr>
                    <a:solidFill>
                      <a:srgbClr val="FFFFFF"/>
                    </a:solidFill>
                  </a:tcPr>
                </a:tc>
                <a:tc>
                  <a:txBody>
                    <a:bodyPr/>
                    <a:lstStyle/>
                    <a:p>
                      <a:r>
                        <a:rPr sz="1000" dirty="0"/>
                        <a:t>Auxiliary data includes DEMs, etc., and any additional data sources used in the generation of the product.</a:t>
                      </a:r>
                    </a:p>
                  </a:txBody>
                  <a:tcPr>
                    <a:solidFill>
                      <a:srgbClr val="FFFFFF"/>
                    </a:solidFill>
                  </a:tcPr>
                </a:tc>
                <a:tc>
                  <a:txBody>
                    <a:bodyPr/>
                    <a:lstStyle/>
                    <a:p>
                      <a:r>
                        <a:rPr lang="en-US" sz="1000" dirty="0"/>
                        <a:t>Auxiliary data includes DEMs,</a:t>
                      </a:r>
                      <a:r>
                        <a:rPr lang="en-US" sz="1000" strike="sngStrike" dirty="0">
                          <a:solidFill>
                            <a:srgbClr val="B00000"/>
                          </a:solidFill>
                        </a:rPr>
                        <a:t> etc.</a:t>
                      </a:r>
                      <a:r>
                        <a:rPr lang="en-US" sz="1000" b="1" dirty="0">
                          <a:solidFill>
                            <a:srgbClr val="2E7D32"/>
                          </a:solidFill>
                        </a:rPr>
                        <a:t> and any additional</a:t>
                      </a:r>
                      <a:r>
                        <a:rPr lang="en-US" sz="1000" dirty="0"/>
                        <a:t> data sources</a:t>
                      </a:r>
                      <a:r>
                        <a:rPr lang="en-US" sz="1000" b="1" dirty="0">
                          <a:solidFill>
                            <a:srgbClr val="2E7D32"/>
                          </a:solidFill>
                        </a:rPr>
                        <a:t> used in the generation of the product</a:t>
                      </a:r>
                      <a:r>
                        <a:rPr lang="en-US" sz="1000" dirty="0"/>
                        <a:t>.</a:t>
                      </a:r>
                    </a:p>
                  </a:txBody>
                  <a:tcP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57200" y="4882347"/>
            <a:ext cx="11277295" cy="553998"/>
          </a:xfrm>
          <a:prstGeom prst="rect">
            <a:avLst/>
          </a:prstGeom>
          <a:noFill/>
        </p:spPr>
        <p:txBody>
          <a:bodyPr wrap="square" lIns="0" tIns="0" rIns="0" bIns="0">
            <a:spAutoFit/>
          </a:bodyPr>
          <a:lstStyle/>
          <a:p>
            <a:r>
              <a:rPr sz="1200" b="1" dirty="0"/>
              <a:t>Internal notes: </a:t>
            </a:r>
            <a:r>
              <a:rPr sz="1200" i="1" dirty="0"/>
              <a:t>For DOI related discussions </a:t>
            </a:r>
            <a:r>
              <a:rPr lang="de-DE" sz="1200" i="1" dirty="0" err="1"/>
              <a:t>see</a:t>
            </a:r>
            <a:r>
              <a:rPr lang="de-DE" sz="1200" i="1" dirty="0"/>
              <a:t> "DOIs" </a:t>
            </a:r>
            <a:r>
              <a:rPr lang="de-DE" sz="1200" i="1" dirty="0" err="1"/>
              <a:t>slide</a:t>
            </a:r>
            <a:r>
              <a:rPr sz="1200" i="1" dirty="0"/>
              <a:t>.</a:t>
            </a:r>
          </a:p>
          <a:p>
            <a:endParaRPr sz="1200" i="1" dirty="0"/>
          </a:p>
          <a:p>
            <a:r>
              <a:rPr lang="de-DE" sz="1200" i="1" dirty="0" err="1"/>
              <a:t>We</a:t>
            </a:r>
            <a:r>
              <a:rPr lang="de-DE" sz="1200" i="1" dirty="0"/>
              <a:t> </a:t>
            </a:r>
            <a:r>
              <a:rPr lang="de-DE" sz="1200" i="1" dirty="0" err="1"/>
              <a:t>should</a:t>
            </a:r>
            <a:r>
              <a:rPr lang="de-DE" sz="1200" i="1" dirty="0"/>
              <a:t> </a:t>
            </a:r>
            <a:r>
              <a:rPr lang="de-DE" sz="1200" i="1" dirty="0" err="1"/>
              <a:t>consider</a:t>
            </a:r>
            <a:r>
              <a:rPr lang="de-DE" sz="1200" i="1" dirty="0"/>
              <a:t> fully </a:t>
            </a:r>
            <a:r>
              <a:rPr lang="de-DE" sz="1200" i="1" dirty="0" err="1"/>
              <a:t>aligning</a:t>
            </a:r>
            <a:r>
              <a:rPr lang="de-DE" sz="1200" i="1" dirty="0"/>
              <a:t> </a:t>
            </a:r>
            <a:r>
              <a:rPr lang="de-DE" sz="1200" i="1" dirty="0" err="1"/>
              <a:t>those</a:t>
            </a:r>
            <a:r>
              <a:rPr lang="de-DE" sz="1200" i="1" dirty="0"/>
              <a:t> </a:t>
            </a:r>
            <a:r>
              <a:rPr lang="de-DE" sz="1200" i="1" dirty="0" err="1"/>
              <a:t>requirements</a:t>
            </a:r>
            <a:r>
              <a:rPr lang="de-DE" sz="1200" i="1" dirty="0"/>
              <a:t>, only </a:t>
            </a:r>
            <a:r>
              <a:rPr lang="de-DE" sz="1200" i="1" dirty="0" err="1"/>
              <a:t>differing</a:t>
            </a:r>
            <a:r>
              <a:rPr lang="de-DE" sz="1200" i="1" dirty="0"/>
              <a:t> </a:t>
            </a:r>
            <a:r>
              <a:rPr lang="de-DE" sz="1200" i="1" dirty="0" err="1"/>
              <a:t>between</a:t>
            </a:r>
            <a:r>
              <a:rPr lang="de-DE" sz="1200" i="1" dirty="0"/>
              <a:t> </a:t>
            </a:r>
            <a:r>
              <a:rPr lang="de-DE" sz="1200" i="1" dirty="0" err="1"/>
              <a:t>whether</a:t>
            </a:r>
            <a:r>
              <a:rPr lang="de-DE" sz="1200" i="1" dirty="0"/>
              <a:t> </a:t>
            </a:r>
            <a:r>
              <a:rPr lang="de-DE" sz="1200" i="1" dirty="0" err="1"/>
              <a:t>they</a:t>
            </a:r>
            <a:r>
              <a:rPr lang="de-DE" sz="1200" i="1" dirty="0"/>
              <a:t> </a:t>
            </a:r>
            <a:r>
              <a:rPr lang="de-DE" sz="1200" i="1" dirty="0" err="1"/>
              <a:t>are</a:t>
            </a:r>
            <a:r>
              <a:rPr lang="de-DE" sz="1200" i="1" dirty="0"/>
              <a:t> </a:t>
            </a:r>
            <a:r>
              <a:rPr lang="de-DE" sz="1200" i="1" dirty="0" err="1"/>
              <a:t>goal</a:t>
            </a:r>
            <a:r>
              <a:rPr lang="de-DE" sz="1200" i="1" dirty="0"/>
              <a:t> </a:t>
            </a:r>
            <a:r>
              <a:rPr lang="de-DE" sz="1200" i="1" dirty="0" err="1"/>
              <a:t>or</a:t>
            </a:r>
            <a:r>
              <a:rPr lang="de-DE" sz="1200" i="1" dirty="0"/>
              <a:t> </a:t>
            </a:r>
            <a:r>
              <a:rPr lang="de-DE" sz="1200" i="1" dirty="0" err="1"/>
              <a:t>threshold</a:t>
            </a:r>
            <a:r>
              <a:rPr lang="de-DE" sz="1200" i="1" dirty="0"/>
              <a:t>.</a:t>
            </a:r>
            <a:endParaRPr sz="1200" i="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metadata/crs-* (AR, NLSR, SR, ST, CB, GSLC, INSAR, NRB, ORB, POL)</a:t>
            </a:r>
          </a:p>
        </p:txBody>
      </p:sp>
      <p:graphicFrame>
        <p:nvGraphicFramePr>
          <p:cNvPr id="3" name="Table 2"/>
          <p:cNvGraphicFramePr>
            <a:graphicFrameLocks noGrp="1"/>
          </p:cNvGraphicFramePr>
          <p:nvPr/>
        </p:nvGraphicFramePr>
        <p:xfrm>
          <a:off x="457200" y="1005840"/>
          <a:ext cx="11265408" cy="14478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Title</a:t>
                      </a:r>
                    </a:p>
                  </a:txBody>
                  <a:tcPr>
                    <a:solidFill>
                      <a:srgbClr val="000000"/>
                    </a:solidFill>
                  </a:tcPr>
                </a:tc>
                <a:tc>
                  <a:txBody>
                    <a:bodyPr/>
                    <a:lstStyle/>
                    <a:p>
                      <a:r>
                        <a:rPr sz="1100" b="1">
                          <a:solidFill>
                            <a:srgbClr val="FFFFFF"/>
                          </a:solidFill>
                        </a:rPr>
                        <a:t>Proposed Title</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p>
                      <a:r>
                        <a:rPr sz="1000" i="1">
                          <a:solidFill>
                            <a:srgbClr val="808080"/>
                          </a:solidFill>
                        </a:rPr>
                        <a:t>(baseline)</a:t>
                      </a:r>
                    </a:p>
                  </a:txBody>
                  <a:tcPr>
                    <a:solidFill>
                      <a:srgbClr val="FFFFFF"/>
                    </a:solidFill>
                  </a:tcPr>
                </a:tc>
                <a:tc>
                  <a:txBody>
                    <a:bodyPr/>
                    <a:lstStyle/>
                    <a:p>
                      <a:r>
                        <a:rPr sz="1000"/>
                        <a:t>Coordinate Reference System</a:t>
                      </a:r>
                    </a:p>
                  </a:txBody>
                  <a:tcPr>
                    <a:solidFill>
                      <a:srgbClr val="FFFFFF"/>
                    </a:solidFill>
                  </a:tcPr>
                </a:tc>
                <a:tc>
                  <a:txBody>
                    <a:bodyPr/>
                    <a:lstStyle/>
                    <a:p>
                      <a:r>
                        <a:rPr sz="1000" i="1" dirty="0">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NLSR, SR, ST</a:t>
                      </a:r>
                    </a:p>
                  </a:txBody>
                  <a:tcPr>
                    <a:solidFill>
                      <a:srgbClr val="F2F2F2"/>
                    </a:solidFill>
                  </a:tcPr>
                </a:tc>
                <a:tc>
                  <a:txBody>
                    <a:bodyPr/>
                    <a:lstStyle/>
                    <a:p>
                      <a:r>
                        <a:rPr sz="1000"/>
                        <a:t>Coordinate Reference System</a:t>
                      </a:r>
                    </a:p>
                  </a:txBody>
                  <a:tcPr>
                    <a:solidFill>
                      <a:srgbClr val="F2F2F2"/>
                    </a:solidFill>
                  </a:tcPr>
                </a:tc>
                <a:tc>
                  <a:txBody>
                    <a:bodyPr/>
                    <a:lstStyle/>
                    <a:p>
                      <a:r>
                        <a:rPr sz="1000" i="1" dirty="0">
                          <a:solidFill>
                            <a:srgbClr val="808080"/>
                          </a:solidFill>
                        </a:rPr>
                        <a:t>(keep as is)</a:t>
                      </a:r>
                    </a:p>
                  </a:txBody>
                  <a:tcPr>
                    <a:solidFill>
                      <a:srgbClr val="F2F2F2"/>
                    </a:solidFill>
                  </a:tcPr>
                </a:tc>
                <a:extLst>
                  <a:ext uri="{0D108BD9-81ED-4DB2-BD59-A6C34878D82A}">
                    <a16:rowId xmlns:a16="http://schemas.microsoft.com/office/drawing/2014/main" val="10002"/>
                  </a:ext>
                </a:extLst>
              </a:tr>
              <a:tr h="0">
                <a:tc>
                  <a:txBody>
                    <a:bodyPr/>
                    <a:lstStyle/>
                    <a:p>
                      <a:r>
                        <a:rPr sz="1000" b="1"/>
                        <a:t>CB, GSLC, INSAR, NRB, ORB, POL</a:t>
                      </a:r>
                    </a:p>
                  </a:txBody>
                  <a:tcPr>
                    <a:solidFill>
                      <a:srgbClr val="FFFFFF"/>
                    </a:solidFill>
                  </a:tcPr>
                </a:tc>
                <a:tc>
                  <a:txBody>
                    <a:bodyPr/>
                    <a:lstStyle/>
                    <a:p>
                      <a:r>
                        <a:rPr sz="1000" b="1">
                          <a:solidFill>
                            <a:srgbClr val="2E7D32"/>
                          </a:solidFill>
                        </a:rPr>
                        <a:t>Product </a:t>
                      </a:r>
                      <a:r>
                        <a:rPr sz="1000"/>
                        <a:t>Coordinate Reference System</a:t>
                      </a:r>
                    </a:p>
                  </a:txBody>
                  <a:tcPr>
                    <a:solidFill>
                      <a:srgbClr val="FFFFFF"/>
                    </a:solidFill>
                  </a:tcPr>
                </a:tc>
                <a:tc>
                  <a:txBody>
                    <a:bodyPr/>
                    <a:lstStyle/>
                    <a:p>
                      <a:r>
                        <a:rPr sz="1000" strike="sngStrike" dirty="0">
                          <a:solidFill>
                            <a:srgbClr val="B00000"/>
                          </a:solidFill>
                        </a:rPr>
                        <a:t>Product </a:t>
                      </a:r>
                      <a:r>
                        <a:rPr sz="1000" dirty="0"/>
                        <a:t>Coordinate Reference System</a:t>
                      </a:r>
                    </a:p>
                  </a:txBody>
                  <a:tcPr>
                    <a:solidFill>
                      <a:srgbClr val="FFFFFF"/>
                    </a:solidFill>
                  </a:tcPr>
                </a:tc>
                <a:extLst>
                  <a:ext uri="{0D108BD9-81ED-4DB2-BD59-A6C34878D82A}">
                    <a16:rowId xmlns:a16="http://schemas.microsoft.com/office/drawing/2014/main" val="10003"/>
                  </a:ext>
                </a:extLst>
              </a:tr>
            </a:tbl>
          </a:graphicData>
        </a:graphic>
      </p:graphicFrame>
      <p:graphicFrame>
        <p:nvGraphicFramePr>
          <p:cNvPr id="4" name="Table 3"/>
          <p:cNvGraphicFramePr>
            <a:graphicFrameLocks noGrp="1"/>
          </p:cNvGraphicFramePr>
          <p:nvPr/>
        </p:nvGraphicFramePr>
        <p:xfrm>
          <a:off x="457200" y="2834640"/>
          <a:ext cx="11265408" cy="17526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p>
                      <a:r>
                        <a:rPr sz="1000" i="1">
                          <a:solidFill>
                            <a:srgbClr val="808080"/>
                          </a:solidFill>
                        </a:rPr>
                        <a:t>(baseline)</a:t>
                      </a:r>
                    </a:p>
                  </a:txBody>
                  <a:tcPr>
                    <a:solidFill>
                      <a:srgbClr val="FFFFFF"/>
                    </a:solidFill>
                  </a:tcPr>
                </a:tc>
                <a:tc>
                  <a:txBody>
                    <a:bodyPr/>
                    <a:lstStyle/>
                    <a:p>
                      <a:r>
                        <a:rPr sz="1000"/>
                        <a:t>The coordinate reference system that has been used is detailed.</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NLSR, SR, ST</a:t>
                      </a:r>
                    </a:p>
                  </a:txBody>
                  <a:tcPr>
                    <a:solidFill>
                      <a:srgbClr val="F2F2F2"/>
                    </a:solidFill>
                  </a:tcPr>
                </a:tc>
                <a:tc>
                  <a:txBody>
                    <a:bodyPr/>
                    <a:lstStyle/>
                    <a:p>
                      <a:r>
                        <a:rPr sz="1000"/>
                        <a:t>T</a:t>
                      </a:r>
                      <a:r>
                        <a:rPr sz="1000" b="1">
                          <a:solidFill>
                            <a:srgbClr val="2E7D32"/>
                          </a:solidFill>
                        </a:rPr>
                        <a:t>he metadata lists t</a:t>
                      </a:r>
                      <a:r>
                        <a:rPr sz="1000"/>
                        <a:t>he coordinate reference system that has been used</a:t>
                      </a:r>
                      <a:r>
                        <a:rPr sz="1000" strike="sngStrike">
                          <a:solidFill>
                            <a:srgbClr val="B00000"/>
                          </a:solidFill>
                        </a:rPr>
                        <a:t> is detailed</a:t>
                      </a:r>
                      <a:r>
                        <a:rPr sz="1000"/>
                        <a:t>.</a:t>
                      </a:r>
                    </a:p>
                  </a:txBody>
                  <a:tcPr>
                    <a:solidFill>
                      <a:srgbClr val="F2F2F2"/>
                    </a:solidFill>
                  </a:tcPr>
                </a:tc>
                <a:tc>
                  <a:txBody>
                    <a:bodyPr/>
                    <a:lstStyle/>
                    <a:p>
                      <a:r>
                        <a:rPr sz="1000"/>
                        <a:t>T</a:t>
                      </a:r>
                      <a:r>
                        <a:rPr sz="1000" strike="sngStrike">
                          <a:solidFill>
                            <a:srgbClr val="B00000"/>
                          </a:solidFill>
                        </a:rPr>
                        <a:t>he metadata lists t</a:t>
                      </a:r>
                      <a:r>
                        <a:rPr sz="1000"/>
                        <a:t>he coordinate reference system that has been used</a:t>
                      </a:r>
                      <a:r>
                        <a:rPr sz="1000" b="1">
                          <a:solidFill>
                            <a:srgbClr val="2E7D32"/>
                          </a:solidFill>
                        </a:rPr>
                        <a:t> is detailed</a:t>
                      </a:r>
                      <a:r>
                        <a:rPr sz="1000"/>
                        <a:t>.</a:t>
                      </a:r>
                    </a:p>
                  </a:txBody>
                  <a:tcPr>
                    <a:solidFill>
                      <a:srgbClr val="F2F2F2"/>
                    </a:solidFill>
                  </a:tcPr>
                </a:tc>
                <a:extLst>
                  <a:ext uri="{0D108BD9-81ED-4DB2-BD59-A6C34878D82A}">
                    <a16:rowId xmlns:a16="http://schemas.microsoft.com/office/drawing/2014/main" val="10002"/>
                  </a:ext>
                </a:extLst>
              </a:tr>
              <a:tr h="0">
                <a:tc>
                  <a:txBody>
                    <a:bodyPr/>
                    <a:lstStyle/>
                    <a:p>
                      <a:r>
                        <a:rPr sz="1000" b="1"/>
                        <a:t>CB, GSLC, INSAR, NRB, ORB, POL</a:t>
                      </a:r>
                    </a:p>
                  </a:txBody>
                  <a:tcPr>
                    <a:solidFill>
                      <a:srgbClr val="FFFFFF"/>
                    </a:solidFill>
                  </a:tcPr>
                </a:tc>
                <a:tc>
                  <a:txBody>
                    <a:bodyPr/>
                    <a:lstStyle/>
                    <a:p>
                      <a:r>
                        <a:rPr sz="1000" dirty="0"/>
                        <a:t>The metadata lists the map projection (or geographical</a:t>
                      </a:r>
                      <a:r>
                        <a:rPr sz="1000" dirty="0">
                          <a:solidFill>
                            <a:srgbClr val="1565C0"/>
                          </a:solidFill>
                        </a:rPr>
                        <a:t> coordinate</a:t>
                      </a:r>
                      <a:r>
                        <a:rPr sz="1000" dirty="0"/>
                        <a:t>s, if applicable) that was used and any relevant parameters required to geolocate data in that map projection, expressed in a </a:t>
                      </a:r>
                      <a:r>
                        <a:rPr sz="1000" dirty="0" err="1"/>
                        <a:t>standardised</a:t>
                      </a:r>
                      <a:r>
                        <a:rPr sz="1000" dirty="0"/>
                        <a:t> format (e.g., WKT).</a:t>
                      </a:r>
                    </a:p>
                    <a:p>
                      <a:endParaRPr sz="1000" dirty="0"/>
                    </a:p>
                    <a:p>
                      <a:r>
                        <a:rPr sz="1000" dirty="0"/>
                        <a:t>Indicate EPSG code, if defined for the CRS.</a:t>
                      </a:r>
                    </a:p>
                  </a:txBody>
                  <a:tcPr>
                    <a:solidFill>
                      <a:srgbClr val="FFFFFF"/>
                    </a:solidFill>
                  </a:tcPr>
                </a:tc>
                <a:tc>
                  <a:txBody>
                    <a:bodyPr/>
                    <a:lstStyle/>
                    <a:p>
                      <a:r>
                        <a:rPr sz="1000" i="1" dirty="0">
                          <a:solidFill>
                            <a:srgbClr val="808080"/>
                          </a:solidFill>
                        </a:rPr>
                        <a:t>(keep as is)</a:t>
                      </a:r>
                    </a:p>
                  </a:txBody>
                  <a:tcP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57200" y="4882347"/>
            <a:ext cx="11277295" cy="369332"/>
          </a:xfrm>
          <a:prstGeom prst="rect">
            <a:avLst/>
          </a:prstGeom>
          <a:noFill/>
        </p:spPr>
        <p:txBody>
          <a:bodyPr wrap="square" lIns="0" tIns="0" rIns="0" bIns="0">
            <a:spAutoFit/>
          </a:bodyPr>
          <a:lstStyle/>
          <a:p>
            <a:r>
              <a:rPr sz="1200" b="1" dirty="0"/>
              <a:t>Internal notes: </a:t>
            </a:r>
            <a:r>
              <a:rPr sz="1200" i="1" dirty="0"/>
              <a:t>The SAR variant additionally requires a </a:t>
            </a:r>
            <a:r>
              <a:rPr sz="1200" i="1" dirty="0" err="1"/>
              <a:t>standardised</a:t>
            </a:r>
            <a:r>
              <a:rPr sz="1200" i="1" dirty="0"/>
              <a:t> format (e.g., WKT) and the EPSG code — consider adopting this for the optical PFS </a:t>
            </a:r>
            <a:r>
              <a:rPr lang="de-DE" sz="1200" i="1" dirty="0"/>
              <a:t>as </a:t>
            </a:r>
            <a:r>
              <a:rPr lang="de-DE" sz="1200" i="1" dirty="0" err="1"/>
              <a:t>well</a:t>
            </a:r>
            <a:r>
              <a:rPr lang="de-DE" sz="1200" i="1" dirty="0"/>
              <a:t>? This </a:t>
            </a:r>
            <a:r>
              <a:rPr lang="de-DE" sz="1200" i="1" dirty="0" err="1"/>
              <a:t>would</a:t>
            </a:r>
            <a:r>
              <a:rPr lang="de-DE" sz="1200" i="1" dirty="0"/>
              <a:t> remove the </a:t>
            </a:r>
            <a:r>
              <a:rPr lang="de-DE" sz="1200" i="1" dirty="0" err="1"/>
              <a:t>Map</a:t>
            </a:r>
            <a:r>
              <a:rPr lang="de-DE" sz="1200" i="1" dirty="0"/>
              <a:t> </a:t>
            </a:r>
            <a:r>
              <a:rPr lang="de-DE" sz="1200" i="1" dirty="0" err="1"/>
              <a:t>Projection</a:t>
            </a:r>
            <a:r>
              <a:rPr lang="de-DE" sz="1200" i="1" dirty="0"/>
              <a:t> </a:t>
            </a:r>
            <a:r>
              <a:rPr lang="de-DE" sz="1200" i="1" dirty="0" err="1"/>
              <a:t>requirement</a:t>
            </a:r>
            <a:r>
              <a:rPr lang="de-DE" sz="1200" i="1" dirty="0"/>
              <a:t> in Optical.</a:t>
            </a:r>
            <a:endParaRPr sz="1200" i="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Map Projection (AR, NLSR, SR, ST)</a:t>
            </a:r>
          </a:p>
        </p:txBody>
      </p:sp>
      <p:graphicFrame>
        <p:nvGraphicFramePr>
          <p:cNvPr id="3" name="Table 2"/>
          <p:cNvGraphicFramePr>
            <a:graphicFrameLocks noGrp="1"/>
          </p:cNvGraphicFramePr>
          <p:nvPr/>
        </p:nvGraphicFramePr>
        <p:xfrm>
          <a:off x="457200" y="1005840"/>
          <a:ext cx="11265408" cy="16002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 ST</a:t>
                      </a:r>
                    </a:p>
                    <a:p>
                      <a:r>
                        <a:rPr sz="1000" i="1">
                          <a:solidFill>
                            <a:srgbClr val="808080"/>
                          </a:solidFill>
                        </a:rPr>
                        <a:t>(baseline)</a:t>
                      </a:r>
                    </a:p>
                  </a:txBody>
                  <a:tcPr>
                    <a:solidFill>
                      <a:srgbClr val="FFFFFF"/>
                    </a:solidFill>
                  </a:tcPr>
                </a:tc>
                <a:tc>
                  <a:txBody>
                    <a:bodyPr/>
                    <a:lstStyle/>
                    <a:p>
                      <a:r>
                        <a:rPr sz="1000"/>
                        <a:t>The map projection that has been used and any relevant parameters required in relation to use of data in that map projection is detailed.</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NLSR</a:t>
                      </a:r>
                    </a:p>
                  </a:txBody>
                  <a:tcPr>
                    <a:solidFill>
                      <a:srgbClr val="F2F2F2"/>
                    </a:solidFill>
                  </a:tcPr>
                </a:tc>
                <a:tc>
                  <a:txBody>
                    <a:bodyPr/>
                    <a:lstStyle/>
                    <a:p>
                      <a:r>
                        <a:rPr sz="1000"/>
                        <a:t>T</a:t>
                      </a:r>
                      <a:r>
                        <a:rPr sz="1000" b="1">
                          <a:solidFill>
                            <a:srgbClr val="2E7D32"/>
                          </a:solidFill>
                        </a:rPr>
                        <a:t>he metadata lists t</a:t>
                      </a:r>
                      <a:r>
                        <a:rPr sz="1000"/>
                        <a:t>he map projection that has been used and any relevant parameters required in relation to use of data in that map projection</a:t>
                      </a:r>
                      <a:r>
                        <a:rPr sz="1000" strike="sngStrike">
                          <a:solidFill>
                            <a:srgbClr val="B00000"/>
                          </a:solidFill>
                        </a:rPr>
                        <a:t> is detailed</a:t>
                      </a:r>
                      <a:r>
                        <a:rPr sz="1000"/>
                        <a:t>.</a:t>
                      </a:r>
                    </a:p>
                  </a:txBody>
                  <a:tcPr>
                    <a:solidFill>
                      <a:srgbClr val="F2F2F2"/>
                    </a:solidFill>
                  </a:tcPr>
                </a:tc>
                <a:tc>
                  <a:txBody>
                    <a:bodyPr/>
                    <a:lstStyle/>
                    <a:p>
                      <a:r>
                        <a:rPr sz="1000"/>
                        <a:t>T</a:t>
                      </a:r>
                      <a:r>
                        <a:rPr sz="1000" strike="sngStrike">
                          <a:solidFill>
                            <a:srgbClr val="B00000"/>
                          </a:solidFill>
                        </a:rPr>
                        <a:t>he metadata lists t</a:t>
                      </a:r>
                      <a:r>
                        <a:rPr sz="1000"/>
                        <a:t>he map projection that has been used and any relevant parameters required in relation to use of data in that map projection</a:t>
                      </a:r>
                      <a:r>
                        <a:rPr sz="1000" b="1">
                          <a:solidFill>
                            <a:srgbClr val="2E7D32"/>
                          </a:solidFill>
                        </a:rPr>
                        <a:t> is detailed</a:t>
                      </a:r>
                      <a:r>
                        <a:rPr sz="1000"/>
                        <a:t>.</a:t>
                      </a:r>
                    </a:p>
                  </a:txBody>
                  <a:tcPr>
                    <a:solidFill>
                      <a:srgbClr val="F2F2F2"/>
                    </a:solidFill>
                  </a:tcPr>
                </a:tc>
                <a:extLst>
                  <a:ext uri="{0D108BD9-81ED-4DB2-BD59-A6C34878D82A}">
                    <a16:rowId xmlns:a16="http://schemas.microsoft.com/office/drawing/2014/main" val="10002"/>
                  </a:ext>
                </a:extLst>
              </a:tr>
              <a:tr h="0">
                <a:tc>
                  <a:txBody>
                    <a:bodyPr/>
                    <a:lstStyle/>
                    <a:p>
                      <a:r>
                        <a:rPr sz="1000" b="1"/>
                        <a:t>SR</a:t>
                      </a:r>
                    </a:p>
                  </a:txBody>
                  <a:tcPr>
                    <a:solidFill>
                      <a:srgbClr val="FFFFFF"/>
                    </a:solidFill>
                  </a:tcPr>
                </a:tc>
                <a:tc>
                  <a:txBody>
                    <a:bodyPr/>
                    <a:lstStyle/>
                    <a:p>
                      <a:r>
                        <a:rPr sz="1000"/>
                        <a:t>T</a:t>
                      </a:r>
                      <a:r>
                        <a:rPr sz="1000" b="1">
                          <a:solidFill>
                            <a:srgbClr val="2E7D32"/>
                          </a:solidFill>
                        </a:rPr>
                        <a:t>he metadata lists t</a:t>
                      </a:r>
                      <a:r>
                        <a:rPr sz="1000"/>
                        <a:t>he map projection that has been used</a:t>
                      </a:r>
                      <a:r>
                        <a:rPr sz="1000" b="1">
                          <a:solidFill>
                            <a:srgbClr val="2E7D32"/>
                          </a:solidFill>
                        </a:rPr>
                        <a:t> (or geographical coordinates, if applicable)</a:t>
                      </a:r>
                      <a:r>
                        <a:rPr sz="1000"/>
                        <a:t> and any relevant parameters required in relation to use of data in that map projection</a:t>
                      </a:r>
                      <a:r>
                        <a:rPr sz="1000" strike="sngStrike">
                          <a:solidFill>
                            <a:srgbClr val="B00000"/>
                          </a:solidFill>
                        </a:rPr>
                        <a:t> is detailed</a:t>
                      </a:r>
                      <a:r>
                        <a:rPr sz="1000"/>
                        <a:t>.</a:t>
                      </a:r>
                    </a:p>
                  </a:txBody>
                  <a:tcPr>
                    <a:solidFill>
                      <a:srgbClr val="FFFFFF"/>
                    </a:solidFill>
                  </a:tcPr>
                </a:tc>
                <a:tc>
                  <a:txBody>
                    <a:bodyPr/>
                    <a:lstStyle/>
                    <a:p>
                      <a:r>
                        <a:rPr sz="1000"/>
                        <a:t>T</a:t>
                      </a:r>
                      <a:r>
                        <a:rPr sz="1000" strike="sngStrike">
                          <a:solidFill>
                            <a:srgbClr val="B00000"/>
                          </a:solidFill>
                        </a:rPr>
                        <a:t>he metadata lists t</a:t>
                      </a:r>
                      <a:r>
                        <a:rPr sz="1000"/>
                        <a:t>he map projection that has been used</a:t>
                      </a:r>
                      <a:r>
                        <a:rPr sz="1000" strike="sngStrike">
                          <a:solidFill>
                            <a:srgbClr val="B00000"/>
                          </a:solidFill>
                        </a:rPr>
                        <a:t> (or geographical coordinates, if applicable)</a:t>
                      </a:r>
                      <a:r>
                        <a:rPr sz="1000"/>
                        <a:t> and any relevant parameters required in relation to use of data in that map projection</a:t>
                      </a:r>
                      <a:r>
                        <a:rPr sz="1000" b="1">
                          <a:solidFill>
                            <a:srgbClr val="2E7D32"/>
                          </a:solidFill>
                        </a:rPr>
                        <a:t> is detailed</a:t>
                      </a:r>
                      <a:r>
                        <a:rPr sz="1000"/>
                        <a:t>.</a:t>
                      </a:r>
                    </a:p>
                  </a:txBody>
                  <a:tcPr>
                    <a:solidFill>
                      <a:srgbClr val="FFFFFF"/>
                    </a:solidFill>
                  </a:tcPr>
                </a:tc>
                <a:extLst>
                  <a:ext uri="{0D108BD9-81ED-4DB2-BD59-A6C34878D82A}">
                    <a16:rowId xmlns:a16="http://schemas.microsoft.com/office/drawing/2014/main" val="10003"/>
                  </a:ext>
                </a:extLst>
              </a:tr>
            </a:tbl>
          </a:graphicData>
        </a:graphic>
      </p:graphicFrame>
      <p:sp>
        <p:nvSpPr>
          <p:cNvPr id="4" name="TextBox 3"/>
          <p:cNvSpPr txBox="1"/>
          <p:nvPr/>
        </p:nvSpPr>
        <p:spPr>
          <a:xfrm>
            <a:off x="457200" y="3017154"/>
            <a:ext cx="11277295" cy="184666"/>
          </a:xfrm>
          <a:prstGeom prst="rect">
            <a:avLst/>
          </a:prstGeom>
          <a:noFill/>
        </p:spPr>
        <p:txBody>
          <a:bodyPr wrap="square" lIns="0" tIns="0" rIns="0" bIns="0">
            <a:spAutoFit/>
          </a:bodyPr>
          <a:lstStyle/>
          <a:p>
            <a:r>
              <a:rPr sz="1200" b="1" dirty="0"/>
              <a:t>Internal notes: </a:t>
            </a:r>
            <a:r>
              <a:rPr lang="de-DE" sz="1200" i="1" dirty="0"/>
              <a:t>Remove </a:t>
            </a:r>
            <a:r>
              <a:rPr lang="de-DE" sz="1200" i="1" dirty="0" err="1"/>
              <a:t>requirement</a:t>
            </a:r>
            <a:r>
              <a:rPr lang="de-DE" sz="1200" i="1" dirty="0"/>
              <a:t> and merge it </a:t>
            </a:r>
            <a:r>
              <a:rPr lang="de-DE" sz="1200" i="1" dirty="0" err="1"/>
              <a:t>with</a:t>
            </a:r>
            <a:r>
              <a:rPr lang="de-DE" sz="1200" i="1" dirty="0"/>
              <a:t> the CRS </a:t>
            </a:r>
            <a:r>
              <a:rPr lang="de-DE" sz="1200" i="1" dirty="0" err="1"/>
              <a:t>requirement</a:t>
            </a:r>
            <a:r>
              <a:rPr lang="de-DE" sz="1200" i="1" dirty="0"/>
              <a:t>?</a:t>
            </a:r>
            <a:endParaRPr sz="1200" i="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metadata/data-access-* (AR, NLSR, SR, ST, CB, GSLC, INSAR, NRB, ORB, POL)</a:t>
            </a:r>
          </a:p>
        </p:txBody>
      </p:sp>
      <p:graphicFrame>
        <p:nvGraphicFramePr>
          <p:cNvPr id="3" name="Table 2"/>
          <p:cNvGraphicFramePr>
            <a:graphicFrameLocks noGrp="1"/>
          </p:cNvGraphicFramePr>
          <p:nvPr/>
        </p:nvGraphicFramePr>
        <p:xfrm>
          <a:off x="457200" y="1005840"/>
          <a:ext cx="11265408" cy="19050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Title</a:t>
                      </a:r>
                    </a:p>
                  </a:txBody>
                  <a:tcPr>
                    <a:solidFill>
                      <a:srgbClr val="000000"/>
                    </a:solidFill>
                  </a:tcPr>
                </a:tc>
                <a:tc>
                  <a:txBody>
                    <a:bodyPr/>
                    <a:lstStyle/>
                    <a:p>
                      <a:r>
                        <a:rPr sz="1100" b="1">
                          <a:solidFill>
                            <a:srgbClr val="FFFFFF"/>
                          </a:solidFill>
                        </a:rPr>
                        <a:t>Proposed Title</a:t>
                      </a:r>
                    </a:p>
                  </a:txBody>
                  <a:tcPr>
                    <a:solidFill>
                      <a:srgbClr val="000000"/>
                    </a:solidFill>
                  </a:tcPr>
                </a:tc>
                <a:extLst>
                  <a:ext uri="{0D108BD9-81ED-4DB2-BD59-A6C34878D82A}">
                    <a16:rowId xmlns:a16="http://schemas.microsoft.com/office/drawing/2014/main" val="10000"/>
                  </a:ext>
                </a:extLst>
              </a:tr>
              <a:tr h="0">
                <a:tc>
                  <a:txBody>
                    <a:bodyPr/>
                    <a:lstStyle/>
                    <a:p>
                      <a:r>
                        <a:rPr sz="1000" b="1"/>
                        <a:t>AR, NLSR, SR, ST</a:t>
                      </a:r>
                    </a:p>
                    <a:p>
                      <a:r>
                        <a:rPr sz="1000" i="1">
                          <a:solidFill>
                            <a:srgbClr val="808080"/>
                          </a:solidFill>
                        </a:rPr>
                        <a:t>(baseline)</a:t>
                      </a:r>
                    </a:p>
                  </a:txBody>
                  <a:tcPr>
                    <a:solidFill>
                      <a:srgbClr val="FFFFFF"/>
                    </a:solidFill>
                  </a:tcPr>
                </a:tc>
                <a:tc>
                  <a:txBody>
                    <a:bodyPr/>
                    <a:lstStyle/>
                    <a:p>
                      <a:r>
                        <a:rPr sz="1000"/>
                        <a:t>Data Access</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CB, GSLC, INSAR, NRB, ORB, POL</a:t>
                      </a:r>
                    </a:p>
                  </a:txBody>
                  <a:tcPr>
                    <a:solidFill>
                      <a:srgbClr val="F2F2F2"/>
                    </a:solidFill>
                  </a:tcPr>
                </a:tc>
                <a:tc>
                  <a:txBody>
                    <a:bodyPr/>
                    <a:lstStyle/>
                    <a:p>
                      <a:r>
                        <a:rPr sz="1000" b="1" dirty="0">
                          <a:solidFill>
                            <a:srgbClr val="2E7D32"/>
                          </a:solidFill>
                        </a:rPr>
                        <a:t>Product </a:t>
                      </a:r>
                      <a:r>
                        <a:rPr sz="1000" dirty="0"/>
                        <a:t>Data Access</a:t>
                      </a:r>
                    </a:p>
                  </a:txBody>
                  <a:tcPr>
                    <a:solidFill>
                      <a:srgbClr val="F2F2F2"/>
                    </a:solidFill>
                  </a:tcPr>
                </a:tc>
                <a:tc>
                  <a:txBody>
                    <a:bodyPr/>
                    <a:lstStyle/>
                    <a:p>
                      <a:r>
                        <a:rPr sz="1000" strike="sngStrike">
                          <a:solidFill>
                            <a:srgbClr val="B00000"/>
                          </a:solidFill>
                        </a:rPr>
                        <a:t>Product </a:t>
                      </a:r>
                      <a:r>
                        <a:rPr sz="1000"/>
                        <a:t>Data Access</a:t>
                      </a:r>
                    </a:p>
                  </a:txBody>
                  <a:tcPr>
                    <a:solidFill>
                      <a:srgbClr val="F2F2F2"/>
                    </a:solidFill>
                  </a:tcPr>
                </a:tc>
                <a:extLst>
                  <a:ext uri="{0D108BD9-81ED-4DB2-BD59-A6C34878D82A}">
                    <a16:rowId xmlns:a16="http://schemas.microsoft.com/office/drawing/2014/main" val="10002"/>
                  </a:ext>
                </a:extLst>
              </a:tr>
              <a:tr h="0">
                <a:tc>
                  <a:txBody>
                    <a:bodyPr/>
                    <a:lstStyle/>
                    <a:p>
                      <a:r>
                        <a:rPr sz="1000" b="1"/>
                        <a:t>CB, GSLC, INSAR, NRB, ORB, POL</a:t>
                      </a:r>
                    </a:p>
                  </a:txBody>
                  <a:tcPr>
                    <a:solidFill>
                      <a:srgbClr val="FFFFFF"/>
                    </a:solidFill>
                  </a:tcPr>
                </a:tc>
                <a:tc>
                  <a:txBody>
                    <a:bodyPr/>
                    <a:lstStyle/>
                    <a:p>
                      <a:r>
                        <a:rPr sz="1000" b="1">
                          <a:solidFill>
                            <a:srgbClr val="2E7D32"/>
                          </a:solidFill>
                        </a:rPr>
                        <a:t>Source </a:t>
                      </a:r>
                      <a:r>
                        <a:rPr sz="1000"/>
                        <a:t>Data Access</a:t>
                      </a:r>
                    </a:p>
                  </a:txBody>
                  <a:tcPr>
                    <a:solidFill>
                      <a:srgbClr val="FFFFFF"/>
                    </a:solidFill>
                  </a:tcPr>
                </a:tc>
                <a:tc>
                  <a:txBody>
                    <a:bodyPr/>
                    <a:lstStyle/>
                    <a:p>
                      <a:r>
                        <a:rPr sz="1000" strike="sngStrike" dirty="0">
                          <a:solidFill>
                            <a:srgbClr val="B00000"/>
                          </a:solidFill>
                        </a:rPr>
                        <a:t>Source </a:t>
                      </a:r>
                      <a:r>
                        <a:rPr sz="1000" dirty="0"/>
                        <a:t>Data Access</a:t>
                      </a:r>
                    </a:p>
                  </a:txBody>
                  <a:tcPr>
                    <a:solidFill>
                      <a:srgbClr val="FFFFFF"/>
                    </a:solidFill>
                  </a:tcPr>
                </a:tc>
                <a:extLst>
                  <a:ext uri="{0D108BD9-81ED-4DB2-BD59-A6C34878D82A}">
                    <a16:rowId xmlns:a16="http://schemas.microsoft.com/office/drawing/2014/main" val="10003"/>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1693305047"/>
              </p:ext>
            </p:extLst>
          </p:nvPr>
        </p:nvGraphicFramePr>
        <p:xfrm>
          <a:off x="457200" y="3300984"/>
          <a:ext cx="11265408" cy="31242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 NLSR, SR, ST</a:t>
                      </a:r>
                    </a:p>
                    <a:p>
                      <a:r>
                        <a:rPr sz="1000" i="1">
                          <a:solidFill>
                            <a:srgbClr val="808080"/>
                          </a:solidFill>
                        </a:rPr>
                        <a:t>(baseline)</a:t>
                      </a:r>
                    </a:p>
                  </a:txBody>
                  <a:tcPr>
                    <a:solidFill>
                      <a:srgbClr val="FFFFFF"/>
                    </a:solidFill>
                  </a:tcPr>
                </a:tc>
                <a:tc>
                  <a:txBody>
                    <a:bodyPr/>
                    <a:lstStyle/>
                    <a:p>
                      <a:r>
                        <a:rPr sz="1000"/>
                        <a:t>Information on data access should be available in the metadata as a single DOI landing page.</a:t>
                      </a:r>
                    </a:p>
                  </a:txBody>
                  <a:tcPr>
                    <a:solidFill>
                      <a:srgbClr val="FFFFFF"/>
                    </a:solidFill>
                  </a:tcPr>
                </a:tc>
                <a:tc>
                  <a:txBody>
                    <a:bodyPr/>
                    <a:lstStyle/>
                    <a:p>
                      <a:r>
                        <a:rPr sz="1000" dirty="0"/>
                        <a:t>The location from where the </a:t>
                      </a:r>
                      <a:r>
                        <a:rPr lang="de-DE" sz="1000" dirty="0" err="1"/>
                        <a:t>data</a:t>
                      </a:r>
                      <a:r>
                        <a:rPr sz="1000" dirty="0"/>
                        <a:t> can be retrieved is identified, expressed as a URL or DOI.</a:t>
                      </a:r>
                    </a:p>
                  </a:txBody>
                  <a:tcPr>
                    <a:solidFill>
                      <a:srgbClr val="FFFFFF"/>
                    </a:solidFill>
                  </a:tcPr>
                </a:tc>
                <a:extLst>
                  <a:ext uri="{0D108BD9-81ED-4DB2-BD59-A6C34878D82A}">
                    <a16:rowId xmlns:a16="http://schemas.microsoft.com/office/drawing/2014/main" val="10001"/>
                  </a:ext>
                </a:extLst>
              </a:tr>
              <a:tr h="0">
                <a:tc>
                  <a:txBody>
                    <a:bodyPr/>
                    <a:lstStyle/>
                    <a:p>
                      <a:r>
                        <a:rPr sz="1000" b="1"/>
                        <a:t>CB, GSLC, INSAR, NRB, ORB, POL</a:t>
                      </a:r>
                    </a:p>
                  </a:txBody>
                  <a:tcPr>
                    <a:solidFill>
                      <a:srgbClr val="F2F2F2"/>
                    </a:solidFill>
                  </a:tcPr>
                </a:tc>
                <a:tc>
                  <a:txBody>
                    <a:bodyPr/>
                    <a:lstStyle/>
                    <a:p>
                      <a:r>
                        <a:rPr sz="1000" dirty="0"/>
                        <a:t>Processing parameters details of the CEOS-ARD product:</a:t>
                      </a:r>
                    </a:p>
                    <a:p>
                      <a:endParaRPr sz="1000" dirty="0"/>
                    </a:p>
                    <a:p>
                      <a:r>
                        <a:rPr sz="1000" dirty="0"/>
                        <a:t>- Processing facility</a:t>
                      </a:r>
                    </a:p>
                    <a:p>
                      <a:r>
                        <a:rPr sz="1000" dirty="0"/>
                        <a:t>- Processing date</a:t>
                      </a:r>
                    </a:p>
                    <a:p>
                      <a:r>
                        <a:rPr sz="1000" dirty="0"/>
                        <a:t>- Software version</a:t>
                      </a:r>
                    </a:p>
                    <a:p>
                      <a:r>
                        <a:rPr sz="1000" dirty="0"/>
                        <a:t>- Location from where CEOS-ARD product can be retrieved, expressed as a URL or DOI.</a:t>
                      </a:r>
                    </a:p>
                  </a:txBody>
                  <a:tcPr>
                    <a:solidFill>
                      <a:srgbClr val="F2F2F2"/>
                    </a:solidFill>
                  </a:tcPr>
                </a:tc>
                <a:tc>
                  <a:txBody>
                    <a:bodyPr/>
                    <a:lstStyle/>
                    <a:p>
                      <a:r>
                        <a:rPr lang="de-DE" sz="1000" i="1" dirty="0">
                          <a:solidFill>
                            <a:srgbClr val="808080"/>
                          </a:solidFill>
                        </a:rPr>
                        <a:t>Split </a:t>
                      </a:r>
                      <a:r>
                        <a:rPr lang="de-DE" sz="1000" i="1" dirty="0" err="1">
                          <a:solidFill>
                            <a:srgbClr val="808080"/>
                          </a:solidFill>
                        </a:rPr>
                        <a:t>into</a:t>
                      </a:r>
                      <a:r>
                        <a:rPr lang="de-DE" sz="1000" i="1" dirty="0">
                          <a:solidFill>
                            <a:srgbClr val="808080"/>
                          </a:solidFill>
                        </a:rPr>
                        <a:t> separate </a:t>
                      </a:r>
                      <a:r>
                        <a:rPr lang="de-DE" sz="1000" i="1" dirty="0" err="1">
                          <a:solidFill>
                            <a:srgbClr val="808080"/>
                          </a:solidFill>
                        </a:rPr>
                        <a:t>requirements</a:t>
                      </a:r>
                      <a:r>
                        <a:rPr lang="de-DE" sz="1000" i="1" dirty="0">
                          <a:solidFill>
                            <a:srgbClr val="808080"/>
                          </a:solidFill>
                        </a:rPr>
                        <a:t>. Oine for </a:t>
                      </a:r>
                      <a:r>
                        <a:rPr lang="de-DE" sz="1000" i="1" dirty="0" err="1">
                          <a:solidFill>
                            <a:srgbClr val="808080"/>
                          </a:solidFill>
                        </a:rPr>
                        <a:t>data</a:t>
                      </a:r>
                      <a:r>
                        <a:rPr lang="de-DE" sz="1000" i="1" dirty="0">
                          <a:solidFill>
                            <a:srgbClr val="808080"/>
                          </a:solidFill>
                        </a:rPr>
                        <a:t> </a:t>
                      </a:r>
                      <a:r>
                        <a:rPr lang="de-DE" sz="1000" i="1" dirty="0" err="1">
                          <a:solidFill>
                            <a:srgbClr val="808080"/>
                          </a:solidFill>
                        </a:rPr>
                        <a:t>access</a:t>
                      </a:r>
                      <a:r>
                        <a:rPr lang="de-DE" sz="1000" i="1" dirty="0">
                          <a:solidFill>
                            <a:srgbClr val="808080"/>
                          </a:solidFill>
                        </a:rPr>
                        <a:t>, </a:t>
                      </a:r>
                      <a:r>
                        <a:rPr lang="de-DE" sz="1000" i="1" dirty="0" err="1">
                          <a:solidFill>
                            <a:srgbClr val="808080"/>
                          </a:solidFill>
                        </a:rPr>
                        <a:t>one</a:t>
                      </a:r>
                      <a:r>
                        <a:rPr lang="de-DE" sz="1000" i="1" dirty="0">
                          <a:solidFill>
                            <a:srgbClr val="808080"/>
                          </a:solidFill>
                        </a:rPr>
                        <a:t> for the </a:t>
                      </a:r>
                      <a:r>
                        <a:rPr lang="de-DE" sz="1000" i="1" dirty="0" err="1">
                          <a:solidFill>
                            <a:srgbClr val="808080"/>
                          </a:solidFill>
                        </a:rPr>
                        <a:t>processing</a:t>
                      </a:r>
                      <a:r>
                        <a:rPr lang="de-DE" sz="1000" i="1" dirty="0">
                          <a:solidFill>
                            <a:srgbClr val="808080"/>
                          </a:solidFill>
                        </a:rPr>
                        <a:t> </a:t>
                      </a:r>
                      <a:r>
                        <a:rPr lang="de-DE" sz="1000" i="1" dirty="0" err="1">
                          <a:solidFill>
                            <a:srgbClr val="808080"/>
                          </a:solidFill>
                        </a:rPr>
                        <a:t>details</a:t>
                      </a:r>
                      <a:r>
                        <a:rPr lang="de-DE" sz="1000" i="1" dirty="0">
                          <a:solidFill>
                            <a:srgbClr val="808080"/>
                          </a:solidFill>
                        </a:rPr>
                        <a:t>.</a:t>
                      </a:r>
                      <a:br>
                        <a:rPr lang="de-DE" sz="1000" i="1" dirty="0">
                          <a:solidFill>
                            <a:srgbClr val="808080"/>
                          </a:solidFill>
                        </a:rPr>
                      </a:br>
                      <a:br>
                        <a:rPr lang="de-DE" sz="1000" i="1" dirty="0">
                          <a:solidFill>
                            <a:srgbClr val="808080"/>
                          </a:solidFill>
                        </a:rPr>
                      </a:br>
                      <a:r>
                        <a:rPr lang="en-US" sz="1000" dirty="0"/>
                        <a:t>The location from where the data can be retrieved is identified, expressed as a URL or DOI.</a:t>
                      </a:r>
                      <a:br>
                        <a:rPr lang="en-US" sz="1000" dirty="0"/>
                      </a:br>
                      <a:br>
                        <a:rPr lang="en-US" sz="1000" dirty="0"/>
                      </a:br>
                      <a:r>
                        <a:rPr lang="en-US" sz="1000" dirty="0"/>
                        <a:t>a</a:t>
                      </a:r>
                      <a:r>
                        <a:rPr lang="en-US" sz="1000" b="1" dirty="0"/>
                        <a:t>nd</a:t>
                      </a:r>
                      <a:br>
                        <a:rPr lang="en-US" sz="1000" dirty="0"/>
                      </a:br>
                      <a:br>
                        <a:rPr lang="en-US" sz="1000" dirty="0"/>
                      </a:br>
                      <a:r>
                        <a:rPr lang="en-US" sz="1000" dirty="0"/>
                        <a:t>Processing parameters details of the CEOS-ARD product:</a:t>
                      </a:r>
                    </a:p>
                    <a:p>
                      <a:endParaRPr lang="en-US" sz="1000" dirty="0"/>
                    </a:p>
                    <a:p>
                      <a:r>
                        <a:rPr lang="en-US" sz="1000" dirty="0"/>
                        <a:t>- Processing facility</a:t>
                      </a:r>
                    </a:p>
                    <a:p>
                      <a:r>
                        <a:rPr lang="en-US" sz="1000" dirty="0"/>
                        <a:t>- Processing date</a:t>
                      </a:r>
                    </a:p>
                    <a:p>
                      <a:r>
                        <a:rPr lang="en-US" sz="1000" dirty="0"/>
                        <a:t>- Software version</a:t>
                      </a:r>
                    </a:p>
                  </a:txBody>
                  <a:tcPr>
                    <a:solidFill>
                      <a:srgbClr val="F2F2F2"/>
                    </a:solidFill>
                  </a:tcPr>
                </a:tc>
                <a:extLst>
                  <a:ext uri="{0D108BD9-81ED-4DB2-BD59-A6C34878D82A}">
                    <a16:rowId xmlns:a16="http://schemas.microsoft.com/office/drawing/2014/main" val="10002"/>
                  </a:ext>
                </a:extLst>
              </a:tr>
              <a:tr h="0">
                <a:tc>
                  <a:txBody>
                    <a:bodyPr/>
                    <a:lstStyle/>
                    <a:p>
                      <a:r>
                        <a:rPr sz="1000" b="1"/>
                        <a:t>CB, GSLC, INSAR, NRB, ORB, POL</a:t>
                      </a:r>
                    </a:p>
                  </a:txBody>
                  <a:tcPr>
                    <a:solidFill>
                      <a:srgbClr val="FFFFFF"/>
                    </a:solidFill>
                  </a:tcPr>
                </a:tc>
                <a:tc>
                  <a:txBody>
                    <a:bodyPr/>
                    <a:lstStyle/>
                    <a:p>
                      <a:r>
                        <a:rPr sz="1000" dirty="0"/>
                        <a:t>T</a:t>
                      </a:r>
                      <a:r>
                        <a:rPr sz="1000" dirty="0">
                          <a:solidFill>
                            <a:srgbClr val="1565C0"/>
                          </a:solidFill>
                        </a:rPr>
                        <a:t>he metadata </a:t>
                      </a:r>
                      <a:r>
                        <a:rPr sz="1000" dirty="0"/>
                        <a:t>identifies the location from where the source data can be retrieved, expressed as a URL or DOI.</a:t>
                      </a:r>
                    </a:p>
                  </a:txBody>
                  <a:tcPr>
                    <a:solidFill>
                      <a:srgbClr val="FFFFFF"/>
                    </a:solidFill>
                  </a:tcPr>
                </a:tc>
                <a:tc>
                  <a:txBody>
                    <a:bodyPr/>
                    <a:lstStyle/>
                    <a:p>
                      <a:r>
                        <a:rPr lang="en-US" sz="1000" dirty="0"/>
                        <a:t>The location from where the data can be retrieved is identified, expressed as a URL or DOI.</a:t>
                      </a:r>
                    </a:p>
                  </a:txBody>
                  <a:tcP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461665"/>
          </a:xfrm>
          <a:prstGeom prst="rect">
            <a:avLst/>
          </a:prstGeom>
          <a:noFill/>
        </p:spPr>
        <p:txBody>
          <a:bodyPr wrap="square">
            <a:spAutoFit/>
          </a:bodyPr>
          <a:lstStyle/>
          <a:p>
            <a:r>
              <a:rPr sz="2400" dirty="0"/>
              <a:t>metadata/data-access-* (AR, NLSR, SR, ST, CB, GSLC, INSAR, NRB, ORB, POL) (cont.)</a:t>
            </a:r>
          </a:p>
        </p:txBody>
      </p:sp>
      <p:graphicFrame>
        <p:nvGraphicFramePr>
          <p:cNvPr id="3" name="Table 2"/>
          <p:cNvGraphicFramePr>
            <a:graphicFrameLocks noGrp="1"/>
          </p:cNvGraphicFramePr>
          <p:nvPr>
            <p:extLst>
              <p:ext uri="{D42A27DB-BD31-4B8C-83A1-F6EECF244321}">
                <p14:modId xmlns:p14="http://schemas.microsoft.com/office/powerpoint/2010/main" val="3387621160"/>
              </p:ext>
            </p:extLst>
          </p:nvPr>
        </p:nvGraphicFramePr>
        <p:xfrm>
          <a:off x="457200" y="1005840"/>
          <a:ext cx="11265408" cy="19050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Notes</a:t>
                      </a:r>
                    </a:p>
                  </a:txBody>
                  <a:tcPr>
                    <a:solidFill>
                      <a:srgbClr val="000000"/>
                    </a:solidFill>
                  </a:tcPr>
                </a:tc>
                <a:tc>
                  <a:txBody>
                    <a:bodyPr/>
                    <a:lstStyle/>
                    <a:p>
                      <a:r>
                        <a:rPr sz="1100" b="1">
                          <a:solidFill>
                            <a:srgbClr val="FFFFFF"/>
                          </a:solidFill>
                        </a:rPr>
                        <a:t>Proposed Threshold Notes</a:t>
                      </a:r>
                    </a:p>
                  </a:txBody>
                  <a:tcPr>
                    <a:solidFill>
                      <a:srgbClr val="000000"/>
                    </a:solidFill>
                  </a:tcPr>
                </a:tc>
                <a:extLst>
                  <a:ext uri="{0D108BD9-81ED-4DB2-BD59-A6C34878D82A}">
                    <a16:rowId xmlns:a16="http://schemas.microsoft.com/office/drawing/2014/main" val="10000"/>
                  </a:ext>
                </a:extLst>
              </a:tr>
              <a:tr h="0">
                <a:tc>
                  <a:txBody>
                    <a:bodyPr/>
                    <a:lstStyle/>
                    <a:p>
                      <a:r>
                        <a:rPr sz="1000" b="1"/>
                        <a:t>AR, NLSR, SR, ST</a:t>
                      </a:r>
                    </a:p>
                    <a:p>
                      <a:r>
                        <a:rPr sz="1000" i="1">
                          <a:solidFill>
                            <a:srgbClr val="808080"/>
                          </a:solidFill>
                        </a:rPr>
                        <a:t>(baseline)</a:t>
                      </a:r>
                    </a:p>
                  </a:txBody>
                  <a:tcPr>
                    <a:solidFill>
                      <a:srgbClr val="FFFFFF"/>
                    </a:solidFill>
                  </a:tcPr>
                </a:tc>
                <a:tc>
                  <a:txBody>
                    <a:bodyPr/>
                    <a:lstStyle/>
                    <a:p>
                      <a:r>
                        <a:rPr sz="1000" dirty="0"/>
                        <a:t>Manual and offline interaction action (e.g., login) may be required.</a:t>
                      </a:r>
                    </a:p>
                  </a:txBody>
                  <a:tcPr>
                    <a:solidFill>
                      <a:srgbClr val="FFFFFF"/>
                    </a:solidFill>
                  </a:tcPr>
                </a:tc>
                <a:tc>
                  <a:txBody>
                    <a:bodyPr/>
                    <a:lstStyle/>
                    <a:p>
                      <a:r>
                        <a:rPr sz="1000" i="1" dirty="0">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CB, GSLC, INSAR, NRB, ORB, POL</a:t>
                      </a:r>
                    </a:p>
                  </a:txBody>
                  <a:tcPr>
                    <a:solidFill>
                      <a:srgbClr val="F2F2F2"/>
                    </a:solidFill>
                  </a:tcPr>
                </a:tc>
                <a:tc>
                  <a:txBody>
                    <a:bodyPr/>
                    <a:lstStyle/>
                    <a:p>
                      <a:r>
                        <a:rPr sz="1000" dirty="0"/>
                        <a:t>(no notes)</a:t>
                      </a:r>
                    </a:p>
                  </a:txBody>
                  <a:tcPr>
                    <a:solidFill>
                      <a:srgbClr val="F2F2F2"/>
                    </a:solidFill>
                  </a:tcPr>
                </a:tc>
                <a:tc>
                  <a:txBody>
                    <a:bodyPr/>
                    <a:lstStyle/>
                    <a:p>
                      <a:pPr marL="0" algn="l" defTabSz="457200" rtl="0" eaLnBrk="1" latinLnBrk="0" hangingPunct="1"/>
                      <a:r>
                        <a:rPr lang="en-US" sz="1000" b="1" kern="1200" dirty="0">
                          <a:solidFill>
                            <a:srgbClr val="2E7D32"/>
                          </a:solidFill>
                          <a:latin typeface="+mn-lt"/>
                          <a:ea typeface="+mn-ea"/>
                          <a:cs typeface="+mn-cs"/>
                        </a:rPr>
                        <a:t>Manual and offline interaction action (e.g., login) may be required.</a:t>
                      </a:r>
                    </a:p>
                  </a:txBody>
                  <a:tcPr>
                    <a:solidFill>
                      <a:srgbClr val="F2F2F2"/>
                    </a:solidFill>
                  </a:tcPr>
                </a:tc>
                <a:extLst>
                  <a:ext uri="{0D108BD9-81ED-4DB2-BD59-A6C34878D82A}">
                    <a16:rowId xmlns:a16="http://schemas.microsoft.com/office/drawing/2014/main" val="10002"/>
                  </a:ext>
                </a:extLst>
              </a:tr>
              <a:tr h="0">
                <a:tc>
                  <a:txBody>
                    <a:bodyPr/>
                    <a:lstStyle/>
                    <a:p>
                      <a:r>
                        <a:rPr sz="1000" b="1"/>
                        <a:t>CB, GSLC, INSAR, NRB, ORB, POL</a:t>
                      </a:r>
                    </a:p>
                  </a:txBody>
                  <a:tcPr>
                    <a:solidFill>
                      <a:srgbClr val="FFFFFF"/>
                    </a:solidFill>
                  </a:tcPr>
                </a:tc>
                <a:tc>
                  <a:txBody>
                    <a:bodyPr/>
                    <a:lstStyle/>
                    <a:p>
                      <a:r>
                        <a:rPr sz="1000" dirty="0"/>
                        <a:t>(no notes)</a:t>
                      </a:r>
                    </a:p>
                  </a:txBody>
                  <a:tcPr>
                    <a:solidFill>
                      <a:srgbClr val="FFFFFF"/>
                    </a:solidFill>
                  </a:tcPr>
                </a:tc>
                <a:tc>
                  <a:txBody>
                    <a:bodyPr/>
                    <a:lstStyle/>
                    <a:p>
                      <a:pPr marL="0" algn="l" defTabSz="457200" rtl="0" eaLnBrk="1" latinLnBrk="0" hangingPunct="1"/>
                      <a:r>
                        <a:rPr lang="en-US" sz="1000" b="1" kern="1200" dirty="0">
                          <a:solidFill>
                            <a:srgbClr val="2E7D32"/>
                          </a:solidFill>
                          <a:latin typeface="+mn-lt"/>
                          <a:ea typeface="+mn-ea"/>
                          <a:cs typeface="+mn-cs"/>
                        </a:rPr>
                        <a:t>Manual and offline interaction action (e.g., login) may be required.</a:t>
                      </a:r>
                    </a:p>
                  </a:txBody>
                  <a:tcPr>
                    <a:solidFill>
                      <a:srgbClr val="FFFFFF"/>
                    </a:solidFill>
                  </a:tcPr>
                </a:tc>
                <a:extLst>
                  <a:ext uri="{0D108BD9-81ED-4DB2-BD59-A6C34878D82A}">
                    <a16:rowId xmlns:a16="http://schemas.microsoft.com/office/drawing/2014/main" val="10003"/>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749314133"/>
              </p:ext>
            </p:extLst>
          </p:nvPr>
        </p:nvGraphicFramePr>
        <p:xfrm>
          <a:off x="457200" y="3300984"/>
          <a:ext cx="11265408" cy="19050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 NLSR, SR, ST</a:t>
                      </a:r>
                    </a:p>
                  </a:txBody>
                  <a:tcPr>
                    <a:solidFill>
                      <a:srgbClr val="FFFFFF"/>
                    </a:solidFill>
                  </a:tcPr>
                </a:tc>
                <a:tc>
                  <a:txBody>
                    <a:bodyPr/>
                    <a:lstStyle/>
                    <a:p>
                      <a:r>
                        <a:rPr sz="1000" dirty="0"/>
                        <a:t>(not set)</a:t>
                      </a:r>
                    </a:p>
                  </a:txBody>
                  <a:tcPr>
                    <a:solidFill>
                      <a:srgbClr val="FFFFFF"/>
                    </a:solidFill>
                  </a:tcPr>
                </a:tc>
                <a:tc>
                  <a:txBody>
                    <a:bodyPr/>
                    <a:lstStyle/>
                    <a:p>
                      <a:r>
                        <a:rPr sz="1000" b="1" dirty="0">
                          <a:solidFill>
                            <a:srgbClr val="2E7D32"/>
                          </a:solidFill>
                        </a:rPr>
                        <a:t>An online location is identified from where the data can be consistently and reliably retrieved by a computer algorithm without any manual intervention being required.</a:t>
                      </a:r>
                    </a:p>
                  </a:txBody>
                  <a:tcPr>
                    <a:solidFill>
                      <a:srgbClr val="FFFFFF"/>
                    </a:solidFill>
                  </a:tcPr>
                </a:tc>
                <a:extLst>
                  <a:ext uri="{0D108BD9-81ED-4DB2-BD59-A6C34878D82A}">
                    <a16:rowId xmlns:a16="http://schemas.microsoft.com/office/drawing/2014/main" val="10001"/>
                  </a:ext>
                </a:extLst>
              </a:tr>
              <a:tr h="0">
                <a:tc>
                  <a:txBody>
                    <a:bodyPr/>
                    <a:lstStyle/>
                    <a:p>
                      <a:r>
                        <a:rPr sz="1000" b="1"/>
                        <a:t>CB, GSLC, INSAR, NRB, ORB, POL</a:t>
                      </a:r>
                    </a:p>
                    <a:p>
                      <a:r>
                        <a:rPr sz="1000" i="1">
                          <a:solidFill>
                            <a:srgbClr val="808080"/>
                          </a:solidFill>
                        </a:rPr>
                        <a:t>(baseline)</a:t>
                      </a:r>
                    </a:p>
                  </a:txBody>
                  <a:tcPr>
                    <a:solidFill>
                      <a:srgbClr val="F2F2F2"/>
                    </a:solidFill>
                  </a:tcPr>
                </a:tc>
                <a:tc>
                  <a:txBody>
                    <a:bodyPr/>
                    <a:lstStyle/>
                    <a:p>
                      <a:r>
                        <a:rPr sz="1000" dirty="0"/>
                        <a:t>The metadata identifies an online location from where the data can be consistently and reliably retrieved by a computer algorithm without any manual intervention being required.</a:t>
                      </a:r>
                    </a:p>
                  </a:txBody>
                  <a:tcPr>
                    <a:solidFill>
                      <a:srgbClr val="F2F2F2"/>
                    </a:solidFill>
                  </a:tcPr>
                </a:tc>
                <a:tc>
                  <a:txBody>
                    <a:bodyPr/>
                    <a:lstStyle/>
                    <a:p>
                      <a:r>
                        <a:rPr sz="1000" i="1">
                          <a:solidFill>
                            <a:srgbClr val="808080"/>
                          </a:solidFill>
                        </a:rPr>
                        <a:t>(keep as is)</a:t>
                      </a:r>
                    </a:p>
                  </a:txBody>
                  <a:tcPr>
                    <a:solidFill>
                      <a:srgbClr val="F2F2F2"/>
                    </a:solidFill>
                  </a:tcPr>
                </a:tc>
                <a:extLst>
                  <a:ext uri="{0D108BD9-81ED-4DB2-BD59-A6C34878D82A}">
                    <a16:rowId xmlns:a16="http://schemas.microsoft.com/office/drawing/2014/main" val="10002"/>
                  </a:ext>
                </a:extLst>
              </a:tr>
              <a:tr h="0">
                <a:tc>
                  <a:txBody>
                    <a:bodyPr/>
                    <a:lstStyle/>
                    <a:p>
                      <a:r>
                        <a:rPr sz="1000" b="1"/>
                        <a:t>CB, GSLC, INSAR, NRB, ORB, POL</a:t>
                      </a:r>
                    </a:p>
                  </a:txBody>
                  <a:tcPr>
                    <a:solidFill>
                      <a:srgbClr val="FFFFFF"/>
                    </a:solidFill>
                  </a:tcPr>
                </a:tc>
                <a:tc>
                  <a:txBody>
                    <a:bodyPr/>
                    <a:lstStyle/>
                    <a:p>
                      <a:r>
                        <a:rPr sz="1000" dirty="0"/>
                        <a:t>The metadata identifies an online location from where the data can be consistently and reliably retrieved by a computer algorithm without any manual intervention being required.</a:t>
                      </a:r>
                    </a:p>
                  </a:txBody>
                  <a:tcPr>
                    <a:solidFill>
                      <a:srgbClr val="FFFFFF"/>
                    </a:solidFill>
                  </a:tcPr>
                </a:tc>
                <a:tc>
                  <a:txBody>
                    <a:bodyPr/>
                    <a:lstStyle/>
                    <a:p>
                      <a:r>
                        <a:rPr sz="1000" i="1" dirty="0">
                          <a:solidFill>
                            <a:srgbClr val="808080"/>
                          </a:solidFill>
                        </a:rPr>
                        <a:t>(keep as is)</a:t>
                      </a:r>
                    </a:p>
                  </a:txBody>
                  <a:tcP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57200" y="5612952"/>
            <a:ext cx="11277295" cy="738664"/>
          </a:xfrm>
          <a:prstGeom prst="rect">
            <a:avLst/>
          </a:prstGeom>
          <a:noFill/>
        </p:spPr>
        <p:txBody>
          <a:bodyPr wrap="square" lIns="0" tIns="0" rIns="0" bIns="0">
            <a:spAutoFit/>
          </a:bodyPr>
          <a:lstStyle/>
          <a:p>
            <a:r>
              <a:rPr sz="1200" b="1" dirty="0"/>
              <a:t>Internal notes: </a:t>
            </a:r>
            <a:r>
              <a:rPr sz="1200" i="1" dirty="0"/>
              <a:t>For DOI related discussions </a:t>
            </a:r>
            <a:r>
              <a:rPr lang="de-DE" sz="1200" i="1" dirty="0" err="1"/>
              <a:t>see</a:t>
            </a:r>
            <a:r>
              <a:rPr lang="de-DE" sz="1200" i="1" dirty="0"/>
              <a:t> "DOIs" </a:t>
            </a:r>
            <a:r>
              <a:rPr lang="de-DE" sz="1200" i="1" dirty="0" err="1"/>
              <a:t>slide</a:t>
            </a:r>
            <a:r>
              <a:rPr sz="1200" i="1" dirty="0"/>
              <a:t>.</a:t>
            </a:r>
          </a:p>
          <a:p>
            <a:endParaRPr sz="1200" i="1" dirty="0"/>
          </a:p>
          <a:p>
            <a:r>
              <a:rPr sz="1200" i="1" dirty="0"/>
              <a:t>The current optical threshold only contains the DOI landing page sentence, which moves to category level — the proposal gives Data Access a concrete requirement, aligned with the SAR product variant. The split into Product/Source Data Access remains specific to the SAR family.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metadata/geo-area-* (AR, NLSR, SR, ST, CB, GSLC, INSAR, NRB, ORB, POL)</a:t>
            </a:r>
          </a:p>
        </p:txBody>
      </p:sp>
      <p:graphicFrame>
        <p:nvGraphicFramePr>
          <p:cNvPr id="3" name="Table 2"/>
          <p:cNvGraphicFramePr>
            <a:graphicFrameLocks noGrp="1"/>
          </p:cNvGraphicFramePr>
          <p:nvPr>
            <p:extLst>
              <p:ext uri="{D42A27DB-BD31-4B8C-83A1-F6EECF244321}">
                <p14:modId xmlns:p14="http://schemas.microsoft.com/office/powerpoint/2010/main" val="1180961129"/>
              </p:ext>
            </p:extLst>
          </p:nvPr>
        </p:nvGraphicFramePr>
        <p:xfrm>
          <a:off x="457200" y="1005840"/>
          <a:ext cx="11265408" cy="13563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Title</a:t>
                      </a:r>
                    </a:p>
                  </a:txBody>
                  <a:tcPr>
                    <a:solidFill>
                      <a:srgbClr val="000000"/>
                    </a:solidFill>
                  </a:tcPr>
                </a:tc>
                <a:tc>
                  <a:txBody>
                    <a:bodyPr/>
                    <a:lstStyle/>
                    <a:p>
                      <a:r>
                        <a:rPr sz="1100" b="1">
                          <a:solidFill>
                            <a:srgbClr val="FFFFFF"/>
                          </a:solidFill>
                        </a:rPr>
                        <a:t>Proposed Title</a:t>
                      </a:r>
                    </a:p>
                  </a:txBody>
                  <a:tcPr>
                    <a:solidFill>
                      <a:srgbClr val="000000"/>
                    </a:solidFill>
                  </a:tcPr>
                </a:tc>
                <a:extLst>
                  <a:ext uri="{0D108BD9-81ED-4DB2-BD59-A6C34878D82A}">
                    <a16:rowId xmlns:a16="http://schemas.microsoft.com/office/drawing/2014/main" val="10000"/>
                  </a:ext>
                </a:extLst>
              </a:tr>
              <a:tr h="121920">
                <a:tc>
                  <a:txBody>
                    <a:bodyPr/>
                    <a:lstStyle/>
                    <a:p>
                      <a:r>
                        <a:rPr sz="1000" b="1"/>
                        <a:t>AR, NLSR, SR, ST</a:t>
                      </a:r>
                    </a:p>
                    <a:p>
                      <a:r>
                        <a:rPr sz="1000" i="1">
                          <a:solidFill>
                            <a:srgbClr val="808080"/>
                          </a:solidFill>
                        </a:rPr>
                        <a:t>(baseline)</a:t>
                      </a:r>
                    </a:p>
                  </a:txBody>
                  <a:tcPr>
                    <a:solidFill>
                      <a:srgbClr val="FFFFFF"/>
                    </a:solidFill>
                  </a:tcPr>
                </a:tc>
                <a:tc>
                  <a:txBody>
                    <a:bodyPr/>
                    <a:lstStyle/>
                    <a:p>
                      <a:r>
                        <a:rPr sz="1000" dirty="0"/>
                        <a:t>Geographical Area</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121920">
                <a:tc>
                  <a:txBody>
                    <a:bodyPr/>
                    <a:lstStyle/>
                    <a:p>
                      <a:r>
                        <a:rPr sz="1000" b="1"/>
                        <a:t>CB, GSLC, INSAR, NRB, ORB, POL</a:t>
                      </a:r>
                    </a:p>
                  </a:txBody>
                  <a:tcPr>
                    <a:solidFill>
                      <a:srgbClr val="F2F2F2"/>
                    </a:solidFill>
                  </a:tcPr>
                </a:tc>
                <a:tc>
                  <a:txBody>
                    <a:bodyPr/>
                    <a:lstStyle/>
                    <a:p>
                      <a:r>
                        <a:rPr sz="1000" b="1" dirty="0">
                          <a:solidFill>
                            <a:srgbClr val="2E7D32"/>
                          </a:solidFill>
                        </a:rPr>
                        <a:t>Product </a:t>
                      </a:r>
                      <a:r>
                        <a:rPr sz="1000" dirty="0"/>
                        <a:t>Geographical </a:t>
                      </a:r>
                      <a:r>
                        <a:rPr sz="1000" strike="sngStrike" dirty="0" err="1">
                          <a:solidFill>
                            <a:srgbClr val="B00000"/>
                          </a:solidFill>
                        </a:rPr>
                        <a:t>Area</a:t>
                      </a:r>
                      <a:r>
                        <a:rPr sz="1000" b="1" dirty="0" err="1">
                          <a:solidFill>
                            <a:srgbClr val="2E7D32"/>
                          </a:solidFill>
                        </a:rPr>
                        <a:t>Extent</a:t>
                      </a:r>
                      <a:endParaRPr sz="1000" b="1" dirty="0">
                        <a:solidFill>
                          <a:srgbClr val="2E7D32"/>
                        </a:solidFill>
                      </a:endParaRPr>
                    </a:p>
                  </a:txBody>
                  <a:tcPr>
                    <a:solidFill>
                      <a:srgbClr val="F2F2F2"/>
                    </a:solidFill>
                  </a:tcPr>
                </a:tc>
                <a:tc>
                  <a:txBody>
                    <a:bodyPr/>
                    <a:lstStyle/>
                    <a:p>
                      <a:r>
                        <a:rPr sz="1000" strike="sngStrike" dirty="0">
                          <a:solidFill>
                            <a:srgbClr val="B00000"/>
                          </a:solidFill>
                        </a:rPr>
                        <a:t>Product </a:t>
                      </a:r>
                      <a:r>
                        <a:rPr sz="1000" dirty="0"/>
                        <a:t>Geographical </a:t>
                      </a:r>
                      <a:r>
                        <a:rPr sz="1000" strike="sngStrike" dirty="0" err="1">
                          <a:solidFill>
                            <a:srgbClr val="B00000"/>
                          </a:solidFill>
                        </a:rPr>
                        <a:t>Extent</a:t>
                      </a:r>
                      <a:r>
                        <a:rPr sz="1000" b="1" dirty="0" err="1">
                          <a:solidFill>
                            <a:srgbClr val="2E7D32"/>
                          </a:solidFill>
                        </a:rPr>
                        <a:t>Area</a:t>
                      </a:r>
                      <a:endParaRPr sz="1000" b="1" dirty="0">
                        <a:solidFill>
                          <a:srgbClr val="2E7D32"/>
                        </a:solidFill>
                      </a:endParaRPr>
                    </a:p>
                  </a:txBody>
                  <a:tcPr>
                    <a:solidFill>
                      <a:srgbClr val="F2F2F2"/>
                    </a:solidFill>
                  </a:tcPr>
                </a:tc>
                <a:extLst>
                  <a:ext uri="{0D108BD9-81ED-4DB2-BD59-A6C34878D82A}">
                    <a16:rowId xmlns:a16="http://schemas.microsoft.com/office/drawing/2014/main" val="10002"/>
                  </a:ext>
                </a:extLst>
              </a:tr>
            </a:tbl>
          </a:graphicData>
        </a:graphic>
      </p:graphicFrame>
      <p:graphicFrame>
        <p:nvGraphicFramePr>
          <p:cNvPr id="4" name="Table 3"/>
          <p:cNvGraphicFramePr>
            <a:graphicFrameLocks noGrp="1"/>
          </p:cNvGraphicFramePr>
          <p:nvPr/>
        </p:nvGraphicFramePr>
        <p:xfrm>
          <a:off x="457200" y="2724912"/>
          <a:ext cx="11265408" cy="13563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121920">
                <a:tc>
                  <a:txBody>
                    <a:bodyPr/>
                    <a:lstStyle/>
                    <a:p>
                      <a:r>
                        <a:rPr sz="1000" b="1"/>
                        <a:t>AR, NLSR, SR, ST</a:t>
                      </a:r>
                    </a:p>
                    <a:p>
                      <a:r>
                        <a:rPr sz="1000" i="1">
                          <a:solidFill>
                            <a:srgbClr val="808080"/>
                          </a:solidFill>
                        </a:rPr>
                        <a:t>(baseline)</a:t>
                      </a:r>
                    </a:p>
                  </a:txBody>
                  <a:tcPr>
                    <a:solidFill>
                      <a:srgbClr val="FFFFFF"/>
                    </a:solidFill>
                  </a:tcPr>
                </a:tc>
                <a:tc>
                  <a:txBody>
                    <a:bodyPr/>
                    <a:lstStyle/>
                    <a:p>
                      <a:r>
                        <a:rPr sz="1000" dirty="0"/>
                        <a:t>The surface location to which the data relates is identified, typically as a series of four corner points, expressed in an accepted coordinate reference system (e.g., WGS84).</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121920">
                <a:tc>
                  <a:txBody>
                    <a:bodyPr/>
                    <a:lstStyle/>
                    <a:p>
                      <a:r>
                        <a:rPr sz="1000" b="1"/>
                        <a:t>CB, GSLC, INSAR, NRB, ORB, POL</a:t>
                      </a:r>
                    </a:p>
                  </a:txBody>
                  <a:tcPr>
                    <a:solidFill>
                      <a:srgbClr val="F2F2F2"/>
                    </a:solidFill>
                  </a:tcPr>
                </a:tc>
                <a:tc>
                  <a:txBody>
                    <a:bodyPr/>
                    <a:lstStyle/>
                    <a:p>
                      <a:r>
                        <a:rPr sz="1000"/>
                        <a:t>The geometry of the SAR image footprint</a:t>
                      </a:r>
                      <a:r>
                        <a:rPr sz="1000">
                          <a:solidFill>
                            <a:srgbClr val="1565C0"/>
                          </a:solidFill>
                        </a:rPr>
                        <a:t> expressed in </a:t>
                      </a:r>
                      <a:r>
                        <a:rPr sz="1000"/>
                        <a:t>longitude/latitude based on WGS84 (EPSG 4326), in a standardised format (e.g., WKT Polygon).</a:t>
                      </a:r>
                    </a:p>
                  </a:txBody>
                  <a:tcPr>
                    <a:solidFill>
                      <a:srgbClr val="F2F2F2"/>
                    </a:solidFill>
                  </a:tcPr>
                </a:tc>
                <a:tc>
                  <a:txBody>
                    <a:bodyPr/>
                    <a:lstStyle/>
                    <a:p>
                      <a:r>
                        <a:rPr sz="1000" i="1" dirty="0">
                          <a:solidFill>
                            <a:srgbClr val="808080"/>
                          </a:solidFill>
                        </a:rPr>
                        <a:t>(keep as is)</a:t>
                      </a:r>
                    </a:p>
                  </a:txBody>
                  <a:tcPr>
                    <a:solidFill>
                      <a:srgbClr val="F2F2F2"/>
                    </a:solidFill>
                  </a:tcP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037838825"/>
              </p:ext>
            </p:extLst>
          </p:nvPr>
        </p:nvGraphicFramePr>
        <p:xfrm>
          <a:off x="457200" y="4443984"/>
          <a:ext cx="11265408" cy="15087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dirty="0">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121920">
                <a:tc>
                  <a:txBody>
                    <a:bodyPr/>
                    <a:lstStyle/>
                    <a:p>
                      <a:r>
                        <a:rPr sz="1000" b="1"/>
                        <a:t>AR, NLSR, SR, ST</a:t>
                      </a:r>
                    </a:p>
                    <a:p>
                      <a:r>
                        <a:rPr sz="1000" i="1">
                          <a:solidFill>
                            <a:srgbClr val="808080"/>
                          </a:solidFill>
                        </a:rPr>
                        <a:t>(baseline)</a:t>
                      </a:r>
                    </a:p>
                  </a:txBody>
                  <a:tcPr>
                    <a:solidFill>
                      <a:srgbClr val="FFFFFF"/>
                    </a:solidFill>
                  </a:tcPr>
                </a:tc>
                <a:tc>
                  <a:txBody>
                    <a:bodyPr/>
                    <a:lstStyle/>
                    <a:p>
                      <a:r>
                        <a:rPr sz="1000" dirty="0"/>
                        <a:t>The geographic area covered by the observations is identified specifically, such as through a set of coordinates of a closely bounding polygon. The location to which each pixel refers is identified (or can be reliably determined) with the projection system (if any) and reference datum provided.</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121920">
                <a:tc>
                  <a:txBody>
                    <a:bodyPr/>
                    <a:lstStyle/>
                    <a:p>
                      <a:r>
                        <a:rPr sz="1000" b="1"/>
                        <a:t>CB, GSLC, INSAR, NRB, ORB, POL</a:t>
                      </a:r>
                    </a:p>
                  </a:txBody>
                  <a:tcPr>
                    <a:solidFill>
                      <a:srgbClr val="F2F2F2"/>
                    </a:solidFill>
                  </a:tcPr>
                </a:tc>
                <a:tc>
                  <a:txBody>
                    <a:bodyPr/>
                    <a:lstStyle/>
                    <a:p>
                      <a:r>
                        <a:rPr sz="1000" dirty="0"/>
                        <a:t>(not set)</a:t>
                      </a:r>
                    </a:p>
                  </a:txBody>
                  <a:tcPr>
                    <a:solidFill>
                      <a:srgbClr val="F2F2F2"/>
                    </a:solidFill>
                  </a:tcPr>
                </a:tc>
                <a:tc>
                  <a:txBody>
                    <a:bodyPr/>
                    <a:lstStyle/>
                    <a:p>
                      <a:r>
                        <a:rPr sz="1000" i="1">
                          <a:solidFill>
                            <a:srgbClr val="808080"/>
                          </a:solidFill>
                        </a:rPr>
                        <a:t>(keep as is)</a:t>
                      </a:r>
                    </a:p>
                  </a:txBody>
                  <a:tcPr>
                    <a:solidFill>
                      <a:srgbClr val="F2F2F2"/>
                    </a:solidFill>
                  </a:tcPr>
                </a:tc>
                <a:extLst>
                  <a:ext uri="{0D108BD9-81ED-4DB2-BD59-A6C34878D82A}">
                    <a16:rowId xmlns:a16="http://schemas.microsoft.com/office/drawing/2014/main" val="10002"/>
                  </a:ext>
                </a:extLst>
              </a:tr>
            </a:tbl>
          </a:graphicData>
        </a:graphic>
      </p:graphicFrame>
      <p:sp>
        <p:nvSpPr>
          <p:cNvPr id="7" name="TextBox 2">
            <a:extLst>
              <a:ext uri="{FF2B5EF4-FFF2-40B4-BE49-F238E27FC236}">
                <a16:creationId xmlns:a16="http://schemas.microsoft.com/office/drawing/2014/main" id="{6C7B867D-547E-9420-C09A-0E1136100C92}"/>
              </a:ext>
            </a:extLst>
          </p:cNvPr>
          <p:cNvSpPr txBox="1"/>
          <p:nvPr/>
        </p:nvSpPr>
        <p:spPr>
          <a:xfrm>
            <a:off x="454457" y="6249924"/>
            <a:ext cx="11277295" cy="184666"/>
          </a:xfrm>
          <a:prstGeom prst="rect">
            <a:avLst/>
          </a:prstGeom>
          <a:noFill/>
        </p:spPr>
        <p:txBody>
          <a:bodyPr wrap="square" lIns="0" tIns="0" rIns="0" bIns="0">
            <a:spAutoFit/>
          </a:bodyPr>
          <a:lstStyle/>
          <a:p>
            <a:r>
              <a:rPr sz="1200" b="1" dirty="0"/>
              <a:t>Internal notes: </a:t>
            </a:r>
            <a:r>
              <a:rPr lang="de-DE" sz="1200" i="1" dirty="0"/>
              <a:t>SAR </a:t>
            </a:r>
            <a:r>
              <a:rPr lang="de-DE" sz="1200" i="1" dirty="0" err="1"/>
              <a:t>has</a:t>
            </a:r>
            <a:r>
              <a:rPr lang="de-DE" sz="1200" i="1" dirty="0"/>
              <a:t> </a:t>
            </a:r>
            <a:r>
              <a:rPr lang="de-DE" sz="1200" i="1" dirty="0" err="1"/>
              <a:t>extent</a:t>
            </a:r>
            <a:r>
              <a:rPr lang="de-DE" sz="1200" i="1" dirty="0"/>
              <a:t> and area </a:t>
            </a:r>
            <a:r>
              <a:rPr lang="de-DE" sz="1200" i="1" dirty="0" err="1"/>
              <a:t>separately</a:t>
            </a:r>
            <a:r>
              <a:rPr lang="de-DE" sz="1200" i="1" dirty="0"/>
              <a:t>, Optical </a:t>
            </a:r>
            <a:r>
              <a:rPr lang="de-DE" sz="1200" i="1" dirty="0" err="1"/>
              <a:t>has</a:t>
            </a:r>
            <a:r>
              <a:rPr lang="de-DE" sz="1200" i="1" dirty="0"/>
              <a:t> </a:t>
            </a:r>
            <a:r>
              <a:rPr lang="de-DE" sz="1200" i="1" dirty="0" err="1"/>
              <a:t>extent</a:t>
            </a:r>
            <a:r>
              <a:rPr lang="de-DE" sz="1200" i="1" dirty="0"/>
              <a:t> as </a:t>
            </a:r>
            <a:r>
              <a:rPr lang="de-DE" sz="1200" i="1" dirty="0" err="1"/>
              <a:t>goal</a:t>
            </a:r>
            <a:r>
              <a:rPr lang="de-DE" sz="1200" i="1" dirty="0"/>
              <a:t> and area as </a:t>
            </a:r>
            <a:r>
              <a:rPr lang="de-DE" sz="1200" i="1" dirty="0" err="1"/>
              <a:t>goal</a:t>
            </a:r>
            <a:r>
              <a:rPr lang="de-DE" sz="1200" i="1" dirty="0"/>
              <a:t>. Can </a:t>
            </a:r>
            <a:r>
              <a:rPr lang="de-DE" sz="1200" i="1" dirty="0" err="1"/>
              <a:t>we</a:t>
            </a:r>
            <a:r>
              <a:rPr lang="de-DE" sz="1200" i="1" dirty="0"/>
              <a:t> </a:t>
            </a:r>
            <a:r>
              <a:rPr lang="de-DE" sz="1200" i="1" dirty="0" err="1"/>
              <a:t>unify</a:t>
            </a:r>
            <a:r>
              <a:rPr lang="de-DE" sz="1200" i="1" dirty="0"/>
              <a:t> </a:t>
            </a:r>
            <a:r>
              <a:rPr lang="de-DE" sz="1200" i="1" dirty="0" err="1"/>
              <a:t>this</a:t>
            </a:r>
            <a:r>
              <a:rPr lang="de-DE" sz="1200" i="1" dirty="0"/>
              <a:t>?</a:t>
            </a:r>
            <a:endParaRPr sz="1200" i="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Geometric Correction Methods (AR, NLSR, SR, ST)</a:t>
            </a:r>
          </a:p>
        </p:txBody>
      </p:sp>
      <p:graphicFrame>
        <p:nvGraphicFramePr>
          <p:cNvPr id="3" name="Table 2"/>
          <p:cNvGraphicFramePr>
            <a:graphicFrameLocks noGrp="1"/>
          </p:cNvGraphicFramePr>
          <p:nvPr/>
        </p:nvGraphicFramePr>
        <p:xfrm>
          <a:off x="457200" y="1005840"/>
          <a:ext cx="11265408" cy="12039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121920">
                <a:tc>
                  <a:txBody>
                    <a:bodyPr/>
                    <a:lstStyle/>
                    <a:p>
                      <a:r>
                        <a:rPr sz="1000" b="1"/>
                        <a:t>AR, ST</a:t>
                      </a:r>
                    </a:p>
                    <a:p>
                      <a:r>
                        <a:rPr sz="1000" i="1">
                          <a:solidFill>
                            <a:srgbClr val="808080"/>
                          </a:solidFill>
                        </a:rPr>
                        <a:t>(baseline)</a:t>
                      </a:r>
                    </a:p>
                  </a:txBody>
                  <a:tcPr>
                    <a:solidFill>
                      <a:srgbClr val="FFFFFF"/>
                    </a:solidFill>
                  </a:tcPr>
                </a:tc>
                <a:tc>
                  <a:txBody>
                    <a:bodyPr/>
                    <a:lstStyle/>
                    <a:p>
                      <a:r>
                        <a:rPr sz="1000"/>
                        <a:t>Information on geometric correction source and methods are provided, including reference database and auxiliary data such as elevation model(s) and reference chip-sets.</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121920">
                <a:tc>
                  <a:txBody>
                    <a:bodyPr/>
                    <a:lstStyle/>
                    <a:p>
                      <a:r>
                        <a:rPr sz="1000" b="1"/>
                        <a:t>NLSR, SR</a:t>
                      </a:r>
                    </a:p>
                  </a:txBody>
                  <a:tcPr>
                    <a:solidFill>
                      <a:srgbClr val="F2F2F2"/>
                    </a:solidFill>
                  </a:tcPr>
                </a:tc>
                <a:tc>
                  <a:txBody>
                    <a:bodyPr/>
                    <a:lstStyle/>
                    <a:p>
                      <a:r>
                        <a:rPr sz="1000"/>
                        <a:t>Information on geometric correction </a:t>
                      </a:r>
                      <a:r>
                        <a:rPr sz="1000" strike="sngStrike">
                          <a:solidFill>
                            <a:srgbClr val="B00000"/>
                          </a:solidFill>
                        </a:rPr>
                        <a:t>source and methods are provided</a:t>
                      </a:r>
                      <a:r>
                        <a:rPr sz="1000" b="1">
                          <a:solidFill>
                            <a:srgbClr val="2E7D32"/>
                          </a:solidFill>
                        </a:rPr>
                        <a:t>methods should be available in the metadata as a single DOI landing page</a:t>
                      </a:r>
                      <a:r>
                        <a:rPr sz="1000"/>
                        <a:t>, including reference database and auxiliary data such as elevation model(s) and reference chip-sets.</a:t>
                      </a:r>
                      <a:r>
                        <a:rPr sz="1000" b="1">
                          <a:solidFill>
                            <a:srgbClr val="2E7D32"/>
                          </a:solidFill>
                        </a:rPr>
                        <a:t>  </a:t>
                      </a:r>
                    </a:p>
                  </a:txBody>
                  <a:tcPr>
                    <a:solidFill>
                      <a:srgbClr val="F2F2F2"/>
                    </a:solidFill>
                  </a:tcPr>
                </a:tc>
                <a:tc>
                  <a:txBody>
                    <a:bodyPr/>
                    <a:lstStyle/>
                    <a:p>
                      <a:r>
                        <a:rPr sz="1000"/>
                        <a:t>Information on geometric correction </a:t>
                      </a:r>
                      <a:r>
                        <a:rPr sz="1000" strike="sngStrike">
                          <a:solidFill>
                            <a:srgbClr val="B00000"/>
                          </a:solidFill>
                        </a:rPr>
                        <a:t>methods should be available in the metadata as a single DOI landing page</a:t>
                      </a:r>
                      <a:r>
                        <a:rPr sz="1000" b="1">
                          <a:solidFill>
                            <a:srgbClr val="2E7D32"/>
                          </a:solidFill>
                        </a:rPr>
                        <a:t>source and methods are provided</a:t>
                      </a:r>
                      <a:r>
                        <a:rPr sz="1000"/>
                        <a:t>, including reference database and auxiliary data such as elevation model(s) and reference chip-sets.</a:t>
                      </a:r>
                      <a:r>
                        <a:rPr sz="1000" strike="sngStrike">
                          <a:solidFill>
                            <a:srgbClr val="B00000"/>
                          </a:solidFill>
                        </a:rPr>
                        <a:t>  </a:t>
                      </a:r>
                    </a:p>
                  </a:txBody>
                  <a:tcPr>
                    <a:solidFill>
                      <a:srgbClr val="F2F2F2"/>
                    </a:solidFill>
                  </a:tcPr>
                </a:tc>
                <a:extLst>
                  <a:ext uri="{0D108BD9-81ED-4DB2-BD59-A6C34878D82A}">
                    <a16:rowId xmlns:a16="http://schemas.microsoft.com/office/drawing/2014/main" val="10002"/>
                  </a:ext>
                </a:extLst>
              </a:tr>
            </a:tbl>
          </a:graphicData>
        </a:graphic>
      </p:graphicFrame>
      <p:sp>
        <p:nvSpPr>
          <p:cNvPr id="4" name="TextBox 3"/>
          <p:cNvSpPr txBox="1"/>
          <p:nvPr/>
        </p:nvSpPr>
        <p:spPr>
          <a:xfrm>
            <a:off x="457200" y="2767888"/>
            <a:ext cx="11277295" cy="184666"/>
          </a:xfrm>
          <a:prstGeom prst="rect">
            <a:avLst/>
          </a:prstGeom>
          <a:noFill/>
        </p:spPr>
        <p:txBody>
          <a:bodyPr wrap="square" lIns="0" tIns="0" rIns="0" bIns="0">
            <a:spAutoFit/>
          </a:bodyPr>
          <a:lstStyle/>
          <a:p>
            <a:r>
              <a:rPr sz="1200" b="1" dirty="0"/>
              <a:t>Internal notes: </a:t>
            </a:r>
            <a:r>
              <a:rPr sz="1200" i="1" dirty="0"/>
              <a:t>For DOI related discussions </a:t>
            </a:r>
            <a:r>
              <a:rPr lang="de-DE" sz="1200" i="1" dirty="0" err="1"/>
              <a:t>see</a:t>
            </a:r>
            <a:r>
              <a:rPr lang="de-DE" sz="1200" i="1" dirty="0"/>
              <a:t> "DOIs" </a:t>
            </a:r>
            <a:r>
              <a:rPr lang="de-DE" sz="1200" i="1" dirty="0" err="1"/>
              <a:t>slide</a:t>
            </a:r>
            <a:r>
              <a:rPr sz="1200" i="1" dirty="0"/>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Instrument (AR, NLSR, SR, ST, CB, GSLC, INSAR, NRB, ORB, POL)</a:t>
            </a:r>
          </a:p>
        </p:txBody>
      </p:sp>
      <p:graphicFrame>
        <p:nvGraphicFramePr>
          <p:cNvPr id="3" name="Table 2"/>
          <p:cNvGraphicFramePr>
            <a:graphicFrameLocks noGrp="1"/>
          </p:cNvGraphicFramePr>
          <p:nvPr/>
        </p:nvGraphicFramePr>
        <p:xfrm>
          <a:off x="457200" y="1005840"/>
          <a:ext cx="11265408" cy="23622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 ST</a:t>
                      </a:r>
                    </a:p>
                    <a:p>
                      <a:r>
                        <a:rPr sz="1000" i="1">
                          <a:solidFill>
                            <a:srgbClr val="808080"/>
                          </a:solidFill>
                        </a:rPr>
                        <a:t>(baseline)</a:t>
                      </a:r>
                    </a:p>
                  </a:txBody>
                  <a:tcPr>
                    <a:solidFill>
                      <a:srgbClr val="FFFFFF"/>
                    </a:solidFill>
                  </a:tcPr>
                </a:tc>
                <a:tc>
                  <a:txBody>
                    <a:bodyPr/>
                    <a:lstStyle/>
                    <a:p>
                      <a:r>
                        <a:rPr sz="1000"/>
                        <a:t>The instrument used to collect the data is identified.</a:t>
                      </a:r>
                    </a:p>
                  </a:txBody>
                  <a:tcPr>
                    <a:solidFill>
                      <a:srgbClr val="FFFFFF"/>
                    </a:solidFill>
                  </a:tcPr>
                </a:tc>
                <a:tc>
                  <a:txBody>
                    <a:bodyPr/>
                    <a:lstStyle/>
                    <a:p>
                      <a:r>
                        <a:rPr sz="1000" dirty="0"/>
                        <a:t>The instrument used to collect the data is identified</a:t>
                      </a:r>
                      <a:r>
                        <a:rPr sz="1000" strike="sngStrike" dirty="0">
                          <a:solidFill>
                            <a:srgbClr val="B00000"/>
                          </a:solidFill>
                        </a:rPr>
                        <a:t>.</a:t>
                      </a:r>
                      <a:r>
                        <a:rPr sz="1000" b="1" dirty="0">
                          <a:solidFill>
                            <a:srgbClr val="2E7D32"/>
                          </a:solidFill>
                        </a:rPr>
                        <a:t>:</a:t>
                      </a:r>
                    </a:p>
                    <a:p>
                      <a:endParaRPr sz="1000" b="1" dirty="0">
                        <a:solidFill>
                          <a:srgbClr val="2E7D32"/>
                        </a:solidFill>
                      </a:endParaRPr>
                    </a:p>
                    <a:p>
                      <a:r>
                        <a:rPr sz="1000" b="1" dirty="0">
                          <a:solidFill>
                            <a:srgbClr val="2E7D32"/>
                          </a:solidFill>
                        </a:rPr>
                        <a:t>- Satellite name</a:t>
                      </a:r>
                    </a:p>
                    <a:p>
                      <a:r>
                        <a:rPr sz="1000" b="1" dirty="0">
                          <a:solidFill>
                            <a:srgbClr val="2E7D32"/>
                          </a:solidFill>
                        </a:rPr>
                        <a:t>- Instrument name</a:t>
                      </a:r>
                    </a:p>
                  </a:txBody>
                  <a:tcPr>
                    <a:solidFill>
                      <a:srgbClr val="FFFFFF"/>
                    </a:solidFill>
                  </a:tcPr>
                </a:tc>
                <a:extLst>
                  <a:ext uri="{0D108BD9-81ED-4DB2-BD59-A6C34878D82A}">
                    <a16:rowId xmlns:a16="http://schemas.microsoft.com/office/drawing/2014/main" val="10001"/>
                  </a:ext>
                </a:extLst>
              </a:tr>
              <a:tr h="0">
                <a:tc>
                  <a:txBody>
                    <a:bodyPr/>
                    <a:lstStyle/>
                    <a:p>
                      <a:r>
                        <a:rPr sz="1000" b="1"/>
                        <a:t>NLSR, SR</a:t>
                      </a:r>
                    </a:p>
                  </a:txBody>
                  <a:tcPr>
                    <a:solidFill>
                      <a:srgbClr val="F2F2F2"/>
                    </a:solidFill>
                  </a:tcPr>
                </a:tc>
                <a:tc>
                  <a:txBody>
                    <a:bodyPr/>
                    <a:lstStyle/>
                    <a:p>
                      <a:r>
                        <a:rPr sz="1000"/>
                        <a:t>The instrument used to collect the data is identified</a:t>
                      </a:r>
                      <a:r>
                        <a:rPr sz="1000" b="1">
                          <a:solidFill>
                            <a:srgbClr val="2E7D32"/>
                          </a:solidFill>
                        </a:rPr>
                        <a:t> in the metadata</a:t>
                      </a:r>
                      <a:r>
                        <a:rPr sz="1000"/>
                        <a:t>.</a:t>
                      </a:r>
                    </a:p>
                  </a:txBody>
                  <a:tcPr>
                    <a:solidFill>
                      <a:srgbClr val="F2F2F2"/>
                    </a:solidFill>
                  </a:tcPr>
                </a:tc>
                <a:tc>
                  <a:txBody>
                    <a:bodyPr/>
                    <a:lstStyle/>
                    <a:p>
                      <a:r>
                        <a:rPr sz="1000"/>
                        <a:t>The instrument used to collect the data is identified</a:t>
                      </a:r>
                      <a:r>
                        <a:rPr sz="1000" strike="sngStrike">
                          <a:solidFill>
                            <a:srgbClr val="B00000"/>
                          </a:solidFill>
                        </a:rPr>
                        <a:t> in the metadata.</a:t>
                      </a:r>
                      <a:r>
                        <a:rPr sz="1000" b="1">
                          <a:solidFill>
                            <a:srgbClr val="2E7D32"/>
                          </a:solidFill>
                        </a:rPr>
                        <a:t>:</a:t>
                      </a:r>
                    </a:p>
                    <a:p>
                      <a:endParaRPr sz="1000" b="1">
                        <a:solidFill>
                          <a:srgbClr val="2E7D32"/>
                        </a:solidFill>
                      </a:endParaRPr>
                    </a:p>
                    <a:p>
                      <a:r>
                        <a:rPr sz="1000" b="1">
                          <a:solidFill>
                            <a:srgbClr val="2E7D32"/>
                          </a:solidFill>
                        </a:rPr>
                        <a:t>- Satellite name</a:t>
                      </a:r>
                    </a:p>
                    <a:p>
                      <a:r>
                        <a:rPr sz="1000" b="1">
                          <a:solidFill>
                            <a:srgbClr val="2E7D32"/>
                          </a:solidFill>
                        </a:rPr>
                        <a:t>- Instrument name</a:t>
                      </a:r>
                    </a:p>
                  </a:txBody>
                  <a:tcPr>
                    <a:solidFill>
                      <a:srgbClr val="F2F2F2"/>
                    </a:solidFill>
                  </a:tcPr>
                </a:tc>
                <a:extLst>
                  <a:ext uri="{0D108BD9-81ED-4DB2-BD59-A6C34878D82A}">
                    <a16:rowId xmlns:a16="http://schemas.microsoft.com/office/drawing/2014/main" val="10002"/>
                  </a:ext>
                </a:extLst>
              </a:tr>
              <a:tr h="0">
                <a:tc>
                  <a:txBody>
                    <a:bodyPr/>
                    <a:lstStyle/>
                    <a:p>
                      <a:r>
                        <a:rPr sz="1000" b="1"/>
                        <a:t>CB, GSLC, INSAR, NRB, ORB, POL</a:t>
                      </a:r>
                    </a:p>
                  </a:txBody>
                  <a:tcPr>
                    <a:solidFill>
                      <a:srgbClr val="FFFFFF"/>
                    </a:solidFill>
                  </a:tcPr>
                </a:tc>
                <a:tc>
                  <a:txBody>
                    <a:bodyPr/>
                    <a:lstStyle/>
                    <a:p>
                      <a:r>
                        <a:rPr sz="1000"/>
                        <a:t>The instrument used to collect the data is identified</a:t>
                      </a:r>
                      <a:r>
                        <a:rPr sz="1000" strike="sngStrike">
                          <a:solidFill>
                            <a:srgbClr val="B00000"/>
                          </a:solidFill>
                        </a:rPr>
                        <a:t>.</a:t>
                      </a:r>
                      <a:r>
                        <a:rPr sz="1000" b="1">
                          <a:solidFill>
                            <a:srgbClr val="2E7D32"/>
                          </a:solidFill>
                        </a:rPr>
                        <a:t> in the metadata:</a:t>
                      </a:r>
                    </a:p>
                    <a:p>
                      <a:endParaRPr sz="1000" b="1">
                        <a:solidFill>
                          <a:srgbClr val="2E7D32"/>
                        </a:solidFill>
                      </a:endParaRPr>
                    </a:p>
                    <a:p>
                      <a:r>
                        <a:rPr sz="1000" b="1">
                          <a:solidFill>
                            <a:srgbClr val="2E7D32"/>
                          </a:solidFill>
                        </a:rPr>
                        <a:t>- Satellite name</a:t>
                      </a:r>
                    </a:p>
                    <a:p>
                      <a:r>
                        <a:rPr sz="1000" b="1">
                          <a:solidFill>
                            <a:srgbClr val="2E7D32"/>
                          </a:solidFill>
                        </a:rPr>
                        <a:t>- Instrument name</a:t>
                      </a:r>
                    </a:p>
                  </a:txBody>
                  <a:tcPr>
                    <a:solidFill>
                      <a:srgbClr val="FFFFFF"/>
                    </a:solidFill>
                  </a:tcPr>
                </a:tc>
                <a:tc>
                  <a:txBody>
                    <a:bodyPr/>
                    <a:lstStyle/>
                    <a:p>
                      <a:r>
                        <a:rPr sz="1000" dirty="0"/>
                        <a:t>The instrument used to collect the data is identified</a:t>
                      </a:r>
                      <a:r>
                        <a:rPr sz="1000" strike="sngStrike" dirty="0">
                          <a:solidFill>
                            <a:srgbClr val="B00000"/>
                          </a:solidFill>
                        </a:rPr>
                        <a:t> in the metadata</a:t>
                      </a:r>
                      <a:r>
                        <a:rPr sz="1000" dirty="0"/>
                        <a:t>:</a:t>
                      </a:r>
                    </a:p>
                    <a:p>
                      <a:endParaRPr sz="1000" dirty="0"/>
                    </a:p>
                    <a:p>
                      <a:r>
                        <a:rPr sz="1000" dirty="0"/>
                        <a:t>- Satellite name</a:t>
                      </a:r>
                    </a:p>
                    <a:p>
                      <a:r>
                        <a:rPr sz="1000" dirty="0"/>
                        <a:t>- Instrument name</a:t>
                      </a:r>
                    </a:p>
                  </a:txBody>
                  <a:tcPr>
                    <a:solidFill>
                      <a:srgbClr val="FFFFFF"/>
                    </a:solidFill>
                  </a:tcPr>
                </a:tc>
                <a:extLst>
                  <a:ext uri="{0D108BD9-81ED-4DB2-BD59-A6C34878D82A}">
                    <a16:rowId xmlns:a16="http://schemas.microsoft.com/office/drawing/2014/main" val="10003"/>
                  </a:ext>
                </a:extLst>
              </a:tr>
            </a:tbl>
          </a:graphicData>
        </a:graphic>
      </p:graphicFrame>
      <p:graphicFrame>
        <p:nvGraphicFramePr>
          <p:cNvPr id="4" name="Table 3"/>
          <p:cNvGraphicFramePr>
            <a:graphicFrameLocks noGrp="1"/>
          </p:cNvGraphicFramePr>
          <p:nvPr/>
        </p:nvGraphicFramePr>
        <p:xfrm>
          <a:off x="457200" y="3767328"/>
          <a:ext cx="11265408" cy="19050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 ST</a:t>
                      </a:r>
                    </a:p>
                    <a:p>
                      <a:r>
                        <a:rPr sz="1000" i="1">
                          <a:solidFill>
                            <a:srgbClr val="808080"/>
                          </a:solidFill>
                        </a:rPr>
                        <a:t>(baseline)</a:t>
                      </a:r>
                    </a:p>
                  </a:txBody>
                  <a:tcPr>
                    <a:solidFill>
                      <a:srgbClr val="FFFFFF"/>
                    </a:solidFill>
                  </a:tcPr>
                </a:tc>
                <a:tc>
                  <a:txBody>
                    <a:bodyPr/>
                    <a:lstStyle/>
                    <a:p>
                      <a:r>
                        <a:rPr sz="1000"/>
                        <a:t>As threshold, with references to the relevant “CEOS Missions, Instruments, and Measurements Database” record ([database.eohandbook.com](https://database.eohandbook.com)).</a:t>
                      </a:r>
                    </a:p>
                  </a:txBody>
                  <a:tcPr>
                    <a:solidFill>
                      <a:srgbClr val="FFFFFF"/>
                    </a:solidFill>
                  </a:tcPr>
                </a:tc>
                <a:tc>
                  <a:txBody>
                    <a:bodyPr/>
                    <a:lstStyle/>
                    <a:p>
                      <a:r>
                        <a:rPr sz="1000"/>
                        <a:t>As threshold, with references to the relevant </a:t>
                      </a:r>
                      <a:r>
                        <a:rPr sz="1000" strike="sngStrike">
                          <a:solidFill>
                            <a:srgbClr val="B00000"/>
                          </a:solidFill>
                        </a:rPr>
                        <a:t>“</a:t>
                      </a:r>
                      <a:r>
                        <a:rPr sz="1000"/>
                        <a:t>CEOS Missions, Instruments, and Measurements </a:t>
                      </a:r>
                      <a:r>
                        <a:rPr sz="1000" strike="sngStrike">
                          <a:solidFill>
                            <a:srgbClr val="B00000"/>
                          </a:solidFill>
                        </a:rPr>
                        <a:t>Database” record ([database.eohandbook.com](https://database.eohandbook.com)</a:t>
                      </a:r>
                      <a:r>
                        <a:rPr sz="1000" b="1">
                          <a:solidFill>
                            <a:srgbClr val="2E7D32"/>
                          </a:solidFill>
                        </a:rPr>
                        <a:t>(MIM) database record (https://ceos.org/mim-database</a:t>
                      </a:r>
                      <a:r>
                        <a:rPr sz="1000"/>
                        <a:t>).</a:t>
                      </a:r>
                    </a:p>
                  </a:txBody>
                  <a:tcPr>
                    <a:solidFill>
                      <a:srgbClr val="FFFFFF"/>
                    </a:solidFill>
                  </a:tcPr>
                </a:tc>
                <a:extLst>
                  <a:ext uri="{0D108BD9-81ED-4DB2-BD59-A6C34878D82A}">
                    <a16:rowId xmlns:a16="http://schemas.microsoft.com/office/drawing/2014/main" val="10001"/>
                  </a:ext>
                </a:extLst>
              </a:tr>
              <a:tr h="0">
                <a:tc>
                  <a:txBody>
                    <a:bodyPr/>
                    <a:lstStyle/>
                    <a:p>
                      <a:r>
                        <a:rPr sz="1000" b="1"/>
                        <a:t>NLSR, SR</a:t>
                      </a:r>
                    </a:p>
                  </a:txBody>
                  <a:tcPr>
                    <a:solidFill>
                      <a:srgbClr val="F2F2F2"/>
                    </a:solidFill>
                  </a:tcPr>
                </a:tc>
                <a:tc>
                  <a:txBody>
                    <a:bodyPr/>
                    <a:lstStyle/>
                    <a:p>
                      <a:r>
                        <a:rPr sz="1000"/>
                        <a:t>As threshold,</a:t>
                      </a:r>
                      <a:r>
                        <a:rPr sz="1000" b="1">
                          <a:solidFill>
                            <a:srgbClr val="2E7D32"/>
                          </a:solidFill>
                        </a:rPr>
                        <a:t> but information should be available in the metadata as a single DOI landing page</a:t>
                      </a:r>
                      <a:r>
                        <a:rPr sz="1000"/>
                        <a:t> with references to the relevant </a:t>
                      </a:r>
                      <a:r>
                        <a:rPr sz="1000" strike="sngStrike">
                          <a:solidFill>
                            <a:srgbClr val="B00000"/>
                          </a:solidFill>
                        </a:rPr>
                        <a:t>“</a:t>
                      </a:r>
                      <a:r>
                        <a:rPr sz="1000"/>
                        <a:t>CEOS Missions, Instruments, and Measurements Database</a:t>
                      </a:r>
                      <a:r>
                        <a:rPr sz="1000" strike="sngStrike">
                          <a:solidFill>
                            <a:srgbClr val="B00000"/>
                          </a:solidFill>
                        </a:rPr>
                        <a:t>” record ([database.eohandbook.com](https://database.eohandbook.com)).</a:t>
                      </a:r>
                      <a:r>
                        <a:rPr sz="1000" b="1">
                          <a:solidFill>
                            <a:srgbClr val="2E7D32"/>
                          </a:solidFill>
                        </a:rPr>
                        <a:t> record.</a:t>
                      </a:r>
                    </a:p>
                  </a:txBody>
                  <a:tcPr>
                    <a:solidFill>
                      <a:srgbClr val="F2F2F2"/>
                    </a:solidFill>
                  </a:tcPr>
                </a:tc>
                <a:tc>
                  <a:txBody>
                    <a:bodyPr/>
                    <a:lstStyle/>
                    <a:p>
                      <a:r>
                        <a:rPr sz="1000"/>
                        <a:t>As threshold,</a:t>
                      </a:r>
                      <a:r>
                        <a:rPr sz="1000" strike="sngStrike">
                          <a:solidFill>
                            <a:srgbClr val="B00000"/>
                          </a:solidFill>
                        </a:rPr>
                        <a:t> but information should be available in the metadata as a single DOI landing page</a:t>
                      </a:r>
                      <a:r>
                        <a:rPr sz="1000"/>
                        <a:t> with references to the relevant CEOS Missions, Instruments, and Measurements </a:t>
                      </a:r>
                      <a:r>
                        <a:rPr sz="1000" strike="sngStrike">
                          <a:solidFill>
                            <a:srgbClr val="B00000"/>
                          </a:solidFill>
                        </a:rPr>
                        <a:t>D</a:t>
                      </a:r>
                      <a:r>
                        <a:rPr sz="1000" b="1">
                          <a:solidFill>
                            <a:srgbClr val="2E7D32"/>
                          </a:solidFill>
                        </a:rPr>
                        <a:t>(MIM) d</a:t>
                      </a:r>
                      <a:r>
                        <a:rPr sz="1000"/>
                        <a:t>atabase record</a:t>
                      </a:r>
                      <a:r>
                        <a:rPr sz="1000" strike="sngStrike">
                          <a:solidFill>
                            <a:srgbClr val="B00000"/>
                          </a:solidFill>
                        </a:rPr>
                        <a:t>.</a:t>
                      </a:r>
                      <a:r>
                        <a:rPr sz="1000" b="1">
                          <a:solidFill>
                            <a:srgbClr val="2E7D32"/>
                          </a:solidFill>
                        </a:rPr>
                        <a:t> (https://ceos.org/mim-database).</a:t>
                      </a:r>
                    </a:p>
                  </a:txBody>
                  <a:tcPr>
                    <a:solidFill>
                      <a:srgbClr val="F2F2F2"/>
                    </a:solidFill>
                  </a:tcPr>
                </a:tc>
                <a:extLst>
                  <a:ext uri="{0D108BD9-81ED-4DB2-BD59-A6C34878D82A}">
                    <a16:rowId xmlns:a16="http://schemas.microsoft.com/office/drawing/2014/main" val="10002"/>
                  </a:ext>
                </a:extLst>
              </a:tr>
              <a:tr h="0">
                <a:tc>
                  <a:txBody>
                    <a:bodyPr/>
                    <a:lstStyle/>
                    <a:p>
                      <a:r>
                        <a:rPr sz="1000" b="1"/>
                        <a:t>CB, GSLC, INSAR, NRB, ORB, POL</a:t>
                      </a:r>
                    </a:p>
                  </a:txBody>
                  <a:tcPr>
                    <a:solidFill>
                      <a:srgbClr val="FFFFFF"/>
                    </a:solidFill>
                  </a:tcPr>
                </a:tc>
                <a:tc>
                  <a:txBody>
                    <a:bodyPr/>
                    <a:lstStyle/>
                    <a:p>
                      <a:r>
                        <a:rPr sz="1000">
                          <a:solidFill>
                            <a:srgbClr val="1565C0"/>
                          </a:solidFill>
                        </a:rPr>
                        <a:t>As threshold, </a:t>
                      </a:r>
                      <a:r>
                        <a:rPr sz="1000"/>
                        <a:t>but using [</a:t>
                      </a:r>
                      <a:r>
                        <a:rPr sz="1000">
                          <a:solidFill>
                            <a:srgbClr val="1565C0"/>
                          </a:solidFill>
                        </a:rPr>
                        <a:t>CEOS Mission</a:t>
                      </a:r>
                      <a:r>
                        <a:rPr sz="1000"/>
                        <a:t>-</a:t>
                      </a:r>
                      <a:r>
                        <a:rPr sz="1000">
                          <a:solidFill>
                            <a:srgbClr val="1565C0"/>
                          </a:solidFill>
                        </a:rPr>
                        <a:t>Instruments</a:t>
                      </a:r>
                      <a:r>
                        <a:rPr sz="1000"/>
                        <a:t>-</a:t>
                      </a:r>
                      <a:r>
                        <a:rPr sz="1000">
                          <a:solidFill>
                            <a:srgbClr val="1565C0"/>
                          </a:solidFill>
                        </a:rPr>
                        <a:t>Measurements </a:t>
                      </a:r>
                      <a:r>
                        <a:rPr sz="1000"/>
                        <a:t>(MIM) database</a:t>
                      </a:r>
                      <a:r>
                        <a:rPr sz="1000">
                          <a:solidFill>
                            <a:srgbClr val="1565C0"/>
                          </a:solidFill>
                        </a:rPr>
                        <a:t>](https://</a:t>
                      </a:r>
                      <a:r>
                        <a:rPr sz="1000"/>
                        <a:t>ceos.org/mim-database) as reference.</a:t>
                      </a:r>
                    </a:p>
                  </a:txBody>
                  <a:tcPr>
                    <a:solidFill>
                      <a:srgbClr val="FFFFFF"/>
                    </a:solidFill>
                  </a:tcPr>
                </a:tc>
                <a:tc>
                  <a:txBody>
                    <a:bodyPr/>
                    <a:lstStyle/>
                    <a:p>
                      <a:r>
                        <a:rPr sz="1000"/>
                        <a:t>As threshold, </a:t>
                      </a:r>
                      <a:r>
                        <a:rPr sz="1000" strike="sngStrike">
                          <a:solidFill>
                            <a:srgbClr val="B00000"/>
                          </a:solidFill>
                        </a:rPr>
                        <a:t>but using [</a:t>
                      </a:r>
                      <a:r>
                        <a:rPr sz="1000" b="1">
                          <a:solidFill>
                            <a:srgbClr val="2E7D32"/>
                          </a:solidFill>
                        </a:rPr>
                        <a:t>with references to the relevant </a:t>
                      </a:r>
                      <a:r>
                        <a:rPr sz="1000"/>
                        <a:t>CEOS Mission</a:t>
                      </a:r>
                      <a:r>
                        <a:rPr sz="1000" strike="sngStrike">
                          <a:solidFill>
                            <a:srgbClr val="B00000"/>
                          </a:solidFill>
                        </a:rPr>
                        <a:t>-</a:t>
                      </a:r>
                      <a:r>
                        <a:rPr sz="1000" b="1">
                          <a:solidFill>
                            <a:srgbClr val="2E7D32"/>
                          </a:solidFill>
                        </a:rPr>
                        <a:t>s, </a:t>
                      </a:r>
                      <a:r>
                        <a:rPr sz="1000"/>
                        <a:t>Instruments</a:t>
                      </a:r>
                      <a:r>
                        <a:rPr sz="1000" strike="sngStrike">
                          <a:solidFill>
                            <a:srgbClr val="B00000"/>
                          </a:solidFill>
                        </a:rPr>
                        <a:t>-</a:t>
                      </a:r>
                      <a:r>
                        <a:rPr sz="1000" b="1">
                          <a:solidFill>
                            <a:srgbClr val="2E7D32"/>
                          </a:solidFill>
                        </a:rPr>
                        <a:t>, and </a:t>
                      </a:r>
                      <a:r>
                        <a:rPr sz="1000"/>
                        <a:t>Measurements (MIM) database</a:t>
                      </a:r>
                      <a:r>
                        <a:rPr sz="1000" strike="sngStrike">
                          <a:solidFill>
                            <a:srgbClr val="B00000"/>
                          </a:solidFill>
                        </a:rPr>
                        <a:t>]</a:t>
                      </a:r>
                      <a:r>
                        <a:rPr sz="1000" b="1">
                          <a:solidFill>
                            <a:srgbClr val="2E7D32"/>
                          </a:solidFill>
                        </a:rPr>
                        <a:t> record </a:t>
                      </a:r>
                      <a:r>
                        <a:rPr sz="1000"/>
                        <a:t>(https://ceos.org/mim-database)</a:t>
                      </a:r>
                      <a:r>
                        <a:rPr sz="1000" strike="sngStrike">
                          <a:solidFill>
                            <a:srgbClr val="B00000"/>
                          </a:solidFill>
                        </a:rPr>
                        <a:t> as reference</a:t>
                      </a:r>
                      <a:r>
                        <a:rPr sz="1000"/>
                        <a:t>.</a:t>
                      </a:r>
                    </a:p>
                  </a:txBody>
                  <a:tcP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57200" y="5905195"/>
            <a:ext cx="11277295" cy="923330"/>
          </a:xfrm>
          <a:prstGeom prst="rect">
            <a:avLst/>
          </a:prstGeom>
          <a:noFill/>
        </p:spPr>
        <p:txBody>
          <a:bodyPr wrap="square" lIns="0" tIns="0" rIns="0" bIns="0">
            <a:spAutoFit/>
          </a:bodyPr>
          <a:lstStyle/>
          <a:p>
            <a:r>
              <a:rPr sz="1200" b="1" dirty="0"/>
              <a:t>Internal notes: </a:t>
            </a:r>
            <a:r>
              <a:rPr sz="1200" i="1" dirty="0"/>
              <a:t>For DOI related discussions </a:t>
            </a:r>
            <a:r>
              <a:rPr lang="de-DE" sz="1200" i="1" dirty="0" err="1"/>
              <a:t>see</a:t>
            </a:r>
            <a:r>
              <a:rPr lang="de-DE" sz="1200" i="1" dirty="0"/>
              <a:t> "DOIs" </a:t>
            </a:r>
            <a:r>
              <a:rPr lang="de-DE" sz="1200" i="1" dirty="0" err="1"/>
              <a:t>slide</a:t>
            </a:r>
            <a:r>
              <a:rPr sz="1200" i="1" dirty="0"/>
              <a:t>.</a:t>
            </a:r>
          </a:p>
          <a:p>
            <a:endParaRPr sz="1200" i="1" dirty="0"/>
          </a:p>
          <a:p>
            <a:r>
              <a:rPr sz="1200" i="1" dirty="0"/>
              <a:t>The MIM database URL (ceos.org/</a:t>
            </a:r>
            <a:r>
              <a:rPr sz="1200" i="1" dirty="0" err="1"/>
              <a:t>mim</a:t>
            </a:r>
            <a:r>
              <a:rPr sz="1200" i="1" dirty="0"/>
              <a:t>-database) supersedes the old database.eohandbook.com link used by AR.</a:t>
            </a:r>
            <a:br>
              <a:rPr lang="de-DE" sz="1200" i="1" dirty="0"/>
            </a:br>
            <a:br>
              <a:rPr lang="de-DE" sz="1200" i="1" dirty="0"/>
            </a:br>
            <a:r>
              <a:rPr lang="de-DE" sz="1200" i="1" dirty="0" err="1"/>
              <a:t>Should</a:t>
            </a:r>
            <a:r>
              <a:rPr lang="de-DE" sz="1200" i="1" dirty="0"/>
              <a:t> </a:t>
            </a:r>
            <a:r>
              <a:rPr lang="de-DE" sz="1200" i="1" dirty="0" err="1"/>
              <a:t>we</a:t>
            </a:r>
            <a:r>
              <a:rPr lang="de-DE" sz="1200" i="1" dirty="0"/>
              <a:t> </a:t>
            </a:r>
            <a:r>
              <a:rPr lang="de-DE" sz="1200" i="1" dirty="0" err="1"/>
              <a:t>rename</a:t>
            </a:r>
            <a:r>
              <a:rPr lang="de-DE" sz="1200" i="1" dirty="0"/>
              <a:t> the title due to </a:t>
            </a:r>
            <a:r>
              <a:rPr lang="de-DE" sz="1200" i="1" dirty="0" err="1"/>
              <a:t>listing</a:t>
            </a:r>
            <a:r>
              <a:rPr lang="de-DE" sz="1200" i="1" dirty="0"/>
              <a:t> also the </a:t>
            </a:r>
            <a:r>
              <a:rPr lang="de-DE" sz="1200" i="1" dirty="0" err="1"/>
              <a:t>satellite</a:t>
            </a:r>
            <a:r>
              <a:rPr lang="de-DE" sz="1200" i="1" dirty="0"/>
              <a:t>?</a:t>
            </a:r>
            <a:endParaRPr sz="1200" i="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461665"/>
          </a:xfrm>
          <a:prstGeom prst="rect">
            <a:avLst/>
          </a:prstGeom>
          <a:noFill/>
        </p:spPr>
        <p:txBody>
          <a:bodyPr wrap="square">
            <a:spAutoFit/>
          </a:bodyPr>
          <a:lstStyle/>
          <a:p>
            <a:r>
              <a:rPr sz="2400" dirty="0"/>
              <a:t>Metadata Machine Readability (AR, NLSR, SR, ST, CB, GSLC, INSAR, NRB, ORB, POL)</a:t>
            </a:r>
          </a:p>
        </p:txBody>
      </p:sp>
      <p:graphicFrame>
        <p:nvGraphicFramePr>
          <p:cNvPr id="3" name="Table 2"/>
          <p:cNvGraphicFramePr>
            <a:graphicFrameLocks noGrp="1"/>
          </p:cNvGraphicFramePr>
          <p:nvPr/>
        </p:nvGraphicFramePr>
        <p:xfrm>
          <a:off x="457200" y="1005840"/>
          <a:ext cx="11265408" cy="17526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 NLSR, SR, ST</a:t>
                      </a:r>
                    </a:p>
                    <a:p>
                      <a:r>
                        <a:rPr sz="1000" i="1">
                          <a:solidFill>
                            <a:srgbClr val="808080"/>
                          </a:solidFill>
                        </a:rPr>
                        <a:t>(baseline)</a:t>
                      </a:r>
                    </a:p>
                  </a:txBody>
                  <a:tcPr>
                    <a:solidFill>
                      <a:srgbClr val="FFFFFF"/>
                    </a:solidFill>
                  </a:tcPr>
                </a:tc>
                <a:tc>
                  <a:txBody>
                    <a:bodyPr/>
                    <a:lstStyle/>
                    <a:p>
                      <a:r>
                        <a:rPr sz="1000" dirty="0"/>
                        <a:t>Metadata is provided in a structure that enables a computer algorithm to be used to consistently and automatically identify and extract each component part for further use.</a:t>
                      </a:r>
                    </a:p>
                  </a:txBody>
                  <a:tcPr>
                    <a:solidFill>
                      <a:srgbClr val="FFFFFF"/>
                    </a:solidFill>
                  </a:tcPr>
                </a:tc>
                <a:tc>
                  <a:txBody>
                    <a:bodyPr/>
                    <a:lstStyle/>
                    <a:p>
                      <a:r>
                        <a:rPr sz="1000" dirty="0"/>
                        <a:t>Metadata is provided in a structure that enables a computer algorithm to be used to consistently and automatically identify and extract each component</a:t>
                      </a:r>
                      <a:r>
                        <a:rPr sz="1000" strike="sngStrike" dirty="0">
                          <a:solidFill>
                            <a:srgbClr val="B00000"/>
                          </a:solidFill>
                        </a:rPr>
                        <a:t> part</a:t>
                      </a:r>
                      <a:r>
                        <a:rPr sz="1000" b="1" dirty="0">
                          <a:solidFill>
                            <a:srgbClr val="2E7D32"/>
                          </a:solidFill>
                        </a:rPr>
                        <a:t>/variable</a:t>
                      </a:r>
                      <a:r>
                        <a:rPr sz="1000" dirty="0"/>
                        <a:t> for further use.</a:t>
                      </a:r>
                    </a:p>
                  </a:txBody>
                  <a:tcPr>
                    <a:solidFill>
                      <a:srgbClr val="FFFFFF"/>
                    </a:solidFill>
                  </a:tcPr>
                </a:tc>
                <a:extLst>
                  <a:ext uri="{0D108BD9-81ED-4DB2-BD59-A6C34878D82A}">
                    <a16:rowId xmlns:a16="http://schemas.microsoft.com/office/drawing/2014/main" val="10001"/>
                  </a:ext>
                </a:extLst>
              </a:tr>
              <a:tr h="0">
                <a:tc>
                  <a:txBody>
                    <a:bodyPr/>
                    <a:lstStyle/>
                    <a:p>
                      <a:r>
                        <a:rPr sz="1000" b="1"/>
                        <a:t>CB, GSLC, INSAR, NRB, ORB, POL</a:t>
                      </a:r>
                    </a:p>
                  </a:txBody>
                  <a:tcPr>
                    <a:solidFill>
                      <a:srgbClr val="F2F2F2"/>
                    </a:solidFill>
                  </a:tcPr>
                </a:tc>
                <a:tc>
                  <a:txBody>
                    <a:bodyPr/>
                    <a:lstStyle/>
                    <a:p>
                      <a:r>
                        <a:rPr sz="1000" dirty="0"/>
                        <a:t>Metadata is provided in a structure that enables a computer algorithm to be used to consistently and automatically identify and extract each component</a:t>
                      </a:r>
                      <a:r>
                        <a:rPr sz="1000" strike="sngStrike" dirty="0">
                          <a:solidFill>
                            <a:srgbClr val="B00000"/>
                          </a:solidFill>
                        </a:rPr>
                        <a:t> part</a:t>
                      </a:r>
                      <a:r>
                        <a:rPr sz="1000" b="1" dirty="0">
                          <a:solidFill>
                            <a:srgbClr val="2E7D32"/>
                          </a:solidFill>
                        </a:rPr>
                        <a:t>/variable</a:t>
                      </a:r>
                      <a:r>
                        <a:rPr sz="1000" dirty="0"/>
                        <a:t> for further use.</a:t>
                      </a:r>
                    </a:p>
                  </a:txBody>
                  <a:tcPr>
                    <a:solidFill>
                      <a:srgbClr val="F2F2F2"/>
                    </a:solidFill>
                  </a:tcPr>
                </a:tc>
                <a:tc>
                  <a:txBody>
                    <a:bodyPr/>
                    <a:lstStyle/>
                    <a:p>
                      <a:r>
                        <a:rPr sz="1000" i="1" dirty="0">
                          <a:solidFill>
                            <a:srgbClr val="808080"/>
                          </a:solidFill>
                        </a:rPr>
                        <a:t>(keep as is)</a:t>
                      </a:r>
                    </a:p>
                  </a:txBody>
                  <a:tcPr>
                    <a:solidFill>
                      <a:srgbClr val="F2F2F2"/>
                    </a:solidFill>
                  </a:tcPr>
                </a:tc>
                <a:extLst>
                  <a:ext uri="{0D108BD9-81ED-4DB2-BD59-A6C34878D82A}">
                    <a16:rowId xmlns:a16="http://schemas.microsoft.com/office/drawing/2014/main" val="10002"/>
                  </a:ext>
                </a:extLst>
              </a:tr>
              <a:tr h="0">
                <a:tc>
                  <a:txBody>
                    <a:bodyPr/>
                    <a:lstStyle/>
                    <a:p>
                      <a:r>
                        <a:rPr sz="1000" b="1"/>
                        <a:t>AR, NLSR, SR</a:t>
                      </a:r>
                    </a:p>
                  </a:txBody>
                  <a:tcPr>
                    <a:solidFill>
                      <a:srgbClr val="FFFFFF"/>
                    </a:solidFill>
                  </a:tcPr>
                </a:tc>
                <a:tc>
                  <a:txBody>
                    <a:bodyPr/>
                    <a:lstStyle/>
                    <a:p>
                      <a:r>
                        <a:rPr sz="1000"/>
                        <a:t>Metadata is provided in a structure that enables a computer algorithm to be used to consistently and automatically identify and extract each component part for further use.</a:t>
                      </a:r>
                    </a:p>
                  </a:txBody>
                  <a:tcPr>
                    <a:solidFill>
                      <a:srgbClr val="FFFFFF"/>
                    </a:solidFill>
                  </a:tcPr>
                </a:tc>
                <a:tc>
                  <a:txBody>
                    <a:bodyPr/>
                    <a:lstStyle/>
                    <a:p>
                      <a:r>
                        <a:rPr sz="1000" dirty="0"/>
                        <a:t>Metadata is provided in a structure that enables a computer algorithm to be used to consistently and automatically identify and extract each component</a:t>
                      </a:r>
                      <a:r>
                        <a:rPr sz="1000" strike="sngStrike" dirty="0">
                          <a:solidFill>
                            <a:srgbClr val="B00000"/>
                          </a:solidFill>
                        </a:rPr>
                        <a:t> part</a:t>
                      </a:r>
                      <a:r>
                        <a:rPr sz="1000" b="1" dirty="0">
                          <a:solidFill>
                            <a:srgbClr val="2E7D32"/>
                          </a:solidFill>
                        </a:rPr>
                        <a:t>/variable</a:t>
                      </a:r>
                      <a:r>
                        <a:rPr sz="1000" dirty="0"/>
                        <a:t> for further use.</a:t>
                      </a:r>
                    </a:p>
                  </a:txBody>
                  <a:tcPr>
                    <a:solidFill>
                      <a:srgbClr val="FFFFFF"/>
                    </a:solidFill>
                  </a:tcPr>
                </a:tc>
                <a:extLst>
                  <a:ext uri="{0D108BD9-81ED-4DB2-BD59-A6C34878D82A}">
                    <a16:rowId xmlns:a16="http://schemas.microsoft.com/office/drawing/2014/main" val="10003"/>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621192683"/>
              </p:ext>
            </p:extLst>
          </p:nvPr>
        </p:nvGraphicFramePr>
        <p:xfrm>
          <a:off x="457200" y="3300984"/>
          <a:ext cx="11265408" cy="23622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 NLSR, SR, ST</a:t>
                      </a:r>
                    </a:p>
                    <a:p>
                      <a:r>
                        <a:rPr sz="1000" i="1">
                          <a:solidFill>
                            <a:srgbClr val="808080"/>
                          </a:solidFill>
                        </a:rPr>
                        <a:t>(baseline)</a:t>
                      </a:r>
                    </a:p>
                  </a:txBody>
                  <a:tcPr>
                    <a:solidFill>
                      <a:srgbClr val="FFFFFF"/>
                    </a:solidFill>
                  </a:tcPr>
                </a:tc>
                <a:tc>
                  <a:txBody>
                    <a:bodyPr/>
                    <a:lstStyle/>
                    <a:p>
                      <a:r>
                        <a:rPr sz="1000" dirty="0"/>
                        <a:t>As threshold, but metadata should be provided in a community endorsed standard that facilitates machine-readability, such as ISO 19115-2.</a:t>
                      </a:r>
                    </a:p>
                  </a:txBody>
                  <a:tcPr>
                    <a:solidFill>
                      <a:srgbClr val="FFFFFF"/>
                    </a:solidFill>
                  </a:tcPr>
                </a:tc>
                <a:tc>
                  <a:txBody>
                    <a:bodyPr/>
                    <a:lstStyle/>
                    <a:p>
                      <a:pPr>
                        <a:buNone/>
                      </a:pPr>
                      <a:r>
                        <a:rPr lang="de-DE" sz="1000" dirty="0">
                          <a:effectLst/>
                          <a:latin typeface="Calibri" panose="020F0502020204030204" pitchFamily="34" charset="0"/>
                        </a:rPr>
                        <a:t>As </a:t>
                      </a:r>
                      <a:r>
                        <a:rPr lang="de-DE" sz="1000" dirty="0" err="1">
                          <a:effectLst/>
                          <a:latin typeface="Calibri" panose="020F0502020204030204" pitchFamily="34" charset="0"/>
                        </a:rPr>
                        <a:t>threshold</a:t>
                      </a:r>
                      <a:r>
                        <a:rPr lang="de-DE" sz="1000" dirty="0">
                          <a:effectLst/>
                          <a:latin typeface="Calibri" panose="020F0502020204030204" pitchFamily="34" charset="0"/>
                        </a:rPr>
                        <a:t>, but </a:t>
                      </a:r>
                      <a:r>
                        <a:rPr lang="de-DE" sz="1000" dirty="0" err="1">
                          <a:effectLst/>
                          <a:latin typeface="Calibri" panose="020F0502020204030204" pitchFamily="34" charset="0"/>
                        </a:rPr>
                        <a:t>metadata</a:t>
                      </a:r>
                      <a:r>
                        <a:rPr lang="de-DE" sz="1000" dirty="0">
                          <a:effectLst/>
                          <a:latin typeface="Calibri" panose="020F0502020204030204" pitchFamily="34" charset="0"/>
                        </a:rPr>
                        <a:t> </a:t>
                      </a:r>
                      <a:r>
                        <a:rPr lang="de-DE" sz="1000" strike="sngStrike" dirty="0" err="1">
                          <a:solidFill>
                            <a:srgbClr val="B00000"/>
                          </a:solidFill>
                          <a:effectLst/>
                          <a:latin typeface="Calibri" panose="020F0502020204030204" pitchFamily="34" charset="0"/>
                        </a:rPr>
                        <a:t>should</a:t>
                      </a:r>
                      <a:r>
                        <a:rPr lang="de-DE" sz="1000" strike="sngStrike" dirty="0">
                          <a:solidFill>
                            <a:srgbClr val="B00000"/>
                          </a:solidFill>
                          <a:effectLst/>
                          <a:latin typeface="Calibri" panose="020F0502020204030204" pitchFamily="34" charset="0"/>
                        </a:rPr>
                        <a:t> </a:t>
                      </a:r>
                      <a:r>
                        <a:rPr lang="de-DE" sz="1000" strike="sngStrike" dirty="0" err="1">
                          <a:solidFill>
                            <a:srgbClr val="B00000"/>
                          </a:solidFill>
                          <a:effectLst/>
                          <a:latin typeface="Calibri" panose="020F0502020204030204" pitchFamily="34" charset="0"/>
                        </a:rPr>
                        <a:t>be</a:t>
                      </a:r>
                      <a:r>
                        <a:rPr lang="de-DE" sz="1000" b="1" dirty="0" err="1">
                          <a:solidFill>
                            <a:srgbClr val="2E7D32"/>
                          </a:solidFill>
                          <a:effectLst/>
                          <a:latin typeface="Calibri" panose="020F0502020204030204" pitchFamily="34" charset="0"/>
                        </a:rPr>
                        <a:t>is</a:t>
                      </a:r>
                      <a:r>
                        <a:rPr lang="de-DE" sz="1000" dirty="0">
                          <a:effectLst/>
                          <a:latin typeface="Calibri" panose="020F0502020204030204" pitchFamily="34" charset="0"/>
                        </a:rPr>
                        <a:t> </a:t>
                      </a:r>
                      <a:r>
                        <a:rPr lang="de-DE" sz="1000" dirty="0" err="1">
                          <a:effectLst/>
                          <a:latin typeface="Calibri" panose="020F0502020204030204" pitchFamily="34" charset="0"/>
                        </a:rPr>
                        <a:t>provided</a:t>
                      </a:r>
                      <a:r>
                        <a:rPr lang="de-DE" sz="1000" dirty="0">
                          <a:effectLst/>
                          <a:latin typeface="Calibri" panose="020F0502020204030204" pitchFamily="34" charset="0"/>
                        </a:rPr>
                        <a:t> in a </a:t>
                      </a:r>
                      <a:r>
                        <a:rPr lang="de-DE" sz="1000" dirty="0" err="1">
                          <a:effectLst/>
                          <a:latin typeface="Calibri" panose="020F0502020204030204" pitchFamily="34" charset="0"/>
                        </a:rPr>
                        <a:t>community</a:t>
                      </a:r>
                      <a:r>
                        <a:rPr lang="de-DE" sz="1000" dirty="0">
                          <a:effectLst/>
                          <a:latin typeface="Calibri" panose="020F0502020204030204" pitchFamily="34" charset="0"/>
                        </a:rPr>
                        <a:t> </a:t>
                      </a:r>
                      <a:r>
                        <a:rPr lang="de-DE" sz="1000" dirty="0" err="1">
                          <a:effectLst/>
                          <a:latin typeface="Calibri" panose="020F0502020204030204" pitchFamily="34" charset="0"/>
                        </a:rPr>
                        <a:t>endorsed</a:t>
                      </a:r>
                      <a:r>
                        <a:rPr lang="de-DE" sz="1000" dirty="0">
                          <a:effectLst/>
                          <a:latin typeface="Calibri" panose="020F0502020204030204" pitchFamily="34" charset="0"/>
                        </a:rPr>
                        <a:t> </a:t>
                      </a:r>
                      <a:r>
                        <a:rPr lang="de-DE" sz="1000" dirty="0" err="1">
                          <a:effectLst/>
                          <a:latin typeface="Calibri" panose="020F0502020204030204" pitchFamily="34" charset="0"/>
                        </a:rPr>
                        <a:t>standard</a:t>
                      </a:r>
                      <a:r>
                        <a:rPr lang="de-DE" sz="1000" dirty="0">
                          <a:effectLst/>
                          <a:latin typeface="Calibri" panose="020F0502020204030204" pitchFamily="34" charset="0"/>
                        </a:rPr>
                        <a:t> </a:t>
                      </a:r>
                      <a:r>
                        <a:rPr lang="de-DE" sz="1000" dirty="0" err="1">
                          <a:effectLst/>
                          <a:latin typeface="Calibri" panose="020F0502020204030204" pitchFamily="34" charset="0"/>
                        </a:rPr>
                        <a:t>that</a:t>
                      </a:r>
                      <a:r>
                        <a:rPr lang="de-DE" sz="1000" dirty="0">
                          <a:effectLst/>
                          <a:latin typeface="Calibri" panose="020F0502020204030204" pitchFamily="34" charset="0"/>
                        </a:rPr>
                        <a:t> </a:t>
                      </a:r>
                      <a:r>
                        <a:rPr lang="de-DE" sz="1000" dirty="0" err="1">
                          <a:effectLst/>
                          <a:latin typeface="Calibri" panose="020F0502020204030204" pitchFamily="34" charset="0"/>
                        </a:rPr>
                        <a:t>facilitates</a:t>
                      </a:r>
                      <a:r>
                        <a:rPr lang="de-DE" sz="1000" dirty="0">
                          <a:effectLst/>
                          <a:latin typeface="Calibri" panose="020F0502020204030204" pitchFamily="34" charset="0"/>
                        </a:rPr>
                        <a:t> </a:t>
                      </a:r>
                      <a:r>
                        <a:rPr lang="de-DE" sz="1000" dirty="0" err="1">
                          <a:effectLst/>
                          <a:latin typeface="Calibri" panose="020F0502020204030204" pitchFamily="34" charset="0"/>
                        </a:rPr>
                        <a:t>machine-readability</a:t>
                      </a:r>
                      <a:r>
                        <a:rPr lang="de-DE" sz="1000" dirty="0">
                          <a:effectLst/>
                          <a:latin typeface="Calibri" panose="020F0502020204030204" pitchFamily="34" charset="0"/>
                        </a:rPr>
                        <a:t>, such as </a:t>
                      </a:r>
                      <a:r>
                        <a:rPr lang="de-DE" sz="1000" b="1" dirty="0">
                          <a:solidFill>
                            <a:srgbClr val="2E7D32"/>
                          </a:solidFill>
                          <a:effectLst/>
                          <a:latin typeface="Calibri" panose="020F0502020204030204" pitchFamily="34" charset="0"/>
                        </a:rPr>
                        <a:t>CEOS-ARD </a:t>
                      </a:r>
                      <a:r>
                        <a:rPr lang="de-DE" sz="1000" b="1" dirty="0" err="1">
                          <a:solidFill>
                            <a:srgbClr val="2E7D32"/>
                          </a:solidFill>
                          <a:effectLst/>
                          <a:latin typeface="Calibri" panose="020F0502020204030204" pitchFamily="34" charset="0"/>
                        </a:rPr>
                        <a:t>Metadata</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Specifications</a:t>
                      </a:r>
                      <a:r>
                        <a:rPr lang="de-DE" sz="1000" b="1" dirty="0">
                          <a:solidFill>
                            <a:srgbClr val="2E7D32"/>
                          </a:solidFill>
                          <a:effectLst/>
                          <a:latin typeface="Calibri" panose="020F0502020204030204" pitchFamily="34" charset="0"/>
                        </a:rPr>
                        <a:t>, </a:t>
                      </a:r>
                      <a:r>
                        <a:rPr lang="de-DE" sz="1000" dirty="0">
                          <a:effectLst/>
                          <a:latin typeface="Calibri" panose="020F0502020204030204" pitchFamily="34" charset="0"/>
                        </a:rPr>
                        <a:t>ISO 19115-2</a:t>
                      </a:r>
                      <a:r>
                        <a:rPr lang="de-DE" sz="1000" b="1" dirty="0">
                          <a:solidFill>
                            <a:srgbClr val="2E7D32"/>
                          </a:solidFill>
                          <a:effectLst/>
                          <a:latin typeface="Calibri" panose="020F0502020204030204" pitchFamily="34" charset="0"/>
                        </a:rPr>
                        <a:t>, STAC, the Climate and Forecast (CF) </a:t>
                      </a:r>
                      <a:r>
                        <a:rPr lang="de-DE" sz="1000" b="1" dirty="0" err="1">
                          <a:solidFill>
                            <a:srgbClr val="2E7D32"/>
                          </a:solidFill>
                          <a:effectLst/>
                          <a:latin typeface="Calibri" panose="020F0502020204030204" pitchFamily="34" charset="0"/>
                        </a:rPr>
                        <a:t>convention</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or</a:t>
                      </a:r>
                      <a:r>
                        <a:rPr lang="de-DE" sz="1000" b="1" dirty="0">
                          <a:solidFill>
                            <a:srgbClr val="2E7D32"/>
                          </a:solidFill>
                          <a:effectLst/>
                          <a:latin typeface="Calibri" panose="020F0502020204030204" pitchFamily="34" charset="0"/>
                        </a:rPr>
                        <a:t> the Attribute Convention for Data Discovery (ACDD)</a:t>
                      </a:r>
                      <a:r>
                        <a:rPr lang="de-DE" sz="1000" dirty="0">
                          <a:effectLst/>
                          <a:latin typeface="Calibri" panose="020F0502020204030204" pitchFamily="34" charset="0"/>
                        </a:rPr>
                        <a:t>.</a:t>
                      </a:r>
                    </a:p>
                  </a:txBody>
                  <a:tcPr>
                    <a:solidFill>
                      <a:srgbClr val="FFFFFF"/>
                    </a:solidFill>
                  </a:tcPr>
                </a:tc>
                <a:extLst>
                  <a:ext uri="{0D108BD9-81ED-4DB2-BD59-A6C34878D82A}">
                    <a16:rowId xmlns:a16="http://schemas.microsoft.com/office/drawing/2014/main" val="10001"/>
                  </a:ext>
                </a:extLst>
              </a:tr>
              <a:tr h="0">
                <a:tc>
                  <a:txBody>
                    <a:bodyPr/>
                    <a:lstStyle/>
                    <a:p>
                      <a:r>
                        <a:rPr sz="1000" b="1"/>
                        <a:t>CB, GSLC, INSAR, NRB, ORB, POL</a:t>
                      </a:r>
                    </a:p>
                  </a:txBody>
                  <a:tcPr>
                    <a:solidFill>
                      <a:srgbClr val="F2F2F2"/>
                    </a:solidFill>
                  </a:tcPr>
                </a:tc>
                <a:tc>
                  <a:txBody>
                    <a:bodyPr/>
                    <a:lstStyle/>
                    <a:p>
                      <a:r>
                        <a:rPr sz="1000" dirty="0"/>
                        <a:t>As threshold, but metadata </a:t>
                      </a:r>
                      <a:r>
                        <a:rPr sz="1000" strike="sngStrike" dirty="0">
                          <a:solidFill>
                            <a:srgbClr val="B00000"/>
                          </a:solidFill>
                        </a:rPr>
                        <a:t>should be </a:t>
                      </a:r>
                      <a:r>
                        <a:rPr sz="1000" strike="sngStrike" dirty="0" err="1">
                          <a:solidFill>
                            <a:srgbClr val="B00000"/>
                          </a:solidFill>
                        </a:rPr>
                        <a:t>provided</a:t>
                      </a:r>
                      <a:r>
                        <a:rPr sz="1000" b="1" dirty="0" err="1">
                          <a:solidFill>
                            <a:srgbClr val="2E7D32"/>
                          </a:solidFill>
                        </a:rPr>
                        <a:t>is</a:t>
                      </a:r>
                      <a:r>
                        <a:rPr sz="1000" b="1" dirty="0">
                          <a:solidFill>
                            <a:srgbClr val="2E7D32"/>
                          </a:solidFill>
                        </a:rPr>
                        <a:t> formatted in accordance with the latest corresponding CEOS-ARD SAR Metadata Specifications, or</a:t>
                      </a:r>
                      <a:r>
                        <a:rPr sz="1000" dirty="0"/>
                        <a:t> in a community endorsed standard that facilitates machine-readability, such as ISO 19115-2</a:t>
                      </a:r>
                      <a:r>
                        <a:rPr sz="1000" b="1" dirty="0">
                          <a:solidFill>
                            <a:srgbClr val="2E7D32"/>
                          </a:solidFill>
                        </a:rPr>
                        <a:t>, Climate and Forecast (CF) convention and the Attribute Convention for Data Discovery (ACDD), etc</a:t>
                      </a:r>
                      <a:r>
                        <a:rPr sz="1000" dirty="0"/>
                        <a:t>.</a:t>
                      </a:r>
                    </a:p>
                  </a:txBody>
                  <a:tcPr>
                    <a:solidFill>
                      <a:srgbClr val="F2F2F2"/>
                    </a:solidFill>
                  </a:tcPr>
                </a:tc>
                <a:tc>
                  <a:txBody>
                    <a:bodyPr/>
                    <a:lstStyle/>
                    <a:p>
                      <a:pPr>
                        <a:buNone/>
                      </a:pPr>
                      <a:r>
                        <a:rPr lang="de-DE" sz="1000" dirty="0">
                          <a:effectLst/>
                          <a:latin typeface="Calibri" panose="020F0502020204030204" pitchFamily="34" charset="0"/>
                        </a:rPr>
                        <a:t>As </a:t>
                      </a:r>
                      <a:r>
                        <a:rPr lang="de-DE" sz="1000" dirty="0" err="1">
                          <a:effectLst/>
                          <a:latin typeface="Calibri" panose="020F0502020204030204" pitchFamily="34" charset="0"/>
                        </a:rPr>
                        <a:t>threshold</a:t>
                      </a:r>
                      <a:r>
                        <a:rPr lang="de-DE" sz="1000" dirty="0">
                          <a:effectLst/>
                          <a:latin typeface="Calibri" panose="020F0502020204030204" pitchFamily="34" charset="0"/>
                        </a:rPr>
                        <a:t>, but </a:t>
                      </a:r>
                      <a:r>
                        <a:rPr lang="de-DE" sz="1000" dirty="0" err="1">
                          <a:effectLst/>
                          <a:latin typeface="Calibri" panose="020F0502020204030204" pitchFamily="34" charset="0"/>
                        </a:rPr>
                        <a:t>metadata</a:t>
                      </a:r>
                      <a:r>
                        <a:rPr lang="de-DE" sz="1000" dirty="0">
                          <a:effectLst/>
                          <a:latin typeface="Calibri" panose="020F0502020204030204" pitchFamily="34" charset="0"/>
                        </a:rPr>
                        <a:t> </a:t>
                      </a:r>
                      <a:r>
                        <a:rPr lang="de-DE" sz="1000" dirty="0" err="1">
                          <a:effectLst/>
                          <a:latin typeface="Calibri" panose="020F0502020204030204" pitchFamily="34" charset="0"/>
                        </a:rPr>
                        <a:t>is</a:t>
                      </a:r>
                      <a:r>
                        <a:rPr lang="de-DE" sz="1000" dirty="0">
                          <a:effectLst/>
                          <a:latin typeface="Calibri" panose="020F0502020204030204" pitchFamily="34" charset="0"/>
                        </a:rPr>
                        <a:t> </a:t>
                      </a:r>
                      <a:r>
                        <a:rPr lang="de-DE" sz="1000" strike="sngStrike" dirty="0" err="1">
                          <a:solidFill>
                            <a:srgbClr val="B00000"/>
                          </a:solidFill>
                          <a:effectLst/>
                          <a:latin typeface="Calibri" panose="020F0502020204030204" pitchFamily="34" charset="0"/>
                        </a:rPr>
                        <a:t>formatted</a:t>
                      </a:r>
                      <a:r>
                        <a:rPr lang="de-DE" sz="1000" strike="sngStrike" dirty="0">
                          <a:solidFill>
                            <a:srgbClr val="B00000"/>
                          </a:solidFill>
                          <a:effectLst/>
                          <a:latin typeface="Calibri" panose="020F0502020204030204" pitchFamily="34" charset="0"/>
                        </a:rPr>
                        <a:t> in </a:t>
                      </a:r>
                      <a:r>
                        <a:rPr lang="de-DE" sz="1000" strike="sngStrike" dirty="0" err="1">
                          <a:solidFill>
                            <a:srgbClr val="B00000"/>
                          </a:solidFill>
                          <a:effectLst/>
                          <a:latin typeface="Calibri" panose="020F0502020204030204" pitchFamily="34" charset="0"/>
                        </a:rPr>
                        <a:t>accordance</a:t>
                      </a:r>
                      <a:r>
                        <a:rPr lang="de-DE" sz="1000" strike="sngStrike" dirty="0">
                          <a:solidFill>
                            <a:srgbClr val="B00000"/>
                          </a:solidFill>
                          <a:effectLst/>
                          <a:latin typeface="Calibri" panose="020F0502020204030204" pitchFamily="34" charset="0"/>
                        </a:rPr>
                        <a:t> </a:t>
                      </a:r>
                      <a:r>
                        <a:rPr lang="de-DE" sz="1000" strike="sngStrike" dirty="0" err="1">
                          <a:solidFill>
                            <a:srgbClr val="B00000"/>
                          </a:solidFill>
                          <a:effectLst/>
                          <a:latin typeface="Calibri" panose="020F0502020204030204" pitchFamily="34" charset="0"/>
                        </a:rPr>
                        <a:t>with</a:t>
                      </a:r>
                      <a:r>
                        <a:rPr lang="de-DE" sz="1000" strike="sngStrike" dirty="0">
                          <a:solidFill>
                            <a:srgbClr val="B00000"/>
                          </a:solidFill>
                          <a:effectLst/>
                          <a:latin typeface="Calibri" panose="020F0502020204030204" pitchFamily="34" charset="0"/>
                        </a:rPr>
                        <a:t> the </a:t>
                      </a:r>
                      <a:r>
                        <a:rPr lang="de-DE" sz="1000" strike="sngStrike" dirty="0" err="1">
                          <a:solidFill>
                            <a:srgbClr val="B00000"/>
                          </a:solidFill>
                          <a:effectLst/>
                          <a:latin typeface="Calibri" panose="020F0502020204030204" pitchFamily="34" charset="0"/>
                        </a:rPr>
                        <a:t>latest</a:t>
                      </a:r>
                      <a:r>
                        <a:rPr lang="de-DE" sz="1000" strike="sngStrike" dirty="0">
                          <a:solidFill>
                            <a:srgbClr val="B00000"/>
                          </a:solidFill>
                          <a:effectLst/>
                          <a:latin typeface="Calibri" panose="020F0502020204030204" pitchFamily="34" charset="0"/>
                        </a:rPr>
                        <a:t> </a:t>
                      </a:r>
                      <a:r>
                        <a:rPr lang="de-DE" sz="1000" strike="sngStrike" dirty="0" err="1">
                          <a:solidFill>
                            <a:srgbClr val="B00000"/>
                          </a:solidFill>
                          <a:effectLst/>
                          <a:latin typeface="Calibri" panose="020F0502020204030204" pitchFamily="34" charset="0"/>
                        </a:rPr>
                        <a:t>corresponding</a:t>
                      </a:r>
                      <a:r>
                        <a:rPr lang="de-DE" sz="1000" strike="sngStrike" dirty="0">
                          <a:solidFill>
                            <a:srgbClr val="B00000"/>
                          </a:solidFill>
                          <a:effectLst/>
                          <a:latin typeface="Calibri" panose="020F0502020204030204" pitchFamily="34" charset="0"/>
                        </a:rPr>
                        <a:t> CEOS-ARD SAR </a:t>
                      </a:r>
                      <a:r>
                        <a:rPr lang="de-DE" sz="1000" strike="sngStrike" dirty="0" err="1">
                          <a:solidFill>
                            <a:srgbClr val="B00000"/>
                          </a:solidFill>
                          <a:effectLst/>
                          <a:latin typeface="Calibri" panose="020F0502020204030204" pitchFamily="34" charset="0"/>
                        </a:rPr>
                        <a:t>Metadata</a:t>
                      </a:r>
                      <a:r>
                        <a:rPr lang="de-DE" sz="1000" strike="sngStrike" dirty="0">
                          <a:solidFill>
                            <a:srgbClr val="B00000"/>
                          </a:solidFill>
                          <a:effectLst/>
                          <a:latin typeface="Calibri" panose="020F0502020204030204" pitchFamily="34" charset="0"/>
                        </a:rPr>
                        <a:t> </a:t>
                      </a:r>
                      <a:r>
                        <a:rPr lang="de-DE" sz="1000" strike="sngStrike" dirty="0" err="1">
                          <a:solidFill>
                            <a:srgbClr val="B00000"/>
                          </a:solidFill>
                          <a:effectLst/>
                          <a:latin typeface="Calibri" panose="020F0502020204030204" pitchFamily="34" charset="0"/>
                        </a:rPr>
                        <a:t>Specifications</a:t>
                      </a:r>
                      <a:r>
                        <a:rPr lang="de-DE" sz="1000" strike="sngStrike" dirty="0">
                          <a:solidFill>
                            <a:srgbClr val="B00000"/>
                          </a:solidFill>
                          <a:effectLst/>
                          <a:latin typeface="Calibri" panose="020F0502020204030204" pitchFamily="34" charset="0"/>
                        </a:rPr>
                        <a:t>, </a:t>
                      </a:r>
                      <a:r>
                        <a:rPr lang="de-DE" sz="1000" strike="sngStrike" dirty="0" err="1">
                          <a:solidFill>
                            <a:srgbClr val="B00000"/>
                          </a:solidFill>
                          <a:effectLst/>
                          <a:latin typeface="Calibri" panose="020F0502020204030204" pitchFamily="34" charset="0"/>
                        </a:rPr>
                        <a:t>or</a:t>
                      </a:r>
                      <a:r>
                        <a:rPr lang="de-DE" sz="1000" b="1" dirty="0" err="1">
                          <a:solidFill>
                            <a:srgbClr val="2E7D32"/>
                          </a:solidFill>
                          <a:effectLst/>
                          <a:latin typeface="Calibri" panose="020F0502020204030204" pitchFamily="34" charset="0"/>
                        </a:rPr>
                        <a:t>provided</a:t>
                      </a:r>
                      <a:r>
                        <a:rPr lang="de-DE" sz="1000" dirty="0">
                          <a:effectLst/>
                          <a:latin typeface="Calibri" panose="020F0502020204030204" pitchFamily="34" charset="0"/>
                        </a:rPr>
                        <a:t> in a </a:t>
                      </a:r>
                      <a:r>
                        <a:rPr lang="de-DE" sz="1000" dirty="0" err="1">
                          <a:effectLst/>
                          <a:latin typeface="Calibri" panose="020F0502020204030204" pitchFamily="34" charset="0"/>
                        </a:rPr>
                        <a:t>community</a:t>
                      </a:r>
                      <a:r>
                        <a:rPr lang="de-DE" sz="1000" dirty="0">
                          <a:effectLst/>
                          <a:latin typeface="Calibri" panose="020F0502020204030204" pitchFamily="34" charset="0"/>
                        </a:rPr>
                        <a:t> </a:t>
                      </a:r>
                      <a:r>
                        <a:rPr lang="de-DE" sz="1000" dirty="0" err="1">
                          <a:effectLst/>
                          <a:latin typeface="Calibri" panose="020F0502020204030204" pitchFamily="34" charset="0"/>
                        </a:rPr>
                        <a:t>endorsed</a:t>
                      </a:r>
                      <a:r>
                        <a:rPr lang="de-DE" sz="1000" dirty="0">
                          <a:effectLst/>
                          <a:latin typeface="Calibri" panose="020F0502020204030204" pitchFamily="34" charset="0"/>
                        </a:rPr>
                        <a:t> </a:t>
                      </a:r>
                      <a:r>
                        <a:rPr lang="de-DE" sz="1000" dirty="0" err="1">
                          <a:effectLst/>
                          <a:latin typeface="Calibri" panose="020F0502020204030204" pitchFamily="34" charset="0"/>
                        </a:rPr>
                        <a:t>standard</a:t>
                      </a:r>
                      <a:r>
                        <a:rPr lang="de-DE" sz="1000" dirty="0">
                          <a:effectLst/>
                          <a:latin typeface="Calibri" panose="020F0502020204030204" pitchFamily="34" charset="0"/>
                        </a:rPr>
                        <a:t> </a:t>
                      </a:r>
                      <a:r>
                        <a:rPr lang="de-DE" sz="1000" dirty="0" err="1">
                          <a:effectLst/>
                          <a:latin typeface="Calibri" panose="020F0502020204030204" pitchFamily="34" charset="0"/>
                        </a:rPr>
                        <a:t>that</a:t>
                      </a:r>
                      <a:r>
                        <a:rPr lang="de-DE" sz="1000" dirty="0">
                          <a:effectLst/>
                          <a:latin typeface="Calibri" panose="020F0502020204030204" pitchFamily="34" charset="0"/>
                        </a:rPr>
                        <a:t> </a:t>
                      </a:r>
                      <a:r>
                        <a:rPr lang="de-DE" sz="1000" dirty="0" err="1">
                          <a:effectLst/>
                          <a:latin typeface="Calibri" panose="020F0502020204030204" pitchFamily="34" charset="0"/>
                        </a:rPr>
                        <a:t>facilitates</a:t>
                      </a:r>
                      <a:r>
                        <a:rPr lang="de-DE" sz="1000" dirty="0">
                          <a:effectLst/>
                          <a:latin typeface="Calibri" panose="020F0502020204030204" pitchFamily="34" charset="0"/>
                        </a:rPr>
                        <a:t> </a:t>
                      </a:r>
                      <a:r>
                        <a:rPr lang="de-DE" sz="1000" dirty="0" err="1">
                          <a:effectLst/>
                          <a:latin typeface="Calibri" panose="020F0502020204030204" pitchFamily="34" charset="0"/>
                        </a:rPr>
                        <a:t>machine-readability</a:t>
                      </a:r>
                      <a:r>
                        <a:rPr lang="de-DE" sz="1000" dirty="0">
                          <a:effectLst/>
                          <a:latin typeface="Calibri" panose="020F0502020204030204" pitchFamily="34" charset="0"/>
                        </a:rPr>
                        <a:t>, such as </a:t>
                      </a:r>
                      <a:r>
                        <a:rPr lang="de-DE" sz="1000" b="1" dirty="0">
                          <a:solidFill>
                            <a:srgbClr val="2E7D32"/>
                          </a:solidFill>
                          <a:effectLst/>
                          <a:latin typeface="Calibri" panose="020F0502020204030204" pitchFamily="34" charset="0"/>
                        </a:rPr>
                        <a:t>CEOS-ARD </a:t>
                      </a:r>
                      <a:r>
                        <a:rPr lang="de-DE" sz="1000" b="1" dirty="0" err="1">
                          <a:solidFill>
                            <a:srgbClr val="2E7D32"/>
                          </a:solidFill>
                          <a:effectLst/>
                          <a:latin typeface="Calibri" panose="020F0502020204030204" pitchFamily="34" charset="0"/>
                        </a:rPr>
                        <a:t>Metadata</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Specifications</a:t>
                      </a:r>
                      <a:r>
                        <a:rPr lang="de-DE" sz="1000" b="1" dirty="0">
                          <a:solidFill>
                            <a:srgbClr val="2E7D32"/>
                          </a:solidFill>
                          <a:effectLst/>
                          <a:latin typeface="Calibri" panose="020F0502020204030204" pitchFamily="34" charset="0"/>
                        </a:rPr>
                        <a:t>, </a:t>
                      </a:r>
                      <a:r>
                        <a:rPr lang="de-DE" sz="1000" dirty="0">
                          <a:effectLst/>
                          <a:latin typeface="Calibri" panose="020F0502020204030204" pitchFamily="34" charset="0"/>
                        </a:rPr>
                        <a:t>ISO 19115-2,</a:t>
                      </a:r>
                      <a:r>
                        <a:rPr lang="de-DE" sz="1000" b="1" dirty="0">
                          <a:solidFill>
                            <a:srgbClr val="2E7D32"/>
                          </a:solidFill>
                          <a:effectLst/>
                          <a:latin typeface="Calibri" panose="020F0502020204030204" pitchFamily="34" charset="0"/>
                        </a:rPr>
                        <a:t> STAC, the</a:t>
                      </a:r>
                      <a:r>
                        <a:rPr lang="de-DE" sz="1000" dirty="0">
                          <a:effectLst/>
                          <a:latin typeface="Calibri" panose="020F0502020204030204" pitchFamily="34" charset="0"/>
                        </a:rPr>
                        <a:t> Climate and Forecast (CF) </a:t>
                      </a:r>
                      <a:r>
                        <a:rPr lang="de-DE" sz="1000" dirty="0" err="1">
                          <a:effectLst/>
                          <a:latin typeface="Calibri" panose="020F0502020204030204" pitchFamily="34" charset="0"/>
                        </a:rPr>
                        <a:t>convention</a:t>
                      </a:r>
                      <a:r>
                        <a:rPr lang="de-DE" sz="1000" strike="sngStrike" dirty="0">
                          <a:solidFill>
                            <a:srgbClr val="B00000"/>
                          </a:solidFill>
                          <a:effectLst/>
                          <a:latin typeface="Calibri" panose="020F0502020204030204" pitchFamily="34" charset="0"/>
                        </a:rPr>
                        <a:t> and</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or</a:t>
                      </a:r>
                      <a:r>
                        <a:rPr lang="de-DE" sz="1000" dirty="0">
                          <a:effectLst/>
                          <a:latin typeface="Calibri" panose="020F0502020204030204" pitchFamily="34" charset="0"/>
                        </a:rPr>
                        <a:t> the Attribute Convention for Data Discovery (ACDD)</a:t>
                      </a:r>
                      <a:r>
                        <a:rPr lang="de-DE" sz="1000" strike="sngStrike" dirty="0">
                          <a:solidFill>
                            <a:srgbClr val="B00000"/>
                          </a:solidFill>
                          <a:effectLst/>
                          <a:latin typeface="Calibri" panose="020F0502020204030204" pitchFamily="34" charset="0"/>
                        </a:rPr>
                        <a:t>, etc</a:t>
                      </a:r>
                      <a:r>
                        <a:rPr lang="de-DE" sz="1000" dirty="0">
                          <a:effectLst/>
                          <a:latin typeface="Calibri" panose="020F0502020204030204" pitchFamily="34" charset="0"/>
                        </a:rPr>
                        <a:t>.</a:t>
                      </a:r>
                    </a:p>
                  </a:txBody>
                  <a:tcPr>
                    <a:solidFill>
                      <a:srgbClr val="F2F2F2"/>
                    </a:solidFill>
                  </a:tcPr>
                </a:tc>
                <a:extLst>
                  <a:ext uri="{0D108BD9-81ED-4DB2-BD59-A6C34878D82A}">
                    <a16:rowId xmlns:a16="http://schemas.microsoft.com/office/drawing/2014/main" val="10002"/>
                  </a:ext>
                </a:extLst>
              </a:tr>
              <a:tr h="0">
                <a:tc>
                  <a:txBody>
                    <a:bodyPr/>
                    <a:lstStyle/>
                    <a:p>
                      <a:r>
                        <a:rPr sz="1000" b="1"/>
                        <a:t>AR, NLSR, SR</a:t>
                      </a:r>
                    </a:p>
                  </a:txBody>
                  <a:tcPr>
                    <a:solidFill>
                      <a:srgbClr val="FFFFFF"/>
                    </a:solidFill>
                  </a:tcPr>
                </a:tc>
                <a:tc>
                  <a:txBody>
                    <a:bodyPr/>
                    <a:lstStyle/>
                    <a:p>
                      <a:r>
                        <a:rPr sz="1000" dirty="0"/>
                        <a:t>(not set)</a:t>
                      </a:r>
                    </a:p>
                  </a:txBody>
                  <a:tcPr>
                    <a:solidFill>
                      <a:srgbClr val="FFFFFF"/>
                    </a:solidFill>
                  </a:tcPr>
                </a:tc>
                <a:tc>
                  <a:txBody>
                    <a:bodyPr/>
                    <a:lstStyle/>
                    <a:p>
                      <a:pPr>
                        <a:buNone/>
                      </a:pPr>
                      <a:r>
                        <a:rPr lang="de-DE" sz="1000" b="1" dirty="0">
                          <a:solidFill>
                            <a:srgbClr val="2E7D32"/>
                          </a:solidFill>
                          <a:effectLst/>
                          <a:latin typeface="Calibri" panose="020F0502020204030204" pitchFamily="34" charset="0"/>
                        </a:rPr>
                        <a:t>As </a:t>
                      </a:r>
                      <a:r>
                        <a:rPr lang="de-DE" sz="1000" b="1" dirty="0" err="1">
                          <a:solidFill>
                            <a:srgbClr val="2E7D32"/>
                          </a:solidFill>
                          <a:effectLst/>
                          <a:latin typeface="Calibri" panose="020F0502020204030204" pitchFamily="34" charset="0"/>
                        </a:rPr>
                        <a:t>threshold</a:t>
                      </a:r>
                      <a:r>
                        <a:rPr lang="de-DE" sz="1000" b="1" dirty="0">
                          <a:solidFill>
                            <a:srgbClr val="2E7D32"/>
                          </a:solidFill>
                          <a:effectLst/>
                          <a:latin typeface="Calibri" panose="020F0502020204030204" pitchFamily="34" charset="0"/>
                        </a:rPr>
                        <a:t>, but </a:t>
                      </a:r>
                      <a:r>
                        <a:rPr lang="de-DE" sz="1000" b="1" dirty="0" err="1">
                          <a:solidFill>
                            <a:srgbClr val="2E7D32"/>
                          </a:solidFill>
                          <a:effectLst/>
                          <a:latin typeface="Calibri" panose="020F0502020204030204" pitchFamily="34" charset="0"/>
                        </a:rPr>
                        <a:t>metadata</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is</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provided</a:t>
                      </a:r>
                      <a:r>
                        <a:rPr lang="de-DE" sz="1000" b="1" dirty="0">
                          <a:solidFill>
                            <a:srgbClr val="2E7D32"/>
                          </a:solidFill>
                          <a:effectLst/>
                          <a:latin typeface="Calibri" panose="020F0502020204030204" pitchFamily="34" charset="0"/>
                        </a:rPr>
                        <a:t> in a </a:t>
                      </a:r>
                      <a:r>
                        <a:rPr lang="de-DE" sz="1000" b="1" dirty="0" err="1">
                          <a:solidFill>
                            <a:srgbClr val="2E7D32"/>
                          </a:solidFill>
                          <a:effectLst/>
                          <a:latin typeface="Calibri" panose="020F0502020204030204" pitchFamily="34" charset="0"/>
                        </a:rPr>
                        <a:t>community</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endorsed</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standard</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that</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facilitates</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machine-readability</a:t>
                      </a:r>
                      <a:r>
                        <a:rPr lang="de-DE" sz="1000" b="1" dirty="0">
                          <a:solidFill>
                            <a:srgbClr val="2E7D32"/>
                          </a:solidFill>
                          <a:effectLst/>
                          <a:latin typeface="Calibri" panose="020F0502020204030204" pitchFamily="34" charset="0"/>
                        </a:rPr>
                        <a:t>, such as CEOS-ARD </a:t>
                      </a:r>
                      <a:r>
                        <a:rPr lang="de-DE" sz="1000" b="1" dirty="0" err="1">
                          <a:solidFill>
                            <a:srgbClr val="2E7D32"/>
                          </a:solidFill>
                          <a:effectLst/>
                          <a:latin typeface="Calibri" panose="020F0502020204030204" pitchFamily="34" charset="0"/>
                        </a:rPr>
                        <a:t>Metadata</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Specifications</a:t>
                      </a:r>
                      <a:r>
                        <a:rPr lang="de-DE" sz="1000" b="1" dirty="0">
                          <a:solidFill>
                            <a:srgbClr val="2E7D32"/>
                          </a:solidFill>
                          <a:effectLst/>
                          <a:latin typeface="Calibri" panose="020F0502020204030204" pitchFamily="34" charset="0"/>
                        </a:rPr>
                        <a:t>, ISO 19115-2, STAC, the Climate and Forecast (CF) </a:t>
                      </a:r>
                      <a:r>
                        <a:rPr lang="de-DE" sz="1000" b="1" dirty="0" err="1">
                          <a:solidFill>
                            <a:srgbClr val="2E7D32"/>
                          </a:solidFill>
                          <a:effectLst/>
                          <a:latin typeface="Calibri" panose="020F0502020204030204" pitchFamily="34" charset="0"/>
                        </a:rPr>
                        <a:t>convention</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or</a:t>
                      </a:r>
                      <a:r>
                        <a:rPr lang="de-DE" sz="1000" b="1" dirty="0">
                          <a:solidFill>
                            <a:srgbClr val="2E7D32"/>
                          </a:solidFill>
                          <a:effectLst/>
                          <a:latin typeface="Calibri" panose="020F0502020204030204" pitchFamily="34" charset="0"/>
                        </a:rPr>
                        <a:t> the Attribute Convention for Data Discovery (ACDD).</a:t>
                      </a:r>
                      <a:endParaRPr lang="de-DE" sz="1000" dirty="0">
                        <a:effectLst/>
                        <a:latin typeface="Calibri" panose="020F0502020204030204" pitchFamily="34" charset="0"/>
                      </a:endParaRPr>
                    </a:p>
                  </a:txBody>
                  <a:tcP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57200" y="6051316"/>
            <a:ext cx="11277295" cy="184666"/>
          </a:xfrm>
          <a:prstGeom prst="rect">
            <a:avLst/>
          </a:prstGeom>
          <a:noFill/>
        </p:spPr>
        <p:txBody>
          <a:bodyPr wrap="square" lIns="0" tIns="0" rIns="0" bIns="0">
            <a:spAutoFit/>
          </a:bodyPr>
          <a:lstStyle/>
          <a:p>
            <a:r>
              <a:rPr sz="1200" b="1" dirty="0"/>
              <a:t>Internal notes: </a:t>
            </a:r>
            <a:r>
              <a:rPr lang="de-DE" sz="1200" i="1" dirty="0" err="1"/>
              <a:t>Provide</a:t>
            </a:r>
            <a:r>
              <a:rPr lang="de-DE" sz="1200" i="1" dirty="0"/>
              <a:t> </a:t>
            </a:r>
            <a:r>
              <a:rPr lang="de-DE" sz="1200" i="1" dirty="0" err="1"/>
              <a:t>this</a:t>
            </a:r>
            <a:r>
              <a:rPr lang="de-DE" sz="1200" i="1" dirty="0"/>
              <a:t> only in the General </a:t>
            </a:r>
            <a:r>
              <a:rPr lang="de-DE" sz="1200" i="1" dirty="0" err="1"/>
              <a:t>Metadata</a:t>
            </a:r>
            <a:r>
              <a:rPr lang="de-DE" sz="1200" i="1" dirty="0"/>
              <a:t>, and not </a:t>
            </a:r>
            <a:r>
              <a:rPr lang="de-DE" sz="1200" i="1" dirty="0" err="1"/>
              <a:t>provide</a:t>
            </a:r>
            <a:r>
              <a:rPr lang="de-DE" sz="1200" i="1" dirty="0"/>
              <a:t> </a:t>
            </a:r>
            <a:r>
              <a:rPr lang="de-DE" sz="1200" i="1" dirty="0" err="1"/>
              <a:t>this</a:t>
            </a:r>
            <a:r>
              <a:rPr lang="de-DE" sz="1200" i="1" dirty="0"/>
              <a:t> in Per-Pixel </a:t>
            </a:r>
            <a:r>
              <a:rPr lang="de-DE" sz="1200" i="1" dirty="0" err="1"/>
              <a:t>Metadata</a:t>
            </a:r>
            <a:r>
              <a:rPr lang="de-DE" sz="1200" i="1" dirty="0"/>
              <a:t>?</a:t>
            </a:r>
            <a:endParaRPr sz="1200" i="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Processing Chain Provenance (AR, NLSR, SR, ST)</a:t>
            </a:r>
          </a:p>
        </p:txBody>
      </p:sp>
      <p:graphicFrame>
        <p:nvGraphicFramePr>
          <p:cNvPr id="3" name="Table 2"/>
          <p:cNvGraphicFramePr>
            <a:graphicFrameLocks noGrp="1"/>
          </p:cNvGraphicFramePr>
          <p:nvPr/>
        </p:nvGraphicFramePr>
        <p:xfrm>
          <a:off x="457200" y="1005840"/>
          <a:ext cx="11265408" cy="153924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txBody>
                  <a:tcPr>
                    <a:solidFill>
                      <a:srgbClr val="FFFFFF"/>
                    </a:solidFill>
                  </a:tcPr>
                </a:tc>
                <a:tc>
                  <a:txBody>
                    <a:bodyPr/>
                    <a:lstStyle/>
                    <a:p>
                      <a:r>
                        <a:rPr sz="1000"/>
                        <a:t>(not set)</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NLSR</a:t>
                      </a:r>
                    </a:p>
                  </a:txBody>
                  <a:tcPr>
                    <a:solidFill>
                      <a:srgbClr val="F2F2F2"/>
                    </a:solidFill>
                  </a:tcPr>
                </a:tc>
                <a:tc>
                  <a:txBody>
                    <a:bodyPr/>
                    <a:lstStyle/>
                    <a:p>
                      <a:r>
                        <a:rPr sz="1000"/>
                        <a:t>(not set)</a:t>
                      </a:r>
                    </a:p>
                  </a:txBody>
                  <a:tcPr>
                    <a:solidFill>
                      <a:srgbClr val="F2F2F2"/>
                    </a:solidFill>
                  </a:tcPr>
                </a:tc>
                <a:tc>
                  <a:txBody>
                    <a:bodyPr/>
                    <a:lstStyle/>
                    <a:p>
                      <a:r>
                        <a:rPr sz="1000" i="1">
                          <a:solidFill>
                            <a:srgbClr val="808080"/>
                          </a:solidFill>
                        </a:rPr>
                        <a:t>(keep as is)</a:t>
                      </a:r>
                    </a:p>
                  </a:txBody>
                  <a:tcPr>
                    <a:solidFill>
                      <a:srgbClr val="F2F2F2"/>
                    </a:solidFill>
                  </a:tcPr>
                </a:tc>
                <a:extLst>
                  <a:ext uri="{0D108BD9-81ED-4DB2-BD59-A6C34878D82A}">
                    <a16:rowId xmlns:a16="http://schemas.microsoft.com/office/drawing/2014/main" val="10002"/>
                  </a:ext>
                </a:extLst>
              </a:tr>
              <a:tr h="0">
                <a:tc>
                  <a:txBody>
                    <a:bodyPr/>
                    <a:lstStyle/>
                    <a:p>
                      <a:r>
                        <a:rPr sz="1000" b="1"/>
                        <a:t>SR</a:t>
                      </a:r>
                    </a:p>
                  </a:txBody>
                  <a:tcPr>
                    <a:solidFill>
                      <a:srgbClr val="FFFFFF"/>
                    </a:solidFill>
                  </a:tcPr>
                </a:tc>
                <a:tc>
                  <a:txBody>
                    <a:bodyPr/>
                    <a:lstStyle/>
                    <a:p>
                      <a:r>
                        <a:rPr sz="1000"/>
                        <a:t>(not set)</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3"/>
                  </a:ext>
                </a:extLst>
              </a:tr>
              <a:tr h="0">
                <a:tc>
                  <a:txBody>
                    <a:bodyPr/>
                    <a:lstStyle/>
                    <a:p>
                      <a:r>
                        <a:rPr sz="1000" b="1"/>
                        <a:t>ST</a:t>
                      </a:r>
                    </a:p>
                    <a:p>
                      <a:r>
                        <a:rPr sz="1000" i="1">
                          <a:solidFill>
                            <a:srgbClr val="808080"/>
                          </a:solidFill>
                        </a:rPr>
                        <a:t>(baseline)</a:t>
                      </a:r>
                    </a:p>
                  </a:txBody>
                  <a:tcPr>
                    <a:solidFill>
                      <a:srgbClr val="F2F2F2"/>
                    </a:solidFill>
                  </a:tcPr>
                </a:tc>
                <a:tc>
                  <a:txBody>
                    <a:bodyPr/>
                    <a:lstStyle/>
                    <a:p>
                      <a:r>
                        <a:rPr sz="1000"/>
                        <a:t>The provider attaches to each delivered dataset (delivery unit) a code which allows them to reconstruct the exact processing environment (software versions, calibration files, parameter settings) in which this particular output was produced.</a:t>
                      </a:r>
                    </a:p>
                  </a:txBody>
                  <a:tcPr>
                    <a:solidFill>
                      <a:srgbClr val="F2F2F2"/>
                    </a:solidFill>
                  </a:tcPr>
                </a:tc>
                <a:tc>
                  <a:txBody>
                    <a:bodyPr/>
                    <a:lstStyle/>
                    <a:p>
                      <a:r>
                        <a:rPr sz="1000" i="1">
                          <a:solidFill>
                            <a:srgbClr val="808080"/>
                          </a:solidFill>
                        </a:rPr>
                        <a:t>(keep as is)</a:t>
                      </a:r>
                    </a:p>
                  </a:txBody>
                  <a:tcPr>
                    <a:solidFill>
                      <a:srgbClr val="F2F2F2"/>
                    </a:solidFill>
                  </a:tcPr>
                </a:tc>
                <a:extLst>
                  <a:ext uri="{0D108BD9-81ED-4DB2-BD59-A6C34878D82A}">
                    <a16:rowId xmlns:a16="http://schemas.microsoft.com/office/drawing/2014/main" val="10004"/>
                  </a:ext>
                </a:extLst>
              </a:tr>
            </a:tbl>
          </a:graphicData>
        </a:graphic>
      </p:graphicFrame>
      <p:graphicFrame>
        <p:nvGraphicFramePr>
          <p:cNvPr id="4" name="Table 3"/>
          <p:cNvGraphicFramePr>
            <a:graphicFrameLocks noGrp="1"/>
          </p:cNvGraphicFramePr>
          <p:nvPr/>
        </p:nvGraphicFramePr>
        <p:xfrm>
          <a:off x="457200" y="3099816"/>
          <a:ext cx="11265408" cy="245364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p>
                      <a:r>
                        <a:rPr sz="1000" i="1">
                          <a:solidFill>
                            <a:srgbClr val="808080"/>
                          </a:solidFill>
                        </a:rPr>
                        <a:t>(baseline)</a:t>
                      </a:r>
                    </a:p>
                  </a:txBody>
                  <a:tcPr>
                    <a:solidFill>
                      <a:srgbClr val="FFFFFF"/>
                    </a:solidFill>
                  </a:tcPr>
                </a:tc>
                <a:tc>
                  <a:txBody>
                    <a:bodyPr/>
                    <a:lstStyle/>
                    <a:p>
                      <a:r>
                        <a:rPr sz="1000"/>
                        <a:t>Information on processing chain provenance should be available with a detailed description of the processing steps used to generate the product, including the versions of software used, giving full transparency to the users.</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NLSR</a:t>
                      </a:r>
                    </a:p>
                  </a:txBody>
                  <a:tcPr>
                    <a:solidFill>
                      <a:srgbClr val="F2F2F2"/>
                    </a:solidFill>
                  </a:tcPr>
                </a:tc>
                <a:tc>
                  <a:txBody>
                    <a:bodyPr/>
                    <a:lstStyle/>
                    <a:p>
                      <a:r>
                        <a:rPr sz="1000"/>
                        <a:t>Information on processing chain provenance should be available </a:t>
                      </a:r>
                      <a:r>
                        <a:rPr sz="1000" strike="sngStrike">
                          <a:solidFill>
                            <a:srgbClr val="B00000"/>
                          </a:solidFill>
                        </a:rPr>
                        <a:t>with a</a:t>
                      </a:r>
                      <a:r>
                        <a:rPr sz="1000" b="1">
                          <a:solidFill>
                            <a:srgbClr val="2E7D32"/>
                          </a:solidFill>
                        </a:rPr>
                        <a:t>in the metadata as a single DOI landing page containing</a:t>
                      </a:r>
                      <a:r>
                        <a:rPr sz="1000"/>
                        <a:t> detailed description of the processing steps used to generate the product, </a:t>
                      </a:r>
                      <a:r>
                        <a:rPr sz="1000" strike="sngStrike">
                          <a:solidFill>
                            <a:srgbClr val="B00000"/>
                          </a:solidFill>
                        </a:rPr>
                        <a:t>including</a:t>
                      </a:r>
                      <a:r>
                        <a:rPr sz="1000" b="1">
                          <a:solidFill>
                            <a:srgbClr val="2E7D32"/>
                          </a:solidFill>
                        </a:rPr>
                        <a:t>the organization that performed the processing, and</a:t>
                      </a:r>
                      <a:r>
                        <a:rPr sz="1000"/>
                        <a:t> the versions of software used, giving full transparency to the users.</a:t>
                      </a:r>
                    </a:p>
                  </a:txBody>
                  <a:tcPr>
                    <a:solidFill>
                      <a:srgbClr val="F2F2F2"/>
                    </a:solidFill>
                  </a:tcPr>
                </a:tc>
                <a:tc>
                  <a:txBody>
                    <a:bodyPr/>
                    <a:lstStyle/>
                    <a:p>
                      <a:r>
                        <a:rPr sz="1000"/>
                        <a:t>Information on processing chain provenance should be available </a:t>
                      </a:r>
                      <a:r>
                        <a:rPr sz="1000" strike="sngStrike">
                          <a:solidFill>
                            <a:srgbClr val="B00000"/>
                          </a:solidFill>
                        </a:rPr>
                        <a:t>in the metadata as a single DOI landing page containing</a:t>
                      </a:r>
                      <a:r>
                        <a:rPr sz="1000" b="1">
                          <a:solidFill>
                            <a:srgbClr val="2E7D32"/>
                          </a:solidFill>
                        </a:rPr>
                        <a:t>with a</a:t>
                      </a:r>
                      <a:r>
                        <a:rPr sz="1000"/>
                        <a:t> detailed description of the processing steps used to generate the product, </a:t>
                      </a:r>
                      <a:r>
                        <a:rPr sz="1000" strike="sngStrike">
                          <a:solidFill>
                            <a:srgbClr val="B00000"/>
                          </a:solidFill>
                        </a:rPr>
                        <a:t>the organization that performed the processing, and</a:t>
                      </a:r>
                      <a:r>
                        <a:rPr sz="1000" b="1">
                          <a:solidFill>
                            <a:srgbClr val="2E7D32"/>
                          </a:solidFill>
                        </a:rPr>
                        <a:t>including</a:t>
                      </a:r>
                      <a:r>
                        <a:rPr sz="1000"/>
                        <a:t> the versions of software used, giving full transparency to the users.</a:t>
                      </a:r>
                    </a:p>
                  </a:txBody>
                  <a:tcPr>
                    <a:solidFill>
                      <a:srgbClr val="F2F2F2"/>
                    </a:solidFill>
                  </a:tcPr>
                </a:tc>
                <a:extLst>
                  <a:ext uri="{0D108BD9-81ED-4DB2-BD59-A6C34878D82A}">
                    <a16:rowId xmlns:a16="http://schemas.microsoft.com/office/drawing/2014/main" val="10002"/>
                  </a:ext>
                </a:extLst>
              </a:tr>
              <a:tr h="0">
                <a:tc>
                  <a:txBody>
                    <a:bodyPr/>
                    <a:lstStyle/>
                    <a:p>
                      <a:r>
                        <a:rPr sz="1000" b="1"/>
                        <a:t>SR</a:t>
                      </a:r>
                    </a:p>
                  </a:txBody>
                  <a:tcPr>
                    <a:solidFill>
                      <a:srgbClr val="FFFFFF"/>
                    </a:solidFill>
                  </a:tcPr>
                </a:tc>
                <a:tc>
                  <a:txBody>
                    <a:bodyPr/>
                    <a:lstStyle/>
                    <a:p>
                      <a:r>
                        <a:rPr sz="1000"/>
                        <a:t>Information on processing chain provenance should be available </a:t>
                      </a:r>
                      <a:r>
                        <a:rPr sz="1000" strike="sngStrike">
                          <a:solidFill>
                            <a:srgbClr val="B00000"/>
                          </a:solidFill>
                        </a:rPr>
                        <a:t>with a</a:t>
                      </a:r>
                      <a:r>
                        <a:rPr sz="1000" b="1">
                          <a:solidFill>
                            <a:srgbClr val="2E7D32"/>
                          </a:solidFill>
                        </a:rPr>
                        <a:t>in the metadata as a single DOI landing page containing</a:t>
                      </a:r>
                      <a:r>
                        <a:rPr sz="1000"/>
                        <a:t> detailed description of the processing steps used to generate the product, including the versions of software used, giving full transparency to the users.</a:t>
                      </a:r>
                    </a:p>
                  </a:txBody>
                  <a:tcPr>
                    <a:solidFill>
                      <a:srgbClr val="FFFFFF"/>
                    </a:solidFill>
                  </a:tcPr>
                </a:tc>
                <a:tc>
                  <a:txBody>
                    <a:bodyPr/>
                    <a:lstStyle/>
                    <a:p>
                      <a:r>
                        <a:rPr sz="1000"/>
                        <a:t>Information on processing chain provenance should be available </a:t>
                      </a:r>
                      <a:r>
                        <a:rPr sz="1000" strike="sngStrike">
                          <a:solidFill>
                            <a:srgbClr val="B00000"/>
                          </a:solidFill>
                        </a:rPr>
                        <a:t>in the metadata as a single DOI landing page containing</a:t>
                      </a:r>
                      <a:r>
                        <a:rPr sz="1000" b="1">
                          <a:solidFill>
                            <a:srgbClr val="2E7D32"/>
                          </a:solidFill>
                        </a:rPr>
                        <a:t>with a</a:t>
                      </a:r>
                      <a:r>
                        <a:rPr sz="1000"/>
                        <a:t> detailed description of the processing steps used to generate the product, including the versions of software used, giving full transparency to the users.</a:t>
                      </a:r>
                    </a:p>
                  </a:txBody>
                  <a:tcPr>
                    <a:solidFill>
                      <a:srgbClr val="FFFFFF"/>
                    </a:solidFill>
                  </a:tcPr>
                </a:tc>
                <a:extLst>
                  <a:ext uri="{0D108BD9-81ED-4DB2-BD59-A6C34878D82A}">
                    <a16:rowId xmlns:a16="http://schemas.microsoft.com/office/drawing/2014/main" val="10003"/>
                  </a:ext>
                </a:extLst>
              </a:tr>
              <a:tr h="0">
                <a:tc>
                  <a:txBody>
                    <a:bodyPr/>
                    <a:lstStyle/>
                    <a:p>
                      <a:r>
                        <a:rPr sz="1000" b="1"/>
                        <a:t>ST</a:t>
                      </a:r>
                    </a:p>
                  </a:txBody>
                  <a:tcPr>
                    <a:solidFill>
                      <a:srgbClr val="F2F2F2"/>
                    </a:solidFill>
                  </a:tcPr>
                </a:tc>
                <a:tc>
                  <a:txBody>
                    <a:bodyPr/>
                    <a:lstStyle/>
                    <a:p>
                      <a:r>
                        <a:rPr sz="1000"/>
                        <a:t>As threshold, but the provider is also in grade to reproduce the exact same output.</a:t>
                      </a:r>
                    </a:p>
                  </a:txBody>
                  <a:tcPr>
                    <a:solidFill>
                      <a:srgbClr val="F2F2F2"/>
                    </a:solidFill>
                  </a:tcPr>
                </a:tc>
                <a:tc>
                  <a:txBody>
                    <a:bodyPr/>
                    <a:lstStyle/>
                    <a:p>
                      <a:r>
                        <a:rPr sz="1000" i="1">
                          <a:solidFill>
                            <a:srgbClr val="808080"/>
                          </a:solidFill>
                        </a:rPr>
                        <a:t>(keep as is)</a:t>
                      </a:r>
                    </a:p>
                  </a:txBody>
                  <a:tcPr>
                    <a:solidFill>
                      <a:srgbClr val="F2F2F2"/>
                    </a:solidFill>
                  </a:tcPr>
                </a:tc>
                <a:extLst>
                  <a:ext uri="{0D108BD9-81ED-4DB2-BD59-A6C34878D82A}">
                    <a16:rowId xmlns:a16="http://schemas.microsoft.com/office/drawing/2014/main" val="10004"/>
                  </a:ext>
                </a:extLst>
              </a:tr>
            </a:tbl>
          </a:graphicData>
        </a:graphic>
      </p:graphicFrame>
      <p:sp>
        <p:nvSpPr>
          <p:cNvPr id="6" name="TextBox 2">
            <a:extLst>
              <a:ext uri="{FF2B5EF4-FFF2-40B4-BE49-F238E27FC236}">
                <a16:creationId xmlns:a16="http://schemas.microsoft.com/office/drawing/2014/main" id="{B925BC2A-8A9E-5ECE-26CD-FF5DF3F77D6E}"/>
              </a:ext>
            </a:extLst>
          </p:cNvPr>
          <p:cNvSpPr txBox="1"/>
          <p:nvPr/>
        </p:nvSpPr>
        <p:spPr>
          <a:xfrm>
            <a:off x="469392" y="5738860"/>
            <a:ext cx="11277295" cy="1107996"/>
          </a:xfrm>
          <a:prstGeom prst="rect">
            <a:avLst/>
          </a:prstGeom>
          <a:noFill/>
        </p:spPr>
        <p:txBody>
          <a:bodyPr wrap="square" lIns="0" tIns="0" rIns="0" bIns="0">
            <a:spAutoFit/>
          </a:bodyPr>
          <a:lstStyle/>
          <a:p>
            <a:r>
              <a:rPr sz="1200" b="1" dirty="0"/>
              <a:t>Internal notes: </a:t>
            </a:r>
            <a:r>
              <a:rPr sz="1200" i="1" dirty="0"/>
              <a:t>For DOI related discussions </a:t>
            </a:r>
            <a:r>
              <a:rPr lang="de-DE" sz="1200" i="1" dirty="0" err="1"/>
              <a:t>see</a:t>
            </a:r>
            <a:r>
              <a:rPr lang="de-DE" sz="1200" i="1" dirty="0"/>
              <a:t> "DOIs" </a:t>
            </a:r>
            <a:r>
              <a:rPr lang="de-DE" sz="1200" i="1" dirty="0" err="1"/>
              <a:t>slide</a:t>
            </a:r>
            <a:r>
              <a:rPr sz="1200" i="1" dirty="0"/>
              <a:t>.</a:t>
            </a:r>
          </a:p>
          <a:p>
            <a:endParaRPr sz="1200" i="1" dirty="0"/>
          </a:p>
          <a:p>
            <a:r>
              <a:rPr sz="1200" i="1" dirty="0"/>
              <a:t>ST 6.0 upgraded provenance to a threshold requirement (</a:t>
            </a:r>
            <a:r>
              <a:rPr sz="1200" i="1" dirty="0" err="1"/>
              <a:t>reconstructable</a:t>
            </a:r>
            <a:r>
              <a:rPr sz="1200" i="1" dirty="0"/>
              <a:t> processing environment) with a reproducibility goal (issue #58). Still under discussion in the ST team; current thinking remains to introduce the threshold requirement — consider adopting this approach for the other optical PFS.</a:t>
            </a:r>
            <a:br>
              <a:rPr lang="de-DE" sz="1200" i="1" dirty="0"/>
            </a:br>
            <a:br>
              <a:rPr lang="de-DE" sz="1200" i="1" dirty="0"/>
            </a:br>
            <a:r>
              <a:rPr lang="de-DE" sz="1200" i="1" dirty="0"/>
              <a:t>In the </a:t>
            </a:r>
            <a:r>
              <a:rPr lang="de-DE" sz="1200" i="1" dirty="0" err="1"/>
              <a:t>long</a:t>
            </a:r>
            <a:r>
              <a:rPr lang="de-DE" sz="1200" i="1" dirty="0"/>
              <a:t>-term, all PFS </a:t>
            </a:r>
            <a:r>
              <a:rPr lang="de-DE" sz="1200" i="1" dirty="0" err="1"/>
              <a:t>should</a:t>
            </a:r>
            <a:r>
              <a:rPr lang="de-DE" sz="1200" i="1" dirty="0"/>
              <a:t> </a:t>
            </a:r>
            <a:r>
              <a:rPr lang="de-DE" sz="1200" i="1" dirty="0" err="1"/>
              <a:t>probably</a:t>
            </a:r>
            <a:r>
              <a:rPr lang="de-DE" sz="1200" i="1" dirty="0"/>
              <a:t> follow the ST </a:t>
            </a:r>
            <a:r>
              <a:rPr lang="de-DE" sz="1200" i="1" dirty="0" err="1"/>
              <a:t>approach</a:t>
            </a:r>
            <a:r>
              <a:rPr lang="de-DE" sz="1200" i="1" dirty="0"/>
              <a:t>.</a:t>
            </a:r>
            <a:endParaRPr sz="1200" i="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Radiometric Accuracy (NLSR, SR, CB, GSLC, INSAR, NRB, ORB, POL)</a:t>
            </a:r>
          </a:p>
        </p:txBody>
      </p:sp>
      <p:graphicFrame>
        <p:nvGraphicFramePr>
          <p:cNvPr id="3" name="Table 2"/>
          <p:cNvGraphicFramePr>
            <a:graphicFrameLocks noGrp="1"/>
          </p:cNvGraphicFramePr>
          <p:nvPr/>
        </p:nvGraphicFramePr>
        <p:xfrm>
          <a:off x="457200" y="1005840"/>
          <a:ext cx="11265408" cy="16611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121920">
                <a:tc>
                  <a:txBody>
                    <a:bodyPr/>
                    <a:lstStyle/>
                    <a:p>
                      <a:r>
                        <a:rPr sz="1000" b="1"/>
                        <a:t>CB, GSLC, INSAR, NRB, ORB, POL</a:t>
                      </a:r>
                    </a:p>
                    <a:p>
                      <a:r>
                        <a:rPr sz="1000" i="1">
                          <a:solidFill>
                            <a:srgbClr val="808080"/>
                          </a:solidFill>
                        </a:rPr>
                        <a:t>(baseline)</a:t>
                      </a:r>
                    </a:p>
                  </a:txBody>
                  <a:tcPr>
                    <a:solidFill>
                      <a:srgbClr val="FFFFFF"/>
                    </a:solidFill>
                  </a:tcPr>
                </a:tc>
                <a:tc>
                  <a:txBody>
                    <a:bodyPr/>
                    <a:lstStyle/>
                    <a:p>
                      <a:r>
                        <a:rPr sz="1000"/>
                        <a:t>Uncertainty (e.g., bounds on $\gamma^0$ or $\sigma^0$) information is provided as document referenced as URL or DOI.</a:t>
                      </a:r>
                    </a:p>
                    <a:p>
                      <a:r>
                        <a:rPr sz="1000"/>
                        <a:t>SI traceability is achieved. </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121920">
                <a:tc>
                  <a:txBody>
                    <a:bodyPr/>
                    <a:lstStyle/>
                    <a:p>
                      <a:r>
                        <a:rPr sz="1000" b="1"/>
                        <a:t>NLSR, SR</a:t>
                      </a:r>
                    </a:p>
                  </a:txBody>
                  <a:tcPr>
                    <a:solidFill>
                      <a:srgbClr val="F2F2F2"/>
                    </a:solidFill>
                  </a:tcPr>
                </a:tc>
                <a:tc>
                  <a:txBody>
                    <a:bodyPr/>
                    <a:lstStyle/>
                    <a:p>
                      <a:r>
                        <a:rPr sz="1000"/>
                        <a:t>The metadata includes metrics describing the assessed absolute radiometric u</a:t>
                      </a:r>
                      <a:r>
                        <a:rPr sz="1000">
                          <a:solidFill>
                            <a:srgbClr val="1565C0"/>
                          </a:solidFill>
                        </a:rPr>
                        <a:t>ncertainty </a:t>
                      </a:r>
                      <a:r>
                        <a:rPr sz="1000"/>
                        <a:t>of the version of the data or product, expressed as absolute radiometric uncertainty relative to appropriate, known</a:t>
                      </a:r>
                      <a:r>
                        <a:rPr sz="1000">
                          <a:solidFill>
                            <a:srgbClr val="1565C0"/>
                          </a:solidFill>
                        </a:rPr>
                        <a:t> reference</a:t>
                      </a:r>
                      <a:r>
                        <a:rPr sz="1000"/>
                        <a:t> sites and standards (for example, pseudo-invariant calibration sites, rigorously collected field spectra, Rayleigh, DCC, etc.)</a:t>
                      </a:r>
                    </a:p>
                  </a:txBody>
                  <a:tcPr>
                    <a:solidFill>
                      <a:srgbClr val="F2F2F2"/>
                    </a:solidFill>
                  </a:tcPr>
                </a:tc>
                <a:tc>
                  <a:txBody>
                    <a:bodyPr/>
                    <a:lstStyle/>
                    <a:p>
                      <a:r>
                        <a:rPr sz="1000" i="1">
                          <a:solidFill>
                            <a:srgbClr val="808080"/>
                          </a:solidFill>
                        </a:rPr>
                        <a:t>(keep as is)</a:t>
                      </a:r>
                    </a:p>
                  </a:txBody>
                  <a:tcPr>
                    <a:solidFill>
                      <a:srgbClr val="F2F2F2"/>
                    </a:solidFill>
                  </a:tcPr>
                </a:tc>
                <a:extLst>
                  <a:ext uri="{0D108BD9-81ED-4DB2-BD59-A6C34878D82A}">
                    <a16:rowId xmlns:a16="http://schemas.microsoft.com/office/drawing/2014/main" val="10002"/>
                  </a:ext>
                </a:extLst>
              </a:tr>
            </a:tbl>
          </a:graphicData>
        </a:graphic>
      </p:graphicFrame>
      <p:graphicFrame>
        <p:nvGraphicFramePr>
          <p:cNvPr id="4" name="Table 3"/>
          <p:cNvGraphicFramePr>
            <a:graphicFrameLocks noGrp="1"/>
          </p:cNvGraphicFramePr>
          <p:nvPr/>
        </p:nvGraphicFramePr>
        <p:xfrm>
          <a:off x="457200" y="3191256"/>
          <a:ext cx="11265408" cy="12039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Notes</a:t>
                      </a:r>
                    </a:p>
                  </a:txBody>
                  <a:tcPr>
                    <a:solidFill>
                      <a:srgbClr val="000000"/>
                    </a:solidFill>
                  </a:tcPr>
                </a:tc>
                <a:tc>
                  <a:txBody>
                    <a:bodyPr/>
                    <a:lstStyle/>
                    <a:p>
                      <a:r>
                        <a:rPr sz="1100" b="1">
                          <a:solidFill>
                            <a:srgbClr val="FFFFFF"/>
                          </a:solidFill>
                        </a:rPr>
                        <a:t>Proposed Goal Notes</a:t>
                      </a:r>
                    </a:p>
                  </a:txBody>
                  <a:tcPr>
                    <a:solidFill>
                      <a:srgbClr val="000000"/>
                    </a:solidFill>
                  </a:tcPr>
                </a:tc>
                <a:extLst>
                  <a:ext uri="{0D108BD9-81ED-4DB2-BD59-A6C34878D82A}">
                    <a16:rowId xmlns:a16="http://schemas.microsoft.com/office/drawing/2014/main" val="10000"/>
                  </a:ext>
                </a:extLst>
              </a:tr>
              <a:tr h="121920">
                <a:tc>
                  <a:txBody>
                    <a:bodyPr/>
                    <a:lstStyle/>
                    <a:p>
                      <a:r>
                        <a:rPr sz="1000" b="1"/>
                        <a:t>CB, GSLC, INSAR, NRB, ORB, POL</a:t>
                      </a:r>
                    </a:p>
                  </a:txBody>
                  <a:tcPr>
                    <a:solidFill>
                      <a:srgbClr val="FFFFFF"/>
                    </a:solidFill>
                  </a:tcPr>
                </a:tc>
                <a:tc>
                  <a:txBody>
                    <a:bodyPr/>
                    <a:lstStyle/>
                    <a:p>
                      <a:r>
                        <a:rPr sz="1000"/>
                        <a:t>(no notes)</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121920">
                <a:tc>
                  <a:txBody>
                    <a:bodyPr/>
                    <a:lstStyle/>
                    <a:p>
                      <a:r>
                        <a:rPr sz="1000" b="1"/>
                        <a:t>NLSR, SR</a:t>
                      </a:r>
                    </a:p>
                    <a:p>
                      <a:r>
                        <a:rPr sz="1000" i="1">
                          <a:solidFill>
                            <a:srgbClr val="808080"/>
                          </a:solidFill>
                        </a:rPr>
                        <a:t>(baseline)</a:t>
                      </a:r>
                    </a:p>
                  </a:txBody>
                  <a:tcPr>
                    <a:solidFill>
                      <a:srgbClr val="F2F2F2"/>
                    </a:solidFill>
                  </a:tcPr>
                </a:tc>
                <a:tc>
                  <a:txBody>
                    <a:bodyPr/>
                    <a:lstStyle/>
                    <a:p>
                      <a:r>
                        <a:rPr sz="1000" dirty="0"/>
                        <a:t>Information on radiometric accuracy should be available in the metadata as a single DOI landing page.</a:t>
                      </a:r>
                    </a:p>
                  </a:txBody>
                  <a:tcPr>
                    <a:solidFill>
                      <a:srgbClr val="F2F2F2"/>
                    </a:solidFill>
                  </a:tcPr>
                </a:tc>
                <a:tc>
                  <a:txBody>
                    <a:bodyPr/>
                    <a:lstStyle/>
                    <a:p>
                      <a:r>
                        <a:rPr sz="1000" b="1" dirty="0">
                          <a:solidFill>
                            <a:srgbClr val="B00000"/>
                          </a:solidFill>
                        </a:rPr>
                        <a:t>DELETE NOTE</a:t>
                      </a:r>
                    </a:p>
                  </a:txBody>
                  <a:tcPr>
                    <a:solidFill>
                      <a:srgbClr val="F2F2F2"/>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457200" y="4529937"/>
            <a:ext cx="11277295" cy="553998"/>
          </a:xfrm>
          <a:prstGeom prst="rect">
            <a:avLst/>
          </a:prstGeom>
          <a:noFill/>
        </p:spPr>
        <p:txBody>
          <a:bodyPr wrap="square" lIns="0" tIns="0" rIns="0" bIns="0">
            <a:spAutoFit/>
          </a:bodyPr>
          <a:lstStyle/>
          <a:p>
            <a:r>
              <a:rPr sz="1200" b="1" dirty="0"/>
              <a:t>Internal notes: </a:t>
            </a:r>
            <a:r>
              <a:rPr sz="1200" i="1" dirty="0"/>
              <a:t>For DOI related discussions </a:t>
            </a:r>
            <a:r>
              <a:rPr lang="de-DE" sz="1200" i="1" dirty="0" err="1"/>
              <a:t>see</a:t>
            </a:r>
            <a:r>
              <a:rPr lang="de-DE" sz="1200" i="1" dirty="0"/>
              <a:t> "DOIs" </a:t>
            </a:r>
            <a:r>
              <a:rPr lang="de-DE" sz="1200" i="1" dirty="0" err="1"/>
              <a:t>slide</a:t>
            </a:r>
            <a:r>
              <a:rPr sz="1200" i="1" dirty="0"/>
              <a:t>.</a:t>
            </a:r>
          </a:p>
          <a:p>
            <a:endParaRPr sz="1200" i="1" dirty="0"/>
          </a:p>
          <a:p>
            <a:r>
              <a:rPr sz="1200" i="1" dirty="0"/>
              <a:t>ST dropped its radiometric accuracy requirement in ST 6.0 (the file was removed).</a:t>
            </a:r>
          </a:p>
        </p:txBody>
      </p:sp>
      <p:sp>
        <p:nvSpPr>
          <p:cNvPr id="6" name="TextBox 5"/>
          <p:cNvSpPr txBox="1"/>
          <p:nvPr/>
        </p:nvSpPr>
        <p:spPr>
          <a:xfrm>
            <a:off x="457200" y="5218656"/>
            <a:ext cx="11277295" cy="184666"/>
          </a:xfrm>
          <a:prstGeom prst="rect">
            <a:avLst/>
          </a:prstGeom>
          <a:noFill/>
        </p:spPr>
        <p:txBody>
          <a:bodyPr wrap="square" lIns="0" tIns="0" rIns="0" bIns="0">
            <a:spAutoFit/>
          </a:bodyPr>
          <a:lstStyle/>
          <a:p>
            <a:r>
              <a:rPr sz="1200" b="1" dirty="0"/>
              <a:t>Remarks from the building blocks: </a:t>
            </a:r>
            <a:r>
              <a:rPr lang="de-DE" sz="1200" i="1" dirty="0"/>
              <a:t>NLSR/SR: </a:t>
            </a:r>
            <a:r>
              <a:rPr sz="1200" i="1" dirty="0"/>
              <a:t>What does DCC stand for? Add to glossary.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Sensor Calibration (AR, NLSR, SR, ST, GSLC, INSAR, NRB, ORB, POL)</a:t>
            </a:r>
          </a:p>
        </p:txBody>
      </p:sp>
      <p:graphicFrame>
        <p:nvGraphicFramePr>
          <p:cNvPr id="3" name="Table 2"/>
          <p:cNvGraphicFramePr>
            <a:graphicFrameLocks noGrp="1"/>
          </p:cNvGraphicFramePr>
          <p:nvPr/>
        </p:nvGraphicFramePr>
        <p:xfrm>
          <a:off x="457200" y="1005840"/>
          <a:ext cx="11265408" cy="14478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 ST</a:t>
                      </a:r>
                    </a:p>
                    <a:p>
                      <a:r>
                        <a:rPr sz="1000" i="1">
                          <a:solidFill>
                            <a:srgbClr val="808080"/>
                          </a:solidFill>
                        </a:rPr>
                        <a:t>(baseline)</a:t>
                      </a:r>
                    </a:p>
                  </a:txBody>
                  <a:tcPr>
                    <a:solidFill>
                      <a:srgbClr val="FFFFFF"/>
                    </a:solidFill>
                  </a:tcPr>
                </a:tc>
                <a:tc>
                  <a:txBody>
                    <a:bodyPr/>
                    <a:lstStyle/>
                    <a:p>
                      <a:r>
                        <a:rPr sz="1000"/>
                        <a:t>Binary description of calibrated/not calibrated only.</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NLSR, SR</a:t>
                      </a:r>
                    </a:p>
                  </a:txBody>
                  <a:tcPr>
                    <a:solidFill>
                      <a:srgbClr val="F2F2F2"/>
                    </a:solidFill>
                  </a:tcPr>
                </a:tc>
                <a:tc>
                  <a:txBody>
                    <a:bodyPr/>
                    <a:lstStyle/>
                    <a:p>
                      <a:r>
                        <a:rPr sz="1000"/>
                        <a:t>(not set)</a:t>
                      </a:r>
                    </a:p>
                  </a:txBody>
                  <a:tcPr>
                    <a:solidFill>
                      <a:srgbClr val="F2F2F2"/>
                    </a:solidFill>
                  </a:tcPr>
                </a:tc>
                <a:tc>
                  <a:txBody>
                    <a:bodyPr/>
                    <a:lstStyle/>
                    <a:p>
                      <a:r>
                        <a:rPr sz="1000" i="1">
                          <a:solidFill>
                            <a:srgbClr val="808080"/>
                          </a:solidFill>
                        </a:rPr>
                        <a:t>(keep as is)</a:t>
                      </a:r>
                    </a:p>
                  </a:txBody>
                  <a:tcPr>
                    <a:solidFill>
                      <a:srgbClr val="F2F2F2"/>
                    </a:solidFill>
                  </a:tcPr>
                </a:tc>
                <a:extLst>
                  <a:ext uri="{0D108BD9-81ED-4DB2-BD59-A6C34878D82A}">
                    <a16:rowId xmlns:a16="http://schemas.microsoft.com/office/drawing/2014/main" val="10002"/>
                  </a:ext>
                </a:extLst>
              </a:tr>
              <a:tr h="0">
                <a:tc>
                  <a:txBody>
                    <a:bodyPr/>
                    <a:lstStyle/>
                    <a:p>
                      <a:r>
                        <a:rPr sz="1000" b="1"/>
                        <a:t>GSLC, INSAR, NRB, ORB, POL</a:t>
                      </a:r>
                    </a:p>
                  </a:txBody>
                  <a:tcPr>
                    <a:solidFill>
                      <a:srgbClr val="FFFFFF"/>
                    </a:solidFill>
                  </a:tcPr>
                </a:tc>
                <a:tc>
                  <a:txBody>
                    <a:bodyPr/>
                    <a:lstStyle/>
                    <a:p>
                      <a:r>
                        <a:rPr sz="1000"/>
                        <a:t>(not set)</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3"/>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443618991"/>
              </p:ext>
            </p:extLst>
          </p:nvPr>
        </p:nvGraphicFramePr>
        <p:xfrm>
          <a:off x="457200" y="2834640"/>
          <a:ext cx="11265408" cy="19050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 ST</a:t>
                      </a:r>
                    </a:p>
                    <a:p>
                      <a:r>
                        <a:rPr sz="1000" i="1">
                          <a:solidFill>
                            <a:srgbClr val="808080"/>
                          </a:solidFill>
                        </a:rPr>
                        <a:t>(baseline)</a:t>
                      </a:r>
                    </a:p>
                  </a:txBody>
                  <a:tcPr>
                    <a:solidFill>
                      <a:srgbClr val="FFFFFF"/>
                    </a:solidFill>
                  </a:tcPr>
                </a:tc>
                <a:tc>
                  <a:txBody>
                    <a:bodyPr/>
                    <a:lstStyle/>
                    <a:p>
                      <a:r>
                        <a:rPr sz="1000" dirty="0"/>
                        <a:t>Specification of sensor calibration parameters including history of onboard calibrations where available.</a:t>
                      </a:r>
                    </a:p>
                  </a:txBody>
                  <a:tcPr>
                    <a:solidFill>
                      <a:srgbClr val="FFFFFF"/>
                    </a:solidFill>
                  </a:tcPr>
                </a:tc>
                <a:tc>
                  <a:txBody>
                    <a:bodyPr/>
                    <a:lstStyle/>
                    <a:p>
                      <a:r>
                        <a:rPr sz="1000" dirty="0">
                          <a:solidFill>
                            <a:schemeClr val="tx1"/>
                          </a:solidFill>
                        </a:rPr>
                        <a:t>Sensor calibration parameters are identified or can be accessed using details included in the metadata.</a:t>
                      </a:r>
                    </a:p>
                    <a:p>
                      <a:r>
                        <a:rPr sz="1000" dirty="0">
                          <a:solidFill>
                            <a:schemeClr val="tx1"/>
                          </a:solidFill>
                        </a:rPr>
                        <a:t>Ideally this would support machine-to-machine access.</a:t>
                      </a:r>
                    </a:p>
                  </a:txBody>
                  <a:tcPr>
                    <a:solidFill>
                      <a:srgbClr val="FFFFFF"/>
                    </a:solidFill>
                  </a:tcPr>
                </a:tc>
                <a:extLst>
                  <a:ext uri="{0D108BD9-81ED-4DB2-BD59-A6C34878D82A}">
                    <a16:rowId xmlns:a16="http://schemas.microsoft.com/office/drawing/2014/main" val="10001"/>
                  </a:ext>
                </a:extLst>
              </a:tr>
              <a:tr h="0">
                <a:tc>
                  <a:txBody>
                    <a:bodyPr/>
                    <a:lstStyle/>
                    <a:p>
                      <a:r>
                        <a:rPr sz="1000" b="1"/>
                        <a:t>NLSR, SR</a:t>
                      </a:r>
                    </a:p>
                  </a:txBody>
                  <a:tcPr>
                    <a:solidFill>
                      <a:srgbClr val="F2F2F2"/>
                    </a:solidFill>
                  </a:tcPr>
                </a:tc>
                <a:tc>
                  <a:txBody>
                    <a:bodyPr/>
                    <a:lstStyle/>
                    <a:p>
                      <a:r>
                        <a:rPr sz="1000"/>
                        <a:t>S</a:t>
                      </a:r>
                      <a:r>
                        <a:rPr sz="1000">
                          <a:solidFill>
                            <a:srgbClr val="1565C0"/>
                          </a:solidFill>
                        </a:rPr>
                        <a:t>ensor calibration parameters </a:t>
                      </a:r>
                      <a:r>
                        <a:rPr sz="1000"/>
                        <a:t>are identified in the metadata or can be accessed using details included in the metadata.</a:t>
                      </a:r>
                    </a:p>
                    <a:p>
                      <a:r>
                        <a:rPr sz="1000"/>
                        <a:t>Ideally this would support machine-to-machine access.</a:t>
                      </a:r>
                    </a:p>
                  </a:txBody>
                  <a:tcPr>
                    <a:solidFill>
                      <a:srgbClr val="F2F2F2"/>
                    </a:solidFill>
                  </a:tcPr>
                </a:tc>
                <a:tc>
                  <a:txBody>
                    <a:bodyPr/>
                    <a:lstStyle/>
                    <a:p>
                      <a:r>
                        <a:rPr sz="1000"/>
                        <a:t>Sensor calibration parameters are identified</a:t>
                      </a:r>
                      <a:r>
                        <a:rPr sz="1000" strike="sngStrike">
                          <a:solidFill>
                            <a:srgbClr val="B00000"/>
                          </a:solidFill>
                        </a:rPr>
                        <a:t> in the metadata</a:t>
                      </a:r>
                      <a:r>
                        <a:rPr sz="1000"/>
                        <a:t> or can be accessed using details included in the metadata.</a:t>
                      </a:r>
                    </a:p>
                    <a:p>
                      <a:r>
                        <a:rPr sz="1000"/>
                        <a:t>Ideally this would support machine-to-machine access.</a:t>
                      </a:r>
                    </a:p>
                  </a:txBody>
                  <a:tcPr>
                    <a:solidFill>
                      <a:srgbClr val="F2F2F2"/>
                    </a:solidFill>
                  </a:tcPr>
                </a:tc>
                <a:extLst>
                  <a:ext uri="{0D108BD9-81ED-4DB2-BD59-A6C34878D82A}">
                    <a16:rowId xmlns:a16="http://schemas.microsoft.com/office/drawing/2014/main" val="10002"/>
                  </a:ext>
                </a:extLst>
              </a:tr>
              <a:tr h="0">
                <a:tc>
                  <a:txBody>
                    <a:bodyPr/>
                    <a:lstStyle/>
                    <a:p>
                      <a:r>
                        <a:rPr sz="1000" b="1"/>
                        <a:t>GSLC, INSAR, NRB, ORB, POL</a:t>
                      </a:r>
                    </a:p>
                  </a:txBody>
                  <a:tcPr>
                    <a:solidFill>
                      <a:srgbClr val="FFFFFF"/>
                    </a:solidFill>
                  </a:tcPr>
                </a:tc>
                <a:tc>
                  <a:txBody>
                    <a:bodyPr/>
                    <a:lstStyle/>
                    <a:p>
                      <a:r>
                        <a:rPr sz="1000"/>
                        <a:t>S</a:t>
                      </a:r>
                      <a:r>
                        <a:rPr sz="1000">
                          <a:solidFill>
                            <a:srgbClr val="1565C0"/>
                          </a:solidFill>
                        </a:rPr>
                        <a:t>ensor calibration parameters </a:t>
                      </a:r>
                      <a:r>
                        <a:rPr sz="1000"/>
                        <a:t>are identified in the metadata or can be accessed using details included in the metadata.</a:t>
                      </a:r>
                    </a:p>
                    <a:p>
                      <a:r>
                        <a:rPr sz="1000"/>
                        <a:t>Ideally this would support machine-to-machine access. </a:t>
                      </a:r>
                    </a:p>
                  </a:txBody>
                  <a:tcPr>
                    <a:solidFill>
                      <a:srgbClr val="FFFFFF"/>
                    </a:solidFill>
                  </a:tcPr>
                </a:tc>
                <a:tc>
                  <a:txBody>
                    <a:bodyPr/>
                    <a:lstStyle/>
                    <a:p>
                      <a:r>
                        <a:rPr sz="1000" dirty="0"/>
                        <a:t>Sensor calibration parameters are identified</a:t>
                      </a:r>
                      <a:r>
                        <a:rPr sz="1000" strike="sngStrike" dirty="0">
                          <a:solidFill>
                            <a:srgbClr val="B00000"/>
                          </a:solidFill>
                        </a:rPr>
                        <a:t> in the metadata</a:t>
                      </a:r>
                      <a:r>
                        <a:rPr sz="1000" dirty="0"/>
                        <a:t> or can be accessed using details included in the metadata.</a:t>
                      </a:r>
                    </a:p>
                    <a:p>
                      <a:r>
                        <a:rPr sz="1000" dirty="0"/>
                        <a:t>Ideally this would support machine-to-machine access.</a:t>
                      </a:r>
                      <a:r>
                        <a:rPr sz="1000" strike="sngStrike" dirty="0">
                          <a:solidFill>
                            <a:srgbClr val="B00000"/>
                          </a:solidFill>
                        </a:rPr>
                        <a:t> </a:t>
                      </a:r>
                    </a:p>
                  </a:txBody>
                  <a:tcPr>
                    <a:solidFill>
                      <a:srgbClr val="FFFFFF"/>
                    </a:solidFill>
                  </a:tcPr>
                </a:tc>
                <a:extLst>
                  <a:ext uri="{0D108BD9-81ED-4DB2-BD59-A6C34878D82A}">
                    <a16:rowId xmlns:a16="http://schemas.microsoft.com/office/drawing/2014/main" val="10003"/>
                  </a:ext>
                </a:extLst>
              </a:tr>
            </a:tbl>
          </a:graphicData>
        </a:graphic>
      </p:graphicFrame>
      <p:sp>
        <p:nvSpPr>
          <p:cNvPr id="6" name="TextBox 2">
            <a:extLst>
              <a:ext uri="{FF2B5EF4-FFF2-40B4-BE49-F238E27FC236}">
                <a16:creationId xmlns:a16="http://schemas.microsoft.com/office/drawing/2014/main" id="{B6081C42-0D30-3D30-403F-9860D4F76BB6}"/>
              </a:ext>
            </a:extLst>
          </p:cNvPr>
          <p:cNvSpPr txBox="1"/>
          <p:nvPr/>
        </p:nvSpPr>
        <p:spPr>
          <a:xfrm>
            <a:off x="457200" y="6400800"/>
            <a:ext cx="11277295" cy="369332"/>
          </a:xfrm>
          <a:prstGeom prst="rect">
            <a:avLst/>
          </a:prstGeom>
          <a:noFill/>
        </p:spPr>
        <p:txBody>
          <a:bodyPr wrap="square" lIns="0" tIns="0" rIns="0" bIns="0">
            <a:spAutoFit/>
          </a:bodyPr>
          <a:lstStyle/>
          <a:p>
            <a:r>
              <a:rPr sz="1200" b="1" dirty="0"/>
              <a:t>Internal notes: </a:t>
            </a:r>
            <a:r>
              <a:rPr lang="en-US" sz="1200" i="1" dirty="0"/>
              <a:t>AR only has this required "Binary description of calibrated/not calibrated only." All SAR, SR, ST and NLSR = "Not required". Might already be captured in </a:t>
            </a:r>
            <a:r>
              <a:rPr lang="en-US" sz="1200" i="1" dirty="0" err="1"/>
              <a:t>Github</a:t>
            </a:r>
            <a:r>
              <a:rPr lang="en-US" sz="1200" i="1" dirty="0"/>
              <a:t> but should discuss if AR requirement should be adopted by SAR and other Optical PFSs.</a:t>
            </a:r>
            <a:endParaRPr sz="1200" i="1" dirty="0"/>
          </a:p>
        </p:txBody>
      </p:sp>
      <p:graphicFrame>
        <p:nvGraphicFramePr>
          <p:cNvPr id="8" name="Table 2">
            <a:extLst>
              <a:ext uri="{FF2B5EF4-FFF2-40B4-BE49-F238E27FC236}">
                <a16:creationId xmlns:a16="http://schemas.microsoft.com/office/drawing/2014/main" id="{D2EF7810-07F6-5285-D7C2-E4AFC0E3E3C0}"/>
              </a:ext>
            </a:extLst>
          </p:cNvPr>
          <p:cNvGraphicFramePr>
            <a:graphicFrameLocks noGrp="1"/>
          </p:cNvGraphicFramePr>
          <p:nvPr>
            <p:extLst>
              <p:ext uri="{D42A27DB-BD31-4B8C-83A1-F6EECF244321}">
                <p14:modId xmlns:p14="http://schemas.microsoft.com/office/powerpoint/2010/main" val="3266905162"/>
              </p:ext>
            </p:extLst>
          </p:nvPr>
        </p:nvGraphicFramePr>
        <p:xfrm>
          <a:off x="457200" y="4846320"/>
          <a:ext cx="11265408" cy="14478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Notes</a:t>
                      </a:r>
                    </a:p>
                  </a:txBody>
                  <a:tcPr>
                    <a:solidFill>
                      <a:srgbClr val="000000"/>
                    </a:solidFill>
                  </a:tcPr>
                </a:tc>
                <a:tc>
                  <a:txBody>
                    <a:bodyPr/>
                    <a:lstStyle/>
                    <a:p>
                      <a:r>
                        <a:rPr sz="1100" b="1">
                          <a:solidFill>
                            <a:srgbClr val="FFFFFF"/>
                          </a:solidFill>
                        </a:rPr>
                        <a:t>Proposed Goal Notes</a:t>
                      </a:r>
                    </a:p>
                  </a:txBody>
                  <a:tcPr>
                    <a:solidFill>
                      <a:srgbClr val="000000"/>
                    </a:solidFill>
                  </a:tcPr>
                </a:tc>
                <a:extLst>
                  <a:ext uri="{0D108BD9-81ED-4DB2-BD59-A6C34878D82A}">
                    <a16:rowId xmlns:a16="http://schemas.microsoft.com/office/drawing/2014/main" val="10000"/>
                  </a:ext>
                </a:extLst>
              </a:tr>
              <a:tr h="0">
                <a:tc>
                  <a:txBody>
                    <a:bodyPr/>
                    <a:lstStyle/>
                    <a:p>
                      <a:r>
                        <a:rPr sz="1000" b="1"/>
                        <a:t>AR, ST</a:t>
                      </a:r>
                    </a:p>
                  </a:txBody>
                  <a:tcPr>
                    <a:solidFill>
                      <a:srgbClr val="FFFFFF"/>
                    </a:solidFill>
                  </a:tcPr>
                </a:tc>
                <a:tc>
                  <a:txBody>
                    <a:bodyPr/>
                    <a:lstStyle/>
                    <a:p>
                      <a:r>
                        <a:rPr sz="1000"/>
                        <a:t>(no notes)</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NLSR, SR</a:t>
                      </a:r>
                    </a:p>
                    <a:p>
                      <a:r>
                        <a:rPr sz="1000" i="1">
                          <a:solidFill>
                            <a:srgbClr val="808080"/>
                          </a:solidFill>
                        </a:rPr>
                        <a:t>(baseline)</a:t>
                      </a:r>
                    </a:p>
                  </a:txBody>
                  <a:tcPr>
                    <a:solidFill>
                      <a:srgbClr val="F2F2F2"/>
                    </a:solidFill>
                  </a:tcPr>
                </a:tc>
                <a:tc>
                  <a:txBody>
                    <a:bodyPr/>
                    <a:lstStyle/>
                    <a:p>
                      <a:r>
                        <a:rPr sz="1000"/>
                        <a:t>Information on sensory calibration should be available in the metadata as a single DOI landing page.</a:t>
                      </a:r>
                    </a:p>
                  </a:txBody>
                  <a:tcPr>
                    <a:solidFill>
                      <a:srgbClr val="F2F2F2"/>
                    </a:solidFill>
                  </a:tcPr>
                </a:tc>
                <a:tc>
                  <a:txBody>
                    <a:bodyPr/>
                    <a:lstStyle/>
                    <a:p>
                      <a:r>
                        <a:rPr sz="1000" b="1">
                          <a:solidFill>
                            <a:srgbClr val="B00000"/>
                          </a:solidFill>
                        </a:rPr>
                        <a:t>DELETE NOTE</a:t>
                      </a:r>
                    </a:p>
                  </a:txBody>
                  <a:tcPr>
                    <a:solidFill>
                      <a:srgbClr val="F2F2F2"/>
                    </a:solidFill>
                  </a:tcPr>
                </a:tc>
                <a:extLst>
                  <a:ext uri="{0D108BD9-81ED-4DB2-BD59-A6C34878D82A}">
                    <a16:rowId xmlns:a16="http://schemas.microsoft.com/office/drawing/2014/main" val="10002"/>
                  </a:ext>
                </a:extLst>
              </a:tr>
              <a:tr h="0">
                <a:tc>
                  <a:txBody>
                    <a:bodyPr/>
                    <a:lstStyle/>
                    <a:p>
                      <a:r>
                        <a:rPr sz="1000" b="1"/>
                        <a:t>GSLC, INSAR, NRB, ORB, POL</a:t>
                      </a:r>
                    </a:p>
                  </a:txBody>
                  <a:tcPr>
                    <a:solidFill>
                      <a:srgbClr val="FFFFFF"/>
                    </a:solidFill>
                  </a:tcPr>
                </a:tc>
                <a:tc>
                  <a:txBody>
                    <a:bodyPr/>
                    <a:lstStyle/>
                    <a:p>
                      <a:r>
                        <a:rPr sz="1000" dirty="0"/>
                        <a:t>(no notes)</a:t>
                      </a:r>
                    </a:p>
                  </a:txBody>
                  <a:tcPr>
                    <a:solidFill>
                      <a:srgbClr val="FFFFFF"/>
                    </a:solidFill>
                  </a:tcPr>
                </a:tc>
                <a:tc>
                  <a:txBody>
                    <a:bodyPr/>
                    <a:lstStyle/>
                    <a:p>
                      <a:r>
                        <a:rPr sz="1000" i="1" dirty="0">
                          <a:solidFill>
                            <a:srgbClr val="808080"/>
                          </a:solidFill>
                        </a:rPr>
                        <a:t>(keep as is)</a:t>
                      </a:r>
                    </a:p>
                  </a:txBody>
                  <a:tcP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Spectral Bands (AR, NLSR, SR, ST)</a:t>
            </a:r>
          </a:p>
        </p:txBody>
      </p:sp>
      <p:graphicFrame>
        <p:nvGraphicFramePr>
          <p:cNvPr id="3" name="Table 2"/>
          <p:cNvGraphicFramePr>
            <a:graphicFrameLocks noGrp="1"/>
          </p:cNvGraphicFramePr>
          <p:nvPr/>
        </p:nvGraphicFramePr>
        <p:xfrm>
          <a:off x="457200" y="1005840"/>
          <a:ext cx="11265408" cy="10515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121920">
                <a:tc>
                  <a:txBody>
                    <a:bodyPr/>
                    <a:lstStyle/>
                    <a:p>
                      <a:r>
                        <a:rPr sz="1000" b="1"/>
                        <a:t>AR, ST</a:t>
                      </a:r>
                    </a:p>
                    <a:p>
                      <a:r>
                        <a:rPr sz="1000" i="1">
                          <a:solidFill>
                            <a:srgbClr val="808080"/>
                          </a:solidFill>
                        </a:rPr>
                        <a:t>(baseline)</a:t>
                      </a:r>
                    </a:p>
                  </a:txBody>
                  <a:tcPr>
                    <a:solidFill>
                      <a:srgbClr val="FFFFFF"/>
                    </a:solidFill>
                  </a:tcPr>
                </a:tc>
                <a:tc>
                  <a:txBody>
                    <a:bodyPr/>
                    <a:lstStyle/>
                    <a:p>
                      <a:r>
                        <a:rPr sz="1000"/>
                        <a:t>Full spectral response function is provided.</a:t>
                      </a:r>
                    </a:p>
                  </a:txBody>
                  <a:tcPr>
                    <a:solidFill>
                      <a:srgbClr val="FFFFFF"/>
                    </a:solidFill>
                  </a:tcPr>
                </a:tc>
                <a:tc>
                  <a:txBody>
                    <a:bodyPr/>
                    <a:lstStyle/>
                    <a:p>
                      <a:r>
                        <a:rPr sz="1000" strike="sngStrike" dirty="0">
                          <a:solidFill>
                            <a:srgbClr val="B00000"/>
                          </a:solidFill>
                        </a:rPr>
                        <a:t>Full </a:t>
                      </a:r>
                      <a:r>
                        <a:rPr sz="1000" strike="sngStrike" dirty="0" err="1">
                          <a:solidFill>
                            <a:srgbClr val="B00000"/>
                          </a:solidFill>
                        </a:rPr>
                        <a:t>s</a:t>
                      </a:r>
                      <a:r>
                        <a:rPr sz="1000" b="1" dirty="0" err="1">
                          <a:solidFill>
                            <a:srgbClr val="2E7D32"/>
                          </a:solidFill>
                        </a:rPr>
                        <a:t>S</a:t>
                      </a:r>
                      <a:r>
                        <a:rPr sz="1000" dirty="0" err="1"/>
                        <a:t>pectral</a:t>
                      </a:r>
                      <a:r>
                        <a:rPr sz="1000" dirty="0"/>
                        <a:t> response function </a:t>
                      </a:r>
                      <a:r>
                        <a:rPr sz="1000" b="1" dirty="0">
                          <a:solidFill>
                            <a:srgbClr val="2E7D32"/>
                          </a:solidFill>
                        </a:rPr>
                        <a:t>and method of assessment </a:t>
                      </a:r>
                      <a:r>
                        <a:rPr sz="1000" dirty="0"/>
                        <a:t>is provided.</a:t>
                      </a:r>
                    </a:p>
                  </a:txBody>
                  <a:tcPr>
                    <a:solidFill>
                      <a:srgbClr val="FFFFFF"/>
                    </a:solidFill>
                  </a:tcPr>
                </a:tc>
                <a:extLst>
                  <a:ext uri="{0D108BD9-81ED-4DB2-BD59-A6C34878D82A}">
                    <a16:rowId xmlns:a16="http://schemas.microsoft.com/office/drawing/2014/main" val="10001"/>
                  </a:ext>
                </a:extLst>
              </a:tr>
              <a:tr h="121920">
                <a:tc>
                  <a:txBody>
                    <a:bodyPr/>
                    <a:lstStyle/>
                    <a:p>
                      <a:r>
                        <a:rPr sz="1000" b="1"/>
                        <a:t>NLSR, SR</a:t>
                      </a:r>
                    </a:p>
                  </a:txBody>
                  <a:tcPr>
                    <a:solidFill>
                      <a:srgbClr val="F2F2F2"/>
                    </a:solidFill>
                  </a:tcPr>
                </a:tc>
                <a:tc>
                  <a:txBody>
                    <a:bodyPr/>
                    <a:lstStyle/>
                    <a:p>
                      <a:r>
                        <a:rPr sz="1000" dirty="0"/>
                        <a:t>The central wavelength for each band for which data is included is identified in the metadata, expressed in SI units.</a:t>
                      </a:r>
                    </a:p>
                  </a:txBody>
                  <a:tcPr>
                    <a:solidFill>
                      <a:srgbClr val="F2F2F2"/>
                    </a:solidFill>
                  </a:tcPr>
                </a:tc>
                <a:tc>
                  <a:txBody>
                    <a:bodyPr/>
                    <a:lstStyle/>
                    <a:p>
                      <a:r>
                        <a:rPr sz="1000" dirty="0"/>
                        <a:t>Spectral response function and method of assessment is provided.</a:t>
                      </a:r>
                    </a:p>
                  </a:txBody>
                  <a:tcPr>
                    <a:solidFill>
                      <a:srgbClr val="F2F2F2"/>
                    </a:solidFill>
                  </a:tcPr>
                </a:tc>
                <a:extLst>
                  <a:ext uri="{0D108BD9-81ED-4DB2-BD59-A6C34878D82A}">
                    <a16:rowId xmlns:a16="http://schemas.microsoft.com/office/drawing/2014/main" val="10002"/>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286626312"/>
              </p:ext>
            </p:extLst>
          </p:nvPr>
        </p:nvGraphicFramePr>
        <p:xfrm>
          <a:off x="457200" y="2414016"/>
          <a:ext cx="11265408" cy="12039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dirty="0">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121920">
                <a:tc>
                  <a:txBody>
                    <a:bodyPr/>
                    <a:lstStyle/>
                    <a:p>
                      <a:r>
                        <a:rPr sz="1000" b="1"/>
                        <a:t>AR, ST</a:t>
                      </a:r>
                    </a:p>
                  </a:txBody>
                  <a:tcPr>
                    <a:solidFill>
                      <a:srgbClr val="FFFFFF"/>
                    </a:solidFill>
                  </a:tcPr>
                </a:tc>
                <a:tc>
                  <a:txBody>
                    <a:bodyPr/>
                    <a:lstStyle/>
                    <a:p>
                      <a:r>
                        <a:rPr sz="1000" dirty="0"/>
                        <a:t>(not set)</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121920">
                <a:tc>
                  <a:txBody>
                    <a:bodyPr/>
                    <a:lstStyle/>
                    <a:p>
                      <a:r>
                        <a:rPr sz="1000" b="1"/>
                        <a:t>NLSR, SR</a:t>
                      </a:r>
                    </a:p>
                    <a:p>
                      <a:r>
                        <a:rPr sz="1000" i="1">
                          <a:solidFill>
                            <a:srgbClr val="808080"/>
                          </a:solidFill>
                        </a:rPr>
                        <a:t>(baseline)</a:t>
                      </a:r>
                    </a:p>
                  </a:txBody>
                  <a:tcPr>
                    <a:solidFill>
                      <a:srgbClr val="F2F2F2"/>
                    </a:solidFill>
                  </a:tcPr>
                </a:tc>
                <a:tc>
                  <a:txBody>
                    <a:bodyPr/>
                    <a:lstStyle/>
                    <a:p>
                      <a:r>
                        <a:rPr sz="1000" dirty="0"/>
                        <a:t>As threshold, with instrument spectral response details (e.g., full spectral response function) also included or directly accessible using details in the metadata. </a:t>
                      </a:r>
                    </a:p>
                    <a:p>
                      <a:r>
                        <a:rPr sz="1000" dirty="0"/>
                        <a:t>Central wavelength and bandwidth at full-width half maximum value of the relative spectral response function are provided at least.</a:t>
                      </a:r>
                    </a:p>
                  </a:txBody>
                  <a:tcPr>
                    <a:solidFill>
                      <a:srgbClr val="F2F2F2"/>
                    </a:solidFill>
                  </a:tcPr>
                </a:tc>
                <a:tc>
                  <a:txBody>
                    <a:bodyPr/>
                    <a:lstStyle/>
                    <a:p>
                      <a:r>
                        <a:rPr sz="1000" b="1" dirty="0">
                          <a:solidFill>
                            <a:srgbClr val="B00000"/>
                          </a:solidFill>
                        </a:rPr>
                        <a:t>DELETE</a:t>
                      </a:r>
                    </a:p>
                  </a:txBody>
                  <a:tcPr>
                    <a:solidFill>
                      <a:srgbClr val="F2F2F2"/>
                    </a:solidFill>
                  </a:tcP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463296313"/>
              </p:ext>
            </p:extLst>
          </p:nvPr>
        </p:nvGraphicFramePr>
        <p:xfrm>
          <a:off x="457200" y="4443984"/>
          <a:ext cx="11265408" cy="8991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Notes</a:t>
                      </a:r>
                    </a:p>
                  </a:txBody>
                  <a:tcPr>
                    <a:solidFill>
                      <a:srgbClr val="000000"/>
                    </a:solidFill>
                  </a:tcPr>
                </a:tc>
                <a:tc>
                  <a:txBody>
                    <a:bodyPr/>
                    <a:lstStyle/>
                    <a:p>
                      <a:r>
                        <a:rPr sz="1100" b="1">
                          <a:solidFill>
                            <a:srgbClr val="FFFFFF"/>
                          </a:solidFill>
                        </a:rPr>
                        <a:t>Proposed Goal Notes</a:t>
                      </a:r>
                    </a:p>
                  </a:txBody>
                  <a:tcPr>
                    <a:solidFill>
                      <a:srgbClr val="000000"/>
                    </a:solidFill>
                  </a:tcPr>
                </a:tc>
                <a:extLst>
                  <a:ext uri="{0D108BD9-81ED-4DB2-BD59-A6C34878D82A}">
                    <a16:rowId xmlns:a16="http://schemas.microsoft.com/office/drawing/2014/main" val="10000"/>
                  </a:ext>
                </a:extLst>
              </a:tr>
              <a:tr h="121920">
                <a:tc>
                  <a:txBody>
                    <a:bodyPr/>
                    <a:lstStyle/>
                    <a:p>
                      <a:r>
                        <a:rPr sz="1000" b="1"/>
                        <a:t>AR, ST</a:t>
                      </a:r>
                    </a:p>
                  </a:txBody>
                  <a:tcPr>
                    <a:solidFill>
                      <a:srgbClr val="FFFFFF"/>
                    </a:solidFill>
                  </a:tcPr>
                </a:tc>
                <a:tc>
                  <a:txBody>
                    <a:bodyPr/>
                    <a:lstStyle/>
                    <a:p>
                      <a:r>
                        <a:rPr sz="1000"/>
                        <a:t>(no notes)</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121920">
                <a:tc>
                  <a:txBody>
                    <a:bodyPr/>
                    <a:lstStyle/>
                    <a:p>
                      <a:r>
                        <a:rPr sz="1000" b="1"/>
                        <a:t>NLSR, SR</a:t>
                      </a:r>
                    </a:p>
                    <a:p>
                      <a:r>
                        <a:rPr sz="1000" i="1">
                          <a:solidFill>
                            <a:srgbClr val="808080"/>
                          </a:solidFill>
                        </a:rPr>
                        <a:t>(baseline)</a:t>
                      </a:r>
                    </a:p>
                  </a:txBody>
                  <a:tcPr>
                    <a:solidFill>
                      <a:srgbClr val="F2F2F2"/>
                    </a:solidFill>
                  </a:tcPr>
                </a:tc>
                <a:tc>
                  <a:txBody>
                    <a:bodyPr/>
                    <a:lstStyle/>
                    <a:p>
                      <a:r>
                        <a:rPr sz="1000" dirty="0"/>
                        <a:t>Information on spectral bands should be available in the metadata as a single DOI landing page.</a:t>
                      </a:r>
                    </a:p>
                  </a:txBody>
                  <a:tcPr>
                    <a:solidFill>
                      <a:srgbClr val="F2F2F2"/>
                    </a:solidFill>
                  </a:tcPr>
                </a:tc>
                <a:tc>
                  <a:txBody>
                    <a:bodyPr/>
                    <a:lstStyle/>
                    <a:p>
                      <a:r>
                        <a:rPr lang="de-DE" sz="1000" b="1" dirty="0">
                          <a:solidFill>
                            <a:srgbClr val="B00000"/>
                          </a:solidFill>
                        </a:rPr>
                        <a:t>DELETE</a:t>
                      </a:r>
                      <a:endParaRPr sz="1000" i="1" dirty="0">
                        <a:solidFill>
                          <a:srgbClr val="808080"/>
                        </a:solidFill>
                      </a:endParaRPr>
                    </a:p>
                  </a:txBody>
                  <a:tcPr>
                    <a:solidFill>
                      <a:srgbClr val="F2F2F2"/>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457200" y="5662147"/>
            <a:ext cx="11277295" cy="553998"/>
          </a:xfrm>
          <a:prstGeom prst="rect">
            <a:avLst/>
          </a:prstGeom>
          <a:noFill/>
        </p:spPr>
        <p:txBody>
          <a:bodyPr wrap="square" lIns="0" tIns="0" rIns="0" bIns="0">
            <a:spAutoFit/>
          </a:bodyPr>
          <a:lstStyle/>
          <a:p>
            <a:r>
              <a:rPr sz="1200" b="1" dirty="0"/>
              <a:t>Internal notes: </a:t>
            </a:r>
            <a:r>
              <a:rPr sz="1200" i="1" dirty="0"/>
              <a:t>For DOI related discussions </a:t>
            </a:r>
            <a:r>
              <a:rPr lang="de-DE" sz="1200" i="1" dirty="0" err="1"/>
              <a:t>see</a:t>
            </a:r>
            <a:r>
              <a:rPr lang="de-DE" sz="1200" i="1" dirty="0"/>
              <a:t> "DOIs" </a:t>
            </a:r>
            <a:r>
              <a:rPr lang="de-DE" sz="1200" i="1" dirty="0" err="1"/>
              <a:t>slide</a:t>
            </a:r>
            <a:r>
              <a:rPr sz="1200" i="1" dirty="0"/>
              <a:t>.</a:t>
            </a:r>
            <a:br>
              <a:rPr lang="de-DE" sz="1200" i="1" dirty="0"/>
            </a:br>
            <a:br>
              <a:rPr lang="de-DE" sz="1200" i="1" dirty="0"/>
            </a:br>
            <a:r>
              <a:rPr lang="de-DE" sz="1200" i="1" dirty="0" err="1"/>
              <a:t>Scientifically</a:t>
            </a:r>
            <a:r>
              <a:rPr lang="de-DE" sz="1200" i="1" dirty="0"/>
              <a:t> the </a:t>
            </a:r>
            <a:r>
              <a:rPr lang="de-DE" sz="1200" i="1" dirty="0" err="1"/>
              <a:t>spectral</a:t>
            </a:r>
            <a:r>
              <a:rPr lang="de-DE" sz="1200" i="1" dirty="0"/>
              <a:t> </a:t>
            </a:r>
            <a:r>
              <a:rPr lang="de-DE" sz="1200" i="1" dirty="0" err="1"/>
              <a:t>response</a:t>
            </a:r>
            <a:r>
              <a:rPr lang="de-DE" sz="1200" i="1" dirty="0"/>
              <a:t> </a:t>
            </a:r>
            <a:r>
              <a:rPr lang="de-DE" sz="1200" i="1" dirty="0" err="1"/>
              <a:t>function</a:t>
            </a:r>
            <a:r>
              <a:rPr lang="de-DE" sz="1200" i="1" dirty="0"/>
              <a:t> </a:t>
            </a:r>
            <a:r>
              <a:rPr lang="de-DE" sz="1200" i="1" dirty="0" err="1"/>
              <a:t>is</a:t>
            </a:r>
            <a:r>
              <a:rPr lang="de-DE" sz="1200" i="1" dirty="0"/>
              <a:t> important, but </a:t>
            </a:r>
            <a:r>
              <a:rPr lang="de-DE" sz="1200" i="1" dirty="0" err="1"/>
              <a:t>common</a:t>
            </a:r>
            <a:r>
              <a:rPr lang="de-DE" sz="1200" i="1" dirty="0"/>
              <a:t> </a:t>
            </a:r>
            <a:r>
              <a:rPr lang="de-DE" sz="1200" i="1" dirty="0" err="1"/>
              <a:t>metadata</a:t>
            </a:r>
            <a:r>
              <a:rPr lang="de-DE" sz="1200" i="1" dirty="0"/>
              <a:t> </a:t>
            </a:r>
            <a:r>
              <a:rPr lang="de-DE" sz="1200" i="1" dirty="0" err="1"/>
              <a:t>usually</a:t>
            </a:r>
            <a:r>
              <a:rPr lang="de-DE" sz="1200" i="1" dirty="0"/>
              <a:t> </a:t>
            </a:r>
            <a:r>
              <a:rPr lang="de-DE" sz="1200" i="1" dirty="0" err="1"/>
              <a:t>lists</a:t>
            </a:r>
            <a:r>
              <a:rPr lang="de-DE" sz="1200" i="1" dirty="0"/>
              <a:t> bands </a:t>
            </a:r>
            <a:r>
              <a:rPr lang="de-DE" sz="1200" i="1" dirty="0" err="1"/>
              <a:t>with</a:t>
            </a:r>
            <a:r>
              <a:rPr lang="de-DE" sz="1200" i="1" dirty="0"/>
              <a:t> </a:t>
            </a:r>
            <a:r>
              <a:rPr lang="de-DE" sz="1200" i="1" dirty="0" err="1"/>
              <a:t>central</a:t>
            </a:r>
            <a:r>
              <a:rPr lang="de-DE" sz="1200" i="1" dirty="0"/>
              <a:t> </a:t>
            </a:r>
            <a:r>
              <a:rPr lang="de-DE" sz="1200" i="1" dirty="0" err="1"/>
              <a:t>wavelength</a:t>
            </a:r>
            <a:r>
              <a:rPr lang="de-DE" sz="1200" i="1" dirty="0"/>
              <a:t> / FWHM / etc. </a:t>
            </a:r>
            <a:r>
              <a:rPr lang="de-DE" sz="1200" i="1" dirty="0" err="1"/>
              <a:t>Should</a:t>
            </a:r>
            <a:r>
              <a:rPr lang="de-DE" sz="1200" i="1" dirty="0"/>
              <a:t> </a:t>
            </a:r>
            <a:r>
              <a:rPr lang="de-DE" sz="1200" i="1" dirty="0" err="1"/>
              <a:t>we</a:t>
            </a:r>
            <a:r>
              <a:rPr lang="de-DE" sz="1200" i="1" dirty="0"/>
              <a:t> </a:t>
            </a:r>
            <a:r>
              <a:rPr lang="de-DE" sz="1200" i="1" dirty="0" err="1"/>
              <a:t>aim</a:t>
            </a:r>
            <a:r>
              <a:rPr lang="de-DE" sz="1200" i="1" dirty="0"/>
              <a:t> for </a:t>
            </a:r>
            <a:r>
              <a:rPr lang="de-DE" sz="1200" i="1" dirty="0" err="1"/>
              <a:t>this</a:t>
            </a:r>
            <a:r>
              <a:rPr lang="de-DE" sz="1200" i="1" dirty="0"/>
              <a:t> as </a:t>
            </a:r>
            <a:r>
              <a:rPr lang="de-DE" sz="1200" i="1" dirty="0" err="1"/>
              <a:t>well</a:t>
            </a:r>
            <a:r>
              <a:rPr lang="de-DE" sz="1200" i="1" dirty="0"/>
              <a:t>?</a:t>
            </a:r>
            <a:endParaRPr sz="1200" i="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metadata/time-* (AR, NLSR, SR, ST, CB, GSLC, INSAR, NRB, ORB, POL)</a:t>
            </a:r>
          </a:p>
        </p:txBody>
      </p:sp>
      <p:graphicFrame>
        <p:nvGraphicFramePr>
          <p:cNvPr id="3" name="Table 2"/>
          <p:cNvGraphicFramePr>
            <a:graphicFrameLocks noGrp="1"/>
          </p:cNvGraphicFramePr>
          <p:nvPr>
            <p:extLst>
              <p:ext uri="{D42A27DB-BD31-4B8C-83A1-F6EECF244321}">
                <p14:modId xmlns:p14="http://schemas.microsoft.com/office/powerpoint/2010/main" val="1882932916"/>
              </p:ext>
            </p:extLst>
          </p:nvPr>
        </p:nvGraphicFramePr>
        <p:xfrm>
          <a:off x="457200" y="1005840"/>
          <a:ext cx="11265408" cy="199644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Title</a:t>
                      </a:r>
                    </a:p>
                  </a:txBody>
                  <a:tcPr>
                    <a:solidFill>
                      <a:srgbClr val="000000"/>
                    </a:solidFill>
                  </a:tcPr>
                </a:tc>
                <a:tc>
                  <a:txBody>
                    <a:bodyPr/>
                    <a:lstStyle/>
                    <a:p>
                      <a:r>
                        <a:rPr sz="1100" b="1">
                          <a:solidFill>
                            <a:srgbClr val="FFFFFF"/>
                          </a:solidFill>
                        </a:rPr>
                        <a:t>Proposed Title</a:t>
                      </a:r>
                    </a:p>
                  </a:txBody>
                  <a:tcPr>
                    <a:solidFill>
                      <a:srgbClr val="000000"/>
                    </a:solidFill>
                  </a:tcPr>
                </a:tc>
                <a:extLst>
                  <a:ext uri="{0D108BD9-81ED-4DB2-BD59-A6C34878D82A}">
                    <a16:rowId xmlns:a16="http://schemas.microsoft.com/office/drawing/2014/main" val="10000"/>
                  </a:ext>
                </a:extLst>
              </a:tr>
              <a:tr h="0">
                <a:tc>
                  <a:txBody>
                    <a:bodyPr/>
                    <a:lstStyle/>
                    <a:p>
                      <a:r>
                        <a:rPr sz="1000" b="1"/>
                        <a:t>AR, ST</a:t>
                      </a:r>
                    </a:p>
                    <a:p>
                      <a:r>
                        <a:rPr sz="1000" i="1">
                          <a:solidFill>
                            <a:srgbClr val="808080"/>
                          </a:solidFill>
                        </a:rPr>
                        <a:t>(baseline)</a:t>
                      </a:r>
                    </a:p>
                  </a:txBody>
                  <a:tcPr>
                    <a:solidFill>
                      <a:srgbClr val="FFFFFF"/>
                    </a:solidFill>
                  </a:tcPr>
                </a:tc>
                <a:tc>
                  <a:txBody>
                    <a:bodyPr/>
                    <a:lstStyle/>
                    <a:p>
                      <a:r>
                        <a:rPr sz="1000" dirty="0"/>
                        <a:t>Data Collection Time</a:t>
                      </a:r>
                    </a:p>
                  </a:txBody>
                  <a:tcPr>
                    <a:solidFill>
                      <a:srgbClr val="FFFFFF"/>
                    </a:solidFill>
                  </a:tcPr>
                </a:tc>
                <a:tc>
                  <a:txBody>
                    <a:bodyPr/>
                    <a:lstStyle/>
                    <a:p>
                      <a:r>
                        <a:rPr sz="1000" i="1" dirty="0">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CB, GSLC, INSAR, NRB, ORB, POL</a:t>
                      </a:r>
                    </a:p>
                  </a:txBody>
                  <a:tcPr>
                    <a:solidFill>
                      <a:srgbClr val="F2F2F2"/>
                    </a:solidFill>
                  </a:tcPr>
                </a:tc>
                <a:tc>
                  <a:txBody>
                    <a:bodyPr/>
                    <a:lstStyle/>
                    <a:p>
                      <a:r>
                        <a:rPr sz="1000"/>
                        <a:t>Data Collection Time</a:t>
                      </a:r>
                    </a:p>
                  </a:txBody>
                  <a:tcPr>
                    <a:solidFill>
                      <a:srgbClr val="F2F2F2"/>
                    </a:solidFill>
                  </a:tcPr>
                </a:tc>
                <a:tc>
                  <a:txBody>
                    <a:bodyPr/>
                    <a:lstStyle/>
                    <a:p>
                      <a:r>
                        <a:rPr sz="1000" i="1" dirty="0">
                          <a:solidFill>
                            <a:srgbClr val="808080"/>
                          </a:solidFill>
                        </a:rPr>
                        <a:t>(keep as is)</a:t>
                      </a:r>
                    </a:p>
                  </a:txBody>
                  <a:tcPr>
                    <a:solidFill>
                      <a:srgbClr val="F2F2F2"/>
                    </a:solidFill>
                  </a:tcPr>
                </a:tc>
                <a:extLst>
                  <a:ext uri="{0D108BD9-81ED-4DB2-BD59-A6C34878D82A}">
                    <a16:rowId xmlns:a16="http://schemas.microsoft.com/office/drawing/2014/main" val="10002"/>
                  </a:ext>
                </a:extLst>
              </a:tr>
              <a:tr h="0">
                <a:tc>
                  <a:txBody>
                    <a:bodyPr/>
                    <a:lstStyle/>
                    <a:p>
                      <a:r>
                        <a:rPr sz="1000" b="1"/>
                        <a:t>CB, GSLC, INSAR, NRB, ORB, POL</a:t>
                      </a:r>
                    </a:p>
                  </a:txBody>
                  <a:tcPr>
                    <a:solidFill>
                      <a:srgbClr val="FFFFFF"/>
                    </a:solidFill>
                  </a:tcPr>
                </a:tc>
                <a:tc>
                  <a:txBody>
                    <a:bodyPr/>
                    <a:lstStyle/>
                    <a:p>
                      <a:r>
                        <a:rPr sz="1000" dirty="0"/>
                        <a:t>Source Data Acquisition Time</a:t>
                      </a:r>
                    </a:p>
                  </a:txBody>
                  <a:tcPr>
                    <a:solidFill>
                      <a:srgbClr val="FFFFFF"/>
                    </a:solidFill>
                  </a:tcPr>
                </a:tc>
                <a:tc>
                  <a:txBody>
                    <a:bodyPr/>
                    <a:lstStyle/>
                    <a:p>
                      <a:pPr>
                        <a:buNone/>
                      </a:pPr>
                      <a:r>
                        <a:rPr lang="de-DE" sz="1000" strike="sngStrike" dirty="0">
                          <a:solidFill>
                            <a:srgbClr val="B00000"/>
                          </a:solidFill>
                          <a:effectLst/>
                          <a:latin typeface="Calibri" panose="020F0502020204030204" pitchFamily="34" charset="0"/>
                        </a:rPr>
                        <a:t>Source Data </a:t>
                      </a:r>
                      <a:r>
                        <a:rPr lang="de-DE" sz="1000" strike="sngStrike" dirty="0" err="1">
                          <a:solidFill>
                            <a:srgbClr val="B00000"/>
                          </a:solidFill>
                          <a:effectLst/>
                          <a:latin typeface="Calibri" panose="020F0502020204030204" pitchFamily="34" charset="0"/>
                        </a:rPr>
                        <a:t>Acquisi</a:t>
                      </a:r>
                      <a:r>
                        <a:rPr lang="de-DE" sz="1000" b="1" dirty="0" err="1">
                          <a:solidFill>
                            <a:srgbClr val="2E7D32"/>
                          </a:solidFill>
                          <a:effectLst/>
                          <a:latin typeface="Calibri" panose="020F0502020204030204" pitchFamily="34" charset="0"/>
                        </a:rPr>
                        <a:t>Data</a:t>
                      </a:r>
                      <a:r>
                        <a:rPr lang="de-DE" sz="1000" b="1" dirty="0">
                          <a:solidFill>
                            <a:srgbClr val="2E7D32"/>
                          </a:solidFill>
                          <a:effectLst/>
                          <a:latin typeface="Calibri" panose="020F0502020204030204" pitchFamily="34" charset="0"/>
                        </a:rPr>
                        <a:t> Collec</a:t>
                      </a:r>
                      <a:r>
                        <a:rPr lang="de-DE" sz="1000" dirty="0">
                          <a:effectLst/>
                          <a:latin typeface="Calibri" panose="020F0502020204030204" pitchFamily="34" charset="0"/>
                        </a:rPr>
                        <a:t>tion Time</a:t>
                      </a:r>
                    </a:p>
                  </a:txBody>
                  <a:tcPr>
                    <a:solidFill>
                      <a:srgbClr val="FFFFFF"/>
                    </a:solidFill>
                  </a:tcPr>
                </a:tc>
                <a:extLst>
                  <a:ext uri="{0D108BD9-81ED-4DB2-BD59-A6C34878D82A}">
                    <a16:rowId xmlns:a16="http://schemas.microsoft.com/office/drawing/2014/main" val="10003"/>
                  </a:ext>
                </a:extLst>
              </a:tr>
              <a:tr h="0">
                <a:tc>
                  <a:txBody>
                    <a:bodyPr/>
                    <a:lstStyle/>
                    <a:p>
                      <a:r>
                        <a:rPr sz="1000" b="1"/>
                        <a:t>NLSR, SR</a:t>
                      </a:r>
                    </a:p>
                  </a:txBody>
                  <a:tcPr>
                    <a:solidFill>
                      <a:srgbClr val="F2F2F2"/>
                    </a:solidFill>
                  </a:tcPr>
                </a:tc>
                <a:tc>
                  <a:txBody>
                    <a:bodyPr/>
                    <a:lstStyle/>
                    <a:p>
                      <a:r>
                        <a:rPr sz="1000" dirty="0"/>
                        <a:t>Data Collection Time</a:t>
                      </a:r>
                    </a:p>
                  </a:txBody>
                  <a:tcPr>
                    <a:solidFill>
                      <a:srgbClr val="F2F2F2"/>
                    </a:solidFill>
                  </a:tcPr>
                </a:tc>
                <a:tc>
                  <a:txBody>
                    <a:bodyPr/>
                    <a:lstStyle/>
                    <a:p>
                      <a:r>
                        <a:rPr sz="1000" i="1" dirty="0">
                          <a:solidFill>
                            <a:srgbClr val="808080"/>
                          </a:solidFill>
                        </a:rPr>
                        <a:t>(keep as is)</a:t>
                      </a:r>
                    </a:p>
                  </a:txBody>
                  <a:tcPr>
                    <a:solidFill>
                      <a:srgbClr val="F2F2F2"/>
                    </a:solidFill>
                  </a:tcPr>
                </a:tc>
                <a:extLst>
                  <a:ext uri="{0D108BD9-81ED-4DB2-BD59-A6C34878D82A}">
                    <a16:rowId xmlns:a16="http://schemas.microsoft.com/office/drawing/2014/main" val="10004"/>
                  </a:ext>
                </a:extLst>
              </a:tr>
            </a:tbl>
          </a:graphicData>
        </a:graphic>
      </p:graphicFrame>
      <p:sp>
        <p:nvSpPr>
          <p:cNvPr id="6" name="TextBox 3">
            <a:extLst>
              <a:ext uri="{FF2B5EF4-FFF2-40B4-BE49-F238E27FC236}">
                <a16:creationId xmlns:a16="http://schemas.microsoft.com/office/drawing/2014/main" id="{2C6FCC02-F46C-5563-EB06-C7D4B1A41CA8}"/>
              </a:ext>
            </a:extLst>
          </p:cNvPr>
          <p:cNvSpPr txBox="1"/>
          <p:nvPr/>
        </p:nvSpPr>
        <p:spPr>
          <a:xfrm>
            <a:off x="457200" y="3704783"/>
            <a:ext cx="11277295" cy="1107996"/>
          </a:xfrm>
          <a:prstGeom prst="rect">
            <a:avLst/>
          </a:prstGeom>
          <a:noFill/>
        </p:spPr>
        <p:txBody>
          <a:bodyPr wrap="square" lIns="0" tIns="0" rIns="0" bIns="0">
            <a:spAutoFit/>
          </a:bodyPr>
          <a:lstStyle/>
          <a:p>
            <a:r>
              <a:rPr sz="1200" b="1" dirty="0"/>
              <a:t>Internal notes</a:t>
            </a:r>
            <a:r>
              <a:rPr lang="de-DE" sz="1200" b="1" dirty="0"/>
              <a:t>:</a:t>
            </a:r>
            <a:endParaRPr lang="en-US" sz="1200" i="1" dirty="0"/>
          </a:p>
          <a:p>
            <a:br>
              <a:rPr lang="en-US" sz="1200" i="1" dirty="0"/>
            </a:br>
            <a:r>
              <a:rPr lang="en-US" sz="1200" i="1" dirty="0"/>
              <a:t>SAR uses times in general metadata and source metadata, but requesting pretty much the same. This could be a generic building block.</a:t>
            </a:r>
            <a:br>
              <a:rPr lang="en-US" sz="1200" i="1" dirty="0"/>
            </a:br>
            <a:br>
              <a:rPr lang="en-US" sz="1200" i="1" dirty="0"/>
            </a:br>
            <a:r>
              <a:rPr lang="en-US" sz="1200" i="1" dirty="0"/>
              <a:t>time-</a:t>
            </a:r>
            <a:r>
              <a:rPr lang="en-US" sz="1200" i="1" dirty="0" err="1"/>
              <a:t>sar.yaml</a:t>
            </a:r>
            <a:r>
              <a:rPr lang="en-US" sz="1200" i="1" dirty="0"/>
              <a:t> has a ISO 8601 goal requirement, but time-</a:t>
            </a:r>
            <a:r>
              <a:rPr lang="en-US" sz="1200" i="1" dirty="0" err="1"/>
              <a:t>source.yaml</a:t>
            </a:r>
            <a:r>
              <a:rPr lang="en-US" sz="1200" i="1" dirty="0"/>
              <a:t>  does not. Should it?</a:t>
            </a:r>
            <a:endParaRPr lang="de-DE" sz="1200" b="1" i="1" dirty="0"/>
          </a:p>
          <a:p>
            <a:endParaRPr sz="1200" i="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1761F-4FBF-80C3-D608-A5D680CF8ED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90F49F3-0FBB-4F1E-F249-500F2D386C5F}"/>
              </a:ext>
            </a:extLst>
          </p:cNvPr>
          <p:cNvSpPr txBox="1"/>
          <p:nvPr/>
        </p:nvSpPr>
        <p:spPr>
          <a:xfrm>
            <a:off x="457200" y="228600"/>
            <a:ext cx="11277295" cy="640080"/>
          </a:xfrm>
          <a:prstGeom prst="rect">
            <a:avLst/>
          </a:prstGeom>
          <a:noFill/>
        </p:spPr>
        <p:txBody>
          <a:bodyPr wrap="square">
            <a:spAutoFit/>
          </a:bodyPr>
          <a:lstStyle/>
          <a:p>
            <a:r>
              <a:rPr sz="2800"/>
              <a:t>metadata/time-* (AR, NLSR, SR, ST, CB, GSLC, INSAR, NRB, ORB, POL)</a:t>
            </a:r>
          </a:p>
        </p:txBody>
      </p:sp>
      <p:graphicFrame>
        <p:nvGraphicFramePr>
          <p:cNvPr id="4" name="Table 3">
            <a:extLst>
              <a:ext uri="{FF2B5EF4-FFF2-40B4-BE49-F238E27FC236}">
                <a16:creationId xmlns:a16="http://schemas.microsoft.com/office/drawing/2014/main" id="{022312BF-2352-3A71-8CDA-54A774F2465F}"/>
              </a:ext>
            </a:extLst>
          </p:cNvPr>
          <p:cNvGraphicFramePr>
            <a:graphicFrameLocks noGrp="1"/>
          </p:cNvGraphicFramePr>
          <p:nvPr>
            <p:extLst>
              <p:ext uri="{D42A27DB-BD31-4B8C-83A1-F6EECF244321}">
                <p14:modId xmlns:p14="http://schemas.microsoft.com/office/powerpoint/2010/main" val="2051974751"/>
              </p:ext>
            </p:extLst>
          </p:nvPr>
        </p:nvGraphicFramePr>
        <p:xfrm>
          <a:off x="469087" y="1024128"/>
          <a:ext cx="11265408" cy="550164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 ST</a:t>
                      </a:r>
                    </a:p>
                    <a:p>
                      <a:r>
                        <a:rPr sz="1000" i="1">
                          <a:solidFill>
                            <a:srgbClr val="808080"/>
                          </a:solidFill>
                        </a:rPr>
                        <a:t>(baseline)</a:t>
                      </a:r>
                    </a:p>
                  </a:txBody>
                  <a:tcPr>
                    <a:solidFill>
                      <a:srgbClr val="FFFFFF"/>
                    </a:solidFill>
                  </a:tcPr>
                </a:tc>
                <a:tc>
                  <a:txBody>
                    <a:bodyPr/>
                    <a:lstStyle/>
                    <a:p>
                      <a:r>
                        <a:rPr sz="1000" dirty="0"/>
                        <a:t>The beginning and end of the data collection time is expressed in date/time and identified in the metadata consistent with ISO 8601. The time is expressed with the time offset from UTC unambiguously identified.</a:t>
                      </a:r>
                    </a:p>
                  </a:txBody>
                  <a:tcPr>
                    <a:solidFill>
                      <a:srgbClr val="FFFFFF"/>
                    </a:solidFill>
                  </a:tcPr>
                </a:tc>
                <a:tc>
                  <a:txBody>
                    <a:bodyPr/>
                    <a:lstStyle/>
                    <a:p>
                      <a:pPr>
                        <a:buNone/>
                      </a:pPr>
                      <a:r>
                        <a:rPr lang="de-DE" sz="1000" dirty="0">
                          <a:effectLst/>
                          <a:latin typeface="Calibri" panose="020F0502020204030204" pitchFamily="34" charset="0"/>
                        </a:rPr>
                        <a:t>The </a:t>
                      </a:r>
                      <a:r>
                        <a:rPr lang="de-DE" sz="1000" dirty="0" err="1">
                          <a:effectLst/>
                          <a:latin typeface="Calibri" panose="020F0502020204030204" pitchFamily="34" charset="0"/>
                        </a:rPr>
                        <a:t>beginning</a:t>
                      </a:r>
                      <a:r>
                        <a:rPr lang="de-DE" sz="1000" dirty="0">
                          <a:effectLst/>
                          <a:latin typeface="Calibri" panose="020F0502020204030204" pitchFamily="34" charset="0"/>
                        </a:rPr>
                        <a:t> and end of the </a:t>
                      </a:r>
                      <a:r>
                        <a:rPr lang="de-DE" sz="1000" dirty="0" err="1">
                          <a:effectLst/>
                          <a:latin typeface="Calibri" panose="020F0502020204030204" pitchFamily="34" charset="0"/>
                        </a:rPr>
                        <a:t>data</a:t>
                      </a:r>
                      <a:r>
                        <a:rPr lang="de-DE" sz="1000" dirty="0">
                          <a:effectLst/>
                          <a:latin typeface="Calibri" panose="020F0502020204030204" pitchFamily="34" charset="0"/>
                        </a:rPr>
                        <a:t> </a:t>
                      </a:r>
                      <a:r>
                        <a:rPr lang="de-DE" sz="1000" dirty="0" err="1">
                          <a:effectLst/>
                          <a:latin typeface="Calibri" panose="020F0502020204030204" pitchFamily="34" charset="0"/>
                        </a:rPr>
                        <a:t>collection</a:t>
                      </a:r>
                      <a:r>
                        <a:rPr lang="de-DE" sz="1000" dirty="0">
                          <a:effectLst/>
                          <a:latin typeface="Calibri" panose="020F0502020204030204" pitchFamily="34" charset="0"/>
                        </a:rPr>
                        <a:t> time </a:t>
                      </a:r>
                      <a:r>
                        <a:rPr lang="de-DE" sz="1000" dirty="0" err="1">
                          <a:effectLst/>
                          <a:latin typeface="Calibri" panose="020F0502020204030204" pitchFamily="34" charset="0"/>
                        </a:rPr>
                        <a:t>is</a:t>
                      </a:r>
                      <a:r>
                        <a:rPr lang="de-DE" sz="1000" dirty="0">
                          <a:effectLst/>
                          <a:latin typeface="Calibri" panose="020F0502020204030204" pitchFamily="34" charset="0"/>
                        </a:rPr>
                        <a:t> </a:t>
                      </a:r>
                      <a:r>
                        <a:rPr lang="de-DE" sz="1000" dirty="0" err="1">
                          <a:effectLst/>
                          <a:latin typeface="Calibri" panose="020F0502020204030204" pitchFamily="34" charset="0"/>
                        </a:rPr>
                        <a:t>expressed</a:t>
                      </a:r>
                      <a:r>
                        <a:rPr lang="de-DE" sz="1000" dirty="0">
                          <a:effectLst/>
                          <a:latin typeface="Calibri" panose="020F0502020204030204" pitchFamily="34" charset="0"/>
                        </a:rPr>
                        <a:t> in date/time and </a:t>
                      </a:r>
                      <a:r>
                        <a:rPr lang="de-DE" sz="1000" dirty="0" err="1">
                          <a:effectLst/>
                          <a:latin typeface="Calibri" panose="020F0502020204030204" pitchFamily="34" charset="0"/>
                        </a:rPr>
                        <a:t>identified</a:t>
                      </a:r>
                      <a:r>
                        <a:rPr lang="de-DE" sz="1000" dirty="0">
                          <a:effectLst/>
                          <a:latin typeface="Calibri" panose="020F0502020204030204" pitchFamily="34" charset="0"/>
                        </a:rPr>
                        <a:t> in the </a:t>
                      </a:r>
                      <a:r>
                        <a:rPr lang="de-DE" sz="1000" dirty="0" err="1">
                          <a:effectLst/>
                          <a:latin typeface="Calibri" panose="020F0502020204030204" pitchFamily="34" charset="0"/>
                        </a:rPr>
                        <a:t>metadata</a:t>
                      </a:r>
                      <a:r>
                        <a:rPr lang="de-DE" sz="1000" dirty="0">
                          <a:effectLst/>
                          <a:latin typeface="Calibri" panose="020F0502020204030204" pitchFamily="34" charset="0"/>
                        </a:rPr>
                        <a:t> </a:t>
                      </a:r>
                      <a:r>
                        <a:rPr lang="de-DE" sz="1000" dirty="0" err="1">
                          <a:effectLst/>
                          <a:latin typeface="Calibri" panose="020F0502020204030204" pitchFamily="34" charset="0"/>
                        </a:rPr>
                        <a:t>consistent</a:t>
                      </a:r>
                      <a:r>
                        <a:rPr lang="de-DE" sz="1000" dirty="0">
                          <a:effectLst/>
                          <a:latin typeface="Calibri" panose="020F0502020204030204" pitchFamily="34" charset="0"/>
                        </a:rPr>
                        <a:t> </a:t>
                      </a:r>
                      <a:r>
                        <a:rPr lang="de-DE" sz="1000" dirty="0" err="1">
                          <a:effectLst/>
                          <a:latin typeface="Calibri" panose="020F0502020204030204" pitchFamily="34" charset="0"/>
                        </a:rPr>
                        <a:t>with</a:t>
                      </a:r>
                      <a:r>
                        <a:rPr lang="de-DE" sz="1000" dirty="0">
                          <a:effectLst/>
                          <a:latin typeface="Calibri" panose="020F0502020204030204" pitchFamily="34" charset="0"/>
                        </a:rPr>
                        <a:t> ISO 8601. The time </a:t>
                      </a:r>
                      <a:r>
                        <a:rPr lang="de-DE" sz="1000" dirty="0" err="1">
                          <a:effectLst/>
                          <a:latin typeface="Calibri" panose="020F0502020204030204" pitchFamily="34" charset="0"/>
                        </a:rPr>
                        <a:t>is</a:t>
                      </a:r>
                      <a:r>
                        <a:rPr lang="de-DE" sz="1000" dirty="0">
                          <a:effectLst/>
                          <a:latin typeface="Calibri" panose="020F0502020204030204" pitchFamily="34" charset="0"/>
                        </a:rPr>
                        <a:t> </a:t>
                      </a:r>
                      <a:r>
                        <a:rPr lang="de-DE" sz="1000" dirty="0" err="1">
                          <a:effectLst/>
                          <a:latin typeface="Calibri" panose="020F0502020204030204" pitchFamily="34" charset="0"/>
                        </a:rPr>
                        <a:t>expressed</a:t>
                      </a:r>
                      <a:r>
                        <a:rPr lang="de-DE" sz="1000" dirty="0">
                          <a:effectLst/>
                          <a:latin typeface="Calibri" panose="020F0502020204030204" pitchFamily="34" charset="0"/>
                        </a:rPr>
                        <a:t> </a:t>
                      </a:r>
                      <a:r>
                        <a:rPr lang="de-DE" sz="1000" dirty="0" err="1">
                          <a:effectLst/>
                          <a:latin typeface="Calibri" panose="020F0502020204030204" pitchFamily="34" charset="0"/>
                        </a:rPr>
                        <a:t>with</a:t>
                      </a:r>
                      <a:r>
                        <a:rPr lang="de-DE" sz="1000" dirty="0">
                          <a:effectLst/>
                          <a:latin typeface="Calibri" panose="020F0502020204030204" pitchFamily="34" charset="0"/>
                        </a:rPr>
                        <a:t> the time </a:t>
                      </a:r>
                      <a:r>
                        <a:rPr lang="de-DE" sz="1000" dirty="0" err="1">
                          <a:effectLst/>
                          <a:latin typeface="Calibri" panose="020F0502020204030204" pitchFamily="34" charset="0"/>
                        </a:rPr>
                        <a:t>offset</a:t>
                      </a:r>
                      <a:r>
                        <a:rPr lang="de-DE" sz="1000" dirty="0">
                          <a:effectLst/>
                          <a:latin typeface="Calibri" panose="020F0502020204030204" pitchFamily="34" charset="0"/>
                        </a:rPr>
                        <a:t> </a:t>
                      </a:r>
                      <a:r>
                        <a:rPr lang="de-DE" sz="1000" dirty="0" err="1">
                          <a:effectLst/>
                          <a:latin typeface="Calibri" panose="020F0502020204030204" pitchFamily="34" charset="0"/>
                        </a:rPr>
                        <a:t>from</a:t>
                      </a:r>
                      <a:r>
                        <a:rPr lang="de-DE" sz="1000" dirty="0">
                          <a:effectLst/>
                          <a:latin typeface="Calibri" panose="020F0502020204030204" pitchFamily="34" charset="0"/>
                        </a:rPr>
                        <a:t> UTC </a:t>
                      </a:r>
                      <a:r>
                        <a:rPr lang="de-DE" sz="1000" dirty="0" err="1">
                          <a:effectLst/>
                          <a:latin typeface="Calibri" panose="020F0502020204030204" pitchFamily="34" charset="0"/>
                        </a:rPr>
                        <a:t>unambiguously</a:t>
                      </a:r>
                      <a:r>
                        <a:rPr lang="de-DE" sz="1000" dirty="0">
                          <a:effectLst/>
                          <a:latin typeface="Calibri" panose="020F0502020204030204" pitchFamily="34" charset="0"/>
                        </a:rPr>
                        <a:t> </a:t>
                      </a:r>
                      <a:r>
                        <a:rPr lang="de-DE" sz="1000" dirty="0" err="1">
                          <a:effectLst/>
                          <a:latin typeface="Calibri" panose="020F0502020204030204" pitchFamily="34" charset="0"/>
                        </a:rPr>
                        <a:t>identified</a:t>
                      </a:r>
                      <a:r>
                        <a:rPr lang="de-DE" sz="1000" dirty="0">
                          <a:effectLst/>
                          <a:latin typeface="Calibri" panose="020F0502020204030204" pitchFamily="34" charset="0"/>
                        </a:rPr>
                        <a:t>.</a:t>
                      </a:r>
                      <a:br>
                        <a:rPr lang="de-DE" sz="1000" b="1" dirty="0">
                          <a:solidFill>
                            <a:srgbClr val="2E7D32"/>
                          </a:solidFill>
                          <a:effectLst/>
                          <a:latin typeface="Calibri" panose="020F0502020204030204" pitchFamily="34" charset="0"/>
                        </a:rPr>
                      </a:br>
                      <a:br>
                        <a:rPr lang="de-DE" sz="1000" b="1" dirty="0">
                          <a:solidFill>
                            <a:srgbClr val="2E7D32"/>
                          </a:solidFill>
                          <a:effectLst/>
                          <a:latin typeface="Calibri" panose="020F0502020204030204" pitchFamily="34" charset="0"/>
                        </a:rPr>
                      </a:br>
                      <a:r>
                        <a:rPr lang="de-DE" sz="1000" b="1" dirty="0">
                          <a:solidFill>
                            <a:srgbClr val="2E7D32"/>
                          </a:solidFill>
                          <a:effectLst/>
                          <a:latin typeface="Calibri" panose="020F0502020204030204" pitchFamily="34" charset="0"/>
                        </a:rPr>
                        <a:t>In the </a:t>
                      </a:r>
                      <a:r>
                        <a:rPr lang="de-DE" sz="1000" b="1" dirty="0" err="1">
                          <a:solidFill>
                            <a:srgbClr val="2E7D32"/>
                          </a:solidFill>
                          <a:effectLst/>
                          <a:latin typeface="Calibri" panose="020F0502020204030204" pitchFamily="34" charset="0"/>
                        </a:rPr>
                        <a:t>case</a:t>
                      </a:r>
                      <a:r>
                        <a:rPr lang="de-DE" sz="1000" b="1" dirty="0">
                          <a:solidFill>
                            <a:srgbClr val="2E7D32"/>
                          </a:solidFill>
                          <a:effectLst/>
                          <a:latin typeface="Calibri" panose="020F0502020204030204" pitchFamily="34" charset="0"/>
                        </a:rPr>
                        <a:t> of </a:t>
                      </a:r>
                      <a:r>
                        <a:rPr lang="de-DE" sz="1000" b="1" dirty="0" err="1">
                          <a:solidFill>
                            <a:srgbClr val="2E7D32"/>
                          </a:solidFill>
                          <a:effectLst/>
                          <a:latin typeface="Calibri" panose="020F0502020204030204" pitchFamily="34" charset="0"/>
                        </a:rPr>
                        <a:t>composite</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or</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mosaic</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products</a:t>
                      </a:r>
                      <a:r>
                        <a:rPr lang="de-DE" sz="1000" b="1" dirty="0">
                          <a:solidFill>
                            <a:srgbClr val="2E7D32"/>
                          </a:solidFill>
                          <a:effectLst/>
                          <a:latin typeface="Calibri" panose="020F0502020204030204" pitchFamily="34" charset="0"/>
                        </a:rPr>
                        <a:t>, the </a:t>
                      </a:r>
                      <a:r>
                        <a:rPr lang="de-DE" sz="1000" b="1" dirty="0" err="1">
                          <a:solidFill>
                            <a:srgbClr val="2E7D32"/>
                          </a:solidFill>
                          <a:effectLst/>
                          <a:latin typeface="Calibri" panose="020F0502020204030204" pitchFamily="34" charset="0"/>
                        </a:rPr>
                        <a:t>dates</a:t>
                      </a:r>
                      <a:r>
                        <a:rPr lang="de-DE" sz="1000" b="1" dirty="0">
                          <a:solidFill>
                            <a:srgbClr val="2E7D32"/>
                          </a:solidFill>
                          <a:effectLst/>
                          <a:latin typeface="Calibri" panose="020F0502020204030204" pitchFamily="34" charset="0"/>
                        </a:rPr>
                        <a:t>/</a:t>
                      </a:r>
                      <a:r>
                        <a:rPr lang="de-DE" sz="1000" b="1" dirty="0" err="1">
                          <a:solidFill>
                            <a:srgbClr val="2E7D32"/>
                          </a:solidFill>
                          <a:effectLst/>
                          <a:latin typeface="Calibri" panose="020F0502020204030204" pitchFamily="34" charset="0"/>
                        </a:rPr>
                        <a:t>times</a:t>
                      </a:r>
                      <a:r>
                        <a:rPr lang="de-DE" sz="1000" b="1" dirty="0">
                          <a:solidFill>
                            <a:srgbClr val="2E7D32"/>
                          </a:solidFill>
                          <a:effectLst/>
                          <a:latin typeface="Calibri" panose="020F0502020204030204" pitchFamily="34" charset="0"/>
                        </a:rPr>
                        <a:t> of the </a:t>
                      </a:r>
                      <a:r>
                        <a:rPr lang="de-DE" sz="1000" b="1" dirty="0" err="1">
                          <a:solidFill>
                            <a:srgbClr val="2E7D32"/>
                          </a:solidFill>
                          <a:effectLst/>
                          <a:latin typeface="Calibri" panose="020F0502020204030204" pitchFamily="34" charset="0"/>
                        </a:rPr>
                        <a:t>first</a:t>
                      </a:r>
                      <a:r>
                        <a:rPr lang="de-DE" sz="1000" b="1" dirty="0">
                          <a:solidFill>
                            <a:srgbClr val="2E7D32"/>
                          </a:solidFill>
                          <a:effectLst/>
                          <a:latin typeface="Calibri" panose="020F0502020204030204" pitchFamily="34" charset="0"/>
                        </a:rPr>
                        <a:t> and last </a:t>
                      </a:r>
                      <a:r>
                        <a:rPr lang="de-DE" sz="1000" b="1" dirty="0" err="1">
                          <a:solidFill>
                            <a:srgbClr val="2E7D32"/>
                          </a:solidFill>
                          <a:effectLst/>
                          <a:latin typeface="Calibri" panose="020F0502020204030204" pitchFamily="34" charset="0"/>
                        </a:rPr>
                        <a:t>data</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takes</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is</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provided</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with</a:t>
                      </a:r>
                      <a:r>
                        <a:rPr lang="de-DE" sz="1000" b="1" dirty="0">
                          <a:solidFill>
                            <a:srgbClr val="2E7D32"/>
                          </a:solidFill>
                          <a:effectLst/>
                          <a:latin typeface="Calibri" panose="020F0502020204030204" pitchFamily="34" charset="0"/>
                        </a:rPr>
                        <a:t> the </a:t>
                      </a:r>
                      <a:r>
                        <a:rPr lang="de-DE" sz="1000" b="1" dirty="0" err="1">
                          <a:solidFill>
                            <a:srgbClr val="2E7D32"/>
                          </a:solidFill>
                          <a:effectLst/>
                          <a:latin typeface="Calibri" panose="020F0502020204030204" pitchFamily="34" charset="0"/>
                        </a:rPr>
                        <a:t>product</a:t>
                      </a:r>
                      <a:r>
                        <a:rPr lang="de-DE" sz="1000" b="1" dirty="0">
                          <a:solidFill>
                            <a:srgbClr val="2E7D32"/>
                          </a:solidFill>
                          <a:effectLst/>
                          <a:latin typeface="Calibri" panose="020F0502020204030204" pitchFamily="34" charset="0"/>
                        </a:rPr>
                        <a:t>.</a:t>
                      </a:r>
                      <a:endParaRPr lang="de-DE" sz="1000" dirty="0">
                        <a:effectLst/>
                        <a:latin typeface="Calibri" panose="020F0502020204030204" pitchFamily="34" charset="0"/>
                      </a:endParaRPr>
                    </a:p>
                  </a:txBody>
                  <a:tcPr>
                    <a:solidFill>
                      <a:srgbClr val="FFFFFF"/>
                    </a:solidFill>
                  </a:tcPr>
                </a:tc>
                <a:extLst>
                  <a:ext uri="{0D108BD9-81ED-4DB2-BD59-A6C34878D82A}">
                    <a16:rowId xmlns:a16="http://schemas.microsoft.com/office/drawing/2014/main" val="10001"/>
                  </a:ext>
                </a:extLst>
              </a:tr>
              <a:tr h="0">
                <a:tc>
                  <a:txBody>
                    <a:bodyPr/>
                    <a:lstStyle/>
                    <a:p>
                      <a:r>
                        <a:rPr sz="1000" b="1"/>
                        <a:t>CB, GSLC, INSAR, NRB, ORB, POL</a:t>
                      </a:r>
                    </a:p>
                  </a:txBody>
                  <a:tcPr>
                    <a:solidFill>
                      <a:srgbClr val="F2F2F2"/>
                    </a:solidFill>
                  </a:tcPr>
                </a:tc>
                <a:tc>
                  <a:txBody>
                    <a:bodyPr/>
                    <a:lstStyle/>
                    <a:p>
                      <a:r>
                        <a:rPr sz="1000" dirty="0"/>
                        <a:t>Number of source data acquisitions</a:t>
                      </a:r>
                      <a:r>
                        <a:rPr sz="1000" dirty="0">
                          <a:solidFill>
                            <a:srgbClr val="1565C0"/>
                          </a:solidFill>
                        </a:rPr>
                        <a:t> of the data collection </a:t>
                      </a:r>
                      <a:r>
                        <a:rPr sz="1000" dirty="0"/>
                        <a:t>is identified.</a:t>
                      </a:r>
                    </a:p>
                    <a:p>
                      <a:r>
                        <a:rPr sz="1000" dirty="0"/>
                        <a:t>The start and stop UTC time of data collection is</a:t>
                      </a:r>
                      <a:r>
                        <a:rPr sz="1000" dirty="0">
                          <a:solidFill>
                            <a:srgbClr val="1565C0"/>
                          </a:solidFill>
                        </a:rPr>
                        <a:t> identified in the metadata</a:t>
                      </a:r>
                      <a:r>
                        <a:rPr sz="1000" dirty="0"/>
                        <a:t>, expressed in date/time.</a:t>
                      </a:r>
                    </a:p>
                    <a:p>
                      <a:r>
                        <a:rPr sz="1000" dirty="0"/>
                        <a:t>In the case of composite or mosaic products, the dates/times of the first and last data takes is provid</a:t>
                      </a:r>
                      <a:r>
                        <a:rPr sz="1000" dirty="0">
                          <a:solidFill>
                            <a:srgbClr val="1565C0"/>
                          </a:solidFill>
                        </a:rPr>
                        <a:t>ed with the </a:t>
                      </a:r>
                      <a:r>
                        <a:rPr sz="1000" dirty="0"/>
                        <a:t>product.</a:t>
                      </a:r>
                    </a:p>
                  </a:txBody>
                  <a:tcPr>
                    <a:solidFill>
                      <a:srgbClr val="F2F2F2"/>
                    </a:solidFill>
                  </a:tcPr>
                </a:tc>
                <a:tc>
                  <a:txBody>
                    <a:bodyPr/>
                    <a:lstStyle/>
                    <a:p>
                      <a:pPr>
                        <a:buNone/>
                      </a:pPr>
                      <a:r>
                        <a:rPr lang="de-DE" sz="1000" i="1" dirty="0">
                          <a:solidFill>
                            <a:srgbClr val="808080"/>
                          </a:solidFill>
                        </a:rPr>
                        <a:t>Split </a:t>
                      </a:r>
                      <a:r>
                        <a:rPr lang="de-DE" sz="1000" i="1" dirty="0" err="1">
                          <a:solidFill>
                            <a:srgbClr val="808080"/>
                          </a:solidFill>
                        </a:rPr>
                        <a:t>into</a:t>
                      </a:r>
                      <a:r>
                        <a:rPr lang="de-DE" sz="1000" i="1" dirty="0">
                          <a:solidFill>
                            <a:srgbClr val="808080"/>
                          </a:solidFill>
                        </a:rPr>
                        <a:t> two separate </a:t>
                      </a:r>
                      <a:r>
                        <a:rPr lang="de-DE" sz="1000" i="1" dirty="0" err="1">
                          <a:solidFill>
                            <a:srgbClr val="808080"/>
                          </a:solidFill>
                        </a:rPr>
                        <a:t>requirements</a:t>
                      </a:r>
                      <a:r>
                        <a:rPr lang="de-DE" sz="1000" i="1" dirty="0">
                          <a:solidFill>
                            <a:srgbClr val="808080"/>
                          </a:solidFill>
                        </a:rPr>
                        <a:t>:</a:t>
                      </a:r>
                      <a:br>
                        <a:rPr lang="de-DE" sz="1000" i="1" dirty="0">
                          <a:solidFill>
                            <a:srgbClr val="808080"/>
                          </a:solidFill>
                        </a:rPr>
                      </a:br>
                      <a:br>
                        <a:rPr lang="de-DE" sz="1000" i="1" dirty="0">
                          <a:solidFill>
                            <a:srgbClr val="808080"/>
                          </a:solidFill>
                        </a:rPr>
                      </a:br>
                      <a:r>
                        <a:rPr lang="de-DE" sz="1000" strike="sngStrike" dirty="0">
                          <a:solidFill>
                            <a:srgbClr val="B00000"/>
                          </a:solidFill>
                          <a:effectLst/>
                          <a:latin typeface="Calibri" panose="020F0502020204030204" pitchFamily="34" charset="0"/>
                        </a:rPr>
                        <a:t>Number of source </a:t>
                      </a:r>
                      <a:r>
                        <a:rPr lang="de-DE" sz="1000" strike="sngStrike" dirty="0" err="1">
                          <a:solidFill>
                            <a:srgbClr val="B00000"/>
                          </a:solidFill>
                          <a:effectLst/>
                          <a:latin typeface="Calibri" panose="020F0502020204030204" pitchFamily="34" charset="0"/>
                        </a:rPr>
                        <a:t>data</a:t>
                      </a:r>
                      <a:r>
                        <a:rPr lang="de-DE" sz="1000" strike="sngStrike" dirty="0">
                          <a:solidFill>
                            <a:srgbClr val="B00000"/>
                          </a:solidFill>
                          <a:effectLst/>
                          <a:latin typeface="Calibri" panose="020F0502020204030204" pitchFamily="34" charset="0"/>
                        </a:rPr>
                        <a:t> </a:t>
                      </a:r>
                      <a:r>
                        <a:rPr lang="de-DE" sz="1000" strike="sngStrike" dirty="0" err="1">
                          <a:solidFill>
                            <a:srgbClr val="B00000"/>
                          </a:solidFill>
                          <a:effectLst/>
                          <a:latin typeface="Calibri" panose="020F0502020204030204" pitchFamily="34" charset="0"/>
                        </a:rPr>
                        <a:t>acquisitions</a:t>
                      </a:r>
                      <a:r>
                        <a:rPr lang="de-DE" sz="1000" b="1" dirty="0" err="1">
                          <a:solidFill>
                            <a:srgbClr val="2E7D32"/>
                          </a:solidFill>
                          <a:effectLst/>
                          <a:latin typeface="Calibri" panose="020F0502020204030204" pitchFamily="34" charset="0"/>
                        </a:rPr>
                        <a:t>The</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beginning</a:t>
                      </a:r>
                      <a:r>
                        <a:rPr lang="de-DE" sz="1000" b="1" dirty="0">
                          <a:solidFill>
                            <a:srgbClr val="2E7D32"/>
                          </a:solidFill>
                          <a:effectLst/>
                          <a:latin typeface="Calibri" panose="020F0502020204030204" pitchFamily="34" charset="0"/>
                        </a:rPr>
                        <a:t> and end</a:t>
                      </a:r>
                      <a:r>
                        <a:rPr lang="de-DE" sz="1000" dirty="0">
                          <a:effectLst/>
                          <a:latin typeface="Calibri" panose="020F0502020204030204" pitchFamily="34" charset="0"/>
                        </a:rPr>
                        <a:t> of the </a:t>
                      </a:r>
                      <a:r>
                        <a:rPr lang="de-DE" sz="1000" dirty="0" err="1">
                          <a:effectLst/>
                          <a:latin typeface="Calibri" panose="020F0502020204030204" pitchFamily="34" charset="0"/>
                        </a:rPr>
                        <a:t>data</a:t>
                      </a:r>
                      <a:r>
                        <a:rPr lang="de-DE" sz="1000" dirty="0">
                          <a:effectLst/>
                          <a:latin typeface="Calibri" panose="020F0502020204030204" pitchFamily="34" charset="0"/>
                        </a:rPr>
                        <a:t> </a:t>
                      </a:r>
                      <a:r>
                        <a:rPr lang="de-DE" sz="1000" dirty="0" err="1">
                          <a:effectLst/>
                          <a:latin typeface="Calibri" panose="020F0502020204030204" pitchFamily="34" charset="0"/>
                        </a:rPr>
                        <a:t>collection</a:t>
                      </a:r>
                      <a:r>
                        <a:rPr lang="de-DE" sz="1000" dirty="0">
                          <a:effectLst/>
                          <a:latin typeface="Calibri" panose="020F0502020204030204" pitchFamily="34" charset="0"/>
                        </a:rPr>
                        <a:t> </a:t>
                      </a:r>
                      <a:r>
                        <a:rPr lang="de-DE" sz="1000" strike="sngStrike" dirty="0" err="1">
                          <a:solidFill>
                            <a:srgbClr val="B00000"/>
                          </a:solidFill>
                          <a:effectLst/>
                          <a:latin typeface="Calibri" panose="020F0502020204030204" pitchFamily="34" charset="0"/>
                        </a:rPr>
                        <a:t>is</a:t>
                      </a:r>
                      <a:r>
                        <a:rPr lang="de-DE" sz="1000" strike="sngStrike" dirty="0">
                          <a:solidFill>
                            <a:srgbClr val="B00000"/>
                          </a:solidFill>
                          <a:effectLst/>
                          <a:latin typeface="Calibri" panose="020F0502020204030204" pitchFamily="34" charset="0"/>
                        </a:rPr>
                        <a:t> </a:t>
                      </a:r>
                      <a:r>
                        <a:rPr lang="de-DE" sz="1000" strike="sngStrike" dirty="0" err="1">
                          <a:solidFill>
                            <a:srgbClr val="B00000"/>
                          </a:solidFill>
                          <a:effectLst/>
                          <a:latin typeface="Calibri" panose="020F0502020204030204" pitchFamily="34" charset="0"/>
                        </a:rPr>
                        <a:t>identified</a:t>
                      </a:r>
                      <a:r>
                        <a:rPr lang="de-DE" sz="1000" strike="sngStrike" dirty="0">
                          <a:solidFill>
                            <a:srgbClr val="B00000"/>
                          </a:solidFill>
                          <a:effectLst/>
                          <a:latin typeface="Calibri" panose="020F0502020204030204" pitchFamily="34" charset="0"/>
                        </a:rPr>
                        <a:t>.</a:t>
                      </a:r>
                      <a:br>
                        <a:rPr lang="de-DE" sz="1000" strike="sngStrike" dirty="0">
                          <a:solidFill>
                            <a:srgbClr val="B00000"/>
                          </a:solidFill>
                          <a:effectLst/>
                          <a:latin typeface="Calibri" panose="020F0502020204030204" pitchFamily="34" charset="0"/>
                        </a:rPr>
                      </a:br>
                      <a:r>
                        <a:rPr lang="de-DE" sz="1000" strike="sngStrike" dirty="0">
                          <a:solidFill>
                            <a:srgbClr val="B00000"/>
                          </a:solidFill>
                          <a:effectLst/>
                          <a:latin typeface="Calibri" panose="020F0502020204030204" pitchFamily="34" charset="0"/>
                        </a:rPr>
                        <a:t>The </a:t>
                      </a:r>
                      <a:r>
                        <a:rPr lang="de-DE" sz="1000" strike="sngStrike" dirty="0" err="1">
                          <a:solidFill>
                            <a:srgbClr val="B00000"/>
                          </a:solidFill>
                          <a:effectLst/>
                          <a:latin typeface="Calibri" panose="020F0502020204030204" pitchFamily="34" charset="0"/>
                        </a:rPr>
                        <a:t>start</a:t>
                      </a:r>
                      <a:r>
                        <a:rPr lang="de-DE" sz="1000" strike="sngStrike" dirty="0">
                          <a:solidFill>
                            <a:srgbClr val="B00000"/>
                          </a:solidFill>
                          <a:effectLst/>
                          <a:latin typeface="Calibri" panose="020F0502020204030204" pitchFamily="34" charset="0"/>
                        </a:rPr>
                        <a:t> and stop UTC time of </a:t>
                      </a:r>
                      <a:r>
                        <a:rPr lang="de-DE" sz="1000" strike="sngStrike" dirty="0" err="1">
                          <a:solidFill>
                            <a:srgbClr val="B00000"/>
                          </a:solidFill>
                          <a:effectLst/>
                          <a:latin typeface="Calibri" panose="020F0502020204030204" pitchFamily="34" charset="0"/>
                        </a:rPr>
                        <a:t>data</a:t>
                      </a:r>
                      <a:r>
                        <a:rPr lang="de-DE" sz="1000" strike="sngStrike" dirty="0">
                          <a:solidFill>
                            <a:srgbClr val="B00000"/>
                          </a:solidFill>
                          <a:effectLst/>
                          <a:latin typeface="Calibri" panose="020F0502020204030204" pitchFamily="34" charset="0"/>
                        </a:rPr>
                        <a:t> </a:t>
                      </a:r>
                      <a:r>
                        <a:rPr lang="de-DE" sz="1000" strike="sngStrike" dirty="0" err="1">
                          <a:solidFill>
                            <a:srgbClr val="B00000"/>
                          </a:solidFill>
                          <a:effectLst/>
                          <a:latin typeface="Calibri" panose="020F0502020204030204" pitchFamily="34" charset="0"/>
                        </a:rPr>
                        <a:t>collection</a:t>
                      </a:r>
                      <a:r>
                        <a:rPr lang="de-DE" sz="1000" strike="sngStrike" dirty="0">
                          <a:solidFill>
                            <a:srgbClr val="B00000"/>
                          </a:solidFill>
                          <a:effectLst/>
                          <a:latin typeface="Calibri" panose="020F0502020204030204" pitchFamily="34" charset="0"/>
                        </a:rPr>
                        <a:t> </a:t>
                      </a:r>
                      <a:r>
                        <a:rPr lang="de-DE" sz="1000" strike="sngStrike" dirty="0" err="1">
                          <a:solidFill>
                            <a:srgbClr val="B00000"/>
                          </a:solidFill>
                          <a:effectLst/>
                          <a:latin typeface="Calibri" panose="020F0502020204030204" pitchFamily="34" charset="0"/>
                        </a:rPr>
                        <a:t>is</a:t>
                      </a:r>
                      <a:r>
                        <a:rPr lang="de-DE" sz="1000" b="1" dirty="0" err="1">
                          <a:solidFill>
                            <a:srgbClr val="2E7D32"/>
                          </a:solidFill>
                          <a:effectLst/>
                          <a:latin typeface="Calibri" panose="020F0502020204030204" pitchFamily="34" charset="0"/>
                        </a:rPr>
                        <a:t>time</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is</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expressed</a:t>
                      </a:r>
                      <a:r>
                        <a:rPr lang="de-DE" sz="1000" b="1" dirty="0">
                          <a:solidFill>
                            <a:srgbClr val="2E7D32"/>
                          </a:solidFill>
                          <a:effectLst/>
                          <a:latin typeface="Calibri" panose="020F0502020204030204" pitchFamily="34" charset="0"/>
                        </a:rPr>
                        <a:t> in date/time and</a:t>
                      </a:r>
                      <a:r>
                        <a:rPr lang="de-DE" sz="1000" dirty="0">
                          <a:effectLst/>
                          <a:latin typeface="Calibri" panose="020F0502020204030204" pitchFamily="34" charset="0"/>
                        </a:rPr>
                        <a:t> </a:t>
                      </a:r>
                      <a:r>
                        <a:rPr lang="de-DE" sz="1000" dirty="0" err="1">
                          <a:effectLst/>
                          <a:latin typeface="Calibri" panose="020F0502020204030204" pitchFamily="34" charset="0"/>
                        </a:rPr>
                        <a:t>identified</a:t>
                      </a:r>
                      <a:r>
                        <a:rPr lang="de-DE" sz="1000" dirty="0">
                          <a:effectLst/>
                          <a:latin typeface="Calibri" panose="020F0502020204030204" pitchFamily="34" charset="0"/>
                        </a:rPr>
                        <a:t> in the </a:t>
                      </a:r>
                      <a:r>
                        <a:rPr lang="de-DE" sz="1000" dirty="0" err="1">
                          <a:effectLst/>
                          <a:latin typeface="Calibri" panose="020F0502020204030204" pitchFamily="34" charset="0"/>
                        </a:rPr>
                        <a:t>metadata</a:t>
                      </a:r>
                      <a:r>
                        <a:rPr lang="de-DE" sz="1000" strike="sngStrike" dirty="0">
                          <a:solidFill>
                            <a:srgbClr val="B00000"/>
                          </a:solidFill>
                          <a:effectLst/>
                          <a:latin typeface="Calibri" panose="020F0502020204030204" pitchFamily="34" charset="0"/>
                        </a:rPr>
                        <a:t>,</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consistent</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with</a:t>
                      </a:r>
                      <a:r>
                        <a:rPr lang="de-DE" sz="1000" b="1" dirty="0">
                          <a:solidFill>
                            <a:srgbClr val="2E7D32"/>
                          </a:solidFill>
                          <a:effectLst/>
                          <a:latin typeface="Calibri" panose="020F0502020204030204" pitchFamily="34" charset="0"/>
                        </a:rPr>
                        <a:t> ISO 8601. The time </a:t>
                      </a:r>
                      <a:r>
                        <a:rPr lang="de-DE" sz="1000" b="1" dirty="0" err="1">
                          <a:solidFill>
                            <a:srgbClr val="2E7D32"/>
                          </a:solidFill>
                          <a:effectLst/>
                          <a:latin typeface="Calibri" panose="020F0502020204030204" pitchFamily="34" charset="0"/>
                        </a:rPr>
                        <a:t>is</a:t>
                      </a:r>
                      <a:r>
                        <a:rPr lang="de-DE" sz="1000" dirty="0">
                          <a:effectLst/>
                          <a:latin typeface="Calibri" panose="020F0502020204030204" pitchFamily="34" charset="0"/>
                        </a:rPr>
                        <a:t> </a:t>
                      </a:r>
                      <a:r>
                        <a:rPr lang="de-DE" sz="1000" dirty="0" err="1">
                          <a:effectLst/>
                          <a:latin typeface="Calibri" panose="020F0502020204030204" pitchFamily="34" charset="0"/>
                        </a:rPr>
                        <a:t>expressed</a:t>
                      </a:r>
                      <a:r>
                        <a:rPr lang="de-DE" sz="1000" dirty="0">
                          <a:effectLst/>
                          <a:latin typeface="Calibri" panose="020F0502020204030204" pitchFamily="34" charset="0"/>
                        </a:rPr>
                        <a:t> </a:t>
                      </a:r>
                      <a:r>
                        <a:rPr lang="de-DE" sz="1000" strike="sngStrike" dirty="0">
                          <a:solidFill>
                            <a:srgbClr val="B00000"/>
                          </a:solidFill>
                          <a:effectLst/>
                          <a:latin typeface="Calibri" panose="020F0502020204030204" pitchFamily="34" charset="0"/>
                        </a:rPr>
                        <a:t>in date/</a:t>
                      </a:r>
                      <a:r>
                        <a:rPr lang="de-DE" sz="1000" strike="sngStrike" dirty="0" err="1">
                          <a:solidFill>
                            <a:srgbClr val="B00000"/>
                          </a:solidFill>
                          <a:effectLst/>
                          <a:latin typeface="Calibri" panose="020F0502020204030204" pitchFamily="34" charset="0"/>
                        </a:rPr>
                        <a:t>time.</a:t>
                      </a:r>
                      <a:r>
                        <a:rPr lang="de-DE" sz="1000" b="1" dirty="0" err="1">
                          <a:solidFill>
                            <a:srgbClr val="2E7D32"/>
                          </a:solidFill>
                          <a:effectLst/>
                          <a:latin typeface="Calibri" panose="020F0502020204030204" pitchFamily="34" charset="0"/>
                        </a:rPr>
                        <a:t>with</a:t>
                      </a:r>
                      <a:r>
                        <a:rPr lang="de-DE" sz="1000" b="1" dirty="0">
                          <a:solidFill>
                            <a:srgbClr val="2E7D32"/>
                          </a:solidFill>
                          <a:effectLst/>
                          <a:latin typeface="Calibri" panose="020F0502020204030204" pitchFamily="34" charset="0"/>
                        </a:rPr>
                        <a:t> the time </a:t>
                      </a:r>
                      <a:r>
                        <a:rPr lang="de-DE" sz="1000" b="1" dirty="0" err="1">
                          <a:solidFill>
                            <a:srgbClr val="2E7D32"/>
                          </a:solidFill>
                          <a:effectLst/>
                          <a:latin typeface="Calibri" panose="020F0502020204030204" pitchFamily="34" charset="0"/>
                        </a:rPr>
                        <a:t>offset</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from</a:t>
                      </a:r>
                      <a:r>
                        <a:rPr lang="de-DE" sz="1000" b="1" dirty="0">
                          <a:solidFill>
                            <a:srgbClr val="2E7D32"/>
                          </a:solidFill>
                          <a:effectLst/>
                          <a:latin typeface="Calibri" panose="020F0502020204030204" pitchFamily="34" charset="0"/>
                        </a:rPr>
                        <a:t> UTC </a:t>
                      </a:r>
                      <a:r>
                        <a:rPr lang="de-DE" sz="1000" b="1" dirty="0" err="1">
                          <a:solidFill>
                            <a:srgbClr val="2E7D32"/>
                          </a:solidFill>
                          <a:effectLst/>
                          <a:latin typeface="Calibri" panose="020F0502020204030204" pitchFamily="34" charset="0"/>
                        </a:rPr>
                        <a:t>unambiguously</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identified</a:t>
                      </a:r>
                      <a:r>
                        <a:rPr lang="de-DE" sz="1000" b="1" dirty="0">
                          <a:solidFill>
                            <a:srgbClr val="2E7D32"/>
                          </a:solidFill>
                          <a:effectLst/>
                          <a:latin typeface="Calibri" panose="020F0502020204030204" pitchFamily="34" charset="0"/>
                        </a:rPr>
                        <a:t>.</a:t>
                      </a:r>
                      <a:br>
                        <a:rPr lang="de-DE" sz="1000" b="1" dirty="0">
                          <a:solidFill>
                            <a:srgbClr val="2E7D32"/>
                          </a:solidFill>
                          <a:effectLst/>
                          <a:latin typeface="Calibri" panose="020F0502020204030204" pitchFamily="34" charset="0"/>
                        </a:rPr>
                      </a:br>
                      <a:br>
                        <a:rPr lang="de-DE" sz="1000" dirty="0">
                          <a:effectLst/>
                          <a:latin typeface="Calibri" panose="020F0502020204030204" pitchFamily="34" charset="0"/>
                        </a:rPr>
                      </a:br>
                      <a:r>
                        <a:rPr lang="de-DE" sz="1000" dirty="0">
                          <a:effectLst/>
                          <a:latin typeface="Calibri" panose="020F0502020204030204" pitchFamily="34" charset="0"/>
                        </a:rPr>
                        <a:t>In the </a:t>
                      </a:r>
                      <a:r>
                        <a:rPr lang="de-DE" sz="1000" dirty="0" err="1">
                          <a:effectLst/>
                          <a:latin typeface="Calibri" panose="020F0502020204030204" pitchFamily="34" charset="0"/>
                        </a:rPr>
                        <a:t>case</a:t>
                      </a:r>
                      <a:r>
                        <a:rPr lang="de-DE" sz="1000" dirty="0">
                          <a:effectLst/>
                          <a:latin typeface="Calibri" panose="020F0502020204030204" pitchFamily="34" charset="0"/>
                        </a:rPr>
                        <a:t> of </a:t>
                      </a:r>
                      <a:r>
                        <a:rPr lang="de-DE" sz="1000" dirty="0" err="1">
                          <a:effectLst/>
                          <a:latin typeface="Calibri" panose="020F0502020204030204" pitchFamily="34" charset="0"/>
                        </a:rPr>
                        <a:t>composite</a:t>
                      </a:r>
                      <a:r>
                        <a:rPr lang="de-DE" sz="1000" dirty="0">
                          <a:effectLst/>
                          <a:latin typeface="Calibri" panose="020F0502020204030204" pitchFamily="34" charset="0"/>
                        </a:rPr>
                        <a:t> </a:t>
                      </a:r>
                      <a:r>
                        <a:rPr lang="de-DE" sz="1000" dirty="0" err="1">
                          <a:effectLst/>
                          <a:latin typeface="Calibri" panose="020F0502020204030204" pitchFamily="34" charset="0"/>
                        </a:rPr>
                        <a:t>or</a:t>
                      </a:r>
                      <a:r>
                        <a:rPr lang="de-DE" sz="1000" dirty="0">
                          <a:effectLst/>
                          <a:latin typeface="Calibri" panose="020F0502020204030204" pitchFamily="34" charset="0"/>
                        </a:rPr>
                        <a:t> </a:t>
                      </a:r>
                      <a:r>
                        <a:rPr lang="de-DE" sz="1000" dirty="0" err="1">
                          <a:effectLst/>
                          <a:latin typeface="Calibri" panose="020F0502020204030204" pitchFamily="34" charset="0"/>
                        </a:rPr>
                        <a:t>mosaic</a:t>
                      </a:r>
                      <a:r>
                        <a:rPr lang="de-DE" sz="1000" dirty="0">
                          <a:effectLst/>
                          <a:latin typeface="Calibri" panose="020F0502020204030204" pitchFamily="34" charset="0"/>
                        </a:rPr>
                        <a:t> </a:t>
                      </a:r>
                      <a:r>
                        <a:rPr lang="de-DE" sz="1000" dirty="0" err="1">
                          <a:effectLst/>
                          <a:latin typeface="Calibri" panose="020F0502020204030204" pitchFamily="34" charset="0"/>
                        </a:rPr>
                        <a:t>products</a:t>
                      </a:r>
                      <a:r>
                        <a:rPr lang="de-DE" sz="1000" dirty="0">
                          <a:effectLst/>
                          <a:latin typeface="Calibri" panose="020F0502020204030204" pitchFamily="34" charset="0"/>
                        </a:rPr>
                        <a:t>, the </a:t>
                      </a:r>
                      <a:r>
                        <a:rPr lang="de-DE" sz="1000" dirty="0" err="1">
                          <a:effectLst/>
                          <a:latin typeface="Calibri" panose="020F0502020204030204" pitchFamily="34" charset="0"/>
                        </a:rPr>
                        <a:t>dates</a:t>
                      </a:r>
                      <a:r>
                        <a:rPr lang="de-DE" sz="1000" dirty="0">
                          <a:effectLst/>
                          <a:latin typeface="Calibri" panose="020F0502020204030204" pitchFamily="34" charset="0"/>
                        </a:rPr>
                        <a:t>/</a:t>
                      </a:r>
                      <a:r>
                        <a:rPr lang="de-DE" sz="1000" dirty="0" err="1">
                          <a:effectLst/>
                          <a:latin typeface="Calibri" panose="020F0502020204030204" pitchFamily="34" charset="0"/>
                        </a:rPr>
                        <a:t>times</a:t>
                      </a:r>
                      <a:r>
                        <a:rPr lang="de-DE" sz="1000" dirty="0">
                          <a:effectLst/>
                          <a:latin typeface="Calibri" panose="020F0502020204030204" pitchFamily="34" charset="0"/>
                        </a:rPr>
                        <a:t> of the </a:t>
                      </a:r>
                      <a:r>
                        <a:rPr lang="de-DE" sz="1000" dirty="0" err="1">
                          <a:effectLst/>
                          <a:latin typeface="Calibri" panose="020F0502020204030204" pitchFamily="34" charset="0"/>
                        </a:rPr>
                        <a:t>first</a:t>
                      </a:r>
                      <a:r>
                        <a:rPr lang="de-DE" sz="1000" dirty="0">
                          <a:effectLst/>
                          <a:latin typeface="Calibri" panose="020F0502020204030204" pitchFamily="34" charset="0"/>
                        </a:rPr>
                        <a:t> and last </a:t>
                      </a:r>
                      <a:r>
                        <a:rPr lang="de-DE" sz="1000" dirty="0" err="1">
                          <a:effectLst/>
                          <a:latin typeface="Calibri" panose="020F0502020204030204" pitchFamily="34" charset="0"/>
                        </a:rPr>
                        <a:t>data</a:t>
                      </a:r>
                      <a:r>
                        <a:rPr lang="de-DE" sz="1000" dirty="0">
                          <a:effectLst/>
                          <a:latin typeface="Calibri" panose="020F0502020204030204" pitchFamily="34" charset="0"/>
                        </a:rPr>
                        <a:t> </a:t>
                      </a:r>
                      <a:r>
                        <a:rPr lang="de-DE" sz="1000" dirty="0" err="1">
                          <a:effectLst/>
                          <a:latin typeface="Calibri" panose="020F0502020204030204" pitchFamily="34" charset="0"/>
                        </a:rPr>
                        <a:t>takes</a:t>
                      </a:r>
                      <a:r>
                        <a:rPr lang="de-DE" sz="1000" dirty="0">
                          <a:effectLst/>
                          <a:latin typeface="Calibri" panose="020F0502020204030204" pitchFamily="34" charset="0"/>
                        </a:rPr>
                        <a:t> </a:t>
                      </a:r>
                      <a:r>
                        <a:rPr lang="de-DE" sz="1000" dirty="0" err="1">
                          <a:effectLst/>
                          <a:latin typeface="Calibri" panose="020F0502020204030204" pitchFamily="34" charset="0"/>
                        </a:rPr>
                        <a:t>is</a:t>
                      </a:r>
                      <a:r>
                        <a:rPr lang="de-DE" sz="1000" dirty="0">
                          <a:effectLst/>
                          <a:latin typeface="Calibri" panose="020F0502020204030204" pitchFamily="34" charset="0"/>
                        </a:rPr>
                        <a:t> </a:t>
                      </a:r>
                      <a:r>
                        <a:rPr lang="de-DE" sz="1000" dirty="0" err="1">
                          <a:effectLst/>
                          <a:latin typeface="Calibri" panose="020F0502020204030204" pitchFamily="34" charset="0"/>
                        </a:rPr>
                        <a:t>provided</a:t>
                      </a:r>
                      <a:r>
                        <a:rPr lang="de-DE" sz="1000" dirty="0">
                          <a:effectLst/>
                          <a:latin typeface="Calibri" panose="020F0502020204030204" pitchFamily="34" charset="0"/>
                        </a:rPr>
                        <a:t> </a:t>
                      </a:r>
                      <a:r>
                        <a:rPr lang="de-DE" sz="1000" dirty="0" err="1">
                          <a:effectLst/>
                          <a:latin typeface="Calibri" panose="020F0502020204030204" pitchFamily="34" charset="0"/>
                        </a:rPr>
                        <a:t>with</a:t>
                      </a:r>
                      <a:r>
                        <a:rPr lang="de-DE" sz="1000" dirty="0">
                          <a:effectLst/>
                          <a:latin typeface="Calibri" panose="020F0502020204030204" pitchFamily="34" charset="0"/>
                        </a:rPr>
                        <a:t> the </a:t>
                      </a:r>
                      <a:r>
                        <a:rPr lang="de-DE" sz="1000" dirty="0" err="1">
                          <a:effectLst/>
                          <a:latin typeface="Calibri" panose="020F0502020204030204" pitchFamily="34" charset="0"/>
                        </a:rPr>
                        <a:t>product</a:t>
                      </a:r>
                      <a:r>
                        <a:rPr lang="de-DE" sz="1000" dirty="0">
                          <a:effectLst/>
                          <a:latin typeface="Calibri" panose="020F0502020204030204" pitchFamily="34" charset="0"/>
                        </a:rPr>
                        <a:t>.</a:t>
                      </a:r>
                      <a:br>
                        <a:rPr lang="de-DE" sz="1000" i="1" dirty="0">
                          <a:solidFill>
                            <a:srgbClr val="808080"/>
                          </a:solidFill>
                        </a:rPr>
                      </a:br>
                      <a:br>
                        <a:rPr lang="de-DE" sz="1000" i="1" dirty="0">
                          <a:solidFill>
                            <a:srgbClr val="808080"/>
                          </a:solidFill>
                        </a:rPr>
                      </a:br>
                      <a:r>
                        <a:rPr lang="de-DE" sz="1000" b="1" i="1" dirty="0">
                          <a:solidFill>
                            <a:schemeClr val="tx1"/>
                          </a:solidFill>
                        </a:rPr>
                        <a:t>and</a:t>
                      </a:r>
                      <a:br>
                        <a:rPr lang="de-DE" sz="1000" i="1" dirty="0">
                          <a:solidFill>
                            <a:srgbClr val="808080"/>
                          </a:solidFill>
                        </a:rPr>
                      </a:br>
                      <a:br>
                        <a:rPr lang="de-DE" sz="1000" i="1" dirty="0">
                          <a:solidFill>
                            <a:srgbClr val="808080"/>
                          </a:solidFill>
                        </a:rPr>
                      </a:br>
                      <a:r>
                        <a:rPr lang="en-US" sz="1000" dirty="0">
                          <a:solidFill>
                            <a:schemeClr val="tx1"/>
                          </a:solidFill>
                        </a:rPr>
                        <a:t>Number of source data acquisitions of the data collection is identified.</a:t>
                      </a:r>
                    </a:p>
                  </a:txBody>
                  <a:tcPr>
                    <a:solidFill>
                      <a:srgbClr val="F2F2F2"/>
                    </a:solidFill>
                  </a:tcPr>
                </a:tc>
                <a:extLst>
                  <a:ext uri="{0D108BD9-81ED-4DB2-BD59-A6C34878D82A}">
                    <a16:rowId xmlns:a16="http://schemas.microsoft.com/office/drawing/2014/main" val="10002"/>
                  </a:ext>
                </a:extLst>
              </a:tr>
              <a:tr h="0">
                <a:tc>
                  <a:txBody>
                    <a:bodyPr/>
                    <a:lstStyle/>
                    <a:p>
                      <a:r>
                        <a:rPr sz="1000" b="1"/>
                        <a:t>CB, GSLC, INSAR, NRB, ORB, POL</a:t>
                      </a:r>
                    </a:p>
                  </a:txBody>
                  <a:tcPr>
                    <a:solidFill>
                      <a:srgbClr val="FFFFFF"/>
                    </a:solidFill>
                  </a:tcPr>
                </a:tc>
                <a:tc>
                  <a:txBody>
                    <a:bodyPr/>
                    <a:lstStyle/>
                    <a:p>
                      <a:r>
                        <a:rPr sz="1000" dirty="0"/>
                        <a:t>The start date and time of source data is</a:t>
                      </a:r>
                      <a:r>
                        <a:rPr sz="1000" dirty="0">
                          <a:solidFill>
                            <a:srgbClr val="1565C0"/>
                          </a:solidFill>
                        </a:rPr>
                        <a:t> identified in the metadata</a:t>
                      </a:r>
                      <a:r>
                        <a:rPr sz="1000" dirty="0"/>
                        <a:t>,</a:t>
                      </a:r>
                      <a:r>
                        <a:rPr sz="1000" dirty="0">
                          <a:solidFill>
                            <a:srgbClr val="1565C0"/>
                          </a:solidFill>
                        </a:rPr>
                        <a:t> expressed </a:t>
                      </a:r>
                      <a:r>
                        <a:rPr sz="1000" dirty="0"/>
                        <a:t>in UTC in date and time, at least to the second.</a:t>
                      </a:r>
                    </a:p>
                  </a:txBody>
                  <a:tcPr>
                    <a:solidFill>
                      <a:srgbClr val="FFFFFF"/>
                    </a:solidFill>
                  </a:tcPr>
                </a:tc>
                <a:tc>
                  <a:txBody>
                    <a:bodyPr/>
                    <a:lstStyle/>
                    <a:p>
                      <a:pPr>
                        <a:buNone/>
                      </a:pPr>
                      <a:r>
                        <a:rPr lang="de-DE" sz="1000" dirty="0">
                          <a:effectLst/>
                          <a:latin typeface="Calibri" panose="020F0502020204030204" pitchFamily="34" charset="0"/>
                        </a:rPr>
                        <a:t>The </a:t>
                      </a:r>
                      <a:r>
                        <a:rPr lang="de-DE" sz="1000" strike="sngStrike" dirty="0" err="1">
                          <a:solidFill>
                            <a:srgbClr val="B00000"/>
                          </a:solidFill>
                          <a:effectLst/>
                          <a:latin typeface="Calibri" panose="020F0502020204030204" pitchFamily="34" charset="0"/>
                        </a:rPr>
                        <a:t>start</a:t>
                      </a:r>
                      <a:r>
                        <a:rPr lang="de-DE" sz="1000" strike="sngStrike" dirty="0">
                          <a:solidFill>
                            <a:srgbClr val="B00000"/>
                          </a:solidFill>
                          <a:effectLst/>
                          <a:latin typeface="Calibri" panose="020F0502020204030204" pitchFamily="34" charset="0"/>
                        </a:rPr>
                        <a:t> date and time of source </a:t>
                      </a:r>
                      <a:r>
                        <a:rPr lang="de-DE" sz="1000" strike="sngStrike" dirty="0" err="1">
                          <a:solidFill>
                            <a:srgbClr val="B00000"/>
                          </a:solidFill>
                          <a:effectLst/>
                          <a:latin typeface="Calibri" panose="020F0502020204030204" pitchFamily="34" charset="0"/>
                        </a:rPr>
                        <a:t>data</a:t>
                      </a:r>
                      <a:r>
                        <a:rPr lang="de-DE" sz="1000" strike="sngStrike" dirty="0">
                          <a:solidFill>
                            <a:srgbClr val="B00000"/>
                          </a:solidFill>
                          <a:effectLst/>
                          <a:latin typeface="Calibri" panose="020F0502020204030204" pitchFamily="34" charset="0"/>
                        </a:rPr>
                        <a:t> </a:t>
                      </a:r>
                      <a:r>
                        <a:rPr lang="de-DE" sz="1000" strike="sngStrike" dirty="0" err="1">
                          <a:solidFill>
                            <a:srgbClr val="B00000"/>
                          </a:solidFill>
                          <a:effectLst/>
                          <a:latin typeface="Calibri" panose="020F0502020204030204" pitchFamily="34" charset="0"/>
                        </a:rPr>
                        <a:t>is</a:t>
                      </a:r>
                      <a:r>
                        <a:rPr lang="de-DE" sz="1000" b="1" dirty="0" err="1">
                          <a:solidFill>
                            <a:srgbClr val="2E7D32"/>
                          </a:solidFill>
                          <a:effectLst/>
                          <a:latin typeface="Calibri" panose="020F0502020204030204" pitchFamily="34" charset="0"/>
                        </a:rPr>
                        <a:t>beginning</a:t>
                      </a:r>
                      <a:r>
                        <a:rPr lang="de-DE" sz="1000" b="1" dirty="0">
                          <a:solidFill>
                            <a:srgbClr val="2E7D32"/>
                          </a:solidFill>
                          <a:effectLst/>
                          <a:latin typeface="Calibri" panose="020F0502020204030204" pitchFamily="34" charset="0"/>
                        </a:rPr>
                        <a:t> and end of the </a:t>
                      </a:r>
                      <a:r>
                        <a:rPr lang="de-DE" sz="1000" b="1" dirty="0" err="1">
                          <a:solidFill>
                            <a:srgbClr val="2E7D32"/>
                          </a:solidFill>
                          <a:effectLst/>
                          <a:latin typeface="Calibri" panose="020F0502020204030204" pitchFamily="34" charset="0"/>
                        </a:rPr>
                        <a:t>data</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collection</a:t>
                      </a:r>
                      <a:r>
                        <a:rPr lang="de-DE" sz="1000" b="1" dirty="0">
                          <a:solidFill>
                            <a:srgbClr val="2E7D32"/>
                          </a:solidFill>
                          <a:effectLst/>
                          <a:latin typeface="Calibri" panose="020F0502020204030204" pitchFamily="34" charset="0"/>
                        </a:rPr>
                        <a:t> time </a:t>
                      </a:r>
                      <a:r>
                        <a:rPr lang="de-DE" sz="1000" b="1" dirty="0" err="1">
                          <a:solidFill>
                            <a:srgbClr val="2E7D32"/>
                          </a:solidFill>
                          <a:effectLst/>
                          <a:latin typeface="Calibri" panose="020F0502020204030204" pitchFamily="34" charset="0"/>
                        </a:rPr>
                        <a:t>is</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expressed</a:t>
                      </a:r>
                      <a:r>
                        <a:rPr lang="de-DE" sz="1000" b="1" dirty="0">
                          <a:solidFill>
                            <a:srgbClr val="2E7D32"/>
                          </a:solidFill>
                          <a:effectLst/>
                          <a:latin typeface="Calibri" panose="020F0502020204030204" pitchFamily="34" charset="0"/>
                        </a:rPr>
                        <a:t> in date/time and</a:t>
                      </a:r>
                      <a:r>
                        <a:rPr lang="de-DE" sz="1000" dirty="0">
                          <a:effectLst/>
                          <a:latin typeface="Calibri" panose="020F0502020204030204" pitchFamily="34" charset="0"/>
                        </a:rPr>
                        <a:t> </a:t>
                      </a:r>
                      <a:r>
                        <a:rPr lang="de-DE" sz="1000" dirty="0" err="1">
                          <a:effectLst/>
                          <a:latin typeface="Calibri" panose="020F0502020204030204" pitchFamily="34" charset="0"/>
                        </a:rPr>
                        <a:t>identified</a:t>
                      </a:r>
                      <a:r>
                        <a:rPr lang="de-DE" sz="1000" dirty="0">
                          <a:effectLst/>
                          <a:latin typeface="Calibri" panose="020F0502020204030204" pitchFamily="34" charset="0"/>
                        </a:rPr>
                        <a:t> in the </a:t>
                      </a:r>
                      <a:r>
                        <a:rPr lang="de-DE" sz="1000" dirty="0" err="1">
                          <a:effectLst/>
                          <a:latin typeface="Calibri" panose="020F0502020204030204" pitchFamily="34" charset="0"/>
                        </a:rPr>
                        <a:t>metadata</a:t>
                      </a:r>
                      <a:r>
                        <a:rPr lang="de-DE" sz="1000" strike="sngStrike" dirty="0">
                          <a:solidFill>
                            <a:srgbClr val="B00000"/>
                          </a:solidFill>
                          <a:effectLst/>
                          <a:latin typeface="Calibri" panose="020F0502020204030204" pitchFamily="34" charset="0"/>
                        </a:rPr>
                        <a:t>,</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consistent</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with</a:t>
                      </a:r>
                      <a:r>
                        <a:rPr lang="de-DE" sz="1000" b="1" dirty="0">
                          <a:solidFill>
                            <a:srgbClr val="2E7D32"/>
                          </a:solidFill>
                          <a:effectLst/>
                          <a:latin typeface="Calibri" panose="020F0502020204030204" pitchFamily="34" charset="0"/>
                        </a:rPr>
                        <a:t> ISO 8601. The time </a:t>
                      </a:r>
                      <a:r>
                        <a:rPr lang="de-DE" sz="1000" b="1" dirty="0" err="1">
                          <a:solidFill>
                            <a:srgbClr val="2E7D32"/>
                          </a:solidFill>
                          <a:effectLst/>
                          <a:latin typeface="Calibri" panose="020F0502020204030204" pitchFamily="34" charset="0"/>
                        </a:rPr>
                        <a:t>is</a:t>
                      </a:r>
                      <a:r>
                        <a:rPr lang="de-DE" sz="1000" dirty="0">
                          <a:effectLst/>
                          <a:latin typeface="Calibri" panose="020F0502020204030204" pitchFamily="34" charset="0"/>
                        </a:rPr>
                        <a:t> </a:t>
                      </a:r>
                      <a:r>
                        <a:rPr lang="de-DE" sz="1000" dirty="0" err="1">
                          <a:effectLst/>
                          <a:latin typeface="Calibri" panose="020F0502020204030204" pitchFamily="34" charset="0"/>
                        </a:rPr>
                        <a:t>expressed</a:t>
                      </a:r>
                      <a:r>
                        <a:rPr lang="de-DE" sz="1000" dirty="0">
                          <a:effectLst/>
                          <a:latin typeface="Calibri" panose="020F0502020204030204" pitchFamily="34" charset="0"/>
                        </a:rPr>
                        <a:t> </a:t>
                      </a:r>
                      <a:r>
                        <a:rPr lang="de-DE" sz="1000" strike="sngStrike" dirty="0">
                          <a:solidFill>
                            <a:srgbClr val="B00000"/>
                          </a:solidFill>
                          <a:effectLst/>
                          <a:latin typeface="Calibri" panose="020F0502020204030204" pitchFamily="34" charset="0"/>
                        </a:rPr>
                        <a:t>in UTC in date and time, at least to the </a:t>
                      </a:r>
                      <a:r>
                        <a:rPr lang="de-DE" sz="1000" strike="sngStrike" dirty="0" err="1">
                          <a:solidFill>
                            <a:srgbClr val="B00000"/>
                          </a:solidFill>
                          <a:effectLst/>
                          <a:latin typeface="Calibri" panose="020F0502020204030204" pitchFamily="34" charset="0"/>
                        </a:rPr>
                        <a:t>second</a:t>
                      </a:r>
                      <a:r>
                        <a:rPr lang="de-DE" sz="1000" b="1" dirty="0" err="1">
                          <a:solidFill>
                            <a:srgbClr val="2E7D32"/>
                          </a:solidFill>
                          <a:effectLst/>
                          <a:latin typeface="Calibri" panose="020F0502020204030204" pitchFamily="34" charset="0"/>
                        </a:rPr>
                        <a:t>with</a:t>
                      </a:r>
                      <a:r>
                        <a:rPr lang="de-DE" sz="1000" b="1" dirty="0">
                          <a:solidFill>
                            <a:srgbClr val="2E7D32"/>
                          </a:solidFill>
                          <a:effectLst/>
                          <a:latin typeface="Calibri" panose="020F0502020204030204" pitchFamily="34" charset="0"/>
                        </a:rPr>
                        <a:t> the time </a:t>
                      </a:r>
                      <a:r>
                        <a:rPr lang="de-DE" sz="1000" b="1" dirty="0" err="1">
                          <a:solidFill>
                            <a:srgbClr val="2E7D32"/>
                          </a:solidFill>
                          <a:effectLst/>
                          <a:latin typeface="Calibri" panose="020F0502020204030204" pitchFamily="34" charset="0"/>
                        </a:rPr>
                        <a:t>offset</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from</a:t>
                      </a:r>
                      <a:r>
                        <a:rPr lang="de-DE" sz="1000" b="1" dirty="0">
                          <a:solidFill>
                            <a:srgbClr val="2E7D32"/>
                          </a:solidFill>
                          <a:effectLst/>
                          <a:latin typeface="Calibri" panose="020F0502020204030204" pitchFamily="34" charset="0"/>
                        </a:rPr>
                        <a:t> UTC </a:t>
                      </a:r>
                      <a:r>
                        <a:rPr lang="de-DE" sz="1000" b="1" dirty="0" err="1">
                          <a:solidFill>
                            <a:srgbClr val="2E7D32"/>
                          </a:solidFill>
                          <a:effectLst/>
                          <a:latin typeface="Calibri" panose="020F0502020204030204" pitchFamily="34" charset="0"/>
                        </a:rPr>
                        <a:t>unambiguously</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identified</a:t>
                      </a:r>
                      <a:r>
                        <a:rPr lang="de-DE" sz="1000" b="1" dirty="0">
                          <a:solidFill>
                            <a:srgbClr val="2E7D32"/>
                          </a:solidFill>
                          <a:effectLst/>
                          <a:latin typeface="Calibri" panose="020F0502020204030204" pitchFamily="34" charset="0"/>
                        </a:rPr>
                        <a:t>.</a:t>
                      </a:r>
                      <a:br>
                        <a:rPr lang="de-DE" sz="1000" b="1" dirty="0">
                          <a:solidFill>
                            <a:srgbClr val="2E7D32"/>
                          </a:solidFill>
                          <a:effectLst/>
                          <a:latin typeface="Calibri" panose="020F0502020204030204" pitchFamily="34" charset="0"/>
                        </a:rPr>
                      </a:br>
                      <a:br>
                        <a:rPr lang="de-DE" sz="1000" b="1" dirty="0">
                          <a:solidFill>
                            <a:srgbClr val="2E7D32"/>
                          </a:solidFill>
                          <a:effectLst/>
                          <a:latin typeface="Calibri" panose="020F0502020204030204" pitchFamily="34" charset="0"/>
                        </a:rPr>
                      </a:br>
                      <a:r>
                        <a:rPr lang="de-DE" sz="1000" b="1" dirty="0">
                          <a:solidFill>
                            <a:srgbClr val="2E7D32"/>
                          </a:solidFill>
                          <a:effectLst/>
                          <a:latin typeface="Calibri" panose="020F0502020204030204" pitchFamily="34" charset="0"/>
                        </a:rPr>
                        <a:t>In the </a:t>
                      </a:r>
                      <a:r>
                        <a:rPr lang="de-DE" sz="1000" b="1" dirty="0" err="1">
                          <a:solidFill>
                            <a:srgbClr val="2E7D32"/>
                          </a:solidFill>
                          <a:effectLst/>
                          <a:latin typeface="Calibri" panose="020F0502020204030204" pitchFamily="34" charset="0"/>
                        </a:rPr>
                        <a:t>case</a:t>
                      </a:r>
                      <a:r>
                        <a:rPr lang="de-DE" sz="1000" b="1" dirty="0">
                          <a:solidFill>
                            <a:srgbClr val="2E7D32"/>
                          </a:solidFill>
                          <a:effectLst/>
                          <a:latin typeface="Calibri" panose="020F0502020204030204" pitchFamily="34" charset="0"/>
                        </a:rPr>
                        <a:t> of </a:t>
                      </a:r>
                      <a:r>
                        <a:rPr lang="de-DE" sz="1000" b="1" dirty="0" err="1">
                          <a:solidFill>
                            <a:srgbClr val="2E7D32"/>
                          </a:solidFill>
                          <a:effectLst/>
                          <a:latin typeface="Calibri" panose="020F0502020204030204" pitchFamily="34" charset="0"/>
                        </a:rPr>
                        <a:t>composite</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or</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mosaic</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products</a:t>
                      </a:r>
                      <a:r>
                        <a:rPr lang="de-DE" sz="1000" b="1" dirty="0">
                          <a:solidFill>
                            <a:srgbClr val="2E7D32"/>
                          </a:solidFill>
                          <a:effectLst/>
                          <a:latin typeface="Calibri" panose="020F0502020204030204" pitchFamily="34" charset="0"/>
                        </a:rPr>
                        <a:t>, the </a:t>
                      </a:r>
                      <a:r>
                        <a:rPr lang="de-DE" sz="1000" b="1" dirty="0" err="1">
                          <a:solidFill>
                            <a:srgbClr val="2E7D32"/>
                          </a:solidFill>
                          <a:effectLst/>
                          <a:latin typeface="Calibri" panose="020F0502020204030204" pitchFamily="34" charset="0"/>
                        </a:rPr>
                        <a:t>dates</a:t>
                      </a:r>
                      <a:r>
                        <a:rPr lang="de-DE" sz="1000" b="1" dirty="0">
                          <a:solidFill>
                            <a:srgbClr val="2E7D32"/>
                          </a:solidFill>
                          <a:effectLst/>
                          <a:latin typeface="Calibri" panose="020F0502020204030204" pitchFamily="34" charset="0"/>
                        </a:rPr>
                        <a:t>/</a:t>
                      </a:r>
                      <a:r>
                        <a:rPr lang="de-DE" sz="1000" b="1" dirty="0" err="1">
                          <a:solidFill>
                            <a:srgbClr val="2E7D32"/>
                          </a:solidFill>
                          <a:effectLst/>
                          <a:latin typeface="Calibri" panose="020F0502020204030204" pitchFamily="34" charset="0"/>
                        </a:rPr>
                        <a:t>times</a:t>
                      </a:r>
                      <a:r>
                        <a:rPr lang="de-DE" sz="1000" b="1" dirty="0">
                          <a:solidFill>
                            <a:srgbClr val="2E7D32"/>
                          </a:solidFill>
                          <a:effectLst/>
                          <a:latin typeface="Calibri" panose="020F0502020204030204" pitchFamily="34" charset="0"/>
                        </a:rPr>
                        <a:t> of the </a:t>
                      </a:r>
                      <a:r>
                        <a:rPr lang="de-DE" sz="1000" b="1" dirty="0" err="1">
                          <a:solidFill>
                            <a:srgbClr val="2E7D32"/>
                          </a:solidFill>
                          <a:effectLst/>
                          <a:latin typeface="Calibri" panose="020F0502020204030204" pitchFamily="34" charset="0"/>
                        </a:rPr>
                        <a:t>first</a:t>
                      </a:r>
                      <a:r>
                        <a:rPr lang="de-DE" sz="1000" b="1" dirty="0">
                          <a:solidFill>
                            <a:srgbClr val="2E7D32"/>
                          </a:solidFill>
                          <a:effectLst/>
                          <a:latin typeface="Calibri" panose="020F0502020204030204" pitchFamily="34" charset="0"/>
                        </a:rPr>
                        <a:t> and last </a:t>
                      </a:r>
                      <a:r>
                        <a:rPr lang="de-DE" sz="1000" b="1" dirty="0" err="1">
                          <a:solidFill>
                            <a:srgbClr val="2E7D32"/>
                          </a:solidFill>
                          <a:effectLst/>
                          <a:latin typeface="Calibri" panose="020F0502020204030204" pitchFamily="34" charset="0"/>
                        </a:rPr>
                        <a:t>data</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takes</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is</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provided</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with</a:t>
                      </a:r>
                      <a:r>
                        <a:rPr lang="de-DE" sz="1000" b="1" dirty="0">
                          <a:solidFill>
                            <a:srgbClr val="2E7D32"/>
                          </a:solidFill>
                          <a:effectLst/>
                          <a:latin typeface="Calibri" panose="020F0502020204030204" pitchFamily="34" charset="0"/>
                        </a:rPr>
                        <a:t> the </a:t>
                      </a:r>
                      <a:r>
                        <a:rPr lang="de-DE" sz="1000" b="1" dirty="0" err="1">
                          <a:solidFill>
                            <a:srgbClr val="2E7D32"/>
                          </a:solidFill>
                          <a:effectLst/>
                          <a:latin typeface="Calibri" panose="020F0502020204030204" pitchFamily="34" charset="0"/>
                        </a:rPr>
                        <a:t>product</a:t>
                      </a:r>
                      <a:r>
                        <a:rPr lang="de-DE" sz="1000" dirty="0">
                          <a:effectLst/>
                          <a:latin typeface="Calibri" panose="020F0502020204030204" pitchFamily="34" charset="0"/>
                        </a:rPr>
                        <a:t>.</a:t>
                      </a:r>
                    </a:p>
                  </a:txBody>
                  <a:tcPr>
                    <a:solidFill>
                      <a:srgbClr val="FFFFFF"/>
                    </a:solidFill>
                  </a:tcPr>
                </a:tc>
                <a:extLst>
                  <a:ext uri="{0D108BD9-81ED-4DB2-BD59-A6C34878D82A}">
                    <a16:rowId xmlns:a16="http://schemas.microsoft.com/office/drawing/2014/main" val="10003"/>
                  </a:ext>
                </a:extLst>
              </a:tr>
              <a:tr h="0">
                <a:tc>
                  <a:txBody>
                    <a:bodyPr/>
                    <a:lstStyle/>
                    <a:p>
                      <a:r>
                        <a:rPr sz="1000" b="1"/>
                        <a:t>NLSR, SR</a:t>
                      </a:r>
                    </a:p>
                  </a:txBody>
                  <a:tcPr>
                    <a:solidFill>
                      <a:srgbClr val="F2F2F2"/>
                    </a:solidFill>
                  </a:tcPr>
                </a:tc>
                <a:tc>
                  <a:txBody>
                    <a:bodyPr/>
                    <a:lstStyle/>
                    <a:p>
                      <a:r>
                        <a:rPr sz="1000" dirty="0"/>
                        <a:t>T</a:t>
                      </a:r>
                      <a:r>
                        <a:rPr sz="1000" strike="sngStrike" dirty="0">
                          <a:solidFill>
                            <a:srgbClr val="B00000"/>
                          </a:solidFill>
                        </a:rPr>
                        <a:t>he beginning and end of t</a:t>
                      </a:r>
                      <a:r>
                        <a:rPr sz="1000" dirty="0"/>
                        <a:t>he data collection time is </a:t>
                      </a:r>
                      <a:r>
                        <a:rPr sz="1000" strike="sngStrike" dirty="0">
                          <a:solidFill>
                            <a:srgbClr val="B00000"/>
                          </a:solidFill>
                        </a:rPr>
                        <a:t>expressed in date/time and </a:t>
                      </a:r>
                      <a:r>
                        <a:rPr sz="1000" dirty="0"/>
                        <a:t>identified in the metadata</a:t>
                      </a:r>
                      <a:r>
                        <a:rPr sz="1000" strike="sngStrike" dirty="0">
                          <a:solidFill>
                            <a:srgbClr val="B00000"/>
                          </a:solidFill>
                        </a:rPr>
                        <a:t> consistent with ISO 8601. The time is</a:t>
                      </a:r>
                      <a:r>
                        <a:rPr sz="1000" b="1" dirty="0">
                          <a:solidFill>
                            <a:srgbClr val="2E7D32"/>
                          </a:solidFill>
                        </a:rPr>
                        <a:t>,</a:t>
                      </a:r>
                      <a:r>
                        <a:rPr sz="1000" dirty="0"/>
                        <a:t> expressed</a:t>
                      </a:r>
                      <a:r>
                        <a:rPr sz="1000" b="1" dirty="0">
                          <a:solidFill>
                            <a:srgbClr val="2E7D32"/>
                          </a:solidFill>
                        </a:rPr>
                        <a:t> in date/time, to the second,</a:t>
                      </a:r>
                      <a:r>
                        <a:rPr sz="1000" dirty="0"/>
                        <a:t> with the time offset from UTC unambiguously identified.</a:t>
                      </a:r>
                    </a:p>
                  </a:txBody>
                  <a:tcPr>
                    <a:solidFill>
                      <a:srgbClr val="F2F2F2"/>
                    </a:solidFill>
                  </a:tcPr>
                </a:tc>
                <a:tc>
                  <a:txBody>
                    <a:bodyPr/>
                    <a:lstStyle/>
                    <a:p>
                      <a:pPr>
                        <a:buNone/>
                      </a:pPr>
                      <a:r>
                        <a:rPr lang="de-DE" sz="1000" dirty="0">
                          <a:effectLst/>
                          <a:latin typeface="Calibri" panose="020F0502020204030204" pitchFamily="34" charset="0"/>
                        </a:rPr>
                        <a:t>T</a:t>
                      </a:r>
                      <a:r>
                        <a:rPr lang="de-DE" sz="1000" b="1" dirty="0">
                          <a:solidFill>
                            <a:srgbClr val="2E7D32"/>
                          </a:solidFill>
                          <a:effectLst/>
                          <a:latin typeface="Calibri" panose="020F0502020204030204" pitchFamily="34" charset="0"/>
                        </a:rPr>
                        <a:t>he </a:t>
                      </a:r>
                      <a:r>
                        <a:rPr lang="de-DE" sz="1000" b="1" dirty="0" err="1">
                          <a:solidFill>
                            <a:srgbClr val="2E7D32"/>
                          </a:solidFill>
                          <a:effectLst/>
                          <a:latin typeface="Calibri" panose="020F0502020204030204" pitchFamily="34" charset="0"/>
                        </a:rPr>
                        <a:t>beginning</a:t>
                      </a:r>
                      <a:r>
                        <a:rPr lang="de-DE" sz="1000" b="1" dirty="0">
                          <a:solidFill>
                            <a:srgbClr val="2E7D32"/>
                          </a:solidFill>
                          <a:effectLst/>
                          <a:latin typeface="Calibri" panose="020F0502020204030204" pitchFamily="34" charset="0"/>
                        </a:rPr>
                        <a:t> and end of t</a:t>
                      </a:r>
                      <a:r>
                        <a:rPr lang="de-DE" sz="1000" dirty="0">
                          <a:effectLst/>
                          <a:latin typeface="Calibri" panose="020F0502020204030204" pitchFamily="34" charset="0"/>
                        </a:rPr>
                        <a:t>he </a:t>
                      </a:r>
                      <a:r>
                        <a:rPr lang="de-DE" sz="1000" dirty="0" err="1">
                          <a:effectLst/>
                          <a:latin typeface="Calibri" panose="020F0502020204030204" pitchFamily="34" charset="0"/>
                        </a:rPr>
                        <a:t>data</a:t>
                      </a:r>
                      <a:r>
                        <a:rPr lang="de-DE" sz="1000" dirty="0">
                          <a:effectLst/>
                          <a:latin typeface="Calibri" panose="020F0502020204030204" pitchFamily="34" charset="0"/>
                        </a:rPr>
                        <a:t> </a:t>
                      </a:r>
                      <a:r>
                        <a:rPr lang="de-DE" sz="1000" dirty="0" err="1">
                          <a:effectLst/>
                          <a:latin typeface="Calibri" panose="020F0502020204030204" pitchFamily="34" charset="0"/>
                        </a:rPr>
                        <a:t>collection</a:t>
                      </a:r>
                      <a:r>
                        <a:rPr lang="de-DE" sz="1000" dirty="0">
                          <a:effectLst/>
                          <a:latin typeface="Calibri" panose="020F0502020204030204" pitchFamily="34" charset="0"/>
                        </a:rPr>
                        <a:t> time </a:t>
                      </a:r>
                      <a:r>
                        <a:rPr lang="de-DE" sz="1000" dirty="0" err="1">
                          <a:effectLst/>
                          <a:latin typeface="Calibri" panose="020F0502020204030204" pitchFamily="34" charset="0"/>
                        </a:rPr>
                        <a:t>is</a:t>
                      </a:r>
                      <a:r>
                        <a:rPr lang="de-DE" sz="1000" dirty="0">
                          <a:effectLst/>
                          <a:latin typeface="Calibri" panose="020F0502020204030204" pitchFamily="34" charset="0"/>
                        </a:rPr>
                        <a:t> </a:t>
                      </a:r>
                      <a:r>
                        <a:rPr lang="de-DE" sz="1000" b="1" dirty="0" err="1">
                          <a:solidFill>
                            <a:srgbClr val="2E7D32"/>
                          </a:solidFill>
                          <a:effectLst/>
                          <a:latin typeface="Calibri" panose="020F0502020204030204" pitchFamily="34" charset="0"/>
                        </a:rPr>
                        <a:t>expressed</a:t>
                      </a:r>
                      <a:r>
                        <a:rPr lang="de-DE" sz="1000" b="1" dirty="0">
                          <a:solidFill>
                            <a:srgbClr val="2E7D32"/>
                          </a:solidFill>
                          <a:effectLst/>
                          <a:latin typeface="Calibri" panose="020F0502020204030204" pitchFamily="34" charset="0"/>
                        </a:rPr>
                        <a:t> in date/time and </a:t>
                      </a:r>
                      <a:r>
                        <a:rPr lang="de-DE" sz="1000" dirty="0" err="1">
                          <a:effectLst/>
                          <a:latin typeface="Calibri" panose="020F0502020204030204" pitchFamily="34" charset="0"/>
                        </a:rPr>
                        <a:t>identified</a:t>
                      </a:r>
                      <a:r>
                        <a:rPr lang="de-DE" sz="1000" dirty="0">
                          <a:effectLst/>
                          <a:latin typeface="Calibri" panose="020F0502020204030204" pitchFamily="34" charset="0"/>
                        </a:rPr>
                        <a:t> in the </a:t>
                      </a:r>
                      <a:r>
                        <a:rPr lang="de-DE" sz="1000" dirty="0" err="1">
                          <a:effectLst/>
                          <a:latin typeface="Calibri" panose="020F0502020204030204" pitchFamily="34" charset="0"/>
                        </a:rPr>
                        <a:t>metadata</a:t>
                      </a:r>
                      <a:r>
                        <a:rPr lang="de-DE" sz="1000" strike="sngStrike" dirty="0">
                          <a:solidFill>
                            <a:srgbClr val="B00000"/>
                          </a:solidFill>
                          <a:effectLst/>
                          <a:latin typeface="Calibri" panose="020F0502020204030204" pitchFamily="34" charset="0"/>
                        </a:rPr>
                        <a:t>,</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consistent</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with</a:t>
                      </a:r>
                      <a:r>
                        <a:rPr lang="de-DE" sz="1000" b="1" dirty="0">
                          <a:solidFill>
                            <a:srgbClr val="2E7D32"/>
                          </a:solidFill>
                          <a:effectLst/>
                          <a:latin typeface="Calibri" panose="020F0502020204030204" pitchFamily="34" charset="0"/>
                        </a:rPr>
                        <a:t> ISO 8601. The time </a:t>
                      </a:r>
                      <a:r>
                        <a:rPr lang="de-DE" sz="1000" b="1" dirty="0" err="1">
                          <a:solidFill>
                            <a:srgbClr val="2E7D32"/>
                          </a:solidFill>
                          <a:effectLst/>
                          <a:latin typeface="Calibri" panose="020F0502020204030204" pitchFamily="34" charset="0"/>
                        </a:rPr>
                        <a:t>is</a:t>
                      </a:r>
                      <a:r>
                        <a:rPr lang="de-DE" sz="1000" dirty="0">
                          <a:effectLst/>
                          <a:latin typeface="Calibri" panose="020F0502020204030204" pitchFamily="34" charset="0"/>
                        </a:rPr>
                        <a:t> </a:t>
                      </a:r>
                      <a:r>
                        <a:rPr lang="de-DE" sz="1000" dirty="0" err="1">
                          <a:effectLst/>
                          <a:latin typeface="Calibri" panose="020F0502020204030204" pitchFamily="34" charset="0"/>
                        </a:rPr>
                        <a:t>expressed</a:t>
                      </a:r>
                      <a:r>
                        <a:rPr lang="de-DE" sz="1000" strike="sngStrike" dirty="0">
                          <a:solidFill>
                            <a:srgbClr val="B00000"/>
                          </a:solidFill>
                          <a:effectLst/>
                          <a:latin typeface="Calibri" panose="020F0502020204030204" pitchFamily="34" charset="0"/>
                        </a:rPr>
                        <a:t> in date/time, to the second,</a:t>
                      </a:r>
                      <a:r>
                        <a:rPr lang="de-DE" sz="1000" dirty="0">
                          <a:effectLst/>
                          <a:latin typeface="Calibri" panose="020F0502020204030204" pitchFamily="34" charset="0"/>
                        </a:rPr>
                        <a:t> </a:t>
                      </a:r>
                      <a:r>
                        <a:rPr lang="de-DE" sz="1000" dirty="0" err="1">
                          <a:effectLst/>
                          <a:latin typeface="Calibri" panose="020F0502020204030204" pitchFamily="34" charset="0"/>
                        </a:rPr>
                        <a:t>with</a:t>
                      </a:r>
                      <a:r>
                        <a:rPr lang="de-DE" sz="1000" dirty="0">
                          <a:effectLst/>
                          <a:latin typeface="Calibri" panose="020F0502020204030204" pitchFamily="34" charset="0"/>
                        </a:rPr>
                        <a:t> the time </a:t>
                      </a:r>
                      <a:r>
                        <a:rPr lang="de-DE" sz="1000" dirty="0" err="1">
                          <a:effectLst/>
                          <a:latin typeface="Calibri" panose="020F0502020204030204" pitchFamily="34" charset="0"/>
                        </a:rPr>
                        <a:t>offset</a:t>
                      </a:r>
                      <a:r>
                        <a:rPr lang="de-DE" sz="1000" dirty="0">
                          <a:effectLst/>
                          <a:latin typeface="Calibri" panose="020F0502020204030204" pitchFamily="34" charset="0"/>
                        </a:rPr>
                        <a:t> </a:t>
                      </a:r>
                      <a:r>
                        <a:rPr lang="de-DE" sz="1000" dirty="0" err="1">
                          <a:effectLst/>
                          <a:latin typeface="Calibri" panose="020F0502020204030204" pitchFamily="34" charset="0"/>
                        </a:rPr>
                        <a:t>from</a:t>
                      </a:r>
                      <a:r>
                        <a:rPr lang="de-DE" sz="1000" dirty="0">
                          <a:effectLst/>
                          <a:latin typeface="Calibri" panose="020F0502020204030204" pitchFamily="34" charset="0"/>
                        </a:rPr>
                        <a:t> UTC </a:t>
                      </a:r>
                      <a:r>
                        <a:rPr lang="de-DE" sz="1000" dirty="0" err="1">
                          <a:effectLst/>
                          <a:latin typeface="Calibri" panose="020F0502020204030204" pitchFamily="34" charset="0"/>
                        </a:rPr>
                        <a:t>unambiguously</a:t>
                      </a:r>
                      <a:r>
                        <a:rPr lang="de-DE" sz="1000" dirty="0">
                          <a:effectLst/>
                          <a:latin typeface="Calibri" panose="020F0502020204030204" pitchFamily="34" charset="0"/>
                        </a:rPr>
                        <a:t> </a:t>
                      </a:r>
                      <a:r>
                        <a:rPr lang="de-DE" sz="1000" dirty="0" err="1">
                          <a:effectLst/>
                          <a:latin typeface="Calibri" panose="020F0502020204030204" pitchFamily="34" charset="0"/>
                        </a:rPr>
                        <a:t>identified</a:t>
                      </a:r>
                      <a:r>
                        <a:rPr lang="de-DE" sz="1000" dirty="0">
                          <a:effectLst/>
                          <a:latin typeface="Calibri" panose="020F0502020204030204" pitchFamily="34" charset="0"/>
                        </a:rPr>
                        <a:t>.</a:t>
                      </a:r>
                      <a:br>
                        <a:rPr lang="de-DE" sz="1000" b="1" dirty="0">
                          <a:solidFill>
                            <a:srgbClr val="2E7D32"/>
                          </a:solidFill>
                          <a:effectLst/>
                          <a:latin typeface="Calibri" panose="020F0502020204030204" pitchFamily="34" charset="0"/>
                        </a:rPr>
                      </a:br>
                      <a:br>
                        <a:rPr lang="de-DE" sz="1000" b="1" dirty="0">
                          <a:solidFill>
                            <a:srgbClr val="2E7D32"/>
                          </a:solidFill>
                          <a:effectLst/>
                          <a:latin typeface="Calibri" panose="020F0502020204030204" pitchFamily="34" charset="0"/>
                        </a:rPr>
                      </a:br>
                      <a:r>
                        <a:rPr lang="de-DE" sz="1000" b="1" dirty="0">
                          <a:solidFill>
                            <a:srgbClr val="2E7D32"/>
                          </a:solidFill>
                          <a:effectLst/>
                          <a:latin typeface="Calibri" panose="020F0502020204030204" pitchFamily="34" charset="0"/>
                        </a:rPr>
                        <a:t>In the </a:t>
                      </a:r>
                      <a:r>
                        <a:rPr lang="de-DE" sz="1000" b="1" dirty="0" err="1">
                          <a:solidFill>
                            <a:srgbClr val="2E7D32"/>
                          </a:solidFill>
                          <a:effectLst/>
                          <a:latin typeface="Calibri" panose="020F0502020204030204" pitchFamily="34" charset="0"/>
                        </a:rPr>
                        <a:t>case</a:t>
                      </a:r>
                      <a:r>
                        <a:rPr lang="de-DE" sz="1000" b="1" dirty="0">
                          <a:solidFill>
                            <a:srgbClr val="2E7D32"/>
                          </a:solidFill>
                          <a:effectLst/>
                          <a:latin typeface="Calibri" panose="020F0502020204030204" pitchFamily="34" charset="0"/>
                        </a:rPr>
                        <a:t> of </a:t>
                      </a:r>
                      <a:r>
                        <a:rPr lang="de-DE" sz="1000" b="1" dirty="0" err="1">
                          <a:solidFill>
                            <a:srgbClr val="2E7D32"/>
                          </a:solidFill>
                          <a:effectLst/>
                          <a:latin typeface="Calibri" panose="020F0502020204030204" pitchFamily="34" charset="0"/>
                        </a:rPr>
                        <a:t>composite</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or</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mosaic</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products</a:t>
                      </a:r>
                      <a:r>
                        <a:rPr lang="de-DE" sz="1000" b="1" dirty="0">
                          <a:solidFill>
                            <a:srgbClr val="2E7D32"/>
                          </a:solidFill>
                          <a:effectLst/>
                          <a:latin typeface="Calibri" panose="020F0502020204030204" pitchFamily="34" charset="0"/>
                        </a:rPr>
                        <a:t>, the </a:t>
                      </a:r>
                      <a:r>
                        <a:rPr lang="de-DE" sz="1000" b="1" dirty="0" err="1">
                          <a:solidFill>
                            <a:srgbClr val="2E7D32"/>
                          </a:solidFill>
                          <a:effectLst/>
                          <a:latin typeface="Calibri" panose="020F0502020204030204" pitchFamily="34" charset="0"/>
                        </a:rPr>
                        <a:t>dates</a:t>
                      </a:r>
                      <a:r>
                        <a:rPr lang="de-DE" sz="1000" b="1" dirty="0">
                          <a:solidFill>
                            <a:srgbClr val="2E7D32"/>
                          </a:solidFill>
                          <a:effectLst/>
                          <a:latin typeface="Calibri" panose="020F0502020204030204" pitchFamily="34" charset="0"/>
                        </a:rPr>
                        <a:t>/</a:t>
                      </a:r>
                      <a:r>
                        <a:rPr lang="de-DE" sz="1000" b="1" dirty="0" err="1">
                          <a:solidFill>
                            <a:srgbClr val="2E7D32"/>
                          </a:solidFill>
                          <a:effectLst/>
                          <a:latin typeface="Calibri" panose="020F0502020204030204" pitchFamily="34" charset="0"/>
                        </a:rPr>
                        <a:t>times</a:t>
                      </a:r>
                      <a:r>
                        <a:rPr lang="de-DE" sz="1000" b="1" dirty="0">
                          <a:solidFill>
                            <a:srgbClr val="2E7D32"/>
                          </a:solidFill>
                          <a:effectLst/>
                          <a:latin typeface="Calibri" panose="020F0502020204030204" pitchFamily="34" charset="0"/>
                        </a:rPr>
                        <a:t> of the </a:t>
                      </a:r>
                      <a:r>
                        <a:rPr lang="de-DE" sz="1000" b="1" dirty="0" err="1">
                          <a:solidFill>
                            <a:srgbClr val="2E7D32"/>
                          </a:solidFill>
                          <a:effectLst/>
                          <a:latin typeface="Calibri" panose="020F0502020204030204" pitchFamily="34" charset="0"/>
                        </a:rPr>
                        <a:t>first</a:t>
                      </a:r>
                      <a:r>
                        <a:rPr lang="de-DE" sz="1000" b="1" dirty="0">
                          <a:solidFill>
                            <a:srgbClr val="2E7D32"/>
                          </a:solidFill>
                          <a:effectLst/>
                          <a:latin typeface="Calibri" panose="020F0502020204030204" pitchFamily="34" charset="0"/>
                        </a:rPr>
                        <a:t> and last </a:t>
                      </a:r>
                      <a:r>
                        <a:rPr lang="de-DE" sz="1000" b="1" dirty="0" err="1">
                          <a:solidFill>
                            <a:srgbClr val="2E7D32"/>
                          </a:solidFill>
                          <a:effectLst/>
                          <a:latin typeface="Calibri" panose="020F0502020204030204" pitchFamily="34" charset="0"/>
                        </a:rPr>
                        <a:t>data</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takes</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is</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provided</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with</a:t>
                      </a:r>
                      <a:r>
                        <a:rPr lang="de-DE" sz="1000" b="1" dirty="0">
                          <a:solidFill>
                            <a:srgbClr val="2E7D32"/>
                          </a:solidFill>
                          <a:effectLst/>
                          <a:latin typeface="Calibri" panose="020F0502020204030204" pitchFamily="34" charset="0"/>
                        </a:rPr>
                        <a:t> the </a:t>
                      </a:r>
                      <a:r>
                        <a:rPr lang="de-DE" sz="1000" b="1" dirty="0" err="1">
                          <a:solidFill>
                            <a:srgbClr val="2E7D32"/>
                          </a:solidFill>
                          <a:effectLst/>
                          <a:latin typeface="Calibri" panose="020F0502020204030204" pitchFamily="34" charset="0"/>
                        </a:rPr>
                        <a:t>product</a:t>
                      </a:r>
                      <a:r>
                        <a:rPr lang="de-DE" sz="1000" b="1" dirty="0">
                          <a:solidFill>
                            <a:srgbClr val="2E7D32"/>
                          </a:solidFill>
                          <a:effectLst/>
                          <a:latin typeface="Calibri" panose="020F0502020204030204" pitchFamily="34" charset="0"/>
                        </a:rPr>
                        <a:t>.</a:t>
                      </a:r>
                      <a:endParaRPr lang="de-DE" sz="1000" dirty="0">
                        <a:effectLst/>
                        <a:latin typeface="Calibri" panose="020F0502020204030204" pitchFamily="34" charset="0"/>
                      </a:endParaRPr>
                    </a:p>
                  </a:txBody>
                  <a:tcPr>
                    <a:solidFill>
                      <a:srgbClr val="F2F2F2"/>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955889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metadata/time-* (AR, NLSR, SR, ST, CB, GSLC, INSAR, NRB, ORB, POL) (cont.)</a:t>
            </a:r>
          </a:p>
        </p:txBody>
      </p:sp>
      <p:graphicFrame>
        <p:nvGraphicFramePr>
          <p:cNvPr id="3" name="Table 2"/>
          <p:cNvGraphicFramePr>
            <a:graphicFrameLocks noGrp="1"/>
          </p:cNvGraphicFramePr>
          <p:nvPr>
            <p:extLst>
              <p:ext uri="{D42A27DB-BD31-4B8C-83A1-F6EECF244321}">
                <p14:modId xmlns:p14="http://schemas.microsoft.com/office/powerpoint/2010/main" val="120926318"/>
              </p:ext>
            </p:extLst>
          </p:nvPr>
        </p:nvGraphicFramePr>
        <p:xfrm>
          <a:off x="457200" y="1005840"/>
          <a:ext cx="11265408" cy="291084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 ST</a:t>
                      </a:r>
                    </a:p>
                    <a:p>
                      <a:r>
                        <a:rPr sz="1000" i="1">
                          <a:solidFill>
                            <a:srgbClr val="808080"/>
                          </a:solidFill>
                        </a:rPr>
                        <a:t>(baseline)</a:t>
                      </a:r>
                    </a:p>
                  </a:txBody>
                  <a:tcPr>
                    <a:solidFill>
                      <a:srgbClr val="FFFFFF"/>
                    </a:solidFill>
                  </a:tcPr>
                </a:tc>
                <a:tc>
                  <a:txBody>
                    <a:bodyPr/>
                    <a:lstStyle/>
                    <a:p>
                      <a:r>
                        <a:rPr sz="1000" dirty="0"/>
                        <a:t>As threshold, but information required to determine, within a stated uncertainty, when the individual observations were taken is available.</a:t>
                      </a:r>
                    </a:p>
                  </a:txBody>
                  <a:tcPr>
                    <a:solidFill>
                      <a:srgbClr val="FFFFFF"/>
                    </a:solidFill>
                  </a:tcPr>
                </a:tc>
                <a:tc>
                  <a:txBody>
                    <a:bodyPr/>
                    <a:lstStyle/>
                    <a:p>
                      <a:r>
                        <a:rPr lang="de-DE" sz="1000" i="1" dirty="0">
                          <a:solidFill>
                            <a:srgbClr val="808080"/>
                          </a:solidFill>
                        </a:rPr>
                        <a:t>(</a:t>
                      </a:r>
                      <a:r>
                        <a:rPr lang="de-DE" sz="1000" i="1" dirty="0" err="1">
                          <a:solidFill>
                            <a:srgbClr val="808080"/>
                          </a:solidFill>
                        </a:rPr>
                        <a:t>keep</a:t>
                      </a:r>
                      <a:r>
                        <a:rPr lang="de-DE" sz="1000" i="1" dirty="0">
                          <a:solidFill>
                            <a:srgbClr val="808080"/>
                          </a:solidFill>
                        </a:rPr>
                        <a:t> as </a:t>
                      </a:r>
                      <a:r>
                        <a:rPr lang="de-DE" sz="1000" i="1" dirty="0" err="1">
                          <a:solidFill>
                            <a:srgbClr val="808080"/>
                          </a:solidFill>
                        </a:rPr>
                        <a:t>is</a:t>
                      </a:r>
                      <a:r>
                        <a:rPr lang="de-DE" sz="1000" i="1" dirty="0">
                          <a:solidFill>
                            <a:srgbClr val="808080"/>
                          </a:solidFill>
                        </a:rPr>
                        <a:t>)</a:t>
                      </a:r>
                      <a:endParaRPr sz="1000" i="1" dirty="0">
                        <a:solidFill>
                          <a:srgbClr val="808080"/>
                        </a:solidFill>
                      </a:endParaRPr>
                    </a:p>
                  </a:txBody>
                  <a:tcPr>
                    <a:solidFill>
                      <a:srgbClr val="FFFFFF"/>
                    </a:solidFill>
                  </a:tcPr>
                </a:tc>
                <a:extLst>
                  <a:ext uri="{0D108BD9-81ED-4DB2-BD59-A6C34878D82A}">
                    <a16:rowId xmlns:a16="http://schemas.microsoft.com/office/drawing/2014/main" val="10001"/>
                  </a:ext>
                </a:extLst>
              </a:tr>
              <a:tr h="0">
                <a:tc>
                  <a:txBody>
                    <a:bodyPr/>
                    <a:lstStyle/>
                    <a:p>
                      <a:r>
                        <a:rPr sz="1000" b="1"/>
                        <a:t>CB, GSLC, INSAR, NRB, ORB, POL</a:t>
                      </a:r>
                    </a:p>
                  </a:txBody>
                  <a:tcPr>
                    <a:solidFill>
                      <a:srgbClr val="F2F2F2"/>
                    </a:solidFill>
                  </a:tcPr>
                </a:tc>
                <a:tc>
                  <a:txBody>
                    <a:bodyPr/>
                    <a:lstStyle/>
                    <a:p>
                      <a:r>
                        <a:rPr sz="1000" dirty="0">
                          <a:solidFill>
                            <a:srgbClr val="1565C0"/>
                          </a:solidFill>
                        </a:rPr>
                        <a:t>As threshold, but </a:t>
                      </a:r>
                      <a:r>
                        <a:rPr sz="1000" dirty="0"/>
                        <a:t>using ISO 8601 time format.</a:t>
                      </a:r>
                    </a:p>
                  </a:txBody>
                  <a:tcPr>
                    <a:solidFill>
                      <a:srgbClr val="F2F2F2"/>
                    </a:solidFill>
                  </a:tcPr>
                </a:tc>
                <a:tc>
                  <a:txBody>
                    <a:bodyPr/>
                    <a:lstStyle/>
                    <a:p>
                      <a:pPr>
                        <a:buNone/>
                      </a:pPr>
                      <a:r>
                        <a:rPr lang="de-DE" sz="1000" dirty="0">
                          <a:effectLst/>
                          <a:latin typeface="Calibri" panose="020F0502020204030204" pitchFamily="34" charset="0"/>
                        </a:rPr>
                        <a:t>As </a:t>
                      </a:r>
                      <a:r>
                        <a:rPr lang="de-DE" sz="1000" dirty="0" err="1">
                          <a:effectLst/>
                          <a:latin typeface="Calibri" panose="020F0502020204030204" pitchFamily="34" charset="0"/>
                        </a:rPr>
                        <a:t>threshold</a:t>
                      </a:r>
                      <a:r>
                        <a:rPr lang="de-DE" sz="1000" dirty="0">
                          <a:effectLst/>
                          <a:latin typeface="Calibri" panose="020F0502020204030204" pitchFamily="34" charset="0"/>
                        </a:rPr>
                        <a:t>, but </a:t>
                      </a:r>
                      <a:r>
                        <a:rPr lang="de-DE" sz="1000" strike="sngStrike" dirty="0" err="1">
                          <a:solidFill>
                            <a:srgbClr val="B00000"/>
                          </a:solidFill>
                          <a:effectLst/>
                          <a:latin typeface="Calibri" panose="020F0502020204030204" pitchFamily="34" charset="0"/>
                        </a:rPr>
                        <a:t>using</a:t>
                      </a:r>
                      <a:r>
                        <a:rPr lang="de-DE" sz="1000" strike="sngStrike" dirty="0">
                          <a:solidFill>
                            <a:srgbClr val="B00000"/>
                          </a:solidFill>
                          <a:effectLst/>
                          <a:latin typeface="Calibri" panose="020F0502020204030204" pitchFamily="34" charset="0"/>
                        </a:rPr>
                        <a:t> ISO 8601 time </a:t>
                      </a:r>
                      <a:r>
                        <a:rPr lang="de-DE" sz="1000" strike="sngStrike" dirty="0" err="1">
                          <a:solidFill>
                            <a:srgbClr val="B00000"/>
                          </a:solidFill>
                          <a:effectLst/>
                          <a:latin typeface="Calibri" panose="020F0502020204030204" pitchFamily="34" charset="0"/>
                        </a:rPr>
                        <a:t>format</a:t>
                      </a:r>
                      <a:r>
                        <a:rPr lang="de-DE" sz="1000" b="1" dirty="0" err="1">
                          <a:solidFill>
                            <a:srgbClr val="2E7D32"/>
                          </a:solidFill>
                          <a:effectLst/>
                          <a:latin typeface="Calibri" panose="020F0502020204030204" pitchFamily="34" charset="0"/>
                        </a:rPr>
                        <a:t>information</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required</a:t>
                      </a:r>
                      <a:r>
                        <a:rPr lang="de-DE" sz="1000" b="1" dirty="0">
                          <a:solidFill>
                            <a:srgbClr val="2E7D32"/>
                          </a:solidFill>
                          <a:effectLst/>
                          <a:latin typeface="Calibri" panose="020F0502020204030204" pitchFamily="34" charset="0"/>
                        </a:rPr>
                        <a:t> to </a:t>
                      </a:r>
                      <a:r>
                        <a:rPr lang="de-DE" sz="1000" b="1" dirty="0" err="1">
                          <a:solidFill>
                            <a:srgbClr val="2E7D32"/>
                          </a:solidFill>
                          <a:effectLst/>
                          <a:latin typeface="Calibri" panose="020F0502020204030204" pitchFamily="34" charset="0"/>
                        </a:rPr>
                        <a:t>determine</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within</a:t>
                      </a:r>
                      <a:r>
                        <a:rPr lang="de-DE" sz="1000" b="1" dirty="0">
                          <a:solidFill>
                            <a:srgbClr val="2E7D32"/>
                          </a:solidFill>
                          <a:effectLst/>
                          <a:latin typeface="Calibri" panose="020F0502020204030204" pitchFamily="34" charset="0"/>
                        </a:rPr>
                        <a:t> a </a:t>
                      </a:r>
                      <a:r>
                        <a:rPr lang="de-DE" sz="1000" b="1" dirty="0" err="1">
                          <a:solidFill>
                            <a:srgbClr val="2E7D32"/>
                          </a:solidFill>
                          <a:effectLst/>
                          <a:latin typeface="Calibri" panose="020F0502020204030204" pitchFamily="34" charset="0"/>
                        </a:rPr>
                        <a:t>stated</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uncertainty</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when</a:t>
                      </a:r>
                      <a:r>
                        <a:rPr lang="de-DE" sz="1000" b="1" dirty="0">
                          <a:solidFill>
                            <a:srgbClr val="2E7D32"/>
                          </a:solidFill>
                          <a:effectLst/>
                          <a:latin typeface="Calibri" panose="020F0502020204030204" pitchFamily="34" charset="0"/>
                        </a:rPr>
                        <a:t> the individual </a:t>
                      </a:r>
                      <a:r>
                        <a:rPr lang="de-DE" sz="1000" b="1" dirty="0" err="1">
                          <a:solidFill>
                            <a:srgbClr val="2E7D32"/>
                          </a:solidFill>
                          <a:effectLst/>
                          <a:latin typeface="Calibri" panose="020F0502020204030204" pitchFamily="34" charset="0"/>
                        </a:rPr>
                        <a:t>observations</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were</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taken</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is</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available</a:t>
                      </a:r>
                      <a:r>
                        <a:rPr lang="de-DE" sz="1000" dirty="0">
                          <a:effectLst/>
                          <a:latin typeface="Calibri" panose="020F0502020204030204" pitchFamily="34" charset="0"/>
                        </a:rPr>
                        <a:t>.</a:t>
                      </a:r>
                    </a:p>
                  </a:txBody>
                  <a:tcPr>
                    <a:solidFill>
                      <a:srgbClr val="F2F2F2"/>
                    </a:solidFill>
                  </a:tcPr>
                </a:tc>
                <a:extLst>
                  <a:ext uri="{0D108BD9-81ED-4DB2-BD59-A6C34878D82A}">
                    <a16:rowId xmlns:a16="http://schemas.microsoft.com/office/drawing/2014/main" val="10002"/>
                  </a:ext>
                </a:extLst>
              </a:tr>
              <a:tr h="0">
                <a:tc>
                  <a:txBody>
                    <a:bodyPr/>
                    <a:lstStyle/>
                    <a:p>
                      <a:r>
                        <a:rPr sz="1000" b="1"/>
                        <a:t>CB, GSLC, INSAR, NRB, ORB, POL</a:t>
                      </a:r>
                    </a:p>
                  </a:txBody>
                  <a:tcPr>
                    <a:solidFill>
                      <a:srgbClr val="FFFFFF"/>
                    </a:solidFill>
                  </a:tcPr>
                </a:tc>
                <a:tc>
                  <a:txBody>
                    <a:bodyPr/>
                    <a:lstStyle/>
                    <a:p>
                      <a:r>
                        <a:rPr sz="1000" dirty="0"/>
                        <a:t>(not set)</a:t>
                      </a:r>
                    </a:p>
                  </a:txBody>
                  <a:tcPr>
                    <a:solidFill>
                      <a:srgbClr val="FFFFFF"/>
                    </a:solidFill>
                  </a:tcPr>
                </a:tc>
                <a:tc>
                  <a:txBody>
                    <a:bodyPr/>
                    <a:lstStyle/>
                    <a:p>
                      <a:pPr>
                        <a:buNone/>
                      </a:pPr>
                      <a:r>
                        <a:rPr lang="de-DE" sz="1000" b="1" dirty="0">
                          <a:solidFill>
                            <a:srgbClr val="2E7D32"/>
                          </a:solidFill>
                          <a:effectLst/>
                          <a:latin typeface="Calibri" panose="020F0502020204030204" pitchFamily="34" charset="0"/>
                        </a:rPr>
                        <a:t>As </a:t>
                      </a:r>
                      <a:r>
                        <a:rPr lang="de-DE" sz="1000" b="1" dirty="0" err="1">
                          <a:solidFill>
                            <a:srgbClr val="2E7D32"/>
                          </a:solidFill>
                          <a:effectLst/>
                          <a:latin typeface="Calibri" panose="020F0502020204030204" pitchFamily="34" charset="0"/>
                        </a:rPr>
                        <a:t>threshold</a:t>
                      </a:r>
                      <a:r>
                        <a:rPr lang="de-DE" sz="1000" b="1" dirty="0">
                          <a:solidFill>
                            <a:srgbClr val="2E7D32"/>
                          </a:solidFill>
                          <a:effectLst/>
                          <a:latin typeface="Calibri" panose="020F0502020204030204" pitchFamily="34" charset="0"/>
                        </a:rPr>
                        <a:t>, but </a:t>
                      </a:r>
                      <a:r>
                        <a:rPr lang="de-DE" sz="1000" b="1" dirty="0" err="1">
                          <a:solidFill>
                            <a:srgbClr val="2E7D32"/>
                          </a:solidFill>
                          <a:effectLst/>
                          <a:latin typeface="Calibri" panose="020F0502020204030204" pitchFamily="34" charset="0"/>
                        </a:rPr>
                        <a:t>information</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required</a:t>
                      </a:r>
                      <a:r>
                        <a:rPr lang="de-DE" sz="1000" b="1" dirty="0">
                          <a:solidFill>
                            <a:srgbClr val="2E7D32"/>
                          </a:solidFill>
                          <a:effectLst/>
                          <a:latin typeface="Calibri" panose="020F0502020204030204" pitchFamily="34" charset="0"/>
                        </a:rPr>
                        <a:t> to </a:t>
                      </a:r>
                      <a:r>
                        <a:rPr lang="de-DE" sz="1000" b="1" dirty="0" err="1">
                          <a:solidFill>
                            <a:srgbClr val="2E7D32"/>
                          </a:solidFill>
                          <a:effectLst/>
                          <a:latin typeface="Calibri" panose="020F0502020204030204" pitchFamily="34" charset="0"/>
                        </a:rPr>
                        <a:t>determine</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within</a:t>
                      </a:r>
                      <a:r>
                        <a:rPr lang="de-DE" sz="1000" b="1" dirty="0">
                          <a:solidFill>
                            <a:srgbClr val="2E7D32"/>
                          </a:solidFill>
                          <a:effectLst/>
                          <a:latin typeface="Calibri" panose="020F0502020204030204" pitchFamily="34" charset="0"/>
                        </a:rPr>
                        <a:t> a </a:t>
                      </a:r>
                      <a:r>
                        <a:rPr lang="de-DE" sz="1000" b="1" dirty="0" err="1">
                          <a:solidFill>
                            <a:srgbClr val="2E7D32"/>
                          </a:solidFill>
                          <a:effectLst/>
                          <a:latin typeface="Calibri" panose="020F0502020204030204" pitchFamily="34" charset="0"/>
                        </a:rPr>
                        <a:t>stated</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uncertainty</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when</a:t>
                      </a:r>
                      <a:r>
                        <a:rPr lang="de-DE" sz="1000" b="1" dirty="0">
                          <a:solidFill>
                            <a:srgbClr val="2E7D32"/>
                          </a:solidFill>
                          <a:effectLst/>
                          <a:latin typeface="Calibri" panose="020F0502020204030204" pitchFamily="34" charset="0"/>
                        </a:rPr>
                        <a:t> the individual </a:t>
                      </a:r>
                      <a:r>
                        <a:rPr lang="de-DE" sz="1000" b="1" dirty="0" err="1">
                          <a:solidFill>
                            <a:srgbClr val="2E7D32"/>
                          </a:solidFill>
                          <a:effectLst/>
                          <a:latin typeface="Calibri" panose="020F0502020204030204" pitchFamily="34" charset="0"/>
                        </a:rPr>
                        <a:t>observations</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were</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taken</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is</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available</a:t>
                      </a:r>
                      <a:r>
                        <a:rPr lang="de-DE" sz="1000" dirty="0">
                          <a:effectLst/>
                          <a:latin typeface="Calibri" panose="020F0502020204030204" pitchFamily="34" charset="0"/>
                        </a:rPr>
                        <a:t>.</a:t>
                      </a:r>
                    </a:p>
                  </a:txBody>
                  <a:tcPr>
                    <a:solidFill>
                      <a:srgbClr val="FFFFFF"/>
                    </a:solidFill>
                  </a:tcPr>
                </a:tc>
                <a:extLst>
                  <a:ext uri="{0D108BD9-81ED-4DB2-BD59-A6C34878D82A}">
                    <a16:rowId xmlns:a16="http://schemas.microsoft.com/office/drawing/2014/main" val="10003"/>
                  </a:ext>
                </a:extLst>
              </a:tr>
              <a:tr h="0">
                <a:tc>
                  <a:txBody>
                    <a:bodyPr/>
                    <a:lstStyle/>
                    <a:p>
                      <a:r>
                        <a:rPr sz="1000" b="1"/>
                        <a:t>NLSR, SR</a:t>
                      </a:r>
                    </a:p>
                  </a:txBody>
                  <a:tcPr>
                    <a:solidFill>
                      <a:srgbClr val="F2F2F2"/>
                    </a:solidFill>
                  </a:tcPr>
                </a:tc>
                <a:tc>
                  <a:txBody>
                    <a:bodyPr/>
                    <a:lstStyle/>
                    <a:p>
                      <a:r>
                        <a:rPr sz="1000" dirty="0"/>
                        <a:t>Acquisition time for each pixel is identified (or can be reliably</a:t>
                      </a:r>
                      <a:r>
                        <a:rPr sz="1000" dirty="0">
                          <a:solidFill>
                            <a:srgbClr val="1565C0"/>
                          </a:solidFill>
                        </a:rPr>
                        <a:t> determine</a:t>
                      </a:r>
                      <a:r>
                        <a:rPr sz="1000" dirty="0"/>
                        <a:t>d) in the metadata, expressed in date/time at UTC, to the second.</a:t>
                      </a:r>
                    </a:p>
                  </a:txBody>
                  <a:tcPr>
                    <a:solidFill>
                      <a:srgbClr val="F2F2F2"/>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DE" sz="1000" b="1" dirty="0">
                          <a:solidFill>
                            <a:srgbClr val="2E7D32"/>
                          </a:solidFill>
                          <a:effectLst/>
                          <a:latin typeface="Calibri" panose="020F0502020204030204" pitchFamily="34" charset="0"/>
                        </a:rPr>
                        <a:t>As </a:t>
                      </a:r>
                      <a:r>
                        <a:rPr lang="de-DE" sz="1000" b="1" dirty="0" err="1">
                          <a:solidFill>
                            <a:srgbClr val="2E7D32"/>
                          </a:solidFill>
                          <a:effectLst/>
                          <a:latin typeface="Calibri" panose="020F0502020204030204" pitchFamily="34" charset="0"/>
                        </a:rPr>
                        <a:t>threshold</a:t>
                      </a:r>
                      <a:r>
                        <a:rPr lang="de-DE" sz="1000" b="1" dirty="0">
                          <a:solidFill>
                            <a:srgbClr val="2E7D32"/>
                          </a:solidFill>
                          <a:effectLst/>
                          <a:latin typeface="Calibri" panose="020F0502020204030204" pitchFamily="34" charset="0"/>
                        </a:rPr>
                        <a:t>, but </a:t>
                      </a:r>
                      <a:r>
                        <a:rPr lang="de-DE" sz="1000" b="1" dirty="0" err="1">
                          <a:solidFill>
                            <a:srgbClr val="2E7D32"/>
                          </a:solidFill>
                          <a:effectLst/>
                          <a:latin typeface="Calibri" panose="020F0502020204030204" pitchFamily="34" charset="0"/>
                        </a:rPr>
                        <a:t>information</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required</a:t>
                      </a:r>
                      <a:r>
                        <a:rPr lang="de-DE" sz="1000" b="1" dirty="0">
                          <a:solidFill>
                            <a:srgbClr val="2E7D32"/>
                          </a:solidFill>
                          <a:effectLst/>
                          <a:latin typeface="Calibri" panose="020F0502020204030204" pitchFamily="34" charset="0"/>
                        </a:rPr>
                        <a:t> to </a:t>
                      </a:r>
                      <a:r>
                        <a:rPr lang="de-DE" sz="1000" b="1" dirty="0" err="1">
                          <a:solidFill>
                            <a:srgbClr val="2E7D32"/>
                          </a:solidFill>
                          <a:effectLst/>
                          <a:latin typeface="Calibri" panose="020F0502020204030204" pitchFamily="34" charset="0"/>
                        </a:rPr>
                        <a:t>determine</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within</a:t>
                      </a:r>
                      <a:r>
                        <a:rPr lang="de-DE" sz="1000" b="1" dirty="0">
                          <a:solidFill>
                            <a:srgbClr val="2E7D32"/>
                          </a:solidFill>
                          <a:effectLst/>
                          <a:latin typeface="Calibri" panose="020F0502020204030204" pitchFamily="34" charset="0"/>
                        </a:rPr>
                        <a:t> a </a:t>
                      </a:r>
                      <a:r>
                        <a:rPr lang="de-DE" sz="1000" b="1" dirty="0" err="1">
                          <a:solidFill>
                            <a:srgbClr val="2E7D32"/>
                          </a:solidFill>
                          <a:effectLst/>
                          <a:latin typeface="Calibri" panose="020F0502020204030204" pitchFamily="34" charset="0"/>
                        </a:rPr>
                        <a:t>stated</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uncertainty</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when</a:t>
                      </a:r>
                      <a:r>
                        <a:rPr lang="de-DE" sz="1000" b="1" dirty="0">
                          <a:solidFill>
                            <a:srgbClr val="2E7D32"/>
                          </a:solidFill>
                          <a:effectLst/>
                          <a:latin typeface="Calibri" panose="020F0502020204030204" pitchFamily="34" charset="0"/>
                        </a:rPr>
                        <a:t> the individual </a:t>
                      </a:r>
                      <a:r>
                        <a:rPr lang="de-DE" sz="1000" b="1" dirty="0" err="1">
                          <a:solidFill>
                            <a:srgbClr val="2E7D32"/>
                          </a:solidFill>
                          <a:effectLst/>
                          <a:latin typeface="Calibri" panose="020F0502020204030204" pitchFamily="34" charset="0"/>
                        </a:rPr>
                        <a:t>observations</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were</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taken</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is</a:t>
                      </a:r>
                      <a:r>
                        <a:rPr lang="de-DE" sz="1000" b="1" dirty="0">
                          <a:solidFill>
                            <a:srgbClr val="2E7D32"/>
                          </a:solidFill>
                          <a:effectLst/>
                          <a:latin typeface="Calibri" panose="020F0502020204030204" pitchFamily="34" charset="0"/>
                        </a:rPr>
                        <a:t> </a:t>
                      </a:r>
                      <a:r>
                        <a:rPr lang="de-DE" sz="1000" b="1" dirty="0" err="1">
                          <a:solidFill>
                            <a:srgbClr val="2E7D32"/>
                          </a:solidFill>
                          <a:effectLst/>
                          <a:latin typeface="Calibri" panose="020F0502020204030204" pitchFamily="34" charset="0"/>
                        </a:rPr>
                        <a:t>available</a:t>
                      </a:r>
                      <a:r>
                        <a:rPr lang="de-DE" sz="1000" dirty="0">
                          <a:effectLst/>
                          <a:latin typeface="Calibri" panose="020F0502020204030204" pitchFamily="34" charset="0"/>
                        </a:rPr>
                        <a:t>.</a:t>
                      </a:r>
                      <a:br>
                        <a:rPr lang="de-DE" sz="1000" dirty="0">
                          <a:solidFill>
                            <a:schemeClr val="tx1"/>
                          </a:solidFill>
                        </a:rPr>
                      </a:br>
                      <a:br>
                        <a:rPr lang="de-DE" sz="1000" dirty="0">
                          <a:solidFill>
                            <a:schemeClr val="tx1"/>
                          </a:solidFill>
                        </a:rPr>
                      </a:br>
                      <a:r>
                        <a:rPr lang="de-DE" sz="1000" b="1" dirty="0">
                          <a:solidFill>
                            <a:schemeClr val="tx1"/>
                          </a:solidFill>
                        </a:rPr>
                        <a:t>and separate </a:t>
                      </a:r>
                      <a:r>
                        <a:rPr lang="de-DE" sz="1000" b="1" dirty="0" err="1">
                          <a:solidFill>
                            <a:schemeClr val="tx1"/>
                          </a:solidFill>
                        </a:rPr>
                        <a:t>goal</a:t>
                      </a:r>
                      <a:r>
                        <a:rPr lang="de-DE" sz="1000" b="1" dirty="0">
                          <a:solidFill>
                            <a:schemeClr val="tx1"/>
                          </a:solidFill>
                        </a:rPr>
                        <a:t> per-pixel </a:t>
                      </a:r>
                      <a:r>
                        <a:rPr lang="de-DE" sz="1000" b="1" dirty="0" err="1">
                          <a:solidFill>
                            <a:schemeClr val="tx1"/>
                          </a:solidFill>
                        </a:rPr>
                        <a:t>requirement</a:t>
                      </a:r>
                      <a:r>
                        <a:rPr lang="de-DE" sz="1000" b="1" dirty="0">
                          <a:solidFill>
                            <a:schemeClr val="tx1"/>
                          </a:solidFill>
                        </a:rPr>
                        <a:t> (for all Optical PFS?):</a:t>
                      </a:r>
                      <a:br>
                        <a:rPr lang="de-DE" sz="1000" dirty="0">
                          <a:solidFill>
                            <a:schemeClr val="tx1"/>
                          </a:solidFill>
                        </a:rPr>
                      </a:br>
                      <a:br>
                        <a:rPr lang="de-DE" sz="1000" dirty="0">
                          <a:solidFill>
                            <a:schemeClr val="tx1"/>
                          </a:solidFill>
                        </a:rPr>
                      </a:br>
                      <a:r>
                        <a:rPr lang="en-US" sz="1000" dirty="0"/>
                        <a:t>Acquisition time for each pixel is identified (or can be reliably</a:t>
                      </a:r>
                      <a:r>
                        <a:rPr lang="en-US" sz="1000" dirty="0">
                          <a:solidFill>
                            <a:srgbClr val="1565C0"/>
                          </a:solidFill>
                        </a:rPr>
                        <a:t> </a:t>
                      </a:r>
                      <a:r>
                        <a:rPr lang="en-US" sz="1000" dirty="0">
                          <a:solidFill>
                            <a:schemeClr val="tx1"/>
                          </a:solidFill>
                        </a:rPr>
                        <a:t>determined</a:t>
                      </a:r>
                      <a:r>
                        <a:rPr lang="en-US" sz="1000" dirty="0"/>
                        <a:t>) in the metadata, expressed in date/time at UTC, to the second.</a:t>
                      </a:r>
                    </a:p>
                  </a:txBody>
                  <a:tcPr>
                    <a:solidFill>
                      <a:srgbClr val="F2F2F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461665"/>
          </a:xfrm>
          <a:prstGeom prst="rect">
            <a:avLst/>
          </a:prstGeom>
          <a:noFill/>
        </p:spPr>
        <p:txBody>
          <a:bodyPr wrap="square">
            <a:spAutoFit/>
          </a:bodyPr>
          <a:lstStyle/>
          <a:p>
            <a:r>
              <a:rPr sz="2400" dirty="0"/>
              <a:t>metadata/traceability-* (AR, NLSR, SR, ST, CB, GSLC, INSAR, NRB, ORB, POL)</a:t>
            </a:r>
          </a:p>
        </p:txBody>
      </p:sp>
      <p:graphicFrame>
        <p:nvGraphicFramePr>
          <p:cNvPr id="3" name="Table 2"/>
          <p:cNvGraphicFramePr>
            <a:graphicFrameLocks noGrp="1"/>
          </p:cNvGraphicFramePr>
          <p:nvPr/>
        </p:nvGraphicFramePr>
        <p:xfrm>
          <a:off x="457200" y="1005840"/>
          <a:ext cx="11265408" cy="169164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Title</a:t>
                      </a:r>
                    </a:p>
                  </a:txBody>
                  <a:tcPr>
                    <a:solidFill>
                      <a:srgbClr val="000000"/>
                    </a:solidFill>
                  </a:tcPr>
                </a:tc>
                <a:tc>
                  <a:txBody>
                    <a:bodyPr/>
                    <a:lstStyle/>
                    <a:p>
                      <a:r>
                        <a:rPr sz="1100" b="1">
                          <a:solidFill>
                            <a:srgbClr val="FFFFFF"/>
                          </a:solidFill>
                        </a:rPr>
                        <a:t>Proposed Title</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p>
                      <a:r>
                        <a:rPr sz="1000" i="1">
                          <a:solidFill>
                            <a:srgbClr val="808080"/>
                          </a:solidFill>
                        </a:rPr>
                        <a:t>(baseline)</a:t>
                      </a:r>
                    </a:p>
                  </a:txBody>
                  <a:tcPr>
                    <a:solidFill>
                      <a:srgbClr val="FFFFFF"/>
                    </a:solidFill>
                  </a:tcPr>
                </a:tc>
                <a:tc>
                  <a:txBody>
                    <a:bodyPr/>
                    <a:lstStyle/>
                    <a:p>
                      <a:r>
                        <a:rPr sz="1000"/>
                        <a:t>Traceability</a:t>
                      </a:r>
                    </a:p>
                  </a:txBody>
                  <a:tcPr>
                    <a:solidFill>
                      <a:srgbClr val="FFFFFF"/>
                    </a:solidFill>
                  </a:tcPr>
                </a:tc>
                <a:tc>
                  <a:txBody>
                    <a:bodyPr/>
                    <a:lstStyle/>
                    <a:p>
                      <a:r>
                        <a:rPr sz="1000" i="1" dirty="0">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CB, GSLC, INSAR, NRB, ORB, POL</a:t>
                      </a:r>
                    </a:p>
                  </a:txBody>
                  <a:tcPr>
                    <a:solidFill>
                      <a:srgbClr val="F2F2F2"/>
                    </a:solidFill>
                  </a:tcPr>
                </a:tc>
                <a:tc>
                  <a:txBody>
                    <a:bodyPr/>
                    <a:lstStyle/>
                    <a:p>
                      <a:r>
                        <a:rPr sz="1000"/>
                        <a:t>Traceability</a:t>
                      </a:r>
                    </a:p>
                  </a:txBody>
                  <a:tcPr>
                    <a:solidFill>
                      <a:srgbClr val="F2F2F2"/>
                    </a:solidFill>
                  </a:tcPr>
                </a:tc>
                <a:tc>
                  <a:txBody>
                    <a:bodyPr/>
                    <a:lstStyle/>
                    <a:p>
                      <a:r>
                        <a:rPr sz="1000" i="1">
                          <a:solidFill>
                            <a:srgbClr val="808080"/>
                          </a:solidFill>
                        </a:rPr>
                        <a:t>(keep as is)</a:t>
                      </a:r>
                    </a:p>
                  </a:txBody>
                  <a:tcPr>
                    <a:solidFill>
                      <a:srgbClr val="F2F2F2"/>
                    </a:solidFill>
                  </a:tcPr>
                </a:tc>
                <a:extLst>
                  <a:ext uri="{0D108BD9-81ED-4DB2-BD59-A6C34878D82A}">
                    <a16:rowId xmlns:a16="http://schemas.microsoft.com/office/drawing/2014/main" val="10002"/>
                  </a:ext>
                </a:extLst>
              </a:tr>
              <a:tr h="0">
                <a:tc>
                  <a:txBody>
                    <a:bodyPr/>
                    <a:lstStyle/>
                    <a:p>
                      <a:r>
                        <a:rPr sz="1000" b="1"/>
                        <a:t>NLSR, SR</a:t>
                      </a:r>
                    </a:p>
                  </a:txBody>
                  <a:tcPr>
                    <a:solidFill>
                      <a:srgbClr val="FFFFFF"/>
                    </a:solidFill>
                  </a:tcPr>
                </a:tc>
                <a:tc>
                  <a:txBody>
                    <a:bodyPr/>
                    <a:lstStyle/>
                    <a:p>
                      <a:r>
                        <a:rPr sz="1000"/>
                        <a:t>Traceability</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3"/>
                  </a:ext>
                </a:extLst>
              </a:tr>
              <a:tr h="0">
                <a:tc>
                  <a:txBody>
                    <a:bodyPr/>
                    <a:lstStyle/>
                    <a:p>
                      <a:r>
                        <a:rPr sz="1000" b="1"/>
                        <a:t>ST</a:t>
                      </a:r>
                    </a:p>
                  </a:txBody>
                  <a:tcPr>
                    <a:solidFill>
                      <a:srgbClr val="F2F2F2"/>
                    </a:solidFill>
                  </a:tcPr>
                </a:tc>
                <a:tc>
                  <a:txBody>
                    <a:bodyPr/>
                    <a:lstStyle/>
                    <a:p>
                      <a:r>
                        <a:rPr sz="1000" b="1" dirty="0">
                          <a:solidFill>
                            <a:srgbClr val="2E7D32"/>
                          </a:solidFill>
                        </a:rPr>
                        <a:t>Metrological </a:t>
                      </a:r>
                      <a:r>
                        <a:rPr sz="1000" dirty="0"/>
                        <a:t>Traceability</a:t>
                      </a:r>
                      <a:r>
                        <a:rPr sz="1000" b="1" dirty="0">
                          <a:solidFill>
                            <a:srgbClr val="2E7D32"/>
                          </a:solidFill>
                        </a:rPr>
                        <a:t> of the Measurand to SI</a:t>
                      </a:r>
                    </a:p>
                  </a:txBody>
                  <a:tcPr>
                    <a:solidFill>
                      <a:srgbClr val="F2F2F2"/>
                    </a:solidFill>
                  </a:tcPr>
                </a:tc>
                <a:tc>
                  <a:txBody>
                    <a:bodyPr/>
                    <a:lstStyle/>
                    <a:p>
                      <a:r>
                        <a:rPr sz="1000" strike="sngStrike" dirty="0">
                          <a:solidFill>
                            <a:srgbClr val="B00000"/>
                          </a:solidFill>
                        </a:rPr>
                        <a:t>Metrological </a:t>
                      </a:r>
                      <a:r>
                        <a:rPr sz="1000" dirty="0"/>
                        <a:t>Traceability</a:t>
                      </a:r>
                      <a:r>
                        <a:rPr sz="1000" strike="sngStrike" dirty="0">
                          <a:solidFill>
                            <a:srgbClr val="B00000"/>
                          </a:solidFill>
                        </a:rPr>
                        <a:t> of the Measurand to SI</a:t>
                      </a:r>
                    </a:p>
                  </a:txBody>
                  <a:tcPr>
                    <a:solidFill>
                      <a:srgbClr val="F2F2F2"/>
                    </a:solidFill>
                  </a:tcPr>
                </a:tc>
                <a:extLst>
                  <a:ext uri="{0D108BD9-81ED-4DB2-BD59-A6C34878D82A}">
                    <a16:rowId xmlns:a16="http://schemas.microsoft.com/office/drawing/2014/main" val="10004"/>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291984002"/>
              </p:ext>
            </p:extLst>
          </p:nvPr>
        </p:nvGraphicFramePr>
        <p:xfrm>
          <a:off x="457200" y="3942488"/>
          <a:ext cx="11265408" cy="169164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p>
                      <a:r>
                        <a:rPr sz="1000" i="1">
                          <a:solidFill>
                            <a:srgbClr val="808080"/>
                          </a:solidFill>
                        </a:rPr>
                        <a:t>(baseline)</a:t>
                      </a:r>
                    </a:p>
                  </a:txBody>
                  <a:tcPr>
                    <a:solidFill>
                      <a:srgbClr val="FFFFFF"/>
                    </a:solidFill>
                  </a:tcPr>
                </a:tc>
                <a:tc>
                  <a:txBody>
                    <a:bodyPr/>
                    <a:lstStyle/>
                    <a:p>
                      <a:r>
                        <a:rPr sz="1000"/>
                        <a:t>Aquatic Reflectance (dimensionless) or the Remote Sensing Reflectance ($sr^{-1}$) of the water bodies ($AR = \pi \cdot R_{rs}$) is given.</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CB, GSLC, INSAR, NRB, ORB, POL</a:t>
                      </a:r>
                    </a:p>
                  </a:txBody>
                  <a:tcPr>
                    <a:solidFill>
                      <a:srgbClr val="F2F2F2"/>
                    </a:solidFill>
                  </a:tcPr>
                </a:tc>
                <a:tc>
                  <a:txBody>
                    <a:bodyPr/>
                    <a:lstStyle/>
                    <a:p>
                      <a:r>
                        <a:rPr sz="1000"/>
                        <a:t>(not set)</a:t>
                      </a:r>
                    </a:p>
                  </a:txBody>
                  <a:tcPr>
                    <a:solidFill>
                      <a:srgbClr val="F2F2F2"/>
                    </a:solidFill>
                  </a:tcPr>
                </a:tc>
                <a:tc>
                  <a:txBody>
                    <a:bodyPr/>
                    <a:lstStyle/>
                    <a:p>
                      <a:r>
                        <a:rPr sz="1000" i="1">
                          <a:solidFill>
                            <a:srgbClr val="808080"/>
                          </a:solidFill>
                        </a:rPr>
                        <a:t>(keep as is)</a:t>
                      </a:r>
                    </a:p>
                  </a:txBody>
                  <a:tcPr>
                    <a:solidFill>
                      <a:srgbClr val="F2F2F2"/>
                    </a:solidFill>
                  </a:tcPr>
                </a:tc>
                <a:extLst>
                  <a:ext uri="{0D108BD9-81ED-4DB2-BD59-A6C34878D82A}">
                    <a16:rowId xmlns:a16="http://schemas.microsoft.com/office/drawing/2014/main" val="10002"/>
                  </a:ext>
                </a:extLst>
              </a:tr>
              <a:tr h="0">
                <a:tc>
                  <a:txBody>
                    <a:bodyPr/>
                    <a:lstStyle/>
                    <a:p>
                      <a:r>
                        <a:rPr sz="1000" b="1"/>
                        <a:t>NLSR, SR</a:t>
                      </a:r>
                    </a:p>
                  </a:txBody>
                  <a:tcPr>
                    <a:solidFill>
                      <a:srgbClr val="FFFFFF"/>
                    </a:solidFill>
                  </a:tcPr>
                </a:tc>
                <a:tc>
                  <a:txBody>
                    <a:bodyPr/>
                    <a:lstStyle/>
                    <a:p>
                      <a:r>
                        <a:rPr sz="1000"/>
                        <a:t>(not set)</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3"/>
                  </a:ext>
                </a:extLst>
              </a:tr>
              <a:tr h="0">
                <a:tc>
                  <a:txBody>
                    <a:bodyPr/>
                    <a:lstStyle/>
                    <a:p>
                      <a:r>
                        <a:rPr sz="1000" b="1"/>
                        <a:t>ST</a:t>
                      </a:r>
                    </a:p>
                  </a:txBody>
                  <a:tcPr>
                    <a:solidFill>
                      <a:srgbClr val="F2F2F2"/>
                    </a:solidFill>
                  </a:tcPr>
                </a:tc>
                <a:tc>
                  <a:txBody>
                    <a:bodyPr/>
                    <a:lstStyle/>
                    <a:p>
                      <a:r>
                        <a:rPr sz="1000" dirty="0"/>
                        <a:t>(not set)</a:t>
                      </a:r>
                    </a:p>
                  </a:txBody>
                  <a:tcPr>
                    <a:solidFill>
                      <a:srgbClr val="F2F2F2"/>
                    </a:solidFill>
                  </a:tcPr>
                </a:tc>
                <a:tc>
                  <a:txBody>
                    <a:bodyPr/>
                    <a:lstStyle/>
                    <a:p>
                      <a:r>
                        <a:rPr sz="1000" i="1" dirty="0">
                          <a:solidFill>
                            <a:srgbClr val="808080"/>
                          </a:solidFill>
                        </a:rPr>
                        <a:t>(keep as is)</a:t>
                      </a:r>
                    </a:p>
                  </a:txBody>
                  <a:tcPr>
                    <a:solidFill>
                      <a:srgbClr val="F2F2F2"/>
                    </a:solidFill>
                  </a:tcPr>
                </a:tc>
                <a:extLst>
                  <a:ext uri="{0D108BD9-81ED-4DB2-BD59-A6C34878D82A}">
                    <a16:rowId xmlns:a16="http://schemas.microsoft.com/office/drawing/2014/main" val="10004"/>
                  </a:ext>
                </a:extLst>
              </a:tr>
            </a:tbl>
          </a:graphicData>
        </a:graphic>
      </p:graphicFrame>
      <p:sp>
        <p:nvSpPr>
          <p:cNvPr id="8" name="TextBox 3">
            <a:extLst>
              <a:ext uri="{FF2B5EF4-FFF2-40B4-BE49-F238E27FC236}">
                <a16:creationId xmlns:a16="http://schemas.microsoft.com/office/drawing/2014/main" id="{24C6A6A4-CE27-3777-CC5B-153B30A1C067}"/>
              </a:ext>
            </a:extLst>
          </p:cNvPr>
          <p:cNvSpPr txBox="1"/>
          <p:nvPr/>
        </p:nvSpPr>
        <p:spPr>
          <a:xfrm>
            <a:off x="457200" y="2950652"/>
            <a:ext cx="11277295" cy="738664"/>
          </a:xfrm>
          <a:prstGeom prst="rect">
            <a:avLst/>
          </a:prstGeom>
          <a:noFill/>
        </p:spPr>
        <p:txBody>
          <a:bodyPr wrap="square" lIns="0" tIns="0" rIns="0" bIns="0">
            <a:spAutoFit/>
          </a:bodyPr>
          <a:lstStyle/>
          <a:p>
            <a:r>
              <a:rPr sz="1200" b="1" dirty="0"/>
              <a:t>Internal notes</a:t>
            </a:r>
            <a:r>
              <a:rPr lang="de-DE" sz="1200" b="1" dirty="0"/>
              <a:t>:</a:t>
            </a:r>
          </a:p>
          <a:p>
            <a:r>
              <a:rPr lang="en-US" sz="1200" i="1" dirty="0"/>
              <a:t>Traceability was renamed to 'Metrological Traceability of the Measurand to SI' following the April Oversight Group meeting decision #6. </a:t>
            </a:r>
            <a:br>
              <a:rPr lang="en-US" sz="1200" i="1" dirty="0"/>
            </a:br>
            <a:br>
              <a:rPr lang="en-US" sz="1200" i="1" dirty="0"/>
            </a:br>
            <a:r>
              <a:rPr lang="en-US" sz="1200" i="1" dirty="0"/>
              <a:t>We need to discuss whether this requirement need to be domain-specific or can be generic.</a:t>
            </a:r>
            <a:endParaRPr sz="1200" i="1"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461665"/>
          </a:xfrm>
          <a:prstGeom prst="rect">
            <a:avLst/>
          </a:prstGeom>
          <a:noFill/>
        </p:spPr>
        <p:txBody>
          <a:bodyPr wrap="square">
            <a:spAutoFit/>
          </a:bodyPr>
          <a:lstStyle/>
          <a:p>
            <a:r>
              <a:rPr sz="2400" dirty="0"/>
              <a:t>metadata/traceability-* (AR, NLSR, SR, ST, CB, GSLC, INSAR, NRB, ORB, POL) (cont.)</a:t>
            </a:r>
          </a:p>
        </p:txBody>
      </p:sp>
      <p:graphicFrame>
        <p:nvGraphicFramePr>
          <p:cNvPr id="3" name="Table 2"/>
          <p:cNvGraphicFramePr>
            <a:graphicFrameLocks noGrp="1"/>
          </p:cNvGraphicFramePr>
          <p:nvPr/>
        </p:nvGraphicFramePr>
        <p:xfrm>
          <a:off x="457200" y="1005840"/>
          <a:ext cx="11265408" cy="184404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p>
                      <a:r>
                        <a:rPr sz="1000" i="1">
                          <a:solidFill>
                            <a:srgbClr val="808080"/>
                          </a:solidFill>
                        </a:rPr>
                        <a:t>(baseline)</a:t>
                      </a:r>
                    </a:p>
                  </a:txBody>
                  <a:tcPr>
                    <a:solidFill>
                      <a:srgbClr val="FFFFFF"/>
                    </a:solidFill>
                  </a:tcPr>
                </a:tc>
                <a:tc>
                  <a:txBody>
                    <a:bodyPr/>
                    <a:lstStyle/>
                    <a:p>
                      <a:r>
                        <a:rPr sz="1000"/>
                        <a:t>Data must be traceable to SI reference standard.</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CB, GSLC, INSAR, NRB, ORB, POL</a:t>
                      </a:r>
                    </a:p>
                  </a:txBody>
                  <a:tcPr>
                    <a:solidFill>
                      <a:srgbClr val="F2F2F2"/>
                    </a:solidFill>
                  </a:tcPr>
                </a:tc>
                <a:tc>
                  <a:txBody>
                    <a:bodyPr/>
                    <a:lstStyle/>
                    <a:p>
                      <a:r>
                        <a:rPr sz="1000"/>
                        <a:t>Data must be traceable to SI reference standard.</a:t>
                      </a:r>
                    </a:p>
                  </a:txBody>
                  <a:tcPr>
                    <a:solidFill>
                      <a:srgbClr val="F2F2F2"/>
                    </a:solidFill>
                  </a:tcPr>
                </a:tc>
                <a:tc>
                  <a:txBody>
                    <a:bodyPr/>
                    <a:lstStyle/>
                    <a:p>
                      <a:r>
                        <a:rPr sz="1000" i="1">
                          <a:solidFill>
                            <a:srgbClr val="808080"/>
                          </a:solidFill>
                        </a:rPr>
                        <a:t>(keep as is)</a:t>
                      </a:r>
                    </a:p>
                  </a:txBody>
                  <a:tcPr>
                    <a:solidFill>
                      <a:srgbClr val="F2F2F2"/>
                    </a:solidFill>
                  </a:tcPr>
                </a:tc>
                <a:extLst>
                  <a:ext uri="{0D108BD9-81ED-4DB2-BD59-A6C34878D82A}">
                    <a16:rowId xmlns:a16="http://schemas.microsoft.com/office/drawing/2014/main" val="10002"/>
                  </a:ext>
                </a:extLst>
              </a:tr>
              <a:tr h="0">
                <a:tc>
                  <a:txBody>
                    <a:bodyPr/>
                    <a:lstStyle/>
                    <a:p>
                      <a:r>
                        <a:rPr sz="1000" b="1"/>
                        <a:t>NLSR, SR</a:t>
                      </a:r>
                    </a:p>
                  </a:txBody>
                  <a:tcPr>
                    <a:solidFill>
                      <a:srgbClr val="FFFFFF"/>
                    </a:solidFill>
                  </a:tcPr>
                </a:tc>
                <a:tc>
                  <a:txBody>
                    <a:bodyPr/>
                    <a:lstStyle/>
                    <a:p>
                      <a:r>
                        <a:rPr sz="1000"/>
                        <a:t>Data must be traceable to SI reference standard.</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3"/>
                  </a:ext>
                </a:extLst>
              </a:tr>
              <a:tr h="0">
                <a:tc>
                  <a:txBody>
                    <a:bodyPr/>
                    <a:lstStyle/>
                    <a:p>
                      <a:r>
                        <a:rPr sz="1000" b="1"/>
                        <a:t>ST</a:t>
                      </a:r>
                    </a:p>
                  </a:txBody>
                  <a:tcPr>
                    <a:solidFill>
                      <a:srgbClr val="F2F2F2"/>
                    </a:solidFill>
                  </a:tcPr>
                </a:tc>
                <a:tc>
                  <a:txBody>
                    <a:bodyPr/>
                    <a:lstStyle/>
                    <a:p>
                      <a:r>
                        <a:rPr sz="1000"/>
                        <a:t>Data must be traceable to SI reference standard.</a:t>
                      </a:r>
                    </a:p>
                    <a:p>
                      <a:r>
                        <a:rPr sz="1000" b="1">
                          <a:solidFill>
                            <a:srgbClr val="2E7D32"/>
                          </a:solidFill>
                        </a:rPr>
                        <a:t>Information on traceability should be available in the metadata as a single DOI landing page.</a:t>
                      </a:r>
                    </a:p>
                  </a:txBody>
                  <a:tcPr>
                    <a:solidFill>
                      <a:srgbClr val="F2F2F2"/>
                    </a:solidFill>
                  </a:tcPr>
                </a:tc>
                <a:tc>
                  <a:txBody>
                    <a:bodyPr/>
                    <a:lstStyle/>
                    <a:p>
                      <a:r>
                        <a:rPr sz="1000"/>
                        <a:t>Data must be traceable to SI reference standard.</a:t>
                      </a:r>
                    </a:p>
                    <a:p>
                      <a:r>
                        <a:rPr sz="1000" strike="sngStrike">
                          <a:solidFill>
                            <a:srgbClr val="B00000"/>
                          </a:solidFill>
                        </a:rPr>
                        <a:t>Information on traceability should be available in the metadata as a single DOI landing page.</a:t>
                      </a:r>
                    </a:p>
                  </a:txBody>
                  <a:tcPr>
                    <a:solidFill>
                      <a:srgbClr val="F2F2F2"/>
                    </a:solidFill>
                  </a:tcPr>
                </a:tc>
                <a:extLst>
                  <a:ext uri="{0D108BD9-81ED-4DB2-BD59-A6C34878D82A}">
                    <a16:rowId xmlns:a16="http://schemas.microsoft.com/office/drawing/2014/main" val="10004"/>
                  </a:ext>
                </a:extLst>
              </a:tr>
            </a:tbl>
          </a:graphicData>
        </a:graphic>
      </p:graphicFrame>
      <p:sp>
        <p:nvSpPr>
          <p:cNvPr id="5" name="TextBox 3">
            <a:extLst>
              <a:ext uri="{FF2B5EF4-FFF2-40B4-BE49-F238E27FC236}">
                <a16:creationId xmlns:a16="http://schemas.microsoft.com/office/drawing/2014/main" id="{1BE384D7-9FAD-AACC-7A74-D7901C2E1290}"/>
              </a:ext>
            </a:extLst>
          </p:cNvPr>
          <p:cNvSpPr txBox="1"/>
          <p:nvPr/>
        </p:nvSpPr>
        <p:spPr>
          <a:xfrm>
            <a:off x="457200" y="2950652"/>
            <a:ext cx="11277295" cy="369332"/>
          </a:xfrm>
          <a:prstGeom prst="rect">
            <a:avLst/>
          </a:prstGeom>
          <a:noFill/>
        </p:spPr>
        <p:txBody>
          <a:bodyPr wrap="square" lIns="0" tIns="0" rIns="0" bIns="0">
            <a:spAutoFit/>
          </a:bodyPr>
          <a:lstStyle/>
          <a:p>
            <a:r>
              <a:rPr sz="1200" b="1" dirty="0"/>
              <a:t>Internal notes</a:t>
            </a:r>
            <a:r>
              <a:rPr lang="de-DE" sz="1200" b="1" dirty="0"/>
              <a:t>:</a:t>
            </a:r>
          </a:p>
          <a:p>
            <a:r>
              <a:rPr lang="en-US" sz="1200" i="1" dirty="0"/>
              <a:t>Should all PFS follow ST or the other way around? See also DOI slides…</a:t>
            </a:r>
            <a:endParaRPr sz="1200" i="1"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461665"/>
          </a:xfrm>
          <a:prstGeom prst="rect">
            <a:avLst/>
          </a:prstGeom>
          <a:noFill/>
        </p:spPr>
        <p:txBody>
          <a:bodyPr wrap="square">
            <a:spAutoFit/>
          </a:bodyPr>
          <a:lstStyle/>
          <a:p>
            <a:r>
              <a:rPr sz="2400" dirty="0"/>
              <a:t>metadata/traceability-* (AR, NLSR, SR, ST, CB, GSLC, INSAR, NRB, ORB, POL) (cont.)</a:t>
            </a:r>
          </a:p>
        </p:txBody>
      </p:sp>
      <p:graphicFrame>
        <p:nvGraphicFramePr>
          <p:cNvPr id="3" name="Table 2"/>
          <p:cNvGraphicFramePr>
            <a:graphicFrameLocks noGrp="1"/>
          </p:cNvGraphicFramePr>
          <p:nvPr/>
        </p:nvGraphicFramePr>
        <p:xfrm>
          <a:off x="457200" y="1005840"/>
          <a:ext cx="11265408" cy="306324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Notes</a:t>
                      </a:r>
                    </a:p>
                  </a:txBody>
                  <a:tcPr>
                    <a:solidFill>
                      <a:srgbClr val="000000"/>
                    </a:solidFill>
                  </a:tcPr>
                </a:tc>
                <a:tc>
                  <a:txBody>
                    <a:bodyPr/>
                    <a:lstStyle/>
                    <a:p>
                      <a:r>
                        <a:rPr sz="1100" b="1">
                          <a:solidFill>
                            <a:srgbClr val="FFFFFF"/>
                          </a:solidFill>
                        </a:rPr>
                        <a:t>Proposed Goal Notes</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txBody>
                  <a:tcPr>
                    <a:solidFill>
                      <a:srgbClr val="FFFFFF"/>
                    </a:solidFill>
                  </a:tcPr>
                </a:tc>
                <a:tc>
                  <a:txBody>
                    <a:bodyPr/>
                    <a:lstStyle/>
                    <a:p>
                      <a:r>
                        <a:rPr sz="1000"/>
                        <a:t>Relationship to [@</a:t>
                      </a:r>
                      <a:r>
                        <a:rPr sz="1000" strike="sngStrike">
                          <a:solidFill>
                            <a:srgbClr val="B00000"/>
                          </a:solidFill>
                        </a:rPr>
                        <a:t>relationship</a:t>
                      </a:r>
                      <a:r>
                        <a:rPr sz="1000" b="1">
                          <a:solidFill>
                            <a:srgbClr val="2E7D32"/>
                          </a:solidFill>
                        </a:rPr>
                        <a:t>uncertainty</a:t>
                      </a:r>
                      <a:r>
                        <a:rPr sz="1000"/>
                        <a:t>]. Traceability requires an estimate of measurement uncertainty.</a:t>
                      </a:r>
                    </a:p>
                    <a:p>
                      <a:endParaRPr sz="1000"/>
                    </a:p>
                    <a:p>
                      <a:r>
                        <a:rPr sz="1000" strike="sngStrike">
                          <a:solidFill>
                            <a:srgbClr val="B00000"/>
                          </a:solidFill>
                        </a:rPr>
                        <a:t>Information on traceability should be available in the metadata as a single DOI landing page.</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CB, GSLC, INSAR, NRB, ORB, POL</a:t>
                      </a:r>
                    </a:p>
                    <a:p>
                      <a:r>
                        <a:rPr sz="1000" i="1">
                          <a:solidFill>
                            <a:srgbClr val="808080"/>
                          </a:solidFill>
                        </a:rPr>
                        <a:t>(baseline)</a:t>
                      </a:r>
                    </a:p>
                  </a:txBody>
                  <a:tcPr>
                    <a:solidFill>
                      <a:srgbClr val="F2F2F2"/>
                    </a:solidFill>
                  </a:tcPr>
                </a:tc>
                <a:tc>
                  <a:txBody>
                    <a:bodyPr/>
                    <a:lstStyle/>
                    <a:p>
                      <a:r>
                        <a:rPr sz="1000"/>
                        <a:t>Relationship to [@relationship]. Traceability requires an estimate of measurement uncertainty.</a:t>
                      </a:r>
                    </a:p>
                    <a:p>
                      <a:endParaRPr sz="1000"/>
                    </a:p>
                    <a:p>
                      <a:r>
                        <a:rPr sz="1000"/>
                        <a:t>Information on traceability should be available in the metadata as a single DOI landing page.</a:t>
                      </a:r>
                    </a:p>
                  </a:txBody>
                  <a:tcPr>
                    <a:solidFill>
                      <a:srgbClr val="F2F2F2"/>
                    </a:solidFill>
                  </a:tcPr>
                </a:tc>
                <a:tc>
                  <a:txBody>
                    <a:bodyPr/>
                    <a:lstStyle/>
                    <a:p>
                      <a:r>
                        <a:rPr sz="1000" b="1">
                          <a:solidFill>
                            <a:srgbClr val="B00000"/>
                          </a:solidFill>
                        </a:rPr>
                        <a:t>DELETE NOTE</a:t>
                      </a:r>
                    </a:p>
                  </a:txBody>
                  <a:tcPr>
                    <a:solidFill>
                      <a:srgbClr val="F2F2F2"/>
                    </a:solidFill>
                  </a:tcPr>
                </a:tc>
                <a:extLst>
                  <a:ext uri="{0D108BD9-81ED-4DB2-BD59-A6C34878D82A}">
                    <a16:rowId xmlns:a16="http://schemas.microsoft.com/office/drawing/2014/main" val="10002"/>
                  </a:ext>
                </a:extLst>
              </a:tr>
              <a:tr h="0">
                <a:tc>
                  <a:txBody>
                    <a:bodyPr/>
                    <a:lstStyle/>
                    <a:p>
                      <a:r>
                        <a:rPr sz="1000" b="1"/>
                        <a:t>NLSR, SR</a:t>
                      </a:r>
                    </a:p>
                  </a:txBody>
                  <a:tcPr>
                    <a:solidFill>
                      <a:srgbClr val="FFFFFF"/>
                    </a:solidFill>
                  </a:tcPr>
                </a:tc>
                <a:tc>
                  <a:txBody>
                    <a:bodyPr/>
                    <a:lstStyle/>
                    <a:p>
                      <a:r>
                        <a:rPr sz="1000"/>
                        <a:t>Relationship to [@relationship]. Traceability requires an estimate of measurement uncertainty.</a:t>
                      </a:r>
                    </a:p>
                    <a:p>
                      <a:endParaRPr sz="1000"/>
                    </a:p>
                    <a:p>
                      <a:r>
                        <a:rPr sz="1000"/>
                        <a:t>Information on traceability should be available in the metadata as a single DOI landing page.</a:t>
                      </a:r>
                    </a:p>
                  </a:txBody>
                  <a:tcPr>
                    <a:solidFill>
                      <a:srgbClr val="FFFFFF"/>
                    </a:solidFill>
                  </a:tcPr>
                </a:tc>
                <a:tc>
                  <a:txBody>
                    <a:bodyPr/>
                    <a:lstStyle/>
                    <a:p>
                      <a:r>
                        <a:rPr sz="1000" b="1">
                          <a:solidFill>
                            <a:srgbClr val="B00000"/>
                          </a:solidFill>
                        </a:rPr>
                        <a:t>DELETE NOTE</a:t>
                      </a:r>
                    </a:p>
                  </a:txBody>
                  <a:tcPr>
                    <a:solidFill>
                      <a:srgbClr val="FFFFFF"/>
                    </a:solidFill>
                  </a:tcPr>
                </a:tc>
                <a:extLst>
                  <a:ext uri="{0D108BD9-81ED-4DB2-BD59-A6C34878D82A}">
                    <a16:rowId xmlns:a16="http://schemas.microsoft.com/office/drawing/2014/main" val="10003"/>
                  </a:ext>
                </a:extLst>
              </a:tr>
              <a:tr h="0">
                <a:tc>
                  <a:txBody>
                    <a:bodyPr/>
                    <a:lstStyle/>
                    <a:p>
                      <a:r>
                        <a:rPr sz="1000" b="1"/>
                        <a:t>ST</a:t>
                      </a:r>
                    </a:p>
                  </a:txBody>
                  <a:tcPr>
                    <a:solidFill>
                      <a:srgbClr val="F2F2F2"/>
                    </a:solidFill>
                  </a:tcPr>
                </a:tc>
                <a:tc>
                  <a:txBody>
                    <a:bodyPr/>
                    <a:lstStyle/>
                    <a:p>
                      <a:r>
                        <a:rPr sz="1000" strike="sngStrike">
                          <a:solidFill>
                            <a:srgbClr val="B00000"/>
                          </a:solidFill>
                        </a:rPr>
                        <a:t>Relationship to [@relationship].</a:t>
                      </a:r>
                      <a:r>
                        <a:rPr sz="1000" b="1">
                          <a:solidFill>
                            <a:srgbClr val="2E7D32"/>
                          </a:solidFill>
                        </a:rPr>
                        <a:t>SI</a:t>
                      </a:r>
                      <a:r>
                        <a:rPr sz="1000"/>
                        <a:t> Traceability requires an estimate of measurement uncertainty</a:t>
                      </a:r>
                      <a:r>
                        <a:rPr sz="1000" strike="sngStrike">
                          <a:solidFill>
                            <a:srgbClr val="B00000"/>
                          </a:solidFill>
                        </a:rPr>
                        <a:t>.</a:t>
                      </a:r>
                    </a:p>
                    <a:p>
                      <a:endParaRPr sz="1000" strike="sngStrike">
                        <a:solidFill>
                          <a:srgbClr val="B00000"/>
                        </a:solidFill>
                      </a:endParaRPr>
                    </a:p>
                    <a:p>
                      <a:r>
                        <a:rPr sz="1000" strike="sngStrike">
                          <a:solidFill>
                            <a:srgbClr val="B00000"/>
                          </a:solidFill>
                        </a:rPr>
                        <a:t>Information on traceability should be available in the metadata as a single DOI landing page</a:t>
                      </a:r>
                      <a:r>
                        <a:rPr sz="1000" b="1">
                          <a:solidFill>
                            <a:srgbClr val="2E7D32"/>
                          </a:solidFill>
                        </a:rPr>
                        <a:t> (see [@uncertainty])</a:t>
                      </a:r>
                      <a:r>
                        <a:rPr sz="1000"/>
                        <a:t>.</a:t>
                      </a:r>
                    </a:p>
                  </a:txBody>
                  <a:tcPr>
                    <a:solidFill>
                      <a:srgbClr val="F2F2F2"/>
                    </a:solidFill>
                  </a:tcPr>
                </a:tc>
                <a:tc>
                  <a:txBody>
                    <a:bodyPr/>
                    <a:lstStyle/>
                    <a:p>
                      <a:r>
                        <a:rPr sz="1000" i="1">
                          <a:solidFill>
                            <a:srgbClr val="808080"/>
                          </a:solidFill>
                        </a:rPr>
                        <a:t>(keep as is)</a:t>
                      </a:r>
                    </a:p>
                  </a:txBody>
                  <a:tcPr>
                    <a:solidFill>
                      <a:srgbClr val="F2F2F2"/>
                    </a:solidFill>
                  </a:tcPr>
                </a:tc>
                <a:extLst>
                  <a:ext uri="{0D108BD9-81ED-4DB2-BD59-A6C34878D82A}">
                    <a16:rowId xmlns:a16="http://schemas.microsoft.com/office/drawing/2014/main" val="10004"/>
                  </a:ext>
                </a:extLst>
              </a:tr>
            </a:tbl>
          </a:graphicData>
        </a:graphic>
      </p:graphicFrame>
      <p:sp>
        <p:nvSpPr>
          <p:cNvPr id="4" name="TextBox 3"/>
          <p:cNvSpPr txBox="1"/>
          <p:nvPr/>
        </p:nvSpPr>
        <p:spPr>
          <a:xfrm>
            <a:off x="457200" y="4873752"/>
            <a:ext cx="11277295" cy="184666"/>
          </a:xfrm>
          <a:prstGeom prst="rect">
            <a:avLst/>
          </a:prstGeom>
          <a:noFill/>
        </p:spPr>
        <p:txBody>
          <a:bodyPr wrap="square" lIns="0" tIns="0" rIns="0" bIns="0">
            <a:spAutoFit/>
          </a:bodyPr>
          <a:lstStyle/>
          <a:p>
            <a:r>
              <a:rPr sz="1200" b="1" dirty="0"/>
              <a:t>Internal notes: </a:t>
            </a:r>
            <a:r>
              <a:rPr sz="1200" i="1" dirty="0"/>
              <a:t>For DOI related discussions </a:t>
            </a:r>
            <a:r>
              <a:rPr lang="de-DE" sz="1200" i="1" dirty="0" err="1"/>
              <a:t>see</a:t>
            </a:r>
            <a:r>
              <a:rPr lang="de-DE" sz="1200" i="1" dirty="0"/>
              <a:t> "DOIs" </a:t>
            </a:r>
            <a:r>
              <a:rPr lang="de-DE" sz="1200" i="1" dirty="0" err="1"/>
              <a:t>slide</a:t>
            </a:r>
            <a:r>
              <a:rPr sz="1200" i="1" dirty="0"/>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Cloud (AR, NLSR, SR, ST)</a:t>
            </a:r>
          </a:p>
        </p:txBody>
      </p:sp>
      <p:graphicFrame>
        <p:nvGraphicFramePr>
          <p:cNvPr id="3" name="Table 2"/>
          <p:cNvGraphicFramePr>
            <a:graphicFrameLocks noGrp="1"/>
          </p:cNvGraphicFramePr>
          <p:nvPr>
            <p:extLst>
              <p:ext uri="{D42A27DB-BD31-4B8C-83A1-F6EECF244321}">
                <p14:modId xmlns:p14="http://schemas.microsoft.com/office/powerpoint/2010/main" val="70863313"/>
              </p:ext>
            </p:extLst>
          </p:nvPr>
        </p:nvGraphicFramePr>
        <p:xfrm>
          <a:off x="457200" y="1005840"/>
          <a:ext cx="11265408" cy="11430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p>
                      <a:r>
                        <a:rPr sz="1000" i="1">
                          <a:solidFill>
                            <a:srgbClr val="808080"/>
                          </a:solidFill>
                        </a:rPr>
                        <a:t>(baseline)</a:t>
                      </a:r>
                    </a:p>
                  </a:txBody>
                  <a:tcPr>
                    <a:solidFill>
                      <a:srgbClr val="FFFFFF"/>
                    </a:solidFill>
                  </a:tcPr>
                </a:tc>
                <a:tc>
                  <a:txBody>
                    <a:bodyPr/>
                    <a:lstStyle/>
                    <a:p>
                      <a:r>
                        <a:rPr sz="1000"/>
                        <a:t>Specification of whether a pixel is cloud or cloud-affected.</a:t>
                      </a:r>
                    </a:p>
                  </a:txBody>
                  <a:tcPr>
                    <a:solidFill>
                      <a:srgbClr val="FFFFFF"/>
                    </a:solidFill>
                  </a:tcPr>
                </a:tc>
                <a:tc>
                  <a:txBody>
                    <a:bodyPr/>
                    <a:lstStyle/>
                    <a:p>
                      <a:r>
                        <a:rPr sz="1000" dirty="0"/>
                        <a:t>Specification of whether a pixel is cloud</a:t>
                      </a:r>
                      <a:r>
                        <a:rPr sz="1000" strike="sngStrike" dirty="0">
                          <a:solidFill>
                            <a:srgbClr val="B00000"/>
                          </a:solidFill>
                        </a:rPr>
                        <a:t> or cloud</a:t>
                      </a:r>
                      <a:r>
                        <a:rPr sz="1000" dirty="0"/>
                        <a:t>-affected.</a:t>
                      </a:r>
                    </a:p>
                  </a:txBody>
                  <a:tcPr>
                    <a:solidFill>
                      <a:srgbClr val="FFFFFF"/>
                    </a:solidFill>
                  </a:tcPr>
                </a:tc>
                <a:extLst>
                  <a:ext uri="{0D108BD9-81ED-4DB2-BD59-A6C34878D82A}">
                    <a16:rowId xmlns:a16="http://schemas.microsoft.com/office/drawing/2014/main" val="10001"/>
                  </a:ext>
                </a:extLst>
              </a:tr>
              <a:tr h="0">
                <a:tc>
                  <a:txBody>
                    <a:bodyPr/>
                    <a:lstStyle/>
                    <a:p>
                      <a:r>
                        <a:rPr sz="1000" b="1"/>
                        <a:t>ST</a:t>
                      </a:r>
                    </a:p>
                  </a:txBody>
                  <a:tcPr>
                    <a:solidFill>
                      <a:srgbClr val="F2F2F2"/>
                    </a:solidFill>
                  </a:tcPr>
                </a:tc>
                <a:tc>
                  <a:txBody>
                    <a:bodyPr/>
                    <a:lstStyle/>
                    <a:p>
                      <a:r>
                        <a:rPr sz="1000"/>
                        <a:t>Specification of whether a pixel is cloud</a:t>
                      </a:r>
                      <a:r>
                        <a:rPr sz="1000" strike="sngStrike">
                          <a:solidFill>
                            <a:srgbClr val="B00000"/>
                          </a:solidFill>
                        </a:rPr>
                        <a:t> or cloud</a:t>
                      </a:r>
                      <a:r>
                        <a:rPr sz="1000"/>
                        <a:t>-affected.</a:t>
                      </a:r>
                    </a:p>
                  </a:txBody>
                  <a:tcPr>
                    <a:solidFill>
                      <a:srgbClr val="F2F2F2"/>
                    </a:solidFill>
                  </a:tcPr>
                </a:tc>
                <a:tc>
                  <a:txBody>
                    <a:bodyPr/>
                    <a:lstStyle/>
                    <a:p>
                      <a:r>
                        <a:rPr sz="1000" i="1">
                          <a:solidFill>
                            <a:srgbClr val="808080"/>
                          </a:solidFill>
                        </a:rPr>
                        <a:t>(keep as is)</a:t>
                      </a:r>
                    </a:p>
                  </a:txBody>
                  <a:tcPr>
                    <a:solidFill>
                      <a:srgbClr val="F2F2F2"/>
                    </a:solidFill>
                  </a:tcPr>
                </a:tc>
                <a:extLst>
                  <a:ext uri="{0D108BD9-81ED-4DB2-BD59-A6C34878D82A}">
                    <a16:rowId xmlns:a16="http://schemas.microsoft.com/office/drawing/2014/main" val="10002"/>
                  </a:ext>
                </a:extLst>
              </a:tr>
              <a:tr h="0">
                <a:tc>
                  <a:txBody>
                    <a:bodyPr/>
                    <a:lstStyle/>
                    <a:p>
                      <a:r>
                        <a:rPr sz="1000" b="1"/>
                        <a:t>NLSR, SR</a:t>
                      </a:r>
                    </a:p>
                  </a:txBody>
                  <a:tcPr>
                    <a:solidFill>
                      <a:srgbClr val="FFFFFF"/>
                    </a:solidFill>
                  </a:tcPr>
                </a:tc>
                <a:tc>
                  <a:txBody>
                    <a:bodyPr/>
                    <a:lstStyle/>
                    <a:p>
                      <a:r>
                        <a:rPr sz="1000"/>
                        <a:t>Metadata indicates</a:t>
                      </a:r>
                      <a:r>
                        <a:rPr sz="1000">
                          <a:solidFill>
                            <a:srgbClr val="1565C0"/>
                          </a:solidFill>
                        </a:rPr>
                        <a:t> whether a pixel is </a:t>
                      </a:r>
                      <a:r>
                        <a:rPr sz="1000"/>
                        <a:t>assessed as being cloud.</a:t>
                      </a:r>
                    </a:p>
                  </a:txBody>
                  <a:tcPr>
                    <a:solidFill>
                      <a:srgbClr val="FFFFFF"/>
                    </a:solidFill>
                  </a:tcPr>
                </a:tc>
                <a:tc>
                  <a:txBody>
                    <a:bodyPr/>
                    <a:lstStyle/>
                    <a:p>
                      <a:r>
                        <a:rPr sz="1000" dirty="0"/>
                        <a:t>S</a:t>
                      </a:r>
                      <a:r>
                        <a:rPr sz="1000" dirty="0">
                          <a:solidFill>
                            <a:schemeClr val="tx1"/>
                          </a:solidFill>
                        </a:rPr>
                        <a:t>pecification of whether a pixel is cloud-affected.</a:t>
                      </a:r>
                    </a:p>
                  </a:txBody>
                  <a:tcPr>
                    <a:solidFill>
                      <a:srgbClr val="FFFFFF"/>
                    </a:solidFill>
                  </a:tcPr>
                </a:tc>
                <a:extLst>
                  <a:ext uri="{0D108BD9-81ED-4DB2-BD59-A6C34878D82A}">
                    <a16:rowId xmlns:a16="http://schemas.microsoft.com/office/drawing/2014/main" val="10003"/>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294727166"/>
              </p:ext>
            </p:extLst>
          </p:nvPr>
        </p:nvGraphicFramePr>
        <p:xfrm>
          <a:off x="457200" y="2523744"/>
          <a:ext cx="11265408" cy="12954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p>
                      <a:r>
                        <a:rPr sz="1000" i="1">
                          <a:solidFill>
                            <a:srgbClr val="808080"/>
                          </a:solidFill>
                        </a:rPr>
                        <a:t>(baseline)</a:t>
                      </a:r>
                    </a:p>
                  </a:txBody>
                  <a:tcPr>
                    <a:solidFill>
                      <a:srgbClr val="FFFFFF"/>
                    </a:solidFill>
                  </a:tcPr>
                </a:tc>
                <a:tc>
                  <a:txBody>
                    <a:bodyPr/>
                    <a:lstStyle/>
                    <a:p>
                      <a:r>
                        <a:rPr sz="1000"/>
                        <a:t>As threshold, but clouds and cirrus clouds are differentiated.</a:t>
                      </a:r>
                    </a:p>
                  </a:txBody>
                  <a:tcPr>
                    <a:solidFill>
                      <a:srgbClr val="FFFFFF"/>
                    </a:solidFill>
                  </a:tcPr>
                </a:tc>
                <a:tc>
                  <a:txBody>
                    <a:bodyPr/>
                    <a:lstStyle/>
                    <a:p>
                      <a:r>
                        <a:rPr sz="1000" dirty="0">
                          <a:solidFill>
                            <a:schemeClr val="tx1"/>
                          </a:solidFill>
                        </a:rPr>
                        <a:t>As threshold, but information on cloud type or confidence is included.</a:t>
                      </a:r>
                    </a:p>
                  </a:txBody>
                  <a:tcPr>
                    <a:solidFill>
                      <a:srgbClr val="FFFFFF"/>
                    </a:solidFill>
                  </a:tcPr>
                </a:tc>
                <a:extLst>
                  <a:ext uri="{0D108BD9-81ED-4DB2-BD59-A6C34878D82A}">
                    <a16:rowId xmlns:a16="http://schemas.microsoft.com/office/drawing/2014/main" val="10001"/>
                  </a:ext>
                </a:extLst>
              </a:tr>
              <a:tr h="0">
                <a:tc>
                  <a:txBody>
                    <a:bodyPr/>
                    <a:lstStyle/>
                    <a:p>
                      <a:r>
                        <a:rPr sz="1000" b="1"/>
                        <a:t>ST</a:t>
                      </a:r>
                    </a:p>
                  </a:txBody>
                  <a:tcPr>
                    <a:solidFill>
                      <a:srgbClr val="F2F2F2"/>
                    </a:solidFill>
                  </a:tcPr>
                </a:tc>
                <a:tc>
                  <a:txBody>
                    <a:bodyPr/>
                    <a:lstStyle/>
                    <a:p>
                      <a:r>
                        <a:rPr sz="1000">
                          <a:solidFill>
                            <a:srgbClr val="1565C0"/>
                          </a:solidFill>
                        </a:rPr>
                        <a:t>As threshold, but </a:t>
                      </a:r>
                      <a:r>
                        <a:rPr sz="1000"/>
                        <a:t>information on cloud type or confidence is included.</a:t>
                      </a:r>
                    </a:p>
                  </a:txBody>
                  <a:tcPr>
                    <a:solidFill>
                      <a:srgbClr val="F2F2F2"/>
                    </a:solidFill>
                  </a:tcPr>
                </a:tc>
                <a:tc>
                  <a:txBody>
                    <a:bodyPr/>
                    <a:lstStyle/>
                    <a:p>
                      <a:r>
                        <a:rPr sz="1000" i="1">
                          <a:solidFill>
                            <a:srgbClr val="808080"/>
                          </a:solidFill>
                        </a:rPr>
                        <a:t>(keep as is)</a:t>
                      </a:r>
                    </a:p>
                  </a:txBody>
                  <a:tcPr>
                    <a:solidFill>
                      <a:srgbClr val="F2F2F2"/>
                    </a:solidFill>
                  </a:tcPr>
                </a:tc>
                <a:extLst>
                  <a:ext uri="{0D108BD9-81ED-4DB2-BD59-A6C34878D82A}">
                    <a16:rowId xmlns:a16="http://schemas.microsoft.com/office/drawing/2014/main" val="10002"/>
                  </a:ext>
                </a:extLst>
              </a:tr>
              <a:tr h="0">
                <a:tc>
                  <a:txBody>
                    <a:bodyPr/>
                    <a:lstStyle/>
                    <a:p>
                      <a:r>
                        <a:rPr sz="1000" b="1"/>
                        <a:t>NLSR, SR</a:t>
                      </a:r>
                    </a:p>
                  </a:txBody>
                  <a:tcPr>
                    <a:solidFill>
                      <a:srgbClr val="FFFFFF"/>
                    </a:solidFill>
                  </a:tcPr>
                </a:tc>
                <a:tc>
                  <a:txBody>
                    <a:bodyPr/>
                    <a:lstStyle/>
                    <a:p>
                      <a:r>
                        <a:rPr sz="1000">
                          <a:solidFill>
                            <a:srgbClr val="1565C0"/>
                          </a:solidFill>
                        </a:rPr>
                        <a:t>As threshold, but </a:t>
                      </a:r>
                      <a:r>
                        <a:rPr sz="1000"/>
                        <a:t>information on cloud detection should be available in the metadata as a single DOI landing page.</a:t>
                      </a:r>
                    </a:p>
                  </a:txBody>
                  <a:tcPr>
                    <a:solidFill>
                      <a:srgbClr val="FFFFFF"/>
                    </a:solidFill>
                  </a:tcPr>
                </a:tc>
                <a:tc>
                  <a:txBody>
                    <a:bodyPr/>
                    <a:lstStyle/>
                    <a:p>
                      <a:r>
                        <a:rPr sz="1000" dirty="0"/>
                        <a:t>As threshold, but information on cloud </a:t>
                      </a:r>
                      <a:r>
                        <a:rPr sz="1000" strike="sngStrike" dirty="0">
                          <a:solidFill>
                            <a:srgbClr val="B00000"/>
                          </a:solidFill>
                        </a:rPr>
                        <a:t>detection should be available in the metadata as a single DOI landing </a:t>
                      </a:r>
                      <a:r>
                        <a:rPr sz="1000" strike="sngStrike" dirty="0" err="1">
                          <a:solidFill>
                            <a:srgbClr val="B00000"/>
                          </a:solidFill>
                        </a:rPr>
                        <a:t>page</a:t>
                      </a:r>
                      <a:r>
                        <a:rPr sz="1000" b="1" dirty="0" err="1">
                          <a:solidFill>
                            <a:srgbClr val="2E7D32"/>
                          </a:solidFill>
                        </a:rPr>
                        <a:t>type</a:t>
                      </a:r>
                      <a:r>
                        <a:rPr sz="1000" b="1" dirty="0">
                          <a:solidFill>
                            <a:srgbClr val="2E7D32"/>
                          </a:solidFill>
                        </a:rPr>
                        <a:t> or confidence is included</a:t>
                      </a:r>
                      <a:r>
                        <a:rPr sz="1000" dirty="0"/>
                        <a:t>.</a:t>
                      </a:r>
                    </a:p>
                  </a:txBody>
                  <a:tcPr>
                    <a:solidFill>
                      <a:srgbClr val="FFFFFF"/>
                    </a:solidFill>
                  </a:tcPr>
                </a:tc>
                <a:extLst>
                  <a:ext uri="{0D108BD9-81ED-4DB2-BD59-A6C34878D82A}">
                    <a16:rowId xmlns:a16="http://schemas.microsoft.com/office/drawing/2014/main" val="10003"/>
                  </a:ext>
                </a:extLst>
              </a:tr>
            </a:tbl>
          </a:graphicData>
        </a:graphic>
      </p:graphicFrame>
      <p:graphicFrame>
        <p:nvGraphicFramePr>
          <p:cNvPr id="5" name="Table 4"/>
          <p:cNvGraphicFramePr>
            <a:graphicFrameLocks noGrp="1"/>
          </p:cNvGraphicFramePr>
          <p:nvPr/>
        </p:nvGraphicFramePr>
        <p:xfrm>
          <a:off x="457200" y="4197096"/>
          <a:ext cx="11265408" cy="11430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Notes</a:t>
                      </a:r>
                    </a:p>
                  </a:txBody>
                  <a:tcPr>
                    <a:solidFill>
                      <a:srgbClr val="000000"/>
                    </a:solidFill>
                  </a:tcPr>
                </a:tc>
                <a:tc>
                  <a:txBody>
                    <a:bodyPr/>
                    <a:lstStyle/>
                    <a:p>
                      <a:r>
                        <a:rPr sz="1100" b="1">
                          <a:solidFill>
                            <a:srgbClr val="FFFFFF"/>
                          </a:solidFill>
                        </a:rPr>
                        <a:t>Proposed Goal Notes</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p>
                      <a:r>
                        <a:rPr sz="1000" i="1">
                          <a:solidFill>
                            <a:srgbClr val="808080"/>
                          </a:solidFill>
                        </a:rPr>
                        <a:t>(baseline)</a:t>
                      </a:r>
                    </a:p>
                  </a:txBody>
                  <a:tcPr>
                    <a:solidFill>
                      <a:srgbClr val="FFFFFF"/>
                    </a:solidFill>
                  </a:tcPr>
                </a:tc>
                <a:tc>
                  <a:txBody>
                    <a:bodyPr/>
                    <a:lstStyle/>
                    <a:p>
                      <a:r>
                        <a:rPr sz="1000"/>
                        <a:t>See @foga2017, @skakun2022, @zhu2012, and @zhu2015.</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ST</a:t>
                      </a:r>
                    </a:p>
                  </a:txBody>
                  <a:tcPr>
                    <a:solidFill>
                      <a:srgbClr val="F2F2F2"/>
                    </a:solidFill>
                  </a:tcPr>
                </a:tc>
                <a:tc>
                  <a:txBody>
                    <a:bodyPr/>
                    <a:lstStyle/>
                    <a:p>
                      <a:r>
                        <a:rPr sz="1000"/>
                        <a:t>(no notes)</a:t>
                      </a:r>
                    </a:p>
                  </a:txBody>
                  <a:tcPr>
                    <a:solidFill>
                      <a:srgbClr val="F2F2F2"/>
                    </a:solidFill>
                  </a:tcPr>
                </a:tc>
                <a:tc>
                  <a:txBody>
                    <a:bodyPr/>
                    <a:lstStyle/>
                    <a:p>
                      <a:r>
                        <a:rPr sz="1000" i="1">
                          <a:solidFill>
                            <a:srgbClr val="808080"/>
                          </a:solidFill>
                        </a:rPr>
                        <a:t>(keep as is)</a:t>
                      </a:r>
                    </a:p>
                  </a:txBody>
                  <a:tcPr>
                    <a:solidFill>
                      <a:srgbClr val="F2F2F2"/>
                    </a:solidFill>
                  </a:tcPr>
                </a:tc>
                <a:extLst>
                  <a:ext uri="{0D108BD9-81ED-4DB2-BD59-A6C34878D82A}">
                    <a16:rowId xmlns:a16="http://schemas.microsoft.com/office/drawing/2014/main" val="10002"/>
                  </a:ext>
                </a:extLst>
              </a:tr>
              <a:tr h="0">
                <a:tc>
                  <a:txBody>
                    <a:bodyPr/>
                    <a:lstStyle/>
                    <a:p>
                      <a:r>
                        <a:rPr sz="1000" b="1"/>
                        <a:t>NLSR, SR</a:t>
                      </a:r>
                    </a:p>
                  </a:txBody>
                  <a:tcPr>
                    <a:solidFill>
                      <a:srgbClr val="FFFFFF"/>
                    </a:solidFill>
                  </a:tcPr>
                </a:tc>
                <a:tc>
                  <a:txBody>
                    <a:bodyPr/>
                    <a:lstStyle/>
                    <a:p>
                      <a:r>
                        <a:rPr sz="1000"/>
                        <a:t>(no notes)</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457200" y="5432450"/>
            <a:ext cx="11277295" cy="553998"/>
          </a:xfrm>
          <a:prstGeom prst="rect">
            <a:avLst/>
          </a:prstGeom>
          <a:noFill/>
        </p:spPr>
        <p:txBody>
          <a:bodyPr wrap="square" lIns="0" tIns="0" rIns="0" bIns="0">
            <a:spAutoFit/>
          </a:bodyPr>
          <a:lstStyle/>
          <a:p>
            <a:r>
              <a:rPr sz="1200" b="1" dirty="0"/>
              <a:t>Internal notes: </a:t>
            </a:r>
            <a:r>
              <a:rPr sz="1200" i="1" dirty="0"/>
              <a:t>For DOI related discussions </a:t>
            </a:r>
            <a:r>
              <a:rPr lang="de-DE" sz="1200" i="1" dirty="0" err="1"/>
              <a:t>see</a:t>
            </a:r>
            <a:r>
              <a:rPr lang="de-DE" sz="1200" i="1" dirty="0"/>
              <a:t> "DOIs" </a:t>
            </a:r>
            <a:r>
              <a:rPr lang="de-DE" sz="1200" i="1" dirty="0" err="1"/>
              <a:t>slide</a:t>
            </a:r>
            <a:r>
              <a:rPr sz="1200" i="1" dirty="0"/>
              <a:t>.</a:t>
            </a:r>
          </a:p>
          <a:p>
            <a:endParaRPr sz="1200" i="1" dirty="0"/>
          </a:p>
          <a:p>
            <a:r>
              <a:rPr sz="1200" i="1" dirty="0"/>
              <a:t>Agreed to adopt the requirement with this simplified wording (matches the ST 6.0 texts; GitHub issue #112).</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Cloud Shadow (AR, NLSR, SR, ST)</a:t>
            </a:r>
          </a:p>
        </p:txBody>
      </p:sp>
      <p:graphicFrame>
        <p:nvGraphicFramePr>
          <p:cNvPr id="3" name="Table 2"/>
          <p:cNvGraphicFramePr>
            <a:graphicFrameLocks noGrp="1"/>
          </p:cNvGraphicFramePr>
          <p:nvPr>
            <p:extLst>
              <p:ext uri="{D42A27DB-BD31-4B8C-83A1-F6EECF244321}">
                <p14:modId xmlns:p14="http://schemas.microsoft.com/office/powerpoint/2010/main" val="1908248029"/>
              </p:ext>
            </p:extLst>
          </p:nvPr>
        </p:nvGraphicFramePr>
        <p:xfrm>
          <a:off x="457200" y="1005840"/>
          <a:ext cx="11265408" cy="138684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p>
                      <a:r>
                        <a:rPr sz="1000" i="1">
                          <a:solidFill>
                            <a:srgbClr val="808080"/>
                          </a:solidFill>
                        </a:rPr>
                        <a:t>(baseline)</a:t>
                      </a:r>
                    </a:p>
                  </a:txBody>
                  <a:tcPr>
                    <a:solidFill>
                      <a:srgbClr val="FFFFFF"/>
                    </a:solidFill>
                  </a:tcPr>
                </a:tc>
                <a:tc>
                  <a:txBody>
                    <a:bodyPr/>
                    <a:lstStyle/>
                    <a:p>
                      <a:r>
                        <a:rPr sz="1000" dirty="0"/>
                        <a:t>Specification of whether a pixel is cloud shadow or cloud shadow-affected.</a:t>
                      </a:r>
                    </a:p>
                  </a:txBody>
                  <a:tcPr>
                    <a:solidFill>
                      <a:srgbClr val="FFFFFF"/>
                    </a:solidFill>
                  </a:tcPr>
                </a:tc>
                <a:tc>
                  <a:txBody>
                    <a:bodyPr/>
                    <a:lstStyle/>
                    <a:p>
                      <a:pPr>
                        <a:buNone/>
                      </a:pPr>
                      <a:r>
                        <a:rPr lang="de-DE" sz="1000" dirty="0" err="1">
                          <a:effectLst/>
                          <a:latin typeface="Calibri" panose="020F0502020204030204" pitchFamily="34" charset="0"/>
                        </a:rPr>
                        <a:t>Specification</a:t>
                      </a:r>
                      <a:r>
                        <a:rPr lang="de-DE" sz="1000" dirty="0">
                          <a:effectLst/>
                          <a:latin typeface="Calibri" panose="020F0502020204030204" pitchFamily="34" charset="0"/>
                        </a:rPr>
                        <a:t> of </a:t>
                      </a:r>
                      <a:r>
                        <a:rPr lang="de-DE" sz="1000" dirty="0" err="1">
                          <a:effectLst/>
                          <a:latin typeface="Calibri" panose="020F0502020204030204" pitchFamily="34" charset="0"/>
                        </a:rPr>
                        <a:t>whether</a:t>
                      </a:r>
                      <a:r>
                        <a:rPr lang="de-DE" sz="1000" dirty="0">
                          <a:effectLst/>
                          <a:latin typeface="Calibri" panose="020F0502020204030204" pitchFamily="34" charset="0"/>
                        </a:rPr>
                        <a:t> a </a:t>
                      </a:r>
                      <a:r>
                        <a:rPr lang="de-DE" sz="1000" dirty="0" err="1">
                          <a:effectLst/>
                          <a:latin typeface="Calibri" panose="020F0502020204030204" pitchFamily="34" charset="0"/>
                        </a:rPr>
                        <a:t>pixel</a:t>
                      </a:r>
                      <a:r>
                        <a:rPr lang="de-DE" sz="1000" dirty="0">
                          <a:effectLst/>
                          <a:latin typeface="Calibri" panose="020F0502020204030204" pitchFamily="34" charset="0"/>
                        </a:rPr>
                        <a:t> </a:t>
                      </a:r>
                      <a:r>
                        <a:rPr lang="de-DE" sz="1000" dirty="0" err="1">
                          <a:effectLst/>
                          <a:latin typeface="Calibri" panose="020F0502020204030204" pitchFamily="34" charset="0"/>
                        </a:rPr>
                        <a:t>is</a:t>
                      </a:r>
                      <a:r>
                        <a:rPr lang="de-DE" sz="1000" dirty="0">
                          <a:effectLst/>
                          <a:latin typeface="Calibri" panose="020F0502020204030204" pitchFamily="34" charset="0"/>
                        </a:rPr>
                        <a:t> </a:t>
                      </a:r>
                      <a:r>
                        <a:rPr lang="de-DE" sz="1000" dirty="0" err="1">
                          <a:effectLst/>
                          <a:latin typeface="Calibri" panose="020F0502020204030204" pitchFamily="34" charset="0"/>
                        </a:rPr>
                        <a:t>cloud</a:t>
                      </a:r>
                      <a:r>
                        <a:rPr lang="de-DE" sz="1000" dirty="0">
                          <a:effectLst/>
                          <a:latin typeface="Calibri" panose="020F0502020204030204" pitchFamily="34" charset="0"/>
                        </a:rPr>
                        <a:t> </a:t>
                      </a:r>
                      <a:r>
                        <a:rPr lang="de-DE" sz="1000" dirty="0" err="1">
                          <a:effectLst/>
                          <a:latin typeface="Calibri" panose="020F0502020204030204" pitchFamily="34" charset="0"/>
                        </a:rPr>
                        <a:t>shadow</a:t>
                      </a:r>
                      <a:r>
                        <a:rPr lang="de-DE" sz="1000" strike="sngStrike" dirty="0">
                          <a:solidFill>
                            <a:srgbClr val="B00000"/>
                          </a:solidFill>
                          <a:effectLst/>
                          <a:latin typeface="Calibri" panose="020F0502020204030204" pitchFamily="34" charset="0"/>
                        </a:rPr>
                        <a:t> </a:t>
                      </a:r>
                      <a:r>
                        <a:rPr lang="de-DE" sz="1000" strike="sngStrike" dirty="0" err="1">
                          <a:solidFill>
                            <a:srgbClr val="B00000"/>
                          </a:solidFill>
                          <a:effectLst/>
                          <a:latin typeface="Calibri" panose="020F0502020204030204" pitchFamily="34" charset="0"/>
                        </a:rPr>
                        <a:t>or</a:t>
                      </a:r>
                      <a:r>
                        <a:rPr lang="de-DE" sz="1000" strike="sngStrike" dirty="0">
                          <a:solidFill>
                            <a:srgbClr val="B00000"/>
                          </a:solidFill>
                          <a:effectLst/>
                          <a:latin typeface="Calibri" panose="020F0502020204030204" pitchFamily="34" charset="0"/>
                        </a:rPr>
                        <a:t> </a:t>
                      </a:r>
                      <a:r>
                        <a:rPr lang="de-DE" sz="1000" strike="sngStrike" dirty="0" err="1">
                          <a:solidFill>
                            <a:srgbClr val="B00000"/>
                          </a:solidFill>
                          <a:effectLst/>
                          <a:latin typeface="Calibri" panose="020F0502020204030204" pitchFamily="34" charset="0"/>
                        </a:rPr>
                        <a:t>cloud</a:t>
                      </a:r>
                      <a:r>
                        <a:rPr lang="de-DE" sz="1000" strike="sngStrike" dirty="0">
                          <a:solidFill>
                            <a:srgbClr val="B00000"/>
                          </a:solidFill>
                          <a:effectLst/>
                          <a:latin typeface="Calibri" panose="020F0502020204030204" pitchFamily="34" charset="0"/>
                        </a:rPr>
                        <a:t> </a:t>
                      </a:r>
                      <a:r>
                        <a:rPr lang="de-DE" sz="1000" strike="sngStrike" dirty="0" err="1">
                          <a:solidFill>
                            <a:srgbClr val="B00000"/>
                          </a:solidFill>
                          <a:effectLst/>
                          <a:latin typeface="Calibri" panose="020F0502020204030204" pitchFamily="34" charset="0"/>
                        </a:rPr>
                        <a:t>shadow</a:t>
                      </a:r>
                      <a:r>
                        <a:rPr lang="de-DE" sz="1000" dirty="0" err="1">
                          <a:effectLst/>
                          <a:latin typeface="Calibri" panose="020F0502020204030204" pitchFamily="34" charset="0"/>
                        </a:rPr>
                        <a:t>-affected</a:t>
                      </a:r>
                      <a:r>
                        <a:rPr lang="de-DE" sz="1000" dirty="0">
                          <a:effectLst/>
                          <a:latin typeface="Calibri" panose="020F0502020204030204" pitchFamily="34" charset="0"/>
                        </a:rPr>
                        <a:t>.</a:t>
                      </a:r>
                    </a:p>
                  </a:txBody>
                  <a:tcPr>
                    <a:solidFill>
                      <a:srgbClr val="FFFFFF"/>
                    </a:solidFill>
                  </a:tcPr>
                </a:tc>
                <a:extLst>
                  <a:ext uri="{0D108BD9-81ED-4DB2-BD59-A6C34878D82A}">
                    <a16:rowId xmlns:a16="http://schemas.microsoft.com/office/drawing/2014/main" val="10001"/>
                  </a:ext>
                </a:extLst>
              </a:tr>
              <a:tr h="0">
                <a:tc>
                  <a:txBody>
                    <a:bodyPr/>
                    <a:lstStyle/>
                    <a:p>
                      <a:r>
                        <a:rPr sz="1000" b="1"/>
                        <a:t>NLSR</a:t>
                      </a:r>
                    </a:p>
                  </a:txBody>
                  <a:tcPr>
                    <a:solidFill>
                      <a:srgbClr val="F2F2F2"/>
                    </a:solidFill>
                  </a:tcPr>
                </a:tc>
                <a:tc>
                  <a:txBody>
                    <a:bodyPr/>
                    <a:lstStyle/>
                    <a:p>
                      <a:r>
                        <a:rPr sz="1000"/>
                        <a:t>(not set)</a:t>
                      </a:r>
                    </a:p>
                  </a:txBody>
                  <a:tcPr>
                    <a:solidFill>
                      <a:srgbClr val="F2F2F2"/>
                    </a:solidFill>
                  </a:tcPr>
                </a:tc>
                <a:tc>
                  <a:txBody>
                    <a:bodyPr/>
                    <a:lstStyle/>
                    <a:p>
                      <a:r>
                        <a:rPr sz="1000" i="1">
                          <a:solidFill>
                            <a:srgbClr val="808080"/>
                          </a:solidFill>
                        </a:rPr>
                        <a:t>(keep as is)</a:t>
                      </a:r>
                    </a:p>
                  </a:txBody>
                  <a:tcPr>
                    <a:solidFill>
                      <a:srgbClr val="F2F2F2"/>
                    </a:solidFill>
                  </a:tcPr>
                </a:tc>
                <a:extLst>
                  <a:ext uri="{0D108BD9-81ED-4DB2-BD59-A6C34878D82A}">
                    <a16:rowId xmlns:a16="http://schemas.microsoft.com/office/drawing/2014/main" val="10002"/>
                  </a:ext>
                </a:extLst>
              </a:tr>
              <a:tr h="0">
                <a:tc>
                  <a:txBody>
                    <a:bodyPr/>
                    <a:lstStyle/>
                    <a:p>
                      <a:r>
                        <a:rPr sz="1000" b="1"/>
                        <a:t>ST</a:t>
                      </a:r>
                    </a:p>
                  </a:txBody>
                  <a:tcPr>
                    <a:solidFill>
                      <a:srgbClr val="FFFFFF"/>
                    </a:solidFill>
                  </a:tcPr>
                </a:tc>
                <a:tc>
                  <a:txBody>
                    <a:bodyPr/>
                    <a:lstStyle/>
                    <a:p>
                      <a:r>
                        <a:rPr sz="1000"/>
                        <a:t>(not set)</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3"/>
                  </a:ext>
                </a:extLst>
              </a:tr>
              <a:tr h="0">
                <a:tc>
                  <a:txBody>
                    <a:bodyPr/>
                    <a:lstStyle/>
                    <a:p>
                      <a:r>
                        <a:rPr sz="1000" b="1"/>
                        <a:t>SR</a:t>
                      </a:r>
                    </a:p>
                  </a:txBody>
                  <a:tcPr>
                    <a:solidFill>
                      <a:srgbClr val="F2F2F2"/>
                    </a:solidFill>
                  </a:tcPr>
                </a:tc>
                <a:tc>
                  <a:txBody>
                    <a:bodyPr/>
                    <a:lstStyle/>
                    <a:p>
                      <a:r>
                        <a:rPr sz="1000"/>
                        <a:t>Metadata indicates</a:t>
                      </a:r>
                      <a:r>
                        <a:rPr sz="1000">
                          <a:solidFill>
                            <a:srgbClr val="1565C0"/>
                          </a:solidFill>
                        </a:rPr>
                        <a:t> whether a pixel is </a:t>
                      </a:r>
                      <a:r>
                        <a:rPr sz="1000"/>
                        <a:t>assessed as being</a:t>
                      </a:r>
                      <a:r>
                        <a:rPr sz="1000">
                          <a:solidFill>
                            <a:srgbClr val="1565C0"/>
                          </a:solidFill>
                        </a:rPr>
                        <a:t> cloud shadow</a:t>
                      </a:r>
                      <a:r>
                        <a:rPr sz="1000"/>
                        <a:t>.</a:t>
                      </a:r>
                    </a:p>
                  </a:txBody>
                  <a:tcPr>
                    <a:solidFill>
                      <a:srgbClr val="F2F2F2"/>
                    </a:solidFill>
                  </a:tcPr>
                </a:tc>
                <a:tc>
                  <a:txBody>
                    <a:bodyPr/>
                    <a:lstStyle/>
                    <a:p>
                      <a:r>
                        <a:rPr sz="1000" strike="sngStrike" dirty="0">
                          <a:solidFill>
                            <a:srgbClr val="B00000"/>
                          </a:solidFill>
                        </a:rPr>
                        <a:t>Metadata </a:t>
                      </a:r>
                      <a:r>
                        <a:rPr sz="1000" strike="sngStrike" dirty="0" err="1">
                          <a:solidFill>
                            <a:srgbClr val="B00000"/>
                          </a:solidFill>
                        </a:rPr>
                        <a:t>indicates</a:t>
                      </a:r>
                      <a:r>
                        <a:rPr sz="1000" b="1" dirty="0" err="1">
                          <a:solidFill>
                            <a:srgbClr val="2E7D32"/>
                          </a:solidFill>
                        </a:rPr>
                        <a:t>Specification</a:t>
                      </a:r>
                      <a:r>
                        <a:rPr sz="1000" b="1" dirty="0">
                          <a:solidFill>
                            <a:srgbClr val="2E7D32"/>
                          </a:solidFill>
                        </a:rPr>
                        <a:t> of</a:t>
                      </a:r>
                      <a:r>
                        <a:rPr sz="1000" dirty="0"/>
                        <a:t> whether a pixel is </a:t>
                      </a:r>
                      <a:r>
                        <a:rPr sz="1000" strike="sngStrike" dirty="0">
                          <a:solidFill>
                            <a:srgbClr val="B00000"/>
                          </a:solidFill>
                        </a:rPr>
                        <a:t>assessed as being </a:t>
                      </a:r>
                      <a:r>
                        <a:rPr sz="1000" dirty="0"/>
                        <a:t>cloud shadow</a:t>
                      </a:r>
                      <a:r>
                        <a:rPr sz="1000" b="1" dirty="0">
                          <a:solidFill>
                            <a:srgbClr val="2E7D32"/>
                          </a:solidFill>
                        </a:rPr>
                        <a:t>-affected</a:t>
                      </a:r>
                      <a:r>
                        <a:rPr sz="1000" dirty="0"/>
                        <a:t>.</a:t>
                      </a:r>
                    </a:p>
                  </a:txBody>
                  <a:tcPr>
                    <a:solidFill>
                      <a:srgbClr val="F2F2F2"/>
                    </a:solidFill>
                  </a:tcPr>
                </a:tc>
                <a:extLst>
                  <a:ext uri="{0D108BD9-81ED-4DB2-BD59-A6C34878D82A}">
                    <a16:rowId xmlns:a16="http://schemas.microsoft.com/office/drawing/2014/main" val="10004"/>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4037218797"/>
              </p:ext>
            </p:extLst>
          </p:nvPr>
        </p:nvGraphicFramePr>
        <p:xfrm>
          <a:off x="457200" y="2944368"/>
          <a:ext cx="11265408" cy="214884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txBody>
                  <a:tcPr>
                    <a:solidFill>
                      <a:srgbClr val="FFFFFF"/>
                    </a:solidFill>
                  </a:tcPr>
                </a:tc>
                <a:tc>
                  <a:txBody>
                    <a:bodyPr/>
                    <a:lstStyle/>
                    <a:p>
                      <a:r>
                        <a:rPr sz="1000" dirty="0"/>
                        <a:t>(not set)</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NLSR</a:t>
                      </a:r>
                    </a:p>
                    <a:p>
                      <a:r>
                        <a:rPr sz="1000" i="1">
                          <a:solidFill>
                            <a:srgbClr val="808080"/>
                          </a:solidFill>
                        </a:rPr>
                        <a:t>(baseline)</a:t>
                      </a:r>
                    </a:p>
                  </a:txBody>
                  <a:tcPr>
                    <a:solidFill>
                      <a:srgbClr val="F2F2F2"/>
                    </a:solidFill>
                  </a:tcPr>
                </a:tc>
                <a:tc>
                  <a:txBody>
                    <a:bodyPr/>
                    <a:lstStyle/>
                    <a:p>
                      <a:r>
                        <a:rPr sz="1000" dirty="0"/>
                        <a:t>Metadata indicates whether a pixel is assessed as being cloud shadow.</a:t>
                      </a:r>
                    </a:p>
                    <a:p>
                      <a:r>
                        <a:rPr sz="1000" dirty="0"/>
                        <a:t>Information on cloud shadow detection should be available in the metadata as a single DOI landing page.</a:t>
                      </a:r>
                    </a:p>
                  </a:txBody>
                  <a:tcPr>
                    <a:solidFill>
                      <a:srgbClr val="F2F2F2"/>
                    </a:solidFill>
                  </a:tcPr>
                </a:tc>
                <a:tc>
                  <a:txBody>
                    <a:bodyPr/>
                    <a:lstStyle/>
                    <a:p>
                      <a:r>
                        <a:rPr sz="1000" strike="sngStrike">
                          <a:solidFill>
                            <a:srgbClr val="B00000"/>
                          </a:solidFill>
                        </a:rPr>
                        <a:t>Metadata indicates</a:t>
                      </a:r>
                      <a:r>
                        <a:rPr sz="1000" b="1">
                          <a:solidFill>
                            <a:srgbClr val="2E7D32"/>
                          </a:solidFill>
                        </a:rPr>
                        <a:t>Specification of</a:t>
                      </a:r>
                      <a:r>
                        <a:rPr sz="1000"/>
                        <a:t> whether a pixel is </a:t>
                      </a:r>
                      <a:r>
                        <a:rPr sz="1000" strike="sngStrike">
                          <a:solidFill>
                            <a:srgbClr val="B00000"/>
                          </a:solidFill>
                        </a:rPr>
                        <a:t>assessed as being </a:t>
                      </a:r>
                      <a:r>
                        <a:rPr sz="1000"/>
                        <a:t>cloud shadow</a:t>
                      </a:r>
                      <a:r>
                        <a:rPr sz="1000" strike="sngStrike">
                          <a:solidFill>
                            <a:srgbClr val="B00000"/>
                          </a:solidFill>
                        </a:rPr>
                        <a:t>.</a:t>
                      </a:r>
                    </a:p>
                    <a:p>
                      <a:r>
                        <a:rPr sz="1000" strike="sngStrike">
                          <a:solidFill>
                            <a:srgbClr val="B00000"/>
                          </a:solidFill>
                        </a:rPr>
                        <a:t>Information on cloud shadow detection should be available in the metadata as a single DOI landing page</a:t>
                      </a:r>
                      <a:r>
                        <a:rPr sz="1000" b="1">
                          <a:solidFill>
                            <a:srgbClr val="2E7D32"/>
                          </a:solidFill>
                        </a:rPr>
                        <a:t>-affected</a:t>
                      </a:r>
                      <a:r>
                        <a:rPr sz="1000"/>
                        <a:t>.</a:t>
                      </a:r>
                    </a:p>
                  </a:txBody>
                  <a:tcPr>
                    <a:solidFill>
                      <a:srgbClr val="F2F2F2"/>
                    </a:solidFill>
                  </a:tcPr>
                </a:tc>
                <a:extLst>
                  <a:ext uri="{0D108BD9-81ED-4DB2-BD59-A6C34878D82A}">
                    <a16:rowId xmlns:a16="http://schemas.microsoft.com/office/drawing/2014/main" val="10002"/>
                  </a:ext>
                </a:extLst>
              </a:tr>
              <a:tr h="0">
                <a:tc>
                  <a:txBody>
                    <a:bodyPr/>
                    <a:lstStyle/>
                    <a:p>
                      <a:r>
                        <a:rPr sz="1000" b="1"/>
                        <a:t>ST</a:t>
                      </a:r>
                    </a:p>
                  </a:txBody>
                  <a:tcPr>
                    <a:solidFill>
                      <a:srgbClr val="FFFFFF"/>
                    </a:solidFill>
                  </a:tcPr>
                </a:tc>
                <a:tc>
                  <a:txBody>
                    <a:bodyPr/>
                    <a:lstStyle/>
                    <a:p>
                      <a:r>
                        <a:rPr sz="1000" strike="sngStrike" dirty="0">
                          <a:solidFill>
                            <a:srgbClr val="B00000"/>
                          </a:solidFill>
                        </a:rPr>
                        <a:t>Metadata </a:t>
                      </a:r>
                      <a:r>
                        <a:rPr sz="1000" strike="sngStrike" dirty="0" err="1">
                          <a:solidFill>
                            <a:srgbClr val="B00000"/>
                          </a:solidFill>
                        </a:rPr>
                        <a:t>indicates</a:t>
                      </a:r>
                      <a:r>
                        <a:rPr sz="1000" b="1" dirty="0" err="1">
                          <a:solidFill>
                            <a:srgbClr val="2E7D32"/>
                          </a:solidFill>
                        </a:rPr>
                        <a:t>Specification</a:t>
                      </a:r>
                      <a:r>
                        <a:rPr sz="1000" b="1" dirty="0">
                          <a:solidFill>
                            <a:srgbClr val="2E7D32"/>
                          </a:solidFill>
                        </a:rPr>
                        <a:t> of</a:t>
                      </a:r>
                      <a:r>
                        <a:rPr sz="1000" dirty="0"/>
                        <a:t> whether a pixel is </a:t>
                      </a:r>
                      <a:r>
                        <a:rPr sz="1000" strike="sngStrike" dirty="0">
                          <a:solidFill>
                            <a:srgbClr val="B00000"/>
                          </a:solidFill>
                        </a:rPr>
                        <a:t>assessed as being </a:t>
                      </a:r>
                      <a:r>
                        <a:rPr sz="1000" dirty="0"/>
                        <a:t>cloud shadow</a:t>
                      </a:r>
                      <a:r>
                        <a:rPr sz="1000" strike="sngStrike" dirty="0">
                          <a:solidFill>
                            <a:srgbClr val="B00000"/>
                          </a:solidFill>
                        </a:rPr>
                        <a:t>.</a:t>
                      </a:r>
                    </a:p>
                    <a:p>
                      <a:r>
                        <a:rPr sz="1000" strike="sngStrike" dirty="0">
                          <a:solidFill>
                            <a:srgbClr val="B00000"/>
                          </a:solidFill>
                        </a:rPr>
                        <a:t>Information on cloud shadow detection should be available in the metadata as a single DOI landing page</a:t>
                      </a:r>
                      <a:r>
                        <a:rPr sz="1000" b="1" dirty="0">
                          <a:solidFill>
                            <a:srgbClr val="2E7D32"/>
                          </a:solidFill>
                        </a:rPr>
                        <a:t>-affected</a:t>
                      </a:r>
                      <a:r>
                        <a:rPr sz="1000" dirty="0"/>
                        <a:t>.</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3"/>
                  </a:ext>
                </a:extLst>
              </a:tr>
              <a:tr h="0">
                <a:tc>
                  <a:txBody>
                    <a:bodyPr/>
                    <a:lstStyle/>
                    <a:p>
                      <a:r>
                        <a:rPr sz="1000" b="1"/>
                        <a:t>SR</a:t>
                      </a:r>
                    </a:p>
                  </a:txBody>
                  <a:tcPr>
                    <a:solidFill>
                      <a:srgbClr val="F2F2F2"/>
                    </a:solidFill>
                  </a:tcPr>
                </a:tc>
                <a:tc>
                  <a:txBody>
                    <a:bodyPr/>
                    <a:lstStyle/>
                    <a:p>
                      <a:r>
                        <a:rPr sz="1000" strike="sngStrike" dirty="0">
                          <a:solidFill>
                            <a:srgbClr val="B00000"/>
                          </a:solidFill>
                        </a:rPr>
                        <a:t>Metadata indicates whether a pixel is assessed as being cloud shadow.</a:t>
                      </a:r>
                    </a:p>
                    <a:p>
                      <a:r>
                        <a:rPr sz="1000" strike="sngStrike" dirty="0">
                          <a:solidFill>
                            <a:srgbClr val="B00000"/>
                          </a:solidFill>
                        </a:rPr>
                        <a:t>I</a:t>
                      </a:r>
                      <a:r>
                        <a:rPr sz="1000" b="1" dirty="0">
                          <a:solidFill>
                            <a:srgbClr val="2E7D32"/>
                          </a:solidFill>
                        </a:rPr>
                        <a:t>As threshold, but i</a:t>
                      </a:r>
                      <a:r>
                        <a:rPr sz="1000" dirty="0"/>
                        <a:t>nformation on cloud shadow detection should be available in the metadata as a single DOI landing page.</a:t>
                      </a:r>
                    </a:p>
                  </a:txBody>
                  <a:tcPr>
                    <a:solidFill>
                      <a:srgbClr val="F2F2F2"/>
                    </a:solidFill>
                  </a:tcPr>
                </a:tc>
                <a:tc>
                  <a:txBody>
                    <a:bodyPr/>
                    <a:lstStyle/>
                    <a:p>
                      <a:r>
                        <a:rPr sz="1000" i="1" dirty="0">
                          <a:solidFill>
                            <a:srgbClr val="808080"/>
                          </a:solidFill>
                        </a:rPr>
                        <a:t>(keep as is)</a:t>
                      </a:r>
                    </a:p>
                  </a:txBody>
                  <a:tcPr>
                    <a:solidFill>
                      <a:srgbClr val="F2F2F2"/>
                    </a:solidFill>
                  </a:tcPr>
                </a:tc>
                <a:extLst>
                  <a:ext uri="{0D108BD9-81ED-4DB2-BD59-A6C34878D82A}">
                    <a16:rowId xmlns:a16="http://schemas.microsoft.com/office/drawing/2014/main" val="10004"/>
                  </a:ext>
                </a:extLst>
              </a:tr>
            </a:tbl>
          </a:graphicData>
        </a:graphic>
      </p:graphicFrame>
      <p:sp>
        <p:nvSpPr>
          <p:cNvPr id="6" name="TextBox 2">
            <a:extLst>
              <a:ext uri="{FF2B5EF4-FFF2-40B4-BE49-F238E27FC236}">
                <a16:creationId xmlns:a16="http://schemas.microsoft.com/office/drawing/2014/main" id="{1783297A-4A6B-A56E-17CA-AF551F9F88B6}"/>
              </a:ext>
            </a:extLst>
          </p:cNvPr>
          <p:cNvSpPr txBox="1"/>
          <p:nvPr/>
        </p:nvSpPr>
        <p:spPr>
          <a:xfrm>
            <a:off x="457200" y="5394960"/>
            <a:ext cx="11277295" cy="738664"/>
          </a:xfrm>
          <a:prstGeom prst="rect">
            <a:avLst/>
          </a:prstGeom>
          <a:noFill/>
        </p:spPr>
        <p:txBody>
          <a:bodyPr wrap="square" lIns="0" tIns="0" rIns="0" bIns="0">
            <a:spAutoFit/>
          </a:bodyPr>
          <a:lstStyle/>
          <a:p>
            <a:r>
              <a:rPr sz="1200" b="1" dirty="0"/>
              <a:t>Internal notes: </a:t>
            </a:r>
            <a:r>
              <a:rPr sz="1200" i="1" dirty="0"/>
              <a:t>For DOI related discussions </a:t>
            </a:r>
            <a:r>
              <a:rPr lang="de-DE" sz="1200" i="1" dirty="0" err="1"/>
              <a:t>see</a:t>
            </a:r>
            <a:r>
              <a:rPr lang="de-DE" sz="1200" i="1" dirty="0"/>
              <a:t> "DOIs" </a:t>
            </a:r>
            <a:r>
              <a:rPr lang="de-DE" sz="1200" i="1" dirty="0" err="1"/>
              <a:t>slide</a:t>
            </a:r>
            <a:r>
              <a:rPr sz="1200" i="1" dirty="0"/>
              <a:t>.</a:t>
            </a:r>
            <a:r>
              <a:rPr lang="de-DE" sz="1200" i="1" dirty="0"/>
              <a:t> </a:t>
            </a:r>
            <a:r>
              <a:rPr lang="de-DE" sz="1200" i="1" dirty="0" err="1"/>
              <a:t>Should</a:t>
            </a:r>
            <a:r>
              <a:rPr lang="de-DE" sz="1200" i="1" dirty="0"/>
              <a:t> </a:t>
            </a:r>
            <a:r>
              <a:rPr lang="de-DE" sz="1200" i="1" dirty="0" err="1"/>
              <a:t>we</a:t>
            </a:r>
            <a:r>
              <a:rPr lang="de-DE" sz="1200" i="1" dirty="0"/>
              <a:t> </a:t>
            </a:r>
            <a:r>
              <a:rPr lang="de-DE" sz="1200" i="1" dirty="0" err="1"/>
              <a:t>have</a:t>
            </a:r>
            <a:r>
              <a:rPr lang="de-DE" sz="1200" i="1" dirty="0"/>
              <a:t> the „</a:t>
            </a:r>
            <a:r>
              <a:rPr lang="en-US" sz="1200" dirty="0"/>
              <a:t>Information on cloud shadow detection should be available in the metadata [as a single DOI landing page.]</a:t>
            </a:r>
            <a:r>
              <a:rPr lang="de-DE" sz="1200" i="1" dirty="0"/>
              <a:t>“?</a:t>
            </a:r>
            <a:endParaRPr sz="1200" i="1" dirty="0"/>
          </a:p>
          <a:p>
            <a:endParaRPr sz="1200" i="1" dirty="0"/>
          </a:p>
          <a:p>
            <a:r>
              <a:rPr sz="1200" i="1" dirty="0"/>
              <a:t>ST keeps it as a goal-only requirement (limited suitability for non-reflectance methods) — likely a requirement that stays unique for the ST PFS.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per-pixel/incomplete-testing-* (AR, NLSR, SR, ST)</a:t>
            </a:r>
          </a:p>
        </p:txBody>
      </p:sp>
      <p:graphicFrame>
        <p:nvGraphicFramePr>
          <p:cNvPr id="3" name="Table 2"/>
          <p:cNvGraphicFramePr>
            <a:graphicFrameLocks noGrp="1"/>
          </p:cNvGraphicFramePr>
          <p:nvPr/>
        </p:nvGraphicFramePr>
        <p:xfrm>
          <a:off x="457200" y="1005840"/>
          <a:ext cx="11265408" cy="11430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Title</a:t>
                      </a:r>
                    </a:p>
                  </a:txBody>
                  <a:tcPr>
                    <a:solidFill>
                      <a:srgbClr val="000000"/>
                    </a:solidFill>
                  </a:tcPr>
                </a:tc>
                <a:tc>
                  <a:txBody>
                    <a:bodyPr/>
                    <a:lstStyle/>
                    <a:p>
                      <a:r>
                        <a:rPr sz="1100" b="1">
                          <a:solidFill>
                            <a:srgbClr val="FFFFFF"/>
                          </a:solidFill>
                        </a:rPr>
                        <a:t>Proposed Title</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txBody>
                  <a:tcPr>
                    <a:solidFill>
                      <a:srgbClr val="FFFFFF"/>
                    </a:solidFill>
                  </a:tcPr>
                </a:tc>
                <a:tc>
                  <a:txBody>
                    <a:bodyPr/>
                    <a:lstStyle/>
                    <a:p>
                      <a:r>
                        <a:rPr sz="1000"/>
                        <a:t>Per-pixel Assessment</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ST</a:t>
                      </a:r>
                    </a:p>
                    <a:p>
                      <a:r>
                        <a:rPr sz="1000" i="1">
                          <a:solidFill>
                            <a:srgbClr val="808080"/>
                          </a:solidFill>
                        </a:rPr>
                        <a:t>(baseline)</a:t>
                      </a:r>
                    </a:p>
                  </a:txBody>
                  <a:tcPr>
                    <a:solidFill>
                      <a:srgbClr val="F2F2F2"/>
                    </a:solidFill>
                  </a:tcPr>
                </a:tc>
                <a:tc>
                  <a:txBody>
                    <a:bodyPr/>
                    <a:lstStyle/>
                    <a:p>
                      <a:r>
                        <a:rPr sz="1000"/>
                        <a:t>Incomplete Testing</a:t>
                      </a:r>
                    </a:p>
                  </a:txBody>
                  <a:tcPr>
                    <a:solidFill>
                      <a:srgbClr val="F2F2F2"/>
                    </a:solidFill>
                  </a:tcPr>
                </a:tc>
                <a:tc>
                  <a:txBody>
                    <a:bodyPr/>
                    <a:lstStyle/>
                    <a:p>
                      <a:r>
                        <a:rPr sz="1000"/>
                        <a:t>Per-pixel Assessment</a:t>
                      </a:r>
                    </a:p>
                  </a:txBody>
                  <a:tcPr>
                    <a:solidFill>
                      <a:srgbClr val="F2F2F2"/>
                    </a:solidFill>
                  </a:tcPr>
                </a:tc>
                <a:extLst>
                  <a:ext uri="{0D108BD9-81ED-4DB2-BD59-A6C34878D82A}">
                    <a16:rowId xmlns:a16="http://schemas.microsoft.com/office/drawing/2014/main" val="10002"/>
                  </a:ext>
                </a:extLst>
              </a:tr>
              <a:tr h="0">
                <a:tc>
                  <a:txBody>
                    <a:bodyPr/>
                    <a:lstStyle/>
                    <a:p>
                      <a:r>
                        <a:rPr sz="1000" b="1"/>
                        <a:t>NLSR, SR</a:t>
                      </a:r>
                    </a:p>
                  </a:txBody>
                  <a:tcPr>
                    <a:solidFill>
                      <a:srgbClr val="FFFFFF"/>
                    </a:solidFill>
                  </a:tcPr>
                </a:tc>
                <a:tc>
                  <a:txBody>
                    <a:bodyPr/>
                    <a:lstStyle/>
                    <a:p>
                      <a:r>
                        <a:rPr sz="1000"/>
                        <a:t>Incomplete Testing</a:t>
                      </a:r>
                    </a:p>
                  </a:txBody>
                  <a:tcPr>
                    <a:solidFill>
                      <a:srgbClr val="FFFFFF"/>
                    </a:solidFill>
                  </a:tcPr>
                </a:tc>
                <a:tc>
                  <a:txBody>
                    <a:bodyPr/>
                    <a:lstStyle/>
                    <a:p>
                      <a:r>
                        <a:rPr sz="1000"/>
                        <a:t>Per-pixel Assessment</a:t>
                      </a:r>
                    </a:p>
                  </a:txBody>
                  <a:tcPr>
                    <a:solidFill>
                      <a:srgbClr val="FFFFFF"/>
                    </a:solidFill>
                  </a:tcPr>
                </a:tc>
                <a:extLst>
                  <a:ext uri="{0D108BD9-81ED-4DB2-BD59-A6C34878D82A}">
                    <a16:rowId xmlns:a16="http://schemas.microsoft.com/office/drawing/2014/main" val="10003"/>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121089075"/>
              </p:ext>
            </p:extLst>
          </p:nvPr>
        </p:nvGraphicFramePr>
        <p:xfrm>
          <a:off x="457200" y="2348484"/>
          <a:ext cx="11265408" cy="14478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dirty="0">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p>
                      <a:r>
                        <a:rPr sz="1000" i="1">
                          <a:solidFill>
                            <a:srgbClr val="808080"/>
                          </a:solidFill>
                        </a:rPr>
                        <a:t>(baseline)</a:t>
                      </a:r>
                    </a:p>
                  </a:txBody>
                  <a:tcPr>
                    <a:solidFill>
                      <a:srgbClr val="FFFFFF"/>
                    </a:solidFill>
                  </a:tcPr>
                </a:tc>
                <a:tc>
                  <a:txBody>
                    <a:bodyPr/>
                    <a:lstStyle/>
                    <a:p>
                      <a:r>
                        <a:rPr sz="1000" dirty="0"/>
                        <a:t>Identifies pixels for which the per-pixel tests (below) have not all been successfully completed.</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ST</a:t>
                      </a:r>
                    </a:p>
                  </a:txBody>
                  <a:tcPr>
                    <a:solidFill>
                      <a:srgbClr val="F2F2F2"/>
                    </a:solidFill>
                  </a:tcPr>
                </a:tc>
                <a:tc>
                  <a:txBody>
                    <a:bodyPr/>
                    <a:lstStyle/>
                    <a:p>
                      <a:r>
                        <a:rPr sz="1000"/>
                        <a:t>Identifies pixels for which the per-pixel tests (</a:t>
                      </a:r>
                      <a:r>
                        <a:rPr sz="1000" strike="sngStrike">
                          <a:solidFill>
                            <a:srgbClr val="B00000"/>
                          </a:solidFill>
                        </a:rPr>
                        <a:t>below</a:t>
                      </a:r>
                      <a:r>
                        <a:rPr sz="1000" b="1">
                          <a:solidFill>
                            <a:srgbClr val="2E7D32"/>
                          </a:solidFill>
                        </a:rPr>
                        <a:t>2.3, 2.4, 2.6</a:t>
                      </a:r>
                      <a:r>
                        <a:rPr sz="1000"/>
                        <a:t>) have not all been successfully completed.</a:t>
                      </a:r>
                    </a:p>
                  </a:txBody>
                  <a:tcPr>
                    <a:solidFill>
                      <a:srgbClr val="F2F2F2"/>
                    </a:solidFill>
                  </a:tcPr>
                </a:tc>
                <a:tc>
                  <a:txBody>
                    <a:bodyPr/>
                    <a:lstStyle/>
                    <a:p>
                      <a:r>
                        <a:rPr sz="1000" i="1">
                          <a:solidFill>
                            <a:srgbClr val="808080"/>
                          </a:solidFill>
                        </a:rPr>
                        <a:t>Replace the hard-coded test numbers with cross-references to the respective requirements</a:t>
                      </a:r>
                    </a:p>
                  </a:txBody>
                  <a:tcPr>
                    <a:solidFill>
                      <a:srgbClr val="F2F2F2"/>
                    </a:solidFill>
                  </a:tcPr>
                </a:tc>
                <a:extLst>
                  <a:ext uri="{0D108BD9-81ED-4DB2-BD59-A6C34878D82A}">
                    <a16:rowId xmlns:a16="http://schemas.microsoft.com/office/drawing/2014/main" val="10002"/>
                  </a:ext>
                </a:extLst>
              </a:tr>
              <a:tr h="0">
                <a:tc>
                  <a:txBody>
                    <a:bodyPr/>
                    <a:lstStyle/>
                    <a:p>
                      <a:r>
                        <a:rPr sz="1000" b="1"/>
                        <a:t>NLSR, SR</a:t>
                      </a:r>
                    </a:p>
                  </a:txBody>
                  <a:tcPr>
                    <a:solidFill>
                      <a:srgbClr val="FFFFFF"/>
                    </a:solidFill>
                  </a:tcPr>
                </a:tc>
                <a:tc>
                  <a:txBody>
                    <a:bodyPr/>
                    <a:lstStyle/>
                    <a:p>
                      <a:r>
                        <a:rPr sz="1000" strike="sngStrike">
                          <a:solidFill>
                            <a:srgbClr val="B00000"/>
                          </a:solidFill>
                        </a:rPr>
                        <a:t>I</a:t>
                      </a:r>
                      <a:r>
                        <a:rPr sz="1000" b="1">
                          <a:solidFill>
                            <a:srgbClr val="2E7D32"/>
                          </a:solidFill>
                        </a:rPr>
                        <a:t>The metadata i</a:t>
                      </a:r>
                      <a:r>
                        <a:rPr sz="1000"/>
                        <a:t>dentifies pixels for which the per-pixel tests (below) have not all been successfully completed.</a:t>
                      </a:r>
                    </a:p>
                  </a:txBody>
                  <a:tcPr>
                    <a:solidFill>
                      <a:srgbClr val="FFFFFF"/>
                    </a:solidFill>
                  </a:tcPr>
                </a:tc>
                <a:tc>
                  <a:txBody>
                    <a:bodyPr/>
                    <a:lstStyle/>
                    <a:p>
                      <a:r>
                        <a:rPr sz="1000" strike="sngStrike" dirty="0">
                          <a:solidFill>
                            <a:srgbClr val="B00000"/>
                          </a:solidFill>
                        </a:rPr>
                        <a:t>The metadata </a:t>
                      </a:r>
                      <a:r>
                        <a:rPr sz="1000" strike="sngStrike" dirty="0" err="1">
                          <a:solidFill>
                            <a:srgbClr val="B00000"/>
                          </a:solidFill>
                        </a:rPr>
                        <a:t>i</a:t>
                      </a:r>
                      <a:r>
                        <a:rPr sz="1000" b="1" dirty="0" err="1">
                          <a:solidFill>
                            <a:srgbClr val="2E7D32"/>
                          </a:solidFill>
                        </a:rPr>
                        <a:t>I</a:t>
                      </a:r>
                      <a:r>
                        <a:rPr sz="1000" dirty="0" err="1"/>
                        <a:t>dentifies</a:t>
                      </a:r>
                      <a:r>
                        <a:rPr sz="1000" dirty="0"/>
                        <a:t> pixels for which the per-pixel tests (below) have not all been successfully completed.</a:t>
                      </a:r>
                    </a:p>
                  </a:txBody>
                  <a:tcPr>
                    <a:solidFill>
                      <a:srgbClr val="FFFFFF"/>
                    </a:solidFill>
                  </a:tcPr>
                </a:tc>
                <a:extLst>
                  <a:ext uri="{0D108BD9-81ED-4DB2-BD59-A6C34878D82A}">
                    <a16:rowId xmlns:a16="http://schemas.microsoft.com/office/drawing/2014/main" val="10003"/>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138691799"/>
              </p:ext>
            </p:extLst>
          </p:nvPr>
        </p:nvGraphicFramePr>
        <p:xfrm>
          <a:off x="457200" y="3995928"/>
          <a:ext cx="11265408" cy="14478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dirty="0">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p>
                      <a:r>
                        <a:rPr sz="1000" i="1">
                          <a:solidFill>
                            <a:srgbClr val="808080"/>
                          </a:solidFill>
                        </a:rPr>
                        <a:t>(baseline)</a:t>
                      </a:r>
                    </a:p>
                  </a:txBody>
                  <a:tcPr>
                    <a:solidFill>
                      <a:srgbClr val="FFFFFF"/>
                    </a:solidFill>
                  </a:tcPr>
                </a:tc>
                <a:tc>
                  <a:txBody>
                    <a:bodyPr/>
                    <a:lstStyle/>
                    <a:p>
                      <a:r>
                        <a:rPr sz="1000"/>
                        <a:t>Identifies which tests have and have not been successfully completed for each pixel.</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ST</a:t>
                      </a:r>
                    </a:p>
                  </a:txBody>
                  <a:tcPr>
                    <a:solidFill>
                      <a:srgbClr val="F2F2F2"/>
                    </a:solidFill>
                  </a:tcPr>
                </a:tc>
                <a:tc>
                  <a:txBody>
                    <a:bodyPr/>
                    <a:lstStyle/>
                    <a:p>
                      <a:r>
                        <a:rPr sz="1000"/>
                        <a:t>Identifies which tests</a:t>
                      </a:r>
                      <a:r>
                        <a:rPr sz="1000" b="1">
                          <a:solidFill>
                            <a:srgbClr val="2E7D32"/>
                          </a:solidFill>
                        </a:rPr>
                        <a:t> (2.3, 2.4, 2.5, 2.6, 2.8)</a:t>
                      </a:r>
                      <a:r>
                        <a:rPr sz="1000"/>
                        <a:t> have and have not been successfully completed for each pixel.</a:t>
                      </a:r>
                    </a:p>
                  </a:txBody>
                  <a:tcPr>
                    <a:solidFill>
                      <a:srgbClr val="F2F2F2"/>
                    </a:solidFill>
                  </a:tcPr>
                </a:tc>
                <a:tc>
                  <a:txBody>
                    <a:bodyPr/>
                    <a:lstStyle/>
                    <a:p>
                      <a:r>
                        <a:rPr sz="1000" i="1">
                          <a:solidFill>
                            <a:srgbClr val="808080"/>
                          </a:solidFill>
                        </a:rPr>
                        <a:t>Replace the hard-coded test numbers with cross-references to the respective requirements</a:t>
                      </a:r>
                    </a:p>
                  </a:txBody>
                  <a:tcPr>
                    <a:solidFill>
                      <a:srgbClr val="F2F2F2"/>
                    </a:solidFill>
                  </a:tcPr>
                </a:tc>
                <a:extLst>
                  <a:ext uri="{0D108BD9-81ED-4DB2-BD59-A6C34878D82A}">
                    <a16:rowId xmlns:a16="http://schemas.microsoft.com/office/drawing/2014/main" val="10002"/>
                  </a:ext>
                </a:extLst>
              </a:tr>
              <a:tr h="0">
                <a:tc>
                  <a:txBody>
                    <a:bodyPr/>
                    <a:lstStyle/>
                    <a:p>
                      <a:r>
                        <a:rPr sz="1000" b="1"/>
                        <a:t>NLSR, SR</a:t>
                      </a:r>
                    </a:p>
                  </a:txBody>
                  <a:tcPr>
                    <a:solidFill>
                      <a:srgbClr val="FFFFFF"/>
                    </a:solidFill>
                  </a:tcPr>
                </a:tc>
                <a:tc>
                  <a:txBody>
                    <a:bodyPr/>
                    <a:lstStyle/>
                    <a:p>
                      <a:r>
                        <a:rPr sz="1000" strike="sngStrike">
                          <a:solidFill>
                            <a:srgbClr val="B00000"/>
                          </a:solidFill>
                        </a:rPr>
                        <a:t>I</a:t>
                      </a:r>
                      <a:r>
                        <a:rPr sz="1000" b="1">
                          <a:solidFill>
                            <a:srgbClr val="2E7D32"/>
                          </a:solidFill>
                        </a:rPr>
                        <a:t>The metadata i</a:t>
                      </a:r>
                      <a:r>
                        <a:rPr sz="1000"/>
                        <a:t>dentifies which tests have</a:t>
                      </a:r>
                      <a:r>
                        <a:rPr sz="1000" b="1">
                          <a:solidFill>
                            <a:srgbClr val="2E7D32"/>
                          </a:solidFill>
                        </a:rPr>
                        <a:t>,</a:t>
                      </a:r>
                      <a:r>
                        <a:rPr sz="1000"/>
                        <a:t> and have not</a:t>
                      </a:r>
                      <a:r>
                        <a:rPr sz="1000" b="1">
                          <a:solidFill>
                            <a:srgbClr val="2E7D32"/>
                          </a:solidFill>
                        </a:rPr>
                        <a:t>,</a:t>
                      </a:r>
                      <a:r>
                        <a:rPr sz="1000"/>
                        <a:t> been successfully completed for each pixel.</a:t>
                      </a:r>
                    </a:p>
                  </a:txBody>
                  <a:tcPr>
                    <a:solidFill>
                      <a:srgbClr val="FFFFFF"/>
                    </a:solidFill>
                  </a:tcPr>
                </a:tc>
                <a:tc>
                  <a:txBody>
                    <a:bodyPr/>
                    <a:lstStyle/>
                    <a:p>
                      <a:r>
                        <a:rPr sz="1000" strike="sngStrike" dirty="0">
                          <a:solidFill>
                            <a:srgbClr val="B00000"/>
                          </a:solidFill>
                        </a:rPr>
                        <a:t>The metadata </a:t>
                      </a:r>
                      <a:r>
                        <a:rPr sz="1000" strike="sngStrike" dirty="0" err="1">
                          <a:solidFill>
                            <a:srgbClr val="B00000"/>
                          </a:solidFill>
                        </a:rPr>
                        <a:t>i</a:t>
                      </a:r>
                      <a:r>
                        <a:rPr sz="1000" b="1" dirty="0" err="1">
                          <a:solidFill>
                            <a:srgbClr val="2E7D32"/>
                          </a:solidFill>
                        </a:rPr>
                        <a:t>I</a:t>
                      </a:r>
                      <a:r>
                        <a:rPr sz="1000" dirty="0" err="1"/>
                        <a:t>dentifies</a:t>
                      </a:r>
                      <a:r>
                        <a:rPr sz="1000" dirty="0"/>
                        <a:t> which tests have</a:t>
                      </a:r>
                      <a:r>
                        <a:rPr sz="1000" strike="sngStrike" dirty="0">
                          <a:solidFill>
                            <a:srgbClr val="B00000"/>
                          </a:solidFill>
                        </a:rPr>
                        <a:t>,</a:t>
                      </a:r>
                      <a:r>
                        <a:rPr sz="1000" dirty="0"/>
                        <a:t> and have not</a:t>
                      </a:r>
                      <a:r>
                        <a:rPr sz="1000" strike="sngStrike" dirty="0">
                          <a:solidFill>
                            <a:srgbClr val="B00000"/>
                          </a:solidFill>
                        </a:rPr>
                        <a:t>,</a:t>
                      </a:r>
                      <a:r>
                        <a:rPr sz="1000" dirty="0"/>
                        <a:t> been successfully completed for each pixel.</a:t>
                      </a:r>
                    </a:p>
                  </a:txBody>
                  <a:tcPr>
                    <a:solidFill>
                      <a:srgbClr val="FFFFFF"/>
                    </a:solidFill>
                  </a:tcPr>
                </a:tc>
                <a:extLst>
                  <a:ext uri="{0D108BD9-81ED-4DB2-BD59-A6C34878D82A}">
                    <a16:rowId xmlns:a16="http://schemas.microsoft.com/office/drawing/2014/main" val="10003"/>
                  </a:ext>
                </a:extLst>
              </a:tr>
            </a:tbl>
          </a:graphicData>
        </a:graphic>
      </p:graphicFrame>
      <p:sp>
        <p:nvSpPr>
          <p:cNvPr id="7" name="TextBox 2">
            <a:extLst>
              <a:ext uri="{FF2B5EF4-FFF2-40B4-BE49-F238E27FC236}">
                <a16:creationId xmlns:a16="http://schemas.microsoft.com/office/drawing/2014/main" id="{C0BC2F82-A0C9-AF79-6161-DD148B9F582E}"/>
              </a:ext>
            </a:extLst>
          </p:cNvPr>
          <p:cNvSpPr txBox="1"/>
          <p:nvPr/>
        </p:nvSpPr>
        <p:spPr>
          <a:xfrm>
            <a:off x="457200" y="5652516"/>
            <a:ext cx="11277295" cy="923330"/>
          </a:xfrm>
          <a:prstGeom prst="rect">
            <a:avLst/>
          </a:prstGeom>
          <a:noFill/>
        </p:spPr>
        <p:txBody>
          <a:bodyPr wrap="square" lIns="0" tIns="0" rIns="0" bIns="0">
            <a:spAutoFit/>
          </a:bodyPr>
          <a:lstStyle/>
          <a:p>
            <a:r>
              <a:rPr sz="1200" b="1" dirty="0"/>
              <a:t>Internal notes: </a:t>
            </a:r>
            <a:r>
              <a:rPr sz="1200" i="1" dirty="0"/>
              <a:t>ST added the explicit per-pixel test numbers deliberately (specifying them aids metadata machine readability and automated assessment), </a:t>
            </a:r>
            <a:r>
              <a:rPr sz="1200" i="1" dirty="0" err="1"/>
              <a:t>recognising</a:t>
            </a:r>
            <a:r>
              <a:rPr sz="1200" i="1" dirty="0"/>
              <a:t> that this diverges from the other PFS.</a:t>
            </a:r>
          </a:p>
          <a:p>
            <a:endParaRPr sz="1200" i="1" dirty="0"/>
          </a:p>
          <a:p>
            <a:r>
              <a:rPr lang="de-DE" sz="1200" i="1" dirty="0"/>
              <a:t>T</a:t>
            </a:r>
            <a:r>
              <a:rPr sz="1200" i="1" dirty="0"/>
              <a:t>he hard-coded test numbers (2.3, 2.4, …) in the descriptions do not work in the building blocks — the requirement numbering is generated per PFS — and need to be changed (e.g. to cross-references).</a:t>
            </a:r>
            <a:r>
              <a:rPr lang="de-DE" sz="1200" i="1" dirty="0"/>
              <a:t> </a:t>
            </a:r>
            <a:r>
              <a:rPr lang="de-DE" sz="1200" i="1" dirty="0" err="1"/>
              <a:t>We</a:t>
            </a:r>
            <a:r>
              <a:rPr lang="de-DE" sz="1200" i="1" dirty="0"/>
              <a:t> </a:t>
            </a:r>
            <a:r>
              <a:rPr lang="de-DE" sz="1200" i="1" dirty="0" err="1"/>
              <a:t>either</a:t>
            </a:r>
            <a:r>
              <a:rPr lang="de-DE" sz="1200" i="1" dirty="0"/>
              <a:t> </a:t>
            </a:r>
            <a:r>
              <a:rPr lang="de-DE" sz="1200" i="1" dirty="0" err="1"/>
              <a:t>need</a:t>
            </a:r>
            <a:r>
              <a:rPr lang="de-DE" sz="1200" i="1" dirty="0"/>
              <a:t> to </a:t>
            </a:r>
            <a:r>
              <a:rPr lang="de-DE" sz="1200" i="1" dirty="0" err="1"/>
              <a:t>override</a:t>
            </a:r>
            <a:r>
              <a:rPr lang="de-DE" sz="1200" i="1" dirty="0"/>
              <a:t> </a:t>
            </a:r>
            <a:r>
              <a:rPr lang="de-DE" sz="1200" i="1" dirty="0" err="1"/>
              <a:t>this</a:t>
            </a:r>
            <a:r>
              <a:rPr lang="de-DE" sz="1200" i="1" dirty="0"/>
              <a:t> </a:t>
            </a:r>
            <a:r>
              <a:rPr lang="de-DE" sz="1200" i="1" dirty="0" err="1"/>
              <a:t>list</a:t>
            </a:r>
            <a:r>
              <a:rPr lang="de-DE" sz="1200" i="1" dirty="0"/>
              <a:t> per PFS </a:t>
            </a:r>
            <a:r>
              <a:rPr lang="de-DE" sz="1200" i="1" dirty="0" err="1"/>
              <a:t>or</a:t>
            </a:r>
            <a:r>
              <a:rPr lang="de-DE" sz="1200" i="1" dirty="0"/>
              <a:t> not </a:t>
            </a:r>
            <a:r>
              <a:rPr lang="de-DE" sz="1200" i="1" dirty="0" err="1"/>
              <a:t>provide</a:t>
            </a:r>
            <a:r>
              <a:rPr lang="de-DE" sz="1200" i="1" dirty="0"/>
              <a:t> a </a:t>
            </a:r>
            <a:r>
              <a:rPr lang="de-DE" sz="1200" i="1" dirty="0" err="1"/>
              <a:t>list</a:t>
            </a:r>
            <a:r>
              <a:rPr lang="de-DE" sz="1200" i="1" dirty="0"/>
              <a:t>.</a:t>
            </a:r>
            <a:endParaRPr sz="1200" i="1"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per-pixel/land-water-* (AR, NLSR, SR)</a:t>
            </a:r>
          </a:p>
        </p:txBody>
      </p:sp>
      <p:graphicFrame>
        <p:nvGraphicFramePr>
          <p:cNvPr id="3" name="Table 2"/>
          <p:cNvGraphicFramePr>
            <a:graphicFrameLocks noGrp="1"/>
          </p:cNvGraphicFramePr>
          <p:nvPr/>
        </p:nvGraphicFramePr>
        <p:xfrm>
          <a:off x="457200" y="1005840"/>
          <a:ext cx="11265408" cy="11430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Title</a:t>
                      </a:r>
                    </a:p>
                  </a:txBody>
                  <a:tcPr>
                    <a:solidFill>
                      <a:srgbClr val="000000"/>
                    </a:solidFill>
                  </a:tcPr>
                </a:tc>
                <a:tc>
                  <a:txBody>
                    <a:bodyPr/>
                    <a:lstStyle/>
                    <a:p>
                      <a:r>
                        <a:rPr sz="1100" b="1">
                          <a:solidFill>
                            <a:srgbClr val="FFFFFF"/>
                          </a:solidFill>
                        </a:rPr>
                        <a:t>Proposed Title</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txBody>
                  <a:tcPr>
                    <a:solidFill>
                      <a:srgbClr val="FFFFFF"/>
                    </a:solidFill>
                  </a:tcPr>
                </a:tc>
                <a:tc>
                  <a:txBody>
                    <a:bodyPr/>
                    <a:lstStyle/>
                    <a:p>
                      <a:r>
                        <a:rPr sz="1000"/>
                        <a:t>Land</a:t>
                      </a:r>
                      <a:r>
                        <a:rPr sz="1000" strike="sngStrike">
                          <a:solidFill>
                            <a:srgbClr val="B00000"/>
                          </a:solidFill>
                        </a:rPr>
                        <a:t>/Water Mask</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NLSR</a:t>
                      </a:r>
                    </a:p>
                    <a:p>
                      <a:r>
                        <a:rPr sz="1000" i="1">
                          <a:solidFill>
                            <a:srgbClr val="808080"/>
                          </a:solidFill>
                        </a:rPr>
                        <a:t>(baseline)</a:t>
                      </a:r>
                    </a:p>
                  </a:txBody>
                  <a:tcPr>
                    <a:solidFill>
                      <a:srgbClr val="F2F2F2"/>
                    </a:solidFill>
                  </a:tcPr>
                </a:tc>
                <a:tc>
                  <a:txBody>
                    <a:bodyPr/>
                    <a:lstStyle/>
                    <a:p>
                      <a:r>
                        <a:rPr sz="1000"/>
                        <a:t>Land/Water Mask</a:t>
                      </a:r>
                    </a:p>
                  </a:txBody>
                  <a:tcPr>
                    <a:solidFill>
                      <a:srgbClr val="F2F2F2"/>
                    </a:solidFill>
                  </a:tcPr>
                </a:tc>
                <a:tc>
                  <a:txBody>
                    <a:bodyPr/>
                    <a:lstStyle/>
                    <a:p>
                      <a:r>
                        <a:rPr sz="1000" i="1">
                          <a:solidFill>
                            <a:srgbClr val="808080"/>
                          </a:solidFill>
                        </a:rPr>
                        <a:t>(keep as is)</a:t>
                      </a:r>
                    </a:p>
                  </a:txBody>
                  <a:tcPr>
                    <a:solidFill>
                      <a:srgbClr val="F2F2F2"/>
                    </a:solidFill>
                  </a:tcPr>
                </a:tc>
                <a:extLst>
                  <a:ext uri="{0D108BD9-81ED-4DB2-BD59-A6C34878D82A}">
                    <a16:rowId xmlns:a16="http://schemas.microsoft.com/office/drawing/2014/main" val="10002"/>
                  </a:ext>
                </a:extLst>
              </a:tr>
              <a:tr h="0">
                <a:tc>
                  <a:txBody>
                    <a:bodyPr/>
                    <a:lstStyle/>
                    <a:p>
                      <a:r>
                        <a:rPr sz="1000" b="1"/>
                        <a:t>SR</a:t>
                      </a:r>
                    </a:p>
                  </a:txBody>
                  <a:tcPr>
                    <a:solidFill>
                      <a:srgbClr val="FFFFFF"/>
                    </a:solidFill>
                  </a:tcPr>
                </a:tc>
                <a:tc>
                  <a:txBody>
                    <a:bodyPr/>
                    <a:lstStyle/>
                    <a:p>
                      <a:r>
                        <a:rPr sz="1000"/>
                        <a:t>Land/Water Mask</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3"/>
                  </a:ext>
                </a:extLst>
              </a:tr>
            </a:tbl>
          </a:graphicData>
        </a:graphic>
      </p:graphicFrame>
      <p:graphicFrame>
        <p:nvGraphicFramePr>
          <p:cNvPr id="4" name="Table 3"/>
          <p:cNvGraphicFramePr>
            <a:graphicFrameLocks noGrp="1"/>
          </p:cNvGraphicFramePr>
          <p:nvPr/>
        </p:nvGraphicFramePr>
        <p:xfrm>
          <a:off x="457200" y="2523744"/>
          <a:ext cx="11265408" cy="11430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p>
                      <a:r>
                        <a:rPr sz="1000" i="1">
                          <a:solidFill>
                            <a:srgbClr val="808080"/>
                          </a:solidFill>
                        </a:rPr>
                        <a:t>(baseline)</a:t>
                      </a:r>
                    </a:p>
                  </a:txBody>
                  <a:tcPr>
                    <a:solidFill>
                      <a:srgbClr val="FFFFFF"/>
                    </a:solidFill>
                  </a:tcPr>
                </a:tc>
                <a:tc>
                  <a:txBody>
                    <a:bodyPr/>
                    <a:lstStyle/>
                    <a:p>
                      <a:r>
                        <a:rPr sz="1000"/>
                        <a:t>Specification of whether a pixel is less than 100% water covered due to land.</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NLSR</a:t>
                      </a:r>
                    </a:p>
                  </a:txBody>
                  <a:tcPr>
                    <a:solidFill>
                      <a:srgbClr val="F2F2F2"/>
                    </a:solidFill>
                  </a:tcPr>
                </a:tc>
                <a:tc>
                  <a:txBody>
                    <a:bodyPr/>
                    <a:lstStyle/>
                    <a:p>
                      <a:r>
                        <a:rPr sz="1000"/>
                        <a:t>Metadata indicates</a:t>
                      </a:r>
                      <a:r>
                        <a:rPr sz="1000">
                          <a:solidFill>
                            <a:srgbClr val="1565C0"/>
                          </a:solidFill>
                        </a:rPr>
                        <a:t> whether a pixel is l</a:t>
                      </a:r>
                      <a:r>
                        <a:rPr sz="1000"/>
                        <a:t>and or water.</a:t>
                      </a:r>
                    </a:p>
                  </a:txBody>
                  <a:tcPr>
                    <a:solidFill>
                      <a:srgbClr val="F2F2F2"/>
                    </a:solidFill>
                  </a:tcPr>
                </a:tc>
                <a:tc>
                  <a:txBody>
                    <a:bodyPr/>
                    <a:lstStyle/>
                    <a:p>
                      <a:r>
                        <a:rPr sz="1000" strike="sngStrike" dirty="0">
                          <a:solidFill>
                            <a:srgbClr val="B00000"/>
                          </a:solidFill>
                        </a:rPr>
                        <a:t>Metadata </a:t>
                      </a:r>
                      <a:r>
                        <a:rPr sz="1000" strike="sngStrike" dirty="0" err="1">
                          <a:solidFill>
                            <a:srgbClr val="B00000"/>
                          </a:solidFill>
                        </a:rPr>
                        <a:t>indicates</a:t>
                      </a:r>
                      <a:r>
                        <a:rPr sz="1000" b="1" dirty="0" err="1">
                          <a:solidFill>
                            <a:srgbClr val="2E7D32"/>
                          </a:solidFill>
                        </a:rPr>
                        <a:t>Specification</a:t>
                      </a:r>
                      <a:r>
                        <a:rPr sz="1000" b="1" dirty="0">
                          <a:solidFill>
                            <a:srgbClr val="2E7D32"/>
                          </a:solidFill>
                        </a:rPr>
                        <a:t> of</a:t>
                      </a:r>
                      <a:r>
                        <a:rPr sz="1000" dirty="0"/>
                        <a:t> whether a pixel is land or water</a:t>
                      </a:r>
                      <a:r>
                        <a:rPr sz="1000" strike="sngStrike" dirty="0">
                          <a:solidFill>
                            <a:srgbClr val="B00000"/>
                          </a:solidFill>
                        </a:rPr>
                        <a:t>.</a:t>
                      </a:r>
                    </a:p>
                  </a:txBody>
                  <a:tcPr>
                    <a:solidFill>
                      <a:srgbClr val="F2F2F2"/>
                    </a:solidFill>
                  </a:tcPr>
                </a:tc>
                <a:extLst>
                  <a:ext uri="{0D108BD9-81ED-4DB2-BD59-A6C34878D82A}">
                    <a16:rowId xmlns:a16="http://schemas.microsoft.com/office/drawing/2014/main" val="10002"/>
                  </a:ext>
                </a:extLst>
              </a:tr>
              <a:tr h="0">
                <a:tc>
                  <a:txBody>
                    <a:bodyPr/>
                    <a:lstStyle/>
                    <a:p>
                      <a:r>
                        <a:rPr sz="1000" b="1"/>
                        <a:t>SR</a:t>
                      </a:r>
                    </a:p>
                  </a:txBody>
                  <a:tcPr>
                    <a:solidFill>
                      <a:srgbClr val="FFFFFF"/>
                    </a:solidFill>
                  </a:tcPr>
                </a:tc>
                <a:tc>
                  <a:txBody>
                    <a:bodyPr/>
                    <a:lstStyle/>
                    <a:p>
                      <a:r>
                        <a:rPr sz="1000"/>
                        <a:t>(not set)</a:t>
                      </a:r>
                    </a:p>
                  </a:txBody>
                  <a:tcPr>
                    <a:solidFill>
                      <a:srgbClr val="FFFFFF"/>
                    </a:solidFill>
                  </a:tcPr>
                </a:tc>
                <a:tc>
                  <a:txBody>
                    <a:bodyPr/>
                    <a:lstStyle/>
                    <a:p>
                      <a:r>
                        <a:rPr sz="1000" i="1" dirty="0">
                          <a:solidFill>
                            <a:srgbClr val="808080"/>
                          </a:solidFill>
                        </a:rPr>
                        <a:t>(keep as is)</a:t>
                      </a:r>
                    </a:p>
                  </a:txBody>
                  <a:tcPr>
                    <a:solidFill>
                      <a:srgbClr val="FFFFFF"/>
                    </a:solidFill>
                  </a:tcPr>
                </a:tc>
                <a:extLst>
                  <a:ext uri="{0D108BD9-81ED-4DB2-BD59-A6C34878D82A}">
                    <a16:rowId xmlns:a16="http://schemas.microsoft.com/office/drawing/2014/main" val="10003"/>
                  </a:ext>
                </a:extLst>
              </a:tr>
            </a:tbl>
          </a:graphicData>
        </a:graphic>
      </p:graphicFrame>
      <p:graphicFrame>
        <p:nvGraphicFramePr>
          <p:cNvPr id="5" name="Table 4"/>
          <p:cNvGraphicFramePr>
            <a:graphicFrameLocks noGrp="1"/>
          </p:cNvGraphicFramePr>
          <p:nvPr/>
        </p:nvGraphicFramePr>
        <p:xfrm>
          <a:off x="457200" y="4041648"/>
          <a:ext cx="11265408" cy="11430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Notes</a:t>
                      </a:r>
                    </a:p>
                  </a:txBody>
                  <a:tcPr>
                    <a:solidFill>
                      <a:srgbClr val="000000"/>
                    </a:solidFill>
                  </a:tcPr>
                </a:tc>
                <a:tc>
                  <a:txBody>
                    <a:bodyPr/>
                    <a:lstStyle/>
                    <a:p>
                      <a:r>
                        <a:rPr sz="1100" b="1">
                          <a:solidFill>
                            <a:srgbClr val="FFFFFF"/>
                          </a:solidFill>
                        </a:rPr>
                        <a:t>Proposed Threshold Notes</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p>
                      <a:r>
                        <a:rPr sz="1000" i="1">
                          <a:solidFill>
                            <a:srgbClr val="808080"/>
                          </a:solidFill>
                        </a:rPr>
                        <a:t>(baseline)</a:t>
                      </a:r>
                    </a:p>
                  </a:txBody>
                  <a:tcPr>
                    <a:solidFill>
                      <a:srgbClr val="FFFFFF"/>
                    </a:solidFill>
                  </a:tcPr>
                </a:tc>
                <a:tc>
                  <a:txBody>
                    <a:bodyPr/>
                    <a:lstStyle/>
                    <a:p>
                      <a:r>
                        <a:rPr sz="1000"/>
                        <a:t>See @jones2019, @mikelsons2021, and @pekel2016.</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NLSR</a:t>
                      </a:r>
                    </a:p>
                  </a:txBody>
                  <a:tcPr>
                    <a:solidFill>
                      <a:srgbClr val="F2F2F2"/>
                    </a:solidFill>
                  </a:tcPr>
                </a:tc>
                <a:tc>
                  <a:txBody>
                    <a:bodyPr/>
                    <a:lstStyle/>
                    <a:p>
                      <a:r>
                        <a:rPr sz="1000"/>
                        <a:t>(no notes)</a:t>
                      </a:r>
                    </a:p>
                  </a:txBody>
                  <a:tcPr>
                    <a:solidFill>
                      <a:srgbClr val="F2F2F2"/>
                    </a:solidFill>
                  </a:tcPr>
                </a:tc>
                <a:tc>
                  <a:txBody>
                    <a:bodyPr/>
                    <a:lstStyle/>
                    <a:p>
                      <a:r>
                        <a:rPr sz="1000" i="1">
                          <a:solidFill>
                            <a:srgbClr val="808080"/>
                          </a:solidFill>
                        </a:rPr>
                        <a:t>(keep as is)</a:t>
                      </a:r>
                    </a:p>
                  </a:txBody>
                  <a:tcPr>
                    <a:solidFill>
                      <a:srgbClr val="F2F2F2"/>
                    </a:solidFill>
                  </a:tcPr>
                </a:tc>
                <a:extLst>
                  <a:ext uri="{0D108BD9-81ED-4DB2-BD59-A6C34878D82A}">
                    <a16:rowId xmlns:a16="http://schemas.microsoft.com/office/drawing/2014/main" val="10002"/>
                  </a:ext>
                </a:extLst>
              </a:tr>
              <a:tr h="0">
                <a:tc>
                  <a:txBody>
                    <a:bodyPr/>
                    <a:lstStyle/>
                    <a:p>
                      <a:r>
                        <a:rPr sz="1000" b="1"/>
                        <a:t>SR</a:t>
                      </a:r>
                    </a:p>
                  </a:txBody>
                  <a:tcPr>
                    <a:solidFill>
                      <a:srgbClr val="FFFFFF"/>
                    </a:solidFill>
                  </a:tcPr>
                </a:tc>
                <a:tc>
                  <a:txBody>
                    <a:bodyPr/>
                    <a:lstStyle/>
                    <a:p>
                      <a:r>
                        <a:rPr sz="1000"/>
                        <a:t>(no notes)</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per-pixel/land-water-* (AR, NLSR, SR) (cont.)</a:t>
            </a:r>
          </a:p>
        </p:txBody>
      </p:sp>
      <p:graphicFrame>
        <p:nvGraphicFramePr>
          <p:cNvPr id="3" name="Table 2"/>
          <p:cNvGraphicFramePr>
            <a:graphicFrameLocks noGrp="1"/>
          </p:cNvGraphicFramePr>
          <p:nvPr>
            <p:extLst>
              <p:ext uri="{D42A27DB-BD31-4B8C-83A1-F6EECF244321}">
                <p14:modId xmlns:p14="http://schemas.microsoft.com/office/powerpoint/2010/main" val="159571398"/>
              </p:ext>
            </p:extLst>
          </p:nvPr>
        </p:nvGraphicFramePr>
        <p:xfrm>
          <a:off x="457200" y="1005840"/>
          <a:ext cx="11265408" cy="14478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dirty="0">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txBody>
                  <a:tcPr>
                    <a:solidFill>
                      <a:srgbClr val="FFFFFF"/>
                    </a:solidFill>
                  </a:tcPr>
                </a:tc>
                <a:tc>
                  <a:txBody>
                    <a:bodyPr/>
                    <a:lstStyle/>
                    <a:p>
                      <a:r>
                        <a:rPr sz="1000" dirty="0"/>
                        <a:t>(not set)</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0">
                <a:tc>
                  <a:txBody>
                    <a:bodyPr/>
                    <a:lstStyle/>
                    <a:p>
                      <a:r>
                        <a:rPr sz="1000" b="1"/>
                        <a:t>NLSR</a:t>
                      </a:r>
                    </a:p>
                    <a:p>
                      <a:r>
                        <a:rPr sz="1000" i="1">
                          <a:solidFill>
                            <a:srgbClr val="808080"/>
                          </a:solidFill>
                        </a:rPr>
                        <a:t>(baseline)</a:t>
                      </a:r>
                    </a:p>
                  </a:txBody>
                  <a:tcPr>
                    <a:solidFill>
                      <a:srgbClr val="F2F2F2"/>
                    </a:solidFill>
                  </a:tcPr>
                </a:tc>
                <a:tc>
                  <a:txBody>
                    <a:bodyPr/>
                    <a:lstStyle/>
                    <a:p>
                      <a:r>
                        <a:rPr sz="1000" dirty="0"/>
                        <a:t>As threshold, information on land/water mask should be available in the metadata as a single DOI landing page.</a:t>
                      </a:r>
                    </a:p>
                  </a:txBody>
                  <a:tcPr>
                    <a:solidFill>
                      <a:srgbClr val="F2F2F2"/>
                    </a:solidFill>
                  </a:tcPr>
                </a:tc>
                <a:tc>
                  <a:txBody>
                    <a:bodyPr/>
                    <a:lstStyle/>
                    <a:p>
                      <a:r>
                        <a:rPr sz="1000"/>
                        <a:t>As threshold</a:t>
                      </a:r>
                      <a:r>
                        <a:rPr sz="1000" strike="sngStrike">
                          <a:solidFill>
                            <a:srgbClr val="B00000"/>
                          </a:solidFill>
                        </a:rPr>
                        <a:t>, information on land/water mask should be available in the metadata as a single DOI landing page.</a:t>
                      </a:r>
                    </a:p>
                  </a:txBody>
                  <a:tcPr>
                    <a:solidFill>
                      <a:srgbClr val="F2F2F2"/>
                    </a:solidFill>
                  </a:tcPr>
                </a:tc>
                <a:extLst>
                  <a:ext uri="{0D108BD9-81ED-4DB2-BD59-A6C34878D82A}">
                    <a16:rowId xmlns:a16="http://schemas.microsoft.com/office/drawing/2014/main" val="10002"/>
                  </a:ext>
                </a:extLst>
              </a:tr>
              <a:tr h="0">
                <a:tc>
                  <a:txBody>
                    <a:bodyPr/>
                    <a:lstStyle/>
                    <a:p>
                      <a:r>
                        <a:rPr sz="1000" b="1"/>
                        <a:t>SR</a:t>
                      </a:r>
                    </a:p>
                  </a:txBody>
                  <a:tcPr>
                    <a:solidFill>
                      <a:srgbClr val="FFFFFF"/>
                    </a:solidFill>
                  </a:tcPr>
                </a:tc>
                <a:tc>
                  <a:txBody>
                    <a:bodyPr/>
                    <a:lstStyle/>
                    <a:p>
                      <a:r>
                        <a:rPr sz="1000" strike="sngStrike" dirty="0">
                          <a:solidFill>
                            <a:srgbClr val="B00000"/>
                          </a:solidFill>
                        </a:rPr>
                        <a:t>As threshold, </a:t>
                      </a:r>
                      <a:r>
                        <a:rPr sz="1000" strike="sngStrike" dirty="0" err="1">
                          <a:solidFill>
                            <a:srgbClr val="B00000"/>
                          </a:solidFill>
                        </a:rPr>
                        <a:t>i</a:t>
                      </a:r>
                      <a:r>
                        <a:rPr sz="1000" b="1" dirty="0" err="1">
                          <a:solidFill>
                            <a:srgbClr val="2E7D32"/>
                          </a:solidFill>
                        </a:rPr>
                        <a:t>The</a:t>
                      </a:r>
                      <a:r>
                        <a:rPr sz="1000" b="1" dirty="0">
                          <a:solidFill>
                            <a:srgbClr val="2E7D32"/>
                          </a:solidFill>
                        </a:rPr>
                        <a:t> metadata indicates whether a pixel is assessed as being land or water. I</a:t>
                      </a:r>
                      <a:r>
                        <a:rPr sz="1000" dirty="0"/>
                        <a:t>nformation on land/water mask should be available in the metadata as a single DOI landing page.</a:t>
                      </a:r>
                    </a:p>
                  </a:txBody>
                  <a:tcPr>
                    <a:solidFill>
                      <a:srgbClr val="FFFFFF"/>
                    </a:solidFill>
                  </a:tcPr>
                </a:tc>
                <a:tc>
                  <a:txBody>
                    <a:bodyPr/>
                    <a:lstStyle/>
                    <a:p>
                      <a:r>
                        <a:rPr sz="1000" strike="sngStrike">
                          <a:solidFill>
                            <a:srgbClr val="B00000"/>
                          </a:solidFill>
                        </a:rPr>
                        <a:t>The metadata indicates</a:t>
                      </a:r>
                      <a:r>
                        <a:rPr sz="1000" b="1">
                          <a:solidFill>
                            <a:srgbClr val="2E7D32"/>
                          </a:solidFill>
                        </a:rPr>
                        <a:t>Specification of</a:t>
                      </a:r>
                      <a:r>
                        <a:rPr sz="1000"/>
                        <a:t> whether a pixel is </a:t>
                      </a:r>
                      <a:r>
                        <a:rPr sz="1000" strike="sngStrike">
                          <a:solidFill>
                            <a:srgbClr val="B00000"/>
                          </a:solidFill>
                        </a:rPr>
                        <a:t>assessed as being </a:t>
                      </a:r>
                      <a:r>
                        <a:rPr sz="1000"/>
                        <a:t>land or water</a:t>
                      </a:r>
                      <a:r>
                        <a:rPr sz="1000" strike="sngStrike">
                          <a:solidFill>
                            <a:srgbClr val="B00000"/>
                          </a:solidFill>
                        </a:rPr>
                        <a:t>. Information on land/water mask should be available in the metadata as a single DOI landing page.</a:t>
                      </a:r>
                    </a:p>
                  </a:txBody>
                  <a:tcPr>
                    <a:solidFill>
                      <a:srgbClr val="FFFFFF"/>
                    </a:solidFill>
                  </a:tcPr>
                </a:tc>
                <a:extLst>
                  <a:ext uri="{0D108BD9-81ED-4DB2-BD59-A6C34878D82A}">
                    <a16:rowId xmlns:a16="http://schemas.microsoft.com/office/drawing/2014/main" val="10003"/>
                  </a:ext>
                </a:extLst>
              </a:tr>
            </a:tbl>
          </a:graphicData>
        </a:graphic>
      </p:graphicFrame>
      <p:sp>
        <p:nvSpPr>
          <p:cNvPr id="4" name="TextBox 3"/>
          <p:cNvSpPr txBox="1"/>
          <p:nvPr/>
        </p:nvSpPr>
        <p:spPr>
          <a:xfrm>
            <a:off x="457200" y="3163275"/>
            <a:ext cx="11277295" cy="1107996"/>
          </a:xfrm>
          <a:prstGeom prst="rect">
            <a:avLst/>
          </a:prstGeom>
          <a:noFill/>
        </p:spPr>
        <p:txBody>
          <a:bodyPr wrap="square" lIns="0" tIns="0" rIns="0" bIns="0">
            <a:spAutoFit/>
          </a:bodyPr>
          <a:lstStyle/>
          <a:p>
            <a:r>
              <a:rPr sz="1200" b="1" dirty="0"/>
              <a:t>Internal notes: </a:t>
            </a:r>
            <a:r>
              <a:rPr sz="1200" i="1" dirty="0"/>
              <a:t>For DOI related discussions </a:t>
            </a:r>
            <a:r>
              <a:rPr lang="de-DE" sz="1200" i="1" dirty="0" err="1"/>
              <a:t>see</a:t>
            </a:r>
            <a:r>
              <a:rPr lang="de-DE" sz="1200" i="1" dirty="0"/>
              <a:t> "DOIs" </a:t>
            </a:r>
            <a:r>
              <a:rPr lang="de-DE" sz="1200" i="1" dirty="0" err="1"/>
              <a:t>slide</a:t>
            </a:r>
            <a:r>
              <a:rPr sz="1200" i="1" dirty="0"/>
              <a:t>.</a:t>
            </a:r>
          </a:p>
          <a:p>
            <a:endParaRPr sz="1200" i="1" dirty="0"/>
          </a:p>
          <a:p>
            <a:r>
              <a:rPr sz="1200" i="1" dirty="0"/>
              <a:t>ST replaced its Snow/Ice requirement with a combined "Surface" requirement (threshold: land or water, including the information source and other relevant surface characteristic classification; goal: as threshold, plus snow or ice; external data sources listed under Auxiliary Data) — could be considered for the other optical PFS.</a:t>
            </a:r>
            <a:br>
              <a:rPr lang="de-DE" sz="1200" i="1" dirty="0"/>
            </a:br>
            <a:br>
              <a:rPr lang="de-DE" sz="1200" i="1" dirty="0"/>
            </a:br>
            <a:r>
              <a:rPr lang="de-DE" sz="1200" i="1" dirty="0"/>
              <a:t>AR </a:t>
            </a:r>
            <a:r>
              <a:rPr lang="de-DE" sz="1200" i="1" dirty="0" err="1"/>
              <a:t>is</a:t>
            </a:r>
            <a:r>
              <a:rPr lang="de-DE" sz="1200" i="1" dirty="0"/>
              <a:t> still different, </a:t>
            </a:r>
            <a:r>
              <a:rPr lang="de-DE" sz="1200" i="1" dirty="0" err="1"/>
              <a:t>can</a:t>
            </a:r>
            <a:r>
              <a:rPr lang="de-DE" sz="1200" i="1" dirty="0"/>
              <a:t> </a:t>
            </a:r>
            <a:r>
              <a:rPr lang="de-DE" sz="1200" i="1" dirty="0" err="1"/>
              <a:t>we</a:t>
            </a:r>
            <a:r>
              <a:rPr lang="de-DE" sz="1200" i="1" dirty="0"/>
              <a:t> </a:t>
            </a:r>
            <a:r>
              <a:rPr lang="de-DE" sz="1200" i="1" dirty="0" err="1"/>
              <a:t>align</a:t>
            </a:r>
            <a:r>
              <a:rPr lang="de-DE" sz="1200" i="1" dirty="0"/>
              <a:t>?</a:t>
            </a:r>
            <a:endParaRPr sz="1200" i="1"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No Data (AR, NLSR, SR, ST)</a:t>
            </a:r>
          </a:p>
        </p:txBody>
      </p:sp>
      <p:graphicFrame>
        <p:nvGraphicFramePr>
          <p:cNvPr id="3" name="Table 2"/>
          <p:cNvGraphicFramePr>
            <a:graphicFrameLocks noGrp="1"/>
          </p:cNvGraphicFramePr>
          <p:nvPr>
            <p:extLst>
              <p:ext uri="{D42A27DB-BD31-4B8C-83A1-F6EECF244321}">
                <p14:modId xmlns:p14="http://schemas.microsoft.com/office/powerpoint/2010/main" val="2538328221"/>
              </p:ext>
            </p:extLst>
          </p:nvPr>
        </p:nvGraphicFramePr>
        <p:xfrm>
          <a:off x="457200" y="1005840"/>
          <a:ext cx="11265408" cy="14478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0">
                <a:tc>
                  <a:txBody>
                    <a:bodyPr/>
                    <a:lstStyle/>
                    <a:p>
                      <a:r>
                        <a:rPr sz="1000" b="1"/>
                        <a:t>AR</a:t>
                      </a:r>
                    </a:p>
                    <a:p>
                      <a:r>
                        <a:rPr sz="1000" i="1">
                          <a:solidFill>
                            <a:srgbClr val="808080"/>
                          </a:solidFill>
                        </a:rPr>
                        <a:t>(baseline)</a:t>
                      </a:r>
                    </a:p>
                  </a:txBody>
                  <a:tcPr>
                    <a:solidFill>
                      <a:srgbClr val="FFFFFF"/>
                    </a:solidFill>
                  </a:tcPr>
                </a:tc>
                <a:tc>
                  <a:txBody>
                    <a:bodyPr/>
                    <a:lstStyle/>
                    <a:p>
                      <a:r>
                        <a:rPr sz="1000"/>
                        <a:t>Pixels that do not correspond to an observation (e.g., empty pixels / invalid observations / below noise floor) are masked.</a:t>
                      </a:r>
                    </a:p>
                  </a:txBody>
                  <a:tcPr>
                    <a:solidFill>
                      <a:srgbClr val="FFFFFF"/>
                    </a:solidFill>
                  </a:tcPr>
                </a:tc>
                <a:tc>
                  <a:txBody>
                    <a:bodyPr/>
                    <a:lstStyle/>
                    <a:p>
                      <a:r>
                        <a:rPr sz="1000" dirty="0">
                          <a:solidFill>
                            <a:schemeClr val="tx1"/>
                          </a:solidFill>
                        </a:rPr>
                        <a:t>Pixels that do not correspond to an observation (‘No Data / Invalid / Falsified / Valid / Modelled’) are flagged.</a:t>
                      </a:r>
                    </a:p>
                  </a:txBody>
                  <a:tcPr>
                    <a:solidFill>
                      <a:srgbClr val="FFFFFF"/>
                    </a:solidFill>
                  </a:tcPr>
                </a:tc>
                <a:extLst>
                  <a:ext uri="{0D108BD9-81ED-4DB2-BD59-A6C34878D82A}">
                    <a16:rowId xmlns:a16="http://schemas.microsoft.com/office/drawing/2014/main" val="10001"/>
                  </a:ext>
                </a:extLst>
              </a:tr>
              <a:tr h="0">
                <a:tc>
                  <a:txBody>
                    <a:bodyPr/>
                    <a:lstStyle/>
                    <a:p>
                      <a:r>
                        <a:rPr sz="1000" b="1"/>
                        <a:t>ST</a:t>
                      </a:r>
                    </a:p>
                  </a:txBody>
                  <a:tcPr>
                    <a:solidFill>
                      <a:srgbClr val="F2F2F2"/>
                    </a:solidFill>
                  </a:tcPr>
                </a:tc>
                <a:tc>
                  <a:txBody>
                    <a:bodyPr/>
                    <a:lstStyle/>
                    <a:p>
                      <a:r>
                        <a:rPr sz="1000">
                          <a:solidFill>
                            <a:srgbClr val="1565C0"/>
                          </a:solidFill>
                        </a:rPr>
                        <a:t>Pixels that do not correspond to an observation (</a:t>
                      </a:r>
                      <a:r>
                        <a:rPr sz="1000"/>
                        <a:t>‘No Data / Invalid / Falsified / Valid / Modelled’) are flagged.</a:t>
                      </a:r>
                    </a:p>
                  </a:txBody>
                  <a:tcPr>
                    <a:solidFill>
                      <a:srgbClr val="F2F2F2"/>
                    </a:solidFill>
                  </a:tcPr>
                </a:tc>
                <a:tc>
                  <a:txBody>
                    <a:bodyPr/>
                    <a:lstStyle/>
                    <a:p>
                      <a:r>
                        <a:rPr sz="1000" i="1" dirty="0">
                          <a:solidFill>
                            <a:srgbClr val="808080"/>
                          </a:solidFill>
                        </a:rPr>
                        <a:t>(keep as is)</a:t>
                      </a:r>
                    </a:p>
                  </a:txBody>
                  <a:tcPr>
                    <a:solidFill>
                      <a:srgbClr val="F2F2F2"/>
                    </a:solidFill>
                  </a:tcPr>
                </a:tc>
                <a:extLst>
                  <a:ext uri="{0D108BD9-81ED-4DB2-BD59-A6C34878D82A}">
                    <a16:rowId xmlns:a16="http://schemas.microsoft.com/office/drawing/2014/main" val="10002"/>
                  </a:ext>
                </a:extLst>
              </a:tr>
              <a:tr h="0">
                <a:tc>
                  <a:txBody>
                    <a:bodyPr/>
                    <a:lstStyle/>
                    <a:p>
                      <a:r>
                        <a:rPr sz="1000" b="1"/>
                        <a:t>NLSR, SR</a:t>
                      </a:r>
                    </a:p>
                  </a:txBody>
                  <a:tcPr>
                    <a:solidFill>
                      <a:srgbClr val="FFFFFF"/>
                    </a:solidFill>
                  </a:tcPr>
                </a:tc>
                <a:tc>
                  <a:txBody>
                    <a:bodyPr/>
                    <a:lstStyle/>
                    <a:p>
                      <a:r>
                        <a:rPr sz="1000"/>
                        <a:t>Pixels that do not correspond to an observation (</a:t>
                      </a:r>
                      <a:r>
                        <a:rPr sz="1000" strike="sngStrike">
                          <a:solidFill>
                            <a:srgbClr val="B00000"/>
                          </a:solidFill>
                        </a:rPr>
                        <a:t>e.g., </a:t>
                      </a:r>
                      <a:r>
                        <a:rPr sz="1000" b="1">
                          <a:solidFill>
                            <a:srgbClr val="2E7D32"/>
                          </a:solidFill>
                        </a:rPr>
                        <a:t>‘</a:t>
                      </a:r>
                      <a:r>
                        <a:rPr sz="1000"/>
                        <a:t>empty pixels</a:t>
                      </a:r>
                      <a:r>
                        <a:rPr sz="1000" strike="sngStrike">
                          <a:solidFill>
                            <a:srgbClr val="B00000"/>
                          </a:solidFill>
                        </a:rPr>
                        <a:t> / invalid observations / below noise floor) are mask</a:t>
                      </a:r>
                      <a:r>
                        <a:rPr sz="1000" b="1">
                          <a:solidFill>
                            <a:srgbClr val="2E7D32"/>
                          </a:solidFill>
                        </a:rPr>
                        <a:t>’) are flagg</a:t>
                      </a:r>
                      <a:r>
                        <a:rPr sz="1000"/>
                        <a:t>ed.</a:t>
                      </a:r>
                    </a:p>
                  </a:txBody>
                  <a:tcPr>
                    <a:solidFill>
                      <a:srgbClr val="FFFFFF"/>
                    </a:solidFill>
                  </a:tcPr>
                </a:tc>
                <a:tc>
                  <a:txBody>
                    <a:bodyPr/>
                    <a:lstStyle/>
                    <a:p>
                      <a:r>
                        <a:rPr sz="1000" dirty="0"/>
                        <a:t>Pixels that do not correspond to an observation (‘</a:t>
                      </a:r>
                      <a:r>
                        <a:rPr sz="1000" strike="sngStrike" dirty="0">
                          <a:solidFill>
                            <a:srgbClr val="B00000"/>
                          </a:solidFill>
                        </a:rPr>
                        <a:t>empty </a:t>
                      </a:r>
                      <a:r>
                        <a:rPr sz="1000" strike="sngStrike" dirty="0" err="1">
                          <a:solidFill>
                            <a:srgbClr val="B00000"/>
                          </a:solidFill>
                        </a:rPr>
                        <a:t>pixels</a:t>
                      </a:r>
                      <a:r>
                        <a:rPr sz="1000" b="1" dirty="0" err="1">
                          <a:solidFill>
                            <a:srgbClr val="2E7D32"/>
                          </a:solidFill>
                        </a:rPr>
                        <a:t>No</a:t>
                      </a:r>
                      <a:r>
                        <a:rPr sz="1000" b="1" dirty="0">
                          <a:solidFill>
                            <a:srgbClr val="2E7D32"/>
                          </a:solidFill>
                        </a:rPr>
                        <a:t> Data / Invalid / Falsified / Valid / Modelled</a:t>
                      </a:r>
                      <a:r>
                        <a:rPr sz="1000" dirty="0"/>
                        <a:t>’) are flagged.</a:t>
                      </a:r>
                    </a:p>
                  </a:txBody>
                  <a:tcPr>
                    <a:solidFill>
                      <a:srgbClr val="FFFFFF"/>
                    </a:solidFill>
                  </a:tcPr>
                </a:tc>
                <a:extLst>
                  <a:ext uri="{0D108BD9-81ED-4DB2-BD59-A6C34878D82A}">
                    <a16:rowId xmlns:a16="http://schemas.microsoft.com/office/drawing/2014/main" val="10003"/>
                  </a:ext>
                </a:extLst>
              </a:tr>
            </a:tbl>
          </a:graphicData>
        </a:graphic>
      </p:graphicFrame>
      <p:sp>
        <p:nvSpPr>
          <p:cNvPr id="4" name="TextBox 3"/>
          <p:cNvSpPr txBox="1"/>
          <p:nvPr/>
        </p:nvSpPr>
        <p:spPr>
          <a:xfrm>
            <a:off x="457200" y="2724912"/>
            <a:ext cx="11277295" cy="566928"/>
          </a:xfrm>
          <a:prstGeom prst="rect">
            <a:avLst/>
          </a:prstGeom>
          <a:noFill/>
        </p:spPr>
        <p:txBody>
          <a:bodyPr wrap="square" lIns="0" tIns="0" rIns="0" bIns="0">
            <a:spAutoFit/>
          </a:bodyPr>
          <a:lstStyle/>
          <a:p>
            <a:r>
              <a:rPr sz="1200" b="1" dirty="0"/>
              <a:t>Internal notes: </a:t>
            </a:r>
            <a:r>
              <a:rPr sz="1200" i="1" dirty="0"/>
              <a:t>ST proposes all other optical PFS adopt the five-class flag wording, addressing Peter's comment in issue #4.</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Saturation (AR, NLSR, SR, ST)</a:t>
            </a:r>
          </a:p>
        </p:txBody>
      </p:sp>
      <p:graphicFrame>
        <p:nvGraphicFramePr>
          <p:cNvPr id="3" name="Table 2"/>
          <p:cNvGraphicFramePr>
            <a:graphicFrameLocks noGrp="1"/>
          </p:cNvGraphicFramePr>
          <p:nvPr>
            <p:extLst>
              <p:ext uri="{D42A27DB-BD31-4B8C-83A1-F6EECF244321}">
                <p14:modId xmlns:p14="http://schemas.microsoft.com/office/powerpoint/2010/main" val="1253893323"/>
              </p:ext>
            </p:extLst>
          </p:nvPr>
        </p:nvGraphicFramePr>
        <p:xfrm>
          <a:off x="457200" y="1005840"/>
          <a:ext cx="11265408" cy="10515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121920">
                <a:tc>
                  <a:txBody>
                    <a:bodyPr/>
                    <a:lstStyle/>
                    <a:p>
                      <a:r>
                        <a:rPr sz="1000" b="1"/>
                        <a:t>AR, ST</a:t>
                      </a:r>
                    </a:p>
                    <a:p>
                      <a:r>
                        <a:rPr sz="1000" i="1">
                          <a:solidFill>
                            <a:srgbClr val="808080"/>
                          </a:solidFill>
                        </a:rPr>
                        <a:t>(baseline)</a:t>
                      </a:r>
                    </a:p>
                  </a:txBody>
                  <a:tcPr>
                    <a:solidFill>
                      <a:srgbClr val="FFFFFF"/>
                    </a:solidFill>
                  </a:tcPr>
                </a:tc>
                <a:tc>
                  <a:txBody>
                    <a:bodyPr/>
                    <a:lstStyle/>
                    <a:p>
                      <a:r>
                        <a:rPr sz="1000" dirty="0"/>
                        <a:t>Specification of whether there is pixel radiometric saturation at Level 1 in one or more spectral bands.</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121920">
                <a:tc>
                  <a:txBody>
                    <a:bodyPr/>
                    <a:lstStyle/>
                    <a:p>
                      <a:r>
                        <a:rPr sz="1000" b="1"/>
                        <a:t>NLSR, SR</a:t>
                      </a:r>
                    </a:p>
                  </a:txBody>
                  <a:tcPr>
                    <a:solidFill>
                      <a:srgbClr val="F2F2F2"/>
                    </a:solidFill>
                  </a:tcPr>
                </a:tc>
                <a:tc>
                  <a:txBody>
                    <a:bodyPr/>
                    <a:lstStyle/>
                    <a:p>
                      <a:r>
                        <a:rPr sz="1000" dirty="0"/>
                        <a:t>Metadata indicates where</a:t>
                      </a:r>
                      <a:r>
                        <a:rPr sz="1000" dirty="0">
                          <a:solidFill>
                            <a:srgbClr val="1565C0"/>
                          </a:solidFill>
                        </a:rPr>
                        <a:t> one or more</a:t>
                      </a:r>
                      <a:r>
                        <a:rPr sz="1000" dirty="0"/>
                        <a:t> pixel in the input</a:t>
                      </a:r>
                      <a:r>
                        <a:rPr sz="1000" dirty="0">
                          <a:solidFill>
                            <a:srgbClr val="1565C0"/>
                          </a:solidFill>
                        </a:rPr>
                        <a:t> spectral bands</a:t>
                      </a:r>
                      <a:r>
                        <a:rPr sz="1000" dirty="0"/>
                        <a:t> are saturated.</a:t>
                      </a:r>
                    </a:p>
                  </a:txBody>
                  <a:tcPr>
                    <a:solidFill>
                      <a:srgbClr val="F2F2F2"/>
                    </a:solidFill>
                  </a:tcPr>
                </a:tc>
                <a:tc>
                  <a:txBody>
                    <a:bodyPr/>
                    <a:lstStyle/>
                    <a:p>
                      <a:r>
                        <a:rPr sz="1000" dirty="0">
                          <a:solidFill>
                            <a:schemeClr val="tx1"/>
                          </a:solidFill>
                        </a:rPr>
                        <a:t>Specification of whether there is pixel radiometric saturation at Level 1 in one or more spectral bands.</a:t>
                      </a:r>
                    </a:p>
                  </a:txBody>
                  <a:tcPr>
                    <a:solidFill>
                      <a:srgbClr val="F2F2F2"/>
                    </a:solidFill>
                  </a:tcPr>
                </a:tc>
                <a:extLst>
                  <a:ext uri="{0D108BD9-81ED-4DB2-BD59-A6C34878D82A}">
                    <a16:rowId xmlns:a16="http://schemas.microsoft.com/office/drawing/2014/main" val="10002"/>
                  </a:ext>
                </a:extLst>
              </a:tr>
            </a:tbl>
          </a:graphicData>
        </a:graphic>
      </p:graphicFrame>
      <p:graphicFrame>
        <p:nvGraphicFramePr>
          <p:cNvPr id="4" name="Table 3"/>
          <p:cNvGraphicFramePr>
            <a:graphicFrameLocks noGrp="1"/>
          </p:cNvGraphicFramePr>
          <p:nvPr/>
        </p:nvGraphicFramePr>
        <p:xfrm>
          <a:off x="457200" y="2414016"/>
          <a:ext cx="11265408" cy="10515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121920">
                <a:tc>
                  <a:txBody>
                    <a:bodyPr/>
                    <a:lstStyle/>
                    <a:p>
                      <a:r>
                        <a:rPr sz="1000" b="1"/>
                        <a:t>AR, ST</a:t>
                      </a:r>
                    </a:p>
                    <a:p>
                      <a:r>
                        <a:rPr sz="1000" i="1">
                          <a:solidFill>
                            <a:srgbClr val="808080"/>
                          </a:solidFill>
                        </a:rPr>
                        <a:t>(baseline)</a:t>
                      </a:r>
                    </a:p>
                  </a:txBody>
                  <a:tcPr>
                    <a:solidFill>
                      <a:srgbClr val="FFFFFF"/>
                    </a:solidFill>
                  </a:tcPr>
                </a:tc>
                <a:tc>
                  <a:txBody>
                    <a:bodyPr/>
                    <a:lstStyle/>
                    <a:p>
                      <a:r>
                        <a:rPr sz="1000"/>
                        <a:t>As threshold, with specification of which pixels are radiometrically saturated for each spectral band.</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121920">
                <a:tc>
                  <a:txBody>
                    <a:bodyPr/>
                    <a:lstStyle/>
                    <a:p>
                      <a:r>
                        <a:rPr sz="1000" b="1"/>
                        <a:t>NLSR, SR</a:t>
                      </a:r>
                    </a:p>
                  </a:txBody>
                  <a:tcPr>
                    <a:solidFill>
                      <a:srgbClr val="F2F2F2"/>
                    </a:solidFill>
                  </a:tcPr>
                </a:tc>
                <a:tc>
                  <a:txBody>
                    <a:bodyPr/>
                    <a:lstStyle/>
                    <a:p>
                      <a:r>
                        <a:rPr sz="1000" strike="sngStrike">
                          <a:solidFill>
                            <a:srgbClr val="B00000"/>
                          </a:solidFill>
                        </a:rPr>
                        <a:t>As threshold, with specification of</a:t>
                      </a:r>
                      <a:r>
                        <a:rPr sz="1000" b="1">
                          <a:solidFill>
                            <a:srgbClr val="2E7D32"/>
                          </a:solidFill>
                        </a:rPr>
                        <a:t>Metadata indicates</a:t>
                      </a:r>
                      <a:r>
                        <a:rPr sz="1000"/>
                        <a:t> which pixels are</a:t>
                      </a:r>
                      <a:r>
                        <a:rPr sz="1000" strike="sngStrike">
                          <a:solidFill>
                            <a:srgbClr val="B00000"/>
                          </a:solidFill>
                        </a:rPr>
                        <a:t> radiometrically</a:t>
                      </a:r>
                      <a:r>
                        <a:rPr sz="1000"/>
                        <a:t> saturated for each spectral band.</a:t>
                      </a:r>
                    </a:p>
                  </a:txBody>
                  <a:tcPr>
                    <a:solidFill>
                      <a:srgbClr val="F2F2F2"/>
                    </a:solidFill>
                  </a:tcPr>
                </a:tc>
                <a:tc>
                  <a:txBody>
                    <a:bodyPr/>
                    <a:lstStyle/>
                    <a:p>
                      <a:r>
                        <a:rPr sz="1000" strike="sngStrike" dirty="0">
                          <a:solidFill>
                            <a:srgbClr val="B00000"/>
                          </a:solidFill>
                        </a:rPr>
                        <a:t>Metadata </a:t>
                      </a:r>
                      <a:r>
                        <a:rPr sz="1000" strike="sngStrike" dirty="0" err="1">
                          <a:solidFill>
                            <a:srgbClr val="B00000"/>
                          </a:solidFill>
                        </a:rPr>
                        <a:t>indicates</a:t>
                      </a:r>
                      <a:r>
                        <a:rPr sz="1000" b="1" dirty="0" err="1">
                          <a:solidFill>
                            <a:srgbClr val="2E7D32"/>
                          </a:solidFill>
                        </a:rPr>
                        <a:t>As</a:t>
                      </a:r>
                      <a:r>
                        <a:rPr sz="1000" b="1" dirty="0">
                          <a:solidFill>
                            <a:srgbClr val="2E7D32"/>
                          </a:solidFill>
                        </a:rPr>
                        <a:t> threshold, with specification of</a:t>
                      </a:r>
                      <a:r>
                        <a:rPr sz="1000" dirty="0"/>
                        <a:t> which pixels are</a:t>
                      </a:r>
                      <a:r>
                        <a:rPr sz="1000" b="1" dirty="0">
                          <a:solidFill>
                            <a:srgbClr val="2E7D32"/>
                          </a:solidFill>
                        </a:rPr>
                        <a:t> radiometrically</a:t>
                      </a:r>
                      <a:r>
                        <a:rPr sz="1000" dirty="0"/>
                        <a:t> saturated for each spectral band.</a:t>
                      </a:r>
                    </a:p>
                  </a:txBody>
                  <a:tcPr>
                    <a:solidFill>
                      <a:srgbClr val="F2F2F2"/>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Snow/Ice Mask (NLSR, SR)</a:t>
            </a:r>
          </a:p>
        </p:txBody>
      </p:sp>
      <p:graphicFrame>
        <p:nvGraphicFramePr>
          <p:cNvPr id="3" name="Table 2"/>
          <p:cNvGraphicFramePr>
            <a:graphicFrameLocks noGrp="1"/>
          </p:cNvGraphicFramePr>
          <p:nvPr/>
        </p:nvGraphicFramePr>
        <p:xfrm>
          <a:off x="457200" y="1005840"/>
          <a:ext cx="11265408" cy="8991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121920">
                <a:tc>
                  <a:txBody>
                    <a:bodyPr/>
                    <a:lstStyle/>
                    <a:p>
                      <a:r>
                        <a:rPr sz="1000" b="1"/>
                        <a:t>NLSR</a:t>
                      </a:r>
                    </a:p>
                    <a:p>
                      <a:r>
                        <a:rPr sz="1000" i="1">
                          <a:solidFill>
                            <a:srgbClr val="808080"/>
                          </a:solidFill>
                        </a:rPr>
                        <a:t>(baseline)</a:t>
                      </a:r>
                    </a:p>
                  </a:txBody>
                  <a:tcPr>
                    <a:solidFill>
                      <a:srgbClr val="FFFFFF"/>
                    </a:solidFill>
                  </a:tcPr>
                </a:tc>
                <a:tc>
                  <a:txBody>
                    <a:bodyPr/>
                    <a:lstStyle/>
                    <a:p>
                      <a:r>
                        <a:rPr sz="1000"/>
                        <a:t>Metadata indicates whether a pixel is snow/ice.</a:t>
                      </a:r>
                    </a:p>
                  </a:txBody>
                  <a:tcPr>
                    <a:solidFill>
                      <a:srgbClr val="FFFFFF"/>
                    </a:solidFill>
                  </a:tcPr>
                </a:tc>
                <a:tc>
                  <a:txBody>
                    <a:bodyPr/>
                    <a:lstStyle/>
                    <a:p>
                      <a:r>
                        <a:rPr sz="1000" strike="sngStrike">
                          <a:solidFill>
                            <a:srgbClr val="B00000"/>
                          </a:solidFill>
                        </a:rPr>
                        <a:t>Metadata indicates</a:t>
                      </a:r>
                      <a:r>
                        <a:rPr sz="1000" b="1">
                          <a:solidFill>
                            <a:srgbClr val="2E7D32"/>
                          </a:solidFill>
                        </a:rPr>
                        <a:t>Specification of</a:t>
                      </a:r>
                      <a:r>
                        <a:rPr sz="1000"/>
                        <a:t> whether a pixel is snow/ice</a:t>
                      </a:r>
                      <a:r>
                        <a:rPr sz="1000" strike="sngStrike">
                          <a:solidFill>
                            <a:srgbClr val="B00000"/>
                          </a:solidFill>
                        </a:rPr>
                        <a:t>.</a:t>
                      </a:r>
                    </a:p>
                  </a:txBody>
                  <a:tcPr>
                    <a:solidFill>
                      <a:srgbClr val="FFFFFF"/>
                    </a:solidFill>
                  </a:tcPr>
                </a:tc>
                <a:extLst>
                  <a:ext uri="{0D108BD9-81ED-4DB2-BD59-A6C34878D82A}">
                    <a16:rowId xmlns:a16="http://schemas.microsoft.com/office/drawing/2014/main" val="10001"/>
                  </a:ext>
                </a:extLst>
              </a:tr>
              <a:tr h="121920">
                <a:tc>
                  <a:txBody>
                    <a:bodyPr/>
                    <a:lstStyle/>
                    <a:p>
                      <a:r>
                        <a:rPr sz="1000" b="1"/>
                        <a:t>SR</a:t>
                      </a:r>
                    </a:p>
                  </a:txBody>
                  <a:tcPr>
                    <a:solidFill>
                      <a:srgbClr val="F2F2F2"/>
                    </a:solidFill>
                  </a:tcPr>
                </a:tc>
                <a:tc>
                  <a:txBody>
                    <a:bodyPr/>
                    <a:lstStyle/>
                    <a:p>
                      <a:r>
                        <a:rPr sz="1000"/>
                        <a:t>(not set)</a:t>
                      </a:r>
                    </a:p>
                  </a:txBody>
                  <a:tcPr>
                    <a:solidFill>
                      <a:srgbClr val="F2F2F2"/>
                    </a:solidFill>
                  </a:tcPr>
                </a:tc>
                <a:tc>
                  <a:txBody>
                    <a:bodyPr/>
                    <a:lstStyle/>
                    <a:p>
                      <a:r>
                        <a:rPr sz="1000" i="1">
                          <a:solidFill>
                            <a:srgbClr val="808080"/>
                          </a:solidFill>
                        </a:rPr>
                        <a:t>(keep as is)</a:t>
                      </a:r>
                    </a:p>
                  </a:txBody>
                  <a:tcPr>
                    <a:solidFill>
                      <a:srgbClr val="F2F2F2"/>
                    </a:solidFill>
                  </a:tcPr>
                </a:tc>
                <a:extLst>
                  <a:ext uri="{0D108BD9-81ED-4DB2-BD59-A6C34878D82A}">
                    <a16:rowId xmlns:a16="http://schemas.microsoft.com/office/drawing/2014/main" val="10002"/>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4387402"/>
              </p:ext>
            </p:extLst>
          </p:nvPr>
        </p:nvGraphicFramePr>
        <p:xfrm>
          <a:off x="457200" y="2258568"/>
          <a:ext cx="11265408" cy="10515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121920">
                <a:tc>
                  <a:txBody>
                    <a:bodyPr/>
                    <a:lstStyle/>
                    <a:p>
                      <a:r>
                        <a:rPr sz="1000" b="1"/>
                        <a:t>NLSR</a:t>
                      </a:r>
                    </a:p>
                    <a:p>
                      <a:r>
                        <a:rPr sz="1000" i="1">
                          <a:solidFill>
                            <a:srgbClr val="808080"/>
                          </a:solidFill>
                        </a:rPr>
                        <a:t>(baseline)</a:t>
                      </a:r>
                    </a:p>
                  </a:txBody>
                  <a:tcPr>
                    <a:solidFill>
                      <a:srgbClr val="FFFFFF"/>
                    </a:solidFill>
                  </a:tcPr>
                </a:tc>
                <a:tc>
                  <a:txBody>
                    <a:bodyPr/>
                    <a:lstStyle/>
                    <a:p>
                      <a:r>
                        <a:rPr sz="1000"/>
                        <a:t>As threshold, information on snow/ice mask should be available in the metadata as a single DOI landing page.</a:t>
                      </a:r>
                    </a:p>
                  </a:txBody>
                  <a:tcPr>
                    <a:solidFill>
                      <a:srgbClr val="FFFFFF"/>
                    </a:solidFill>
                  </a:tcPr>
                </a:tc>
                <a:tc>
                  <a:txBody>
                    <a:bodyPr/>
                    <a:lstStyle/>
                    <a:p>
                      <a:r>
                        <a:rPr sz="1000"/>
                        <a:t>As threshold</a:t>
                      </a:r>
                      <a:r>
                        <a:rPr sz="1000" strike="sngStrike">
                          <a:solidFill>
                            <a:srgbClr val="B00000"/>
                          </a:solidFill>
                        </a:rPr>
                        <a:t>, information on snow/ice mask should be available in the metadata as a single DOI landing page.</a:t>
                      </a:r>
                    </a:p>
                  </a:txBody>
                  <a:tcPr>
                    <a:solidFill>
                      <a:srgbClr val="FFFFFF"/>
                    </a:solidFill>
                  </a:tcPr>
                </a:tc>
                <a:extLst>
                  <a:ext uri="{0D108BD9-81ED-4DB2-BD59-A6C34878D82A}">
                    <a16:rowId xmlns:a16="http://schemas.microsoft.com/office/drawing/2014/main" val="10001"/>
                  </a:ext>
                </a:extLst>
              </a:tr>
              <a:tr h="121920">
                <a:tc>
                  <a:txBody>
                    <a:bodyPr/>
                    <a:lstStyle/>
                    <a:p>
                      <a:r>
                        <a:rPr sz="1000" b="1"/>
                        <a:t>SR</a:t>
                      </a:r>
                    </a:p>
                  </a:txBody>
                  <a:tcPr>
                    <a:solidFill>
                      <a:srgbClr val="F2F2F2"/>
                    </a:solidFill>
                  </a:tcPr>
                </a:tc>
                <a:tc>
                  <a:txBody>
                    <a:bodyPr/>
                    <a:lstStyle/>
                    <a:p>
                      <a:r>
                        <a:rPr sz="1000" strike="sngStrike">
                          <a:solidFill>
                            <a:srgbClr val="B00000"/>
                          </a:solidFill>
                        </a:rPr>
                        <a:t>As threshold, i</a:t>
                      </a:r>
                      <a:r>
                        <a:rPr sz="1000" b="1">
                          <a:solidFill>
                            <a:srgbClr val="2E7D32"/>
                          </a:solidFill>
                        </a:rPr>
                        <a:t>The metadata indicates whether a pixel is assessed as being snow/ice or not. I</a:t>
                      </a:r>
                      <a:r>
                        <a:rPr sz="1000"/>
                        <a:t>nformation on snow/ice mask should be available in the metadata as a single DOI landing page.</a:t>
                      </a:r>
                    </a:p>
                  </a:txBody>
                  <a:tcPr>
                    <a:solidFill>
                      <a:srgbClr val="F2F2F2"/>
                    </a:solidFill>
                  </a:tcPr>
                </a:tc>
                <a:tc>
                  <a:txBody>
                    <a:bodyPr/>
                    <a:lstStyle/>
                    <a:p>
                      <a:r>
                        <a:rPr sz="1000" dirty="0">
                          <a:solidFill>
                            <a:schemeClr val="tx1"/>
                          </a:solidFill>
                        </a:rPr>
                        <a:t>Specification of whether a pixel is snow/ice</a:t>
                      </a:r>
                    </a:p>
                  </a:txBody>
                  <a:tcPr>
                    <a:solidFill>
                      <a:srgbClr val="F2F2F2"/>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457200" y="3653210"/>
            <a:ext cx="11277295" cy="738664"/>
          </a:xfrm>
          <a:prstGeom prst="rect">
            <a:avLst/>
          </a:prstGeom>
          <a:noFill/>
        </p:spPr>
        <p:txBody>
          <a:bodyPr wrap="square" lIns="0" tIns="0" rIns="0" bIns="0">
            <a:spAutoFit/>
          </a:bodyPr>
          <a:lstStyle/>
          <a:p>
            <a:r>
              <a:rPr sz="1200" b="1" dirty="0"/>
              <a:t>Internal notes: </a:t>
            </a:r>
            <a:r>
              <a:rPr sz="1200" i="1" dirty="0"/>
              <a:t>For DOI related discussions </a:t>
            </a:r>
            <a:r>
              <a:rPr lang="de-DE" sz="1200" i="1" dirty="0" err="1"/>
              <a:t>see</a:t>
            </a:r>
            <a:r>
              <a:rPr lang="de-DE" sz="1200" i="1" dirty="0"/>
              <a:t> "DOIs" </a:t>
            </a:r>
            <a:r>
              <a:rPr lang="de-DE" sz="1200" i="1" dirty="0" err="1"/>
              <a:t>slide</a:t>
            </a:r>
            <a:r>
              <a:rPr sz="1200" i="1" dirty="0"/>
              <a:t>.</a:t>
            </a:r>
          </a:p>
          <a:p>
            <a:endParaRPr sz="1200" i="1" dirty="0"/>
          </a:p>
          <a:p>
            <a:r>
              <a:rPr sz="1200" i="1" dirty="0"/>
              <a:t>ST replaced its Snow/Ice requirement with a combined "Surface" requirement (threshold: land or water, including the information source and other relevant surface characteristic classification; goal: as threshold, plus snow or ice) — could be considered for the other optical PFS.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Terrain Occlusion (NLSR, SR, ST)</a:t>
            </a:r>
          </a:p>
        </p:txBody>
      </p:sp>
      <p:graphicFrame>
        <p:nvGraphicFramePr>
          <p:cNvPr id="3" name="Table 2"/>
          <p:cNvGraphicFramePr>
            <a:graphicFrameLocks noGrp="1"/>
          </p:cNvGraphicFramePr>
          <p:nvPr/>
        </p:nvGraphicFramePr>
        <p:xfrm>
          <a:off x="457200" y="1005840"/>
          <a:ext cx="11265408" cy="10515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121920">
                <a:tc>
                  <a:txBody>
                    <a:bodyPr/>
                    <a:lstStyle/>
                    <a:p>
                      <a:r>
                        <a:rPr sz="1000" b="1"/>
                        <a:t>ST</a:t>
                      </a:r>
                    </a:p>
                    <a:p>
                      <a:r>
                        <a:rPr sz="1000" i="1">
                          <a:solidFill>
                            <a:srgbClr val="808080"/>
                          </a:solidFill>
                        </a:rPr>
                        <a:t>(baseline)</a:t>
                      </a:r>
                    </a:p>
                  </a:txBody>
                  <a:tcPr>
                    <a:solidFill>
                      <a:srgbClr val="FFFFFF"/>
                    </a:solidFill>
                  </a:tcPr>
                </a:tc>
                <a:tc>
                  <a:txBody>
                    <a:bodyPr/>
                    <a:lstStyle/>
                    <a:p>
                      <a:r>
                        <a:rPr sz="1000"/>
                        <a:t>Identifies pixels that are not visible to the sensor due to terrain occlusion during off-nadir viewing.</a:t>
                      </a:r>
                    </a:p>
                  </a:txBody>
                  <a:tcPr>
                    <a:solidFill>
                      <a:srgbClr val="FFFFFF"/>
                    </a:solidFill>
                  </a:tcPr>
                </a:tc>
                <a:tc>
                  <a:txBody>
                    <a:bodyPr/>
                    <a:lstStyle/>
                    <a:p>
                      <a:r>
                        <a:rPr sz="1000" strike="sngStrike">
                          <a:solidFill>
                            <a:srgbClr val="B00000"/>
                          </a:solidFill>
                        </a:rPr>
                        <a:t>Identifies</a:t>
                      </a:r>
                      <a:r>
                        <a:rPr sz="1000" b="1">
                          <a:solidFill>
                            <a:srgbClr val="2E7D32"/>
                          </a:solidFill>
                        </a:rPr>
                        <a:t>Specification of whether</a:t>
                      </a:r>
                      <a:r>
                        <a:rPr sz="1000"/>
                        <a:t> pixels that are not visible to the sensor due to terrain occlusion during off-nadir viewing.</a:t>
                      </a:r>
                    </a:p>
                  </a:txBody>
                  <a:tcPr>
                    <a:solidFill>
                      <a:srgbClr val="FFFFFF"/>
                    </a:solidFill>
                  </a:tcPr>
                </a:tc>
                <a:extLst>
                  <a:ext uri="{0D108BD9-81ED-4DB2-BD59-A6C34878D82A}">
                    <a16:rowId xmlns:a16="http://schemas.microsoft.com/office/drawing/2014/main" val="10001"/>
                  </a:ext>
                </a:extLst>
              </a:tr>
              <a:tr h="121920">
                <a:tc>
                  <a:txBody>
                    <a:bodyPr/>
                    <a:lstStyle/>
                    <a:p>
                      <a:r>
                        <a:rPr sz="1000" b="1"/>
                        <a:t>NLSR, SR</a:t>
                      </a:r>
                    </a:p>
                  </a:txBody>
                  <a:tcPr>
                    <a:solidFill>
                      <a:srgbClr val="F2F2F2"/>
                    </a:solidFill>
                  </a:tcPr>
                </a:tc>
                <a:tc>
                  <a:txBody>
                    <a:bodyPr/>
                    <a:lstStyle/>
                    <a:p>
                      <a:r>
                        <a:rPr sz="1000" strike="sngStrike">
                          <a:solidFill>
                            <a:srgbClr val="B00000"/>
                          </a:solidFill>
                        </a:rPr>
                        <a:t>Identifi</a:t>
                      </a:r>
                      <a:r>
                        <a:rPr sz="1000" b="1">
                          <a:solidFill>
                            <a:srgbClr val="2E7D32"/>
                          </a:solidFill>
                        </a:rPr>
                        <a:t>The metadata indicat</a:t>
                      </a:r>
                      <a:r>
                        <a:rPr sz="1000"/>
                        <a:t>es pixels that are not visible to the sensor due to terrain occlusion during off-nadir viewing.</a:t>
                      </a:r>
                    </a:p>
                  </a:txBody>
                  <a:tcPr>
                    <a:solidFill>
                      <a:srgbClr val="F2F2F2"/>
                    </a:solidFill>
                  </a:tcPr>
                </a:tc>
                <a:tc>
                  <a:txBody>
                    <a:bodyPr/>
                    <a:lstStyle/>
                    <a:p>
                      <a:r>
                        <a:rPr sz="1000" strike="sngStrike">
                          <a:solidFill>
                            <a:srgbClr val="B00000"/>
                          </a:solidFill>
                        </a:rPr>
                        <a:t>The metadata indicates</a:t>
                      </a:r>
                      <a:r>
                        <a:rPr sz="1000" b="1">
                          <a:solidFill>
                            <a:srgbClr val="2E7D32"/>
                          </a:solidFill>
                        </a:rPr>
                        <a:t>Specification of whether</a:t>
                      </a:r>
                      <a:r>
                        <a:rPr sz="1000"/>
                        <a:t> pixels that are not visible to the sensor due to terrain occlusion during off-nadir viewing.</a:t>
                      </a:r>
                    </a:p>
                  </a:txBody>
                  <a:tcPr>
                    <a:solidFill>
                      <a:srgbClr val="F2F2F2"/>
                    </a:solidFill>
                  </a:tcPr>
                </a:tc>
                <a:extLst>
                  <a:ext uri="{0D108BD9-81ED-4DB2-BD59-A6C34878D82A}">
                    <a16:rowId xmlns:a16="http://schemas.microsoft.com/office/drawing/2014/main" val="10002"/>
                  </a:ext>
                </a:extLst>
              </a:tr>
            </a:tbl>
          </a:graphicData>
        </a:graphic>
      </p:graphicFrame>
      <p:sp>
        <p:nvSpPr>
          <p:cNvPr id="4" name="TextBox 3"/>
          <p:cNvSpPr txBox="1"/>
          <p:nvPr/>
        </p:nvSpPr>
        <p:spPr>
          <a:xfrm>
            <a:off x="457200" y="2329525"/>
            <a:ext cx="11277295" cy="738664"/>
          </a:xfrm>
          <a:prstGeom prst="rect">
            <a:avLst/>
          </a:prstGeom>
          <a:noFill/>
        </p:spPr>
        <p:txBody>
          <a:bodyPr wrap="square" lIns="0" tIns="0" rIns="0" bIns="0">
            <a:spAutoFit/>
          </a:bodyPr>
          <a:lstStyle/>
          <a:p>
            <a:r>
              <a:rPr sz="1200" b="1" dirty="0"/>
              <a:t>Internal notes: </a:t>
            </a:r>
            <a:r>
              <a:rPr sz="1200" i="1" dirty="0"/>
              <a:t>ST removed the threshold ("Not required.") — the requirement is now goal-only like the SR/NLSR variant.</a:t>
            </a:r>
          </a:p>
          <a:p>
            <a:endParaRPr sz="1200" i="1" dirty="0"/>
          </a:p>
          <a:p>
            <a:r>
              <a:rPr sz="1200" i="1" dirty="0"/>
              <a:t>Terrain Occlusion was introduced to the ST PFS with the initial pull request (hence visible in the draft but not in the released version). ST proposes to adopt the consistent wording proposed here.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640080"/>
          </a:xfrm>
          <a:prstGeom prst="rect">
            <a:avLst/>
          </a:prstGeom>
          <a:noFill/>
        </p:spPr>
        <p:txBody>
          <a:bodyPr wrap="square">
            <a:spAutoFit/>
          </a:bodyPr>
          <a:lstStyle/>
          <a:p>
            <a:r>
              <a:rPr sz="2800"/>
              <a:t>Solar and Viewing Geometry (AR, SR, ST)</a:t>
            </a:r>
          </a:p>
        </p:txBody>
      </p:sp>
      <p:graphicFrame>
        <p:nvGraphicFramePr>
          <p:cNvPr id="3" name="Table 2"/>
          <p:cNvGraphicFramePr>
            <a:graphicFrameLocks noGrp="1"/>
          </p:cNvGraphicFramePr>
          <p:nvPr/>
        </p:nvGraphicFramePr>
        <p:xfrm>
          <a:off x="457200" y="1005840"/>
          <a:ext cx="11265408" cy="8991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a:solidFill>
                            <a:srgbClr val="FFFFFF"/>
                          </a:solidFill>
                        </a:rPr>
                        <a:t>PFS</a:t>
                      </a:r>
                    </a:p>
                  </a:txBody>
                  <a:tcPr>
                    <a:solidFill>
                      <a:srgbClr val="000000"/>
                    </a:solidFill>
                  </a:tcPr>
                </a:tc>
                <a:tc>
                  <a:txBody>
                    <a:bodyPr/>
                    <a:lstStyle/>
                    <a:p>
                      <a:r>
                        <a:rPr sz="1100" b="1">
                          <a:solidFill>
                            <a:srgbClr val="FFFFFF"/>
                          </a:solidFill>
                        </a:rPr>
                        <a:t>Current Threshold Description</a:t>
                      </a:r>
                    </a:p>
                  </a:txBody>
                  <a:tcPr>
                    <a:solidFill>
                      <a:srgbClr val="000000"/>
                    </a:solidFill>
                  </a:tcPr>
                </a:tc>
                <a:tc>
                  <a:txBody>
                    <a:bodyPr/>
                    <a:lstStyle/>
                    <a:p>
                      <a:r>
                        <a:rPr sz="1100" b="1">
                          <a:solidFill>
                            <a:srgbClr val="FFFFFF"/>
                          </a:solidFill>
                        </a:rPr>
                        <a:t>Proposed Threshold Description</a:t>
                      </a:r>
                    </a:p>
                  </a:txBody>
                  <a:tcPr>
                    <a:solidFill>
                      <a:srgbClr val="000000"/>
                    </a:solidFill>
                  </a:tcPr>
                </a:tc>
                <a:extLst>
                  <a:ext uri="{0D108BD9-81ED-4DB2-BD59-A6C34878D82A}">
                    <a16:rowId xmlns:a16="http://schemas.microsoft.com/office/drawing/2014/main" val="10000"/>
                  </a:ext>
                </a:extLst>
              </a:tr>
              <a:tr h="121920">
                <a:tc>
                  <a:txBody>
                    <a:bodyPr/>
                    <a:lstStyle/>
                    <a:p>
                      <a:r>
                        <a:rPr sz="1000" b="1"/>
                        <a:t>AR, ST</a:t>
                      </a:r>
                    </a:p>
                    <a:p>
                      <a:r>
                        <a:rPr sz="1000" i="1">
                          <a:solidFill>
                            <a:srgbClr val="808080"/>
                          </a:solidFill>
                        </a:rPr>
                        <a:t>(baseline)</a:t>
                      </a:r>
                    </a:p>
                  </a:txBody>
                  <a:tcPr>
                    <a:solidFill>
                      <a:srgbClr val="FFFFFF"/>
                    </a:solidFill>
                  </a:tcPr>
                </a:tc>
                <a:tc>
                  <a:txBody>
                    <a:bodyPr/>
                    <a:lstStyle/>
                    <a:p>
                      <a:r>
                        <a:rPr sz="1000"/>
                        <a:t>Specification of the solar and sensor viewing azimuth and zenith angles.</a:t>
                      </a:r>
                    </a:p>
                  </a:txBody>
                  <a:tcPr>
                    <a:solidFill>
                      <a:srgbClr val="FFFFFF"/>
                    </a:solidFill>
                  </a:tcPr>
                </a:tc>
                <a:tc>
                  <a:txBody>
                    <a:bodyPr/>
                    <a:lstStyle/>
                    <a:p>
                      <a:r>
                        <a:rPr sz="1000" i="1">
                          <a:solidFill>
                            <a:srgbClr val="808080"/>
                          </a:solidFill>
                        </a:rPr>
                        <a:t>(keep as is)</a:t>
                      </a:r>
                    </a:p>
                  </a:txBody>
                  <a:tcPr>
                    <a:solidFill>
                      <a:srgbClr val="FFFFFF"/>
                    </a:solidFill>
                  </a:tcPr>
                </a:tc>
                <a:extLst>
                  <a:ext uri="{0D108BD9-81ED-4DB2-BD59-A6C34878D82A}">
                    <a16:rowId xmlns:a16="http://schemas.microsoft.com/office/drawing/2014/main" val="10001"/>
                  </a:ext>
                </a:extLst>
              </a:tr>
              <a:tr h="121920">
                <a:tc>
                  <a:txBody>
                    <a:bodyPr/>
                    <a:lstStyle/>
                    <a:p>
                      <a:r>
                        <a:rPr sz="1000" b="1"/>
                        <a:t>SR</a:t>
                      </a:r>
                    </a:p>
                  </a:txBody>
                  <a:tcPr>
                    <a:solidFill>
                      <a:srgbClr val="F2F2F2"/>
                    </a:solidFill>
                  </a:tcPr>
                </a:tc>
                <a:tc>
                  <a:txBody>
                    <a:bodyPr/>
                    <a:lstStyle/>
                    <a:p>
                      <a:r>
                        <a:rPr sz="1000" strike="sngStrike">
                          <a:solidFill>
                            <a:srgbClr val="B00000"/>
                          </a:solidFill>
                        </a:rPr>
                        <a:t>Specification of th</a:t>
                      </a:r>
                      <a:r>
                        <a:rPr sz="1000" b="1">
                          <a:solidFill>
                            <a:srgbClr val="2E7D32"/>
                          </a:solidFill>
                        </a:rPr>
                        <a:t>Provide averag</a:t>
                      </a:r>
                      <a:r>
                        <a:rPr sz="1000"/>
                        <a:t>e solar and sensor viewing azimuth and zenith angles.</a:t>
                      </a:r>
                    </a:p>
                  </a:txBody>
                  <a:tcPr>
                    <a:solidFill>
                      <a:srgbClr val="F2F2F2"/>
                    </a:solidFill>
                  </a:tcPr>
                </a:tc>
                <a:tc>
                  <a:txBody>
                    <a:bodyPr/>
                    <a:lstStyle/>
                    <a:p>
                      <a:r>
                        <a:rPr sz="1000" strike="sngStrike">
                          <a:solidFill>
                            <a:srgbClr val="B00000"/>
                          </a:solidFill>
                        </a:rPr>
                        <a:t>Provide averag</a:t>
                      </a:r>
                      <a:r>
                        <a:rPr sz="1000" b="1">
                          <a:solidFill>
                            <a:srgbClr val="2E7D32"/>
                          </a:solidFill>
                        </a:rPr>
                        <a:t>Specification of th</a:t>
                      </a:r>
                      <a:r>
                        <a:rPr sz="1000"/>
                        <a:t>e solar and sensor viewing azimuth and zenith angles.</a:t>
                      </a:r>
                    </a:p>
                  </a:txBody>
                  <a:tcPr>
                    <a:solidFill>
                      <a:srgbClr val="F2F2F2"/>
                    </a:solidFill>
                  </a:tcPr>
                </a:tc>
                <a:extLst>
                  <a:ext uri="{0D108BD9-81ED-4DB2-BD59-A6C34878D82A}">
                    <a16:rowId xmlns:a16="http://schemas.microsoft.com/office/drawing/2014/main" val="10002"/>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501177712"/>
              </p:ext>
            </p:extLst>
          </p:nvPr>
        </p:nvGraphicFramePr>
        <p:xfrm>
          <a:off x="457200" y="2414016"/>
          <a:ext cx="11265408" cy="89916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dirty="0">
                          <a:solidFill>
                            <a:srgbClr val="FFFFFF"/>
                          </a:solidFill>
                        </a:rPr>
                        <a:t>PFS</a:t>
                      </a:r>
                    </a:p>
                  </a:txBody>
                  <a:tcPr>
                    <a:solidFill>
                      <a:srgbClr val="000000"/>
                    </a:solidFill>
                  </a:tcPr>
                </a:tc>
                <a:tc>
                  <a:txBody>
                    <a:bodyPr/>
                    <a:lstStyle/>
                    <a:p>
                      <a:r>
                        <a:rPr sz="1100" b="1">
                          <a:solidFill>
                            <a:srgbClr val="FFFFFF"/>
                          </a:solidFill>
                        </a:rPr>
                        <a:t>Current Goal Description</a:t>
                      </a:r>
                    </a:p>
                  </a:txBody>
                  <a:tcPr>
                    <a:solidFill>
                      <a:srgbClr val="000000"/>
                    </a:solidFill>
                  </a:tcPr>
                </a:tc>
                <a:tc>
                  <a:txBody>
                    <a:bodyPr/>
                    <a:lstStyle/>
                    <a:p>
                      <a:r>
                        <a:rPr sz="1100" b="1">
                          <a:solidFill>
                            <a:srgbClr val="FFFFFF"/>
                          </a:solidFill>
                        </a:rPr>
                        <a:t>Proposed Goal Description</a:t>
                      </a:r>
                    </a:p>
                  </a:txBody>
                  <a:tcPr>
                    <a:solidFill>
                      <a:srgbClr val="000000"/>
                    </a:solidFill>
                  </a:tcPr>
                </a:tc>
                <a:extLst>
                  <a:ext uri="{0D108BD9-81ED-4DB2-BD59-A6C34878D82A}">
                    <a16:rowId xmlns:a16="http://schemas.microsoft.com/office/drawing/2014/main" val="10000"/>
                  </a:ext>
                </a:extLst>
              </a:tr>
              <a:tr h="121920">
                <a:tc>
                  <a:txBody>
                    <a:bodyPr/>
                    <a:lstStyle/>
                    <a:p>
                      <a:r>
                        <a:rPr sz="1000" b="1"/>
                        <a:t>AR, ST</a:t>
                      </a:r>
                    </a:p>
                  </a:txBody>
                  <a:tcPr>
                    <a:solidFill>
                      <a:srgbClr val="FFFFFF"/>
                    </a:solidFill>
                  </a:tcPr>
                </a:tc>
                <a:tc>
                  <a:txBody>
                    <a:bodyPr/>
                    <a:lstStyle/>
                    <a:p>
                      <a:r>
                        <a:rPr sz="1000" dirty="0"/>
                        <a:t>(not set)</a:t>
                      </a:r>
                    </a:p>
                  </a:txBody>
                  <a:tcPr>
                    <a:solidFill>
                      <a:srgbClr val="FFFFFF"/>
                    </a:solidFill>
                  </a:tcPr>
                </a:tc>
                <a:tc>
                  <a:txBody>
                    <a:bodyPr/>
                    <a:lstStyle/>
                    <a:p>
                      <a:r>
                        <a:rPr sz="1000" b="1">
                          <a:solidFill>
                            <a:srgbClr val="2E7D32"/>
                          </a:solidFill>
                        </a:rPr>
                        <a:t>Specification of the per-pixel solar and sensor viewing azimuth and zenith angles.</a:t>
                      </a:r>
                    </a:p>
                  </a:txBody>
                  <a:tcPr>
                    <a:solidFill>
                      <a:srgbClr val="FFFFFF"/>
                    </a:solidFill>
                  </a:tcPr>
                </a:tc>
                <a:extLst>
                  <a:ext uri="{0D108BD9-81ED-4DB2-BD59-A6C34878D82A}">
                    <a16:rowId xmlns:a16="http://schemas.microsoft.com/office/drawing/2014/main" val="10001"/>
                  </a:ext>
                </a:extLst>
              </a:tr>
              <a:tr h="121920">
                <a:tc>
                  <a:txBody>
                    <a:bodyPr/>
                    <a:lstStyle/>
                    <a:p>
                      <a:r>
                        <a:rPr sz="1000" b="1"/>
                        <a:t>SR</a:t>
                      </a:r>
                    </a:p>
                    <a:p>
                      <a:r>
                        <a:rPr sz="1000" i="1">
                          <a:solidFill>
                            <a:srgbClr val="808080"/>
                          </a:solidFill>
                        </a:rPr>
                        <a:t>(baseline)</a:t>
                      </a:r>
                    </a:p>
                  </a:txBody>
                  <a:tcPr>
                    <a:solidFill>
                      <a:srgbClr val="F2F2F2"/>
                    </a:solidFill>
                  </a:tcPr>
                </a:tc>
                <a:tc>
                  <a:txBody>
                    <a:bodyPr/>
                    <a:lstStyle/>
                    <a:p>
                      <a:r>
                        <a:rPr sz="1000" dirty="0"/>
                        <a:t>Provide per-pixel solar and sensor viewing azimuth and zenith angles.</a:t>
                      </a:r>
                    </a:p>
                  </a:txBody>
                  <a:tcPr>
                    <a:solidFill>
                      <a:srgbClr val="F2F2F2"/>
                    </a:solidFill>
                  </a:tcPr>
                </a:tc>
                <a:tc>
                  <a:txBody>
                    <a:bodyPr/>
                    <a:lstStyle/>
                    <a:p>
                      <a:r>
                        <a:rPr sz="1000" strike="sngStrike">
                          <a:solidFill>
                            <a:srgbClr val="B00000"/>
                          </a:solidFill>
                        </a:rPr>
                        <a:t>Provid</a:t>
                      </a:r>
                      <a:r>
                        <a:rPr sz="1000" b="1">
                          <a:solidFill>
                            <a:srgbClr val="2E7D32"/>
                          </a:solidFill>
                        </a:rPr>
                        <a:t>Specification of th</a:t>
                      </a:r>
                      <a:r>
                        <a:rPr sz="1000"/>
                        <a:t>e per-pixel solar and sensor viewing azimuth and zenith angles.</a:t>
                      </a:r>
                    </a:p>
                  </a:txBody>
                  <a:tcPr>
                    <a:solidFill>
                      <a:srgbClr val="F2F2F2"/>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457200" y="3653210"/>
            <a:ext cx="11277295" cy="1143000"/>
          </a:xfrm>
          <a:prstGeom prst="rect">
            <a:avLst/>
          </a:prstGeom>
          <a:noFill/>
        </p:spPr>
        <p:txBody>
          <a:bodyPr wrap="square" lIns="0" tIns="0" rIns="0" bIns="0">
            <a:spAutoFit/>
          </a:bodyPr>
          <a:lstStyle/>
          <a:p>
            <a:r>
              <a:rPr sz="1200" b="1"/>
              <a:t>Internal notes: </a:t>
            </a:r>
            <a:r>
              <a:rPr sz="1200" i="1"/>
              <a:t>Proposal accepted by the ST team.</a:t>
            </a:r>
          </a:p>
          <a:p>
            <a:endParaRPr sz="1200" i="1"/>
          </a:p>
          <a:p>
            <a:r>
              <a:rPr sz="1200" i="1"/>
              <a:t>Providing the angles instead of average angles would be a breaking change — the averages may be intentional, since the per-pixel requirement may already contain all angles specifically per pixel. It is unclear what the difference between non-average and per-pixel angles would be.</a:t>
            </a:r>
          </a:p>
        </p:txBody>
      </p:sp>
      <p:sp>
        <p:nvSpPr>
          <p:cNvPr id="6" name="TextBox 5"/>
          <p:cNvSpPr txBox="1"/>
          <p:nvPr/>
        </p:nvSpPr>
        <p:spPr>
          <a:xfrm>
            <a:off x="457200" y="4654742"/>
            <a:ext cx="11277295" cy="566928"/>
          </a:xfrm>
          <a:prstGeom prst="rect">
            <a:avLst/>
          </a:prstGeom>
          <a:noFill/>
        </p:spPr>
        <p:txBody>
          <a:bodyPr wrap="square" lIns="0" tIns="0" rIns="0" bIns="0">
            <a:spAutoFit/>
          </a:bodyPr>
          <a:lstStyle/>
          <a:p>
            <a:r>
              <a:rPr sz="1200" b="1"/>
              <a:t>Remarks from the building blocks: </a:t>
            </a:r>
            <a:r>
              <a:rPr sz="1200" i="1"/>
              <a:t>view-angles-solar.yaml: The threshold requirement is a metadata requirement, the goal requirement is a per-pixel requirement - should this be split?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77295" cy="523220"/>
          </a:xfrm>
          <a:prstGeom prst="rect">
            <a:avLst/>
          </a:prstGeom>
          <a:noFill/>
        </p:spPr>
        <p:txBody>
          <a:bodyPr wrap="square">
            <a:spAutoFit/>
          </a:bodyPr>
          <a:lstStyle/>
          <a:p>
            <a:r>
              <a:rPr lang="de-DE" sz="2800" dirty="0"/>
              <a:t>DOIs</a:t>
            </a:r>
            <a:endParaRPr sz="2800" dirty="0"/>
          </a:p>
        </p:txBody>
      </p:sp>
      <p:graphicFrame>
        <p:nvGraphicFramePr>
          <p:cNvPr id="3" name="Table 2"/>
          <p:cNvGraphicFramePr>
            <a:graphicFrameLocks noGrp="1"/>
          </p:cNvGraphicFramePr>
          <p:nvPr>
            <p:extLst>
              <p:ext uri="{D42A27DB-BD31-4B8C-83A1-F6EECF244321}">
                <p14:modId xmlns:p14="http://schemas.microsoft.com/office/powerpoint/2010/main" val="3921938030"/>
              </p:ext>
            </p:extLst>
          </p:nvPr>
        </p:nvGraphicFramePr>
        <p:xfrm>
          <a:off x="457200" y="1005840"/>
          <a:ext cx="11265408" cy="35814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5175504">
                  <a:extLst>
                    <a:ext uri="{9D8B030D-6E8A-4147-A177-3AD203B41FA5}">
                      <a16:colId xmlns:a16="http://schemas.microsoft.com/office/drawing/2014/main" val="20002"/>
                    </a:ext>
                  </a:extLst>
                </a:gridCol>
              </a:tblGrid>
              <a:tr h="121920">
                <a:tc>
                  <a:txBody>
                    <a:bodyPr/>
                    <a:lstStyle/>
                    <a:p>
                      <a:r>
                        <a:rPr sz="1100" b="1" dirty="0">
                          <a:solidFill>
                            <a:srgbClr val="FFFFFF"/>
                          </a:solidFill>
                        </a:rPr>
                        <a:t>PFS</a:t>
                      </a:r>
                    </a:p>
                  </a:txBody>
                  <a:tcPr>
                    <a:solidFill>
                      <a:srgbClr val="000000"/>
                    </a:solidFill>
                  </a:tcPr>
                </a:tc>
                <a:tc>
                  <a:txBody>
                    <a:bodyPr/>
                    <a:lstStyle/>
                    <a:p>
                      <a:r>
                        <a:rPr lang="de-DE" sz="1100" b="1" dirty="0">
                          <a:solidFill>
                            <a:srgbClr val="FFFFFF"/>
                          </a:solidFill>
                        </a:rPr>
                        <a:t>Type / </a:t>
                      </a:r>
                      <a:r>
                        <a:rPr lang="de-DE" sz="1100" b="1" dirty="0" err="1">
                          <a:solidFill>
                            <a:srgbClr val="FFFFFF"/>
                          </a:solidFill>
                        </a:rPr>
                        <a:t>Where</a:t>
                      </a:r>
                      <a:endParaRPr sz="1100" b="1" dirty="0">
                        <a:solidFill>
                          <a:srgbClr val="FFFFFF"/>
                        </a:solidFill>
                      </a:endParaRPr>
                    </a:p>
                  </a:txBody>
                  <a:tcPr>
                    <a:solidFill>
                      <a:srgbClr val="000000"/>
                    </a:solidFill>
                  </a:tcPr>
                </a:tc>
                <a:tc>
                  <a:txBody>
                    <a:bodyPr/>
                    <a:lstStyle/>
                    <a:p>
                      <a:r>
                        <a:rPr sz="1100" b="1">
                          <a:solidFill>
                            <a:srgbClr val="FFFFFF"/>
                          </a:solidFill>
                        </a:rPr>
                        <a:t>Text</a:t>
                      </a:r>
                    </a:p>
                  </a:txBody>
                  <a:tcPr>
                    <a:solidFill>
                      <a:srgbClr val="000000"/>
                    </a:solidFill>
                  </a:tcPr>
                </a:tc>
                <a:extLst>
                  <a:ext uri="{0D108BD9-81ED-4DB2-BD59-A6C34878D82A}">
                    <a16:rowId xmlns:a16="http://schemas.microsoft.com/office/drawing/2014/main" val="10000"/>
                  </a:ext>
                </a:extLst>
              </a:tr>
              <a:tr h="121920">
                <a:tc>
                  <a:txBody>
                    <a:bodyPr/>
                    <a:lstStyle/>
                    <a:p>
                      <a:r>
                        <a:rPr sz="1000" b="1" dirty="0"/>
                        <a:t>AR</a:t>
                      </a:r>
                      <a:r>
                        <a:rPr lang="de-DE" sz="1000" b="1" dirty="0"/>
                        <a:t> / ST</a:t>
                      </a:r>
                      <a:endParaRPr sz="1000" b="1" dirty="0"/>
                    </a:p>
                  </a:txBody>
                  <a:tcPr>
                    <a:solidFill>
                      <a:srgbClr val="FFFFFF"/>
                    </a:solidFill>
                  </a:tcPr>
                </a:tc>
                <a:tc>
                  <a:txBody>
                    <a:bodyPr/>
                    <a:lstStyle/>
                    <a:p>
                      <a:r>
                        <a:rPr lang="de-DE" sz="1000" dirty="0"/>
                        <a:t>general-</a:t>
                      </a:r>
                      <a:r>
                        <a:rPr lang="de-DE" sz="1000" dirty="0" err="1"/>
                        <a:t>metadata</a:t>
                      </a:r>
                      <a:r>
                        <a:rPr lang="de-DE" sz="1000" dirty="0"/>
                        <a:t> and per-pixel-</a:t>
                      </a:r>
                      <a:r>
                        <a:rPr lang="de-DE" sz="1000" dirty="0" err="1"/>
                        <a:t>metadata</a:t>
                      </a:r>
                      <a:r>
                        <a:rPr lang="de-DE" sz="1000" dirty="0"/>
                        <a:t> </a:t>
                      </a:r>
                      <a:r>
                        <a:rPr sz="1000" dirty="0"/>
                        <a:t>— appends to description</a:t>
                      </a:r>
                    </a:p>
                  </a:txBody>
                  <a:tcPr>
                    <a:solidFill>
                      <a:srgbClr val="FFFFFF"/>
                    </a:solidFill>
                  </a:tcPr>
                </a:tc>
                <a:tc>
                  <a:txBody>
                    <a:bodyPr/>
                    <a:lstStyle/>
                    <a:p>
                      <a:r>
                        <a:rPr sz="1000"/>
                        <a:t>Information should be available in the metadata as a single DOI landing page, which may include links to further detailed documents and references to citable peer-reviewed algorithms or technical documentation.</a:t>
                      </a:r>
                    </a:p>
                  </a:txBody>
                  <a:tcPr>
                    <a:solidFill>
                      <a:srgbClr val="FFFFFF"/>
                    </a:solidFill>
                  </a:tcPr>
                </a:tc>
                <a:extLst>
                  <a:ext uri="{0D108BD9-81ED-4DB2-BD59-A6C34878D82A}">
                    <a16:rowId xmlns:a16="http://schemas.microsoft.com/office/drawing/2014/main" val="10001"/>
                  </a:ext>
                </a:extLst>
              </a:tr>
              <a:tr h="12192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DE" sz="1000" b="1" dirty="0"/>
                        <a:t>SR / NLSR / ST</a:t>
                      </a:r>
                    </a:p>
                  </a:txBody>
                  <a:tcPr>
                    <a:solidFill>
                      <a:srgbClr val="F2F2F2"/>
                    </a:solidFill>
                  </a:tcPr>
                </a:tc>
                <a:tc>
                  <a:txBody>
                    <a:bodyPr/>
                    <a:lstStyle/>
                    <a:p>
                      <a:r>
                        <a:rPr lang="de-DE" sz="1000" dirty="0"/>
                        <a:t>In individual </a:t>
                      </a:r>
                      <a:r>
                        <a:rPr lang="de-DE" sz="1000" dirty="0" err="1"/>
                        <a:t>requirements</a:t>
                      </a:r>
                      <a:endParaRPr sz="1000" dirty="0"/>
                    </a:p>
                  </a:txBody>
                  <a:tcPr>
                    <a:solidFill>
                      <a:srgbClr val="F2F2F2"/>
                    </a:solidFill>
                  </a:tcPr>
                </a:tc>
                <a:tc>
                  <a:txBody>
                    <a:bodyPr/>
                    <a:lstStyle/>
                    <a:p>
                      <a:r>
                        <a:rPr lang="en-US" sz="1000" dirty="0"/>
                        <a:t>Information on […] should be available in the metadata as a single DOI landing page […].</a:t>
                      </a:r>
                      <a:br>
                        <a:rPr lang="en-US" sz="1000" dirty="0"/>
                      </a:br>
                      <a:br>
                        <a:rPr lang="en-US" sz="1000" dirty="0"/>
                      </a:br>
                      <a:r>
                        <a:rPr lang="en-US" sz="1000" i="1" dirty="0"/>
                        <a:t>or</a:t>
                      </a:r>
                      <a:br>
                        <a:rPr lang="en-US" sz="1000" dirty="0"/>
                      </a:br>
                      <a:br>
                        <a:rPr lang="en-US" sz="1000" dirty="0"/>
                      </a:br>
                      <a:r>
                        <a:rPr lang="en-US" sz="1000" dirty="0"/>
                        <a:t>Metadata contains a single DOI landing page with references to:</a:t>
                      </a:r>
                    </a:p>
                    <a:p>
                      <a:endParaRPr lang="en-US" sz="1000" dirty="0"/>
                    </a:p>
                    <a:p>
                      <a:r>
                        <a:rPr lang="en-US" sz="1000" dirty="0"/>
                        <a:t>- a citable peer-reviewed algorithm</a:t>
                      </a:r>
                    </a:p>
                    <a:p>
                      <a:r>
                        <a:rPr lang="en-US" sz="1000" dirty="0"/>
                        <a:t>- technical documentation regarding the implementation of that algorithm</a:t>
                      </a:r>
                    </a:p>
                  </a:txBody>
                  <a:tcPr>
                    <a:solidFill>
                      <a:srgbClr val="F2F2F2"/>
                    </a:solidFill>
                  </a:tcPr>
                </a:tc>
                <a:extLst>
                  <a:ext uri="{0D108BD9-81ED-4DB2-BD59-A6C34878D82A}">
                    <a16:rowId xmlns:a16="http://schemas.microsoft.com/office/drawing/2014/main" val="10002"/>
                  </a:ext>
                </a:extLst>
              </a:tr>
              <a:tr h="121920">
                <a:tc>
                  <a:txBody>
                    <a:bodyPr/>
                    <a:lstStyle/>
                    <a:p>
                      <a:r>
                        <a:rPr lang="de-DE" sz="1000" b="1" dirty="0"/>
                        <a:t>SAR</a:t>
                      </a:r>
                      <a:endParaRPr sz="1000" b="1" dirty="0"/>
                    </a:p>
                  </a:txBody>
                  <a:tcPr>
                    <a:solidFill>
                      <a:srgbClr val="F2F2F2"/>
                    </a:solidFill>
                  </a:tcPr>
                </a:tc>
                <a:tc>
                  <a:txBody>
                    <a:bodyPr/>
                    <a:lstStyle/>
                    <a:p>
                      <a:r>
                        <a:rPr lang="de-DE" sz="1000" dirty="0"/>
                        <a:t>In individual </a:t>
                      </a:r>
                      <a:r>
                        <a:rPr lang="de-DE" sz="1000" dirty="0" err="1"/>
                        <a:t>requirements</a:t>
                      </a:r>
                      <a:endParaRPr sz="1000" dirty="0"/>
                    </a:p>
                  </a:txBody>
                  <a:tcPr>
                    <a:solidFill>
                      <a:srgbClr val="F2F2F2"/>
                    </a:solidFill>
                  </a:tcPr>
                </a:tc>
                <a:tc>
                  <a:txBody>
                    <a:bodyPr/>
                    <a:lstStyle/>
                    <a:p>
                      <a:r>
                        <a:rPr lang="de-DE" sz="1000" dirty="0"/>
                        <a:t>[…] </a:t>
                      </a:r>
                      <a:r>
                        <a:rPr lang="de-DE" sz="1000" dirty="0" err="1"/>
                        <a:t>is</a:t>
                      </a:r>
                      <a:r>
                        <a:rPr lang="de-DE" sz="1000" dirty="0"/>
                        <a:t> </a:t>
                      </a:r>
                      <a:r>
                        <a:rPr lang="de-DE" sz="1000" dirty="0" err="1"/>
                        <a:t>provided</a:t>
                      </a:r>
                      <a:r>
                        <a:rPr lang="de-DE" sz="1000" dirty="0"/>
                        <a:t> as </a:t>
                      </a:r>
                      <a:r>
                        <a:rPr lang="de-DE" sz="1000" dirty="0" err="1"/>
                        <a:t>document</a:t>
                      </a:r>
                      <a:r>
                        <a:rPr lang="de-DE" sz="1000" dirty="0"/>
                        <a:t> </a:t>
                      </a:r>
                      <a:r>
                        <a:rPr lang="de-DE" sz="1000" dirty="0" err="1"/>
                        <a:t>referenced</a:t>
                      </a:r>
                      <a:r>
                        <a:rPr lang="de-DE" sz="1000" dirty="0"/>
                        <a:t> as URL </a:t>
                      </a:r>
                      <a:r>
                        <a:rPr lang="de-DE" sz="1000" dirty="0" err="1"/>
                        <a:t>or</a:t>
                      </a:r>
                      <a:r>
                        <a:rPr lang="de-DE" sz="1000" dirty="0"/>
                        <a:t> DOI. SI </a:t>
                      </a:r>
                      <a:r>
                        <a:rPr lang="de-DE" sz="1000" dirty="0" err="1"/>
                        <a:t>traceability</a:t>
                      </a:r>
                      <a:r>
                        <a:rPr lang="de-DE" sz="1000" dirty="0"/>
                        <a:t> </a:t>
                      </a:r>
                      <a:r>
                        <a:rPr lang="de-DE" sz="1000" dirty="0" err="1"/>
                        <a:t>is</a:t>
                      </a:r>
                      <a:r>
                        <a:rPr lang="de-DE" sz="1000" dirty="0"/>
                        <a:t> </a:t>
                      </a:r>
                      <a:r>
                        <a:rPr lang="de-DE" sz="1000" dirty="0" err="1"/>
                        <a:t>achieved</a:t>
                      </a:r>
                      <a:r>
                        <a:rPr lang="de-DE" sz="1000" dirty="0"/>
                        <a:t>.</a:t>
                      </a:r>
                      <a:r>
                        <a:rPr lang="en-US" sz="1000" dirty="0"/>
                        <a:t> </a:t>
                      </a:r>
                      <a:br>
                        <a:rPr lang="en-US" sz="1000" dirty="0"/>
                      </a:br>
                      <a:br>
                        <a:rPr lang="en-US" sz="1000" dirty="0"/>
                      </a:br>
                      <a:r>
                        <a:rPr lang="en-US" sz="1000" i="1" dirty="0"/>
                        <a:t>or</a:t>
                      </a:r>
                      <a:br>
                        <a:rPr lang="de-DE" sz="1000" dirty="0"/>
                      </a:br>
                      <a:br>
                        <a:rPr lang="de-DE" sz="1000" dirty="0"/>
                      </a:br>
                      <a:r>
                        <a:rPr lang="de-DE" sz="1000" dirty="0" err="1"/>
                        <a:t>Metadata</a:t>
                      </a:r>
                      <a:r>
                        <a:rPr lang="de-DE" sz="1000" dirty="0"/>
                        <a:t> </a:t>
                      </a:r>
                      <a:r>
                        <a:rPr lang="de-DE" sz="1000" dirty="0" err="1"/>
                        <a:t>references</a:t>
                      </a:r>
                      <a:r>
                        <a:rPr lang="de-DE" sz="1000" dirty="0"/>
                        <a:t>, e.g.</a:t>
                      </a:r>
                    </a:p>
                    <a:p>
                      <a:pPr lvl="0"/>
                      <a:r>
                        <a:rPr lang="de-DE" sz="1000" dirty="0"/>
                        <a:t>- a </a:t>
                      </a:r>
                      <a:r>
                        <a:rPr lang="de-DE" sz="1000" dirty="0" err="1"/>
                        <a:t>citable</a:t>
                      </a:r>
                      <a:r>
                        <a:rPr lang="de-DE" sz="1000" dirty="0"/>
                        <a:t> peer-</a:t>
                      </a:r>
                      <a:r>
                        <a:rPr lang="de-DE" sz="1000" dirty="0" err="1"/>
                        <a:t>reviewed</a:t>
                      </a:r>
                      <a:r>
                        <a:rPr lang="de-DE" sz="1000" dirty="0"/>
                        <a:t> </a:t>
                      </a:r>
                      <a:r>
                        <a:rPr lang="de-DE" sz="1000" dirty="0" err="1"/>
                        <a:t>algorithm</a:t>
                      </a:r>
                      <a:endParaRPr lang="de-DE" sz="1000" dirty="0"/>
                    </a:p>
                    <a:p>
                      <a:pPr lvl="0"/>
                      <a:r>
                        <a:rPr lang="de-DE" sz="1000" dirty="0"/>
                        <a:t>- </a:t>
                      </a:r>
                      <a:r>
                        <a:rPr lang="de-DE" sz="1000" dirty="0" err="1"/>
                        <a:t>technical</a:t>
                      </a:r>
                      <a:r>
                        <a:rPr lang="de-DE" sz="1000" dirty="0"/>
                        <a:t> </a:t>
                      </a:r>
                      <a:r>
                        <a:rPr lang="de-DE" sz="1000" dirty="0" err="1"/>
                        <a:t>documentation</a:t>
                      </a:r>
                      <a:r>
                        <a:rPr lang="de-DE" sz="1000" dirty="0"/>
                        <a:t> </a:t>
                      </a:r>
                      <a:r>
                        <a:rPr lang="de-DE" sz="1000" dirty="0" err="1"/>
                        <a:t>regarding</a:t>
                      </a:r>
                      <a:r>
                        <a:rPr lang="de-DE" sz="1000" dirty="0"/>
                        <a:t> the </a:t>
                      </a:r>
                      <a:r>
                        <a:rPr lang="de-DE" sz="1000" dirty="0" err="1"/>
                        <a:t>algorithm</a:t>
                      </a:r>
                      <a:r>
                        <a:rPr lang="de-DE" sz="1000" dirty="0"/>
                        <a:t> </a:t>
                      </a:r>
                      <a:r>
                        <a:rPr lang="de-DE" sz="1000" dirty="0" err="1"/>
                        <a:t>used</a:t>
                      </a:r>
                      <a:r>
                        <a:rPr lang="de-DE" sz="1000" dirty="0"/>
                        <a:t> to […] </a:t>
                      </a:r>
                      <a:r>
                        <a:rPr lang="de-DE" sz="1000" dirty="0" err="1"/>
                        <a:t>is</a:t>
                      </a:r>
                      <a:r>
                        <a:rPr lang="de-DE" sz="1000" dirty="0"/>
                        <a:t> </a:t>
                      </a:r>
                      <a:r>
                        <a:rPr lang="de-DE" sz="1000" dirty="0" err="1"/>
                        <a:t>expressed</a:t>
                      </a:r>
                      <a:r>
                        <a:rPr lang="de-DE" sz="1000" dirty="0"/>
                        <a:t> as URLs </a:t>
                      </a:r>
                      <a:r>
                        <a:rPr lang="de-DE" sz="1000" dirty="0" err="1"/>
                        <a:t>or</a:t>
                      </a:r>
                      <a:r>
                        <a:rPr lang="de-DE" sz="1000" dirty="0"/>
                        <a:t> DOIs</a:t>
                      </a:r>
                    </a:p>
                    <a:p>
                      <a:pPr lvl="0"/>
                      <a:r>
                        <a:rPr lang="de-DE" sz="1000" dirty="0"/>
                        <a:t>- the </a:t>
                      </a:r>
                      <a:r>
                        <a:rPr lang="de-DE" sz="1000" dirty="0" err="1"/>
                        <a:t>sources</a:t>
                      </a:r>
                      <a:r>
                        <a:rPr lang="de-DE" sz="1000" dirty="0"/>
                        <a:t> of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000" dirty="0"/>
                    </a:p>
                  </a:txBody>
                  <a:tcPr>
                    <a:solidFill>
                      <a:srgbClr val="F2F2F2"/>
                    </a:solidFill>
                  </a:tcPr>
                </a:tc>
                <a:extLst>
                  <a:ext uri="{0D108BD9-81ED-4DB2-BD59-A6C34878D82A}">
                    <a16:rowId xmlns:a16="http://schemas.microsoft.com/office/drawing/2014/main" val="3709518322"/>
                  </a:ext>
                </a:extLst>
              </a:tr>
            </a:tbl>
          </a:graphicData>
        </a:graphic>
      </p:graphicFrame>
      <p:sp>
        <p:nvSpPr>
          <p:cNvPr id="4" name="TextBox 3"/>
          <p:cNvSpPr txBox="1"/>
          <p:nvPr/>
        </p:nvSpPr>
        <p:spPr>
          <a:xfrm>
            <a:off x="457200" y="4935748"/>
            <a:ext cx="11277295" cy="1384995"/>
          </a:xfrm>
          <a:prstGeom prst="rect">
            <a:avLst/>
          </a:prstGeom>
          <a:noFill/>
        </p:spPr>
        <p:txBody>
          <a:bodyPr wrap="square">
            <a:spAutoFit/>
          </a:bodyPr>
          <a:lstStyle/>
          <a:p>
            <a:r>
              <a:rPr sz="1200" b="1" dirty="0"/>
              <a:t>Internal notes: </a:t>
            </a:r>
            <a:br>
              <a:rPr lang="de-DE" sz="1200" b="1" dirty="0"/>
            </a:br>
            <a:br>
              <a:rPr lang="de-DE" sz="1200" b="1" dirty="0"/>
            </a:br>
            <a:r>
              <a:rPr lang="de-DE" sz="1200" dirty="0"/>
              <a:t>How to handle </a:t>
            </a:r>
            <a:r>
              <a:rPr lang="de-DE" sz="1200" dirty="0" err="1"/>
              <a:t>references</a:t>
            </a:r>
            <a:r>
              <a:rPr lang="de-DE" sz="1200" dirty="0"/>
              <a:t> (DOIs, URLs)? (</a:t>
            </a:r>
            <a:r>
              <a:rPr lang="de-DE" sz="1200" dirty="0" err="1"/>
              <a:t>see</a:t>
            </a:r>
            <a:r>
              <a:rPr lang="de-DE" sz="1200" dirty="0"/>
              <a:t> also last CEOS-ARD OG </a:t>
            </a:r>
            <a:r>
              <a:rPr lang="de-DE" sz="1200" dirty="0" err="1"/>
              <a:t>meeting</a:t>
            </a:r>
            <a:r>
              <a:rPr lang="de-DE" sz="1200" dirty="0"/>
              <a:t>)</a:t>
            </a:r>
            <a:endParaRPr lang="de-DE" sz="1200" b="1" dirty="0"/>
          </a:p>
          <a:p>
            <a:endParaRPr lang="de-DE" sz="1200" dirty="0"/>
          </a:p>
          <a:p>
            <a:r>
              <a:rPr lang="de-DE" sz="1200" dirty="0" err="1"/>
              <a:t>We</a:t>
            </a:r>
            <a:r>
              <a:rPr lang="de-DE" sz="1200" dirty="0"/>
              <a:t> </a:t>
            </a:r>
            <a:r>
              <a:rPr lang="de-DE" sz="1200" dirty="0" err="1"/>
              <a:t>need</a:t>
            </a:r>
            <a:r>
              <a:rPr lang="de-DE" sz="1200" dirty="0"/>
              <a:t> to </a:t>
            </a:r>
            <a:r>
              <a:rPr lang="de-DE" sz="1200" dirty="0" err="1"/>
              <a:t>consider</a:t>
            </a:r>
            <a:r>
              <a:rPr lang="de-DE" sz="1200" dirty="0"/>
              <a:t> per-</a:t>
            </a:r>
            <a:r>
              <a:rPr lang="de-DE" sz="1200" dirty="0" err="1"/>
              <a:t>product</a:t>
            </a:r>
            <a:r>
              <a:rPr lang="de-DE" sz="1200" dirty="0"/>
              <a:t> DOI </a:t>
            </a:r>
            <a:r>
              <a:rPr lang="de-DE" sz="1200" dirty="0" err="1"/>
              <a:t>vs</a:t>
            </a:r>
            <a:r>
              <a:rPr lang="de-DE" sz="1200" dirty="0"/>
              <a:t> </a:t>
            </a:r>
            <a:r>
              <a:rPr lang="de-DE" sz="1200" dirty="0" err="1"/>
              <a:t>other</a:t>
            </a:r>
            <a:r>
              <a:rPr lang="de-DE" sz="1200" dirty="0"/>
              <a:t> </a:t>
            </a:r>
            <a:r>
              <a:rPr lang="de-DE" sz="1200" dirty="0" err="1"/>
              <a:t>references</a:t>
            </a:r>
            <a:r>
              <a:rPr lang="de-DE" sz="1200" dirty="0"/>
              <a:t>, e.g. to </a:t>
            </a:r>
            <a:r>
              <a:rPr lang="de-DE" sz="1200" dirty="0" err="1"/>
              <a:t>algorithms</a:t>
            </a:r>
            <a:r>
              <a:rPr lang="de-DE" sz="1200" dirty="0"/>
              <a:t>, </a:t>
            </a:r>
            <a:r>
              <a:rPr lang="de-DE" sz="1200" dirty="0" err="1"/>
              <a:t>which</a:t>
            </a:r>
            <a:r>
              <a:rPr lang="de-DE" sz="1200" dirty="0"/>
              <a:t> </a:t>
            </a:r>
            <a:r>
              <a:rPr lang="de-DE" sz="1200" dirty="0" err="1"/>
              <a:t>may</a:t>
            </a:r>
            <a:r>
              <a:rPr lang="de-DE" sz="1200" dirty="0"/>
              <a:t> </a:t>
            </a:r>
            <a:r>
              <a:rPr lang="de-DE" sz="1200" dirty="0" err="1"/>
              <a:t>be</a:t>
            </a:r>
            <a:r>
              <a:rPr lang="de-DE" sz="1200" dirty="0"/>
              <a:t> external to the </a:t>
            </a:r>
            <a:r>
              <a:rPr lang="de-DE" sz="1200" dirty="0" err="1"/>
              <a:t>data</a:t>
            </a:r>
            <a:r>
              <a:rPr lang="de-DE" sz="1200" dirty="0"/>
              <a:t> </a:t>
            </a:r>
            <a:r>
              <a:rPr lang="de-DE" sz="1200" dirty="0" err="1"/>
              <a:t>provider</a:t>
            </a:r>
            <a:r>
              <a:rPr lang="de-DE" sz="1200" dirty="0"/>
              <a:t>.</a:t>
            </a:r>
            <a:br>
              <a:rPr lang="de-DE" sz="1200" dirty="0"/>
            </a:br>
            <a:br>
              <a:rPr lang="de-DE" sz="1200" dirty="0"/>
            </a:br>
            <a:r>
              <a:rPr lang="de-DE" sz="1200" dirty="0" err="1"/>
              <a:t>Should</a:t>
            </a:r>
            <a:r>
              <a:rPr lang="de-DE" sz="1200" dirty="0"/>
              <a:t> </a:t>
            </a:r>
            <a:r>
              <a:rPr lang="de-DE" sz="1200" dirty="0" err="1"/>
              <a:t>we</a:t>
            </a:r>
            <a:r>
              <a:rPr lang="de-DE" sz="1200" dirty="0"/>
              <a:t> </a:t>
            </a:r>
            <a:r>
              <a:rPr lang="de-DE" sz="1200" dirty="0" err="1"/>
              <a:t>actually</a:t>
            </a:r>
            <a:r>
              <a:rPr lang="de-DE" sz="1200" dirty="0"/>
              <a:t> </a:t>
            </a:r>
            <a:r>
              <a:rPr lang="de-DE" sz="1200" dirty="0" err="1"/>
              <a:t>describe</a:t>
            </a:r>
            <a:r>
              <a:rPr lang="de-DE" sz="1200" dirty="0"/>
              <a:t> </a:t>
            </a:r>
            <a:r>
              <a:rPr lang="de-DE" sz="1200" dirty="0" err="1"/>
              <a:t>whether</a:t>
            </a:r>
            <a:r>
              <a:rPr lang="de-DE" sz="1200" dirty="0"/>
              <a:t> </a:t>
            </a:r>
            <a:r>
              <a:rPr lang="de-DE" sz="1200" dirty="0" err="1"/>
              <a:t>something</a:t>
            </a:r>
            <a:r>
              <a:rPr lang="de-DE" sz="1200" dirty="0"/>
              <a:t> </a:t>
            </a:r>
            <a:r>
              <a:rPr lang="de-DE" sz="1200" dirty="0" err="1"/>
              <a:t>needs</a:t>
            </a:r>
            <a:r>
              <a:rPr lang="de-DE" sz="1200" dirty="0"/>
              <a:t> to </a:t>
            </a:r>
            <a:r>
              <a:rPr lang="de-DE" sz="1200" dirty="0" err="1"/>
              <a:t>be</a:t>
            </a:r>
            <a:r>
              <a:rPr lang="de-DE" sz="1200" dirty="0"/>
              <a:t> a link </a:t>
            </a:r>
            <a:r>
              <a:rPr lang="de-DE" sz="1200" dirty="0" err="1"/>
              <a:t>or</a:t>
            </a:r>
            <a:r>
              <a:rPr lang="de-DE" sz="1200" dirty="0"/>
              <a:t> </a:t>
            </a:r>
            <a:r>
              <a:rPr lang="de-DE" sz="1200" dirty="0" err="1"/>
              <a:t>can</a:t>
            </a:r>
            <a:r>
              <a:rPr lang="de-DE" sz="1200" dirty="0"/>
              <a:t> </a:t>
            </a:r>
            <a:r>
              <a:rPr lang="de-DE" sz="1200" dirty="0" err="1"/>
              <a:t>some</a:t>
            </a:r>
            <a:r>
              <a:rPr lang="de-DE" sz="1200" dirty="0"/>
              <a:t> </a:t>
            </a:r>
            <a:r>
              <a:rPr lang="de-DE" sz="1200" dirty="0" err="1"/>
              <a:t>information</a:t>
            </a:r>
            <a:r>
              <a:rPr lang="de-DE" sz="1200" dirty="0"/>
              <a:t> also </a:t>
            </a:r>
            <a:r>
              <a:rPr lang="de-DE" sz="1200" dirty="0" err="1"/>
              <a:t>be</a:t>
            </a:r>
            <a:r>
              <a:rPr lang="de-DE" sz="1200" dirty="0"/>
              <a:t> </a:t>
            </a:r>
            <a:r>
              <a:rPr lang="de-DE" sz="1200" dirty="0" err="1"/>
              <a:t>provided</a:t>
            </a:r>
            <a:r>
              <a:rPr lang="de-DE" sz="1200" dirty="0"/>
              <a:t> </a:t>
            </a:r>
            <a:r>
              <a:rPr lang="de-DE" sz="1200" dirty="0" err="1"/>
              <a:t>directly</a:t>
            </a:r>
            <a:r>
              <a:rPr lang="de-DE" sz="1200" dirty="0"/>
              <a:t> in the </a:t>
            </a:r>
            <a:r>
              <a:rPr lang="de-DE" sz="1200" dirty="0" err="1"/>
              <a:t>metadata</a:t>
            </a:r>
            <a:r>
              <a:rPr lang="de-DE" sz="1200" dirty="0"/>
              <a:t>?</a:t>
            </a:r>
            <a:endParaRPr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0</TotalTime>
  <Words>14956</Words>
  <Application>Microsoft Office PowerPoint</Application>
  <PresentationFormat>Breitbild</PresentationFormat>
  <Paragraphs>1919</Paragraphs>
  <Slides>50</Slides>
  <Notes>24</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50</vt:i4>
      </vt:variant>
    </vt:vector>
  </HeadingPairs>
  <TitlesOfParts>
    <vt:vector size="53" baseType="lpstr">
      <vt:lpstr>Arial</vt:lpstr>
      <vt:lpstr>Calibri</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Matthias Mohr</cp:lastModifiedBy>
  <cp:revision>31</cp:revision>
  <dcterms:created xsi:type="dcterms:W3CDTF">2013-01-27T09:14:16Z</dcterms:created>
  <dcterms:modified xsi:type="dcterms:W3CDTF">2026-08-19T16:50:21Z</dcterms:modified>
  <cp:category/>
</cp:coreProperties>
</file>