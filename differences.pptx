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**Title (ST)**: Match NLSR "Atmospheric Corrections"</a:t>
            </a:r>
          </a:p>
          <a:p/>
          <a:p>
            <a:r>
              <a:t>**Threshold — description (ST)**: No change</a:t>
            </a:r>
          </a:p>
          <a:p/>
          <a:p>
            <a:r>
              <a:t>**Threshold — description (NLSR)**: Remove the DOI landing page paragraphs — covered by the category-level verbiage; keep:</a:t>
            </a:r>
          </a:p>
          <a:p/>
          <a:p>
            <a:r>
              <a:t>```</a:t>
            </a:r>
          </a:p>
          <a:p>
            <a:r>
              <a:t>Corrections are applied for atmospheric scattering.</a:t>
            </a:r>
          </a:p>
          <a:p>
            <a:r>
              <a:t>```</a:t>
            </a:r>
          </a:p>
          <a:p/>
          <a:p>
            <a:r>
              <a:t>**Threshold — notes (NLSR)**: Remove — belongs to the DOI landing page verbiage.</a:t>
            </a:r>
          </a:p>
          <a:p/>
          <a:p>
            <a:r>
              <a:t>INTERNAL NOTES:</a:t>
            </a:r>
          </a:p>
          <a:p>
            <a:r>
              <a:t>For DOI related discussions see "PFS-specific overrides of requirement categories".</a:t>
            </a:r>
          </a:p>
          <a:p/>
          <a:p>
            <a:r>
              <a:t>The two requirements intentionally differ in content (ST: surface temperature retrieval methods; NLSR: atmospheric scattering) and stay separate; only the title and the boilerplate are aligned.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(AR requirement wording):</a:t>
            </a:r>
          </a:p>
          <a:p/>
          <a:p>
            <a:r>
              <a:t>```</a:t>
            </a:r>
          </a:p>
          <a:p>
            <a:r>
              <a:t>Specification of corrections applied for molecular (Rayleigh) scattering and for aerosol scattering and absorption.</a:t>
            </a:r>
          </a:p>
          <a:p>
            <a:r>
              <a:t>```</a:t>
            </a:r>
          </a:p>
          <a:p/>
          <a:p>
            <a:r>
              <a:t>**Threshold — notes**: Keep Note as is for AR. Remove Note for SR.</a:t>
            </a:r>
          </a:p>
          <a:p/>
          <a:p>
            <a:r>
              <a:t>INTERNAL NOTES:</a:t>
            </a:r>
          </a:p>
          <a:p>
            <a:r>
              <a:t>For DOI related discussions see "PFS-specific overrides of requirement categories".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**Description**: Keep as is.</a:t>
            </a:r>
          </a:p>
          <a:p/>
          <a:p>
            <a:r>
              <a:t>**Threshold — description** (AR requirement wording):</a:t>
            </a:r>
          </a:p>
          <a:p/>
          <a:p>
            <a:r>
              <a:t>```</a:t>
            </a:r>
          </a:p>
          <a:p>
            <a:r>
              <a:t>Sub-pixel uncertainty is achieved in **relative** geolocation, that is, the pixels from the same instrument and platform are consistently located, and are thus comparable, through time. Sub-pixel uncertainty is taken to be less than or equal to 0.5-pixel radial root mean square error (rRMSE) or equivalent in Circular Error Probability (CEP) relative to a defined reference image. A consistent gridding/sampling frame is used, including common cell size, origin, and nominal sample point location within the cell (centre, ll, ur).</a:t>
            </a:r>
          </a:p>
          <a:p/>
          <a:p>
            <a:r>
              <a:t>Relevant metadata must be provided under [@geometric-uncertainty] and [@instrument].</a:t>
            </a:r>
          </a:p>
          <a:p>
            <a:r>
              <a:t>```</a:t>
            </a:r>
          </a:p>
          <a:p/>
          <a:p>
            <a:r>
              <a:t>**Threshold — notes** (AR notes wording):</a:t>
            </a:r>
          </a:p>
          <a:p/>
          <a:p>
            <a:r>
              <a:t>```</a:t>
            </a:r>
          </a:p>
          <a:p>
            <a:r>
              <a:t>1. The threshold level will not necessarily enable interoperability between data from different sources as the geometric corrections for each of the sources may differ.</a:t>
            </a:r>
          </a:p>
          <a:p>
            <a:r>
              <a:t>2. It is useful to note if the sensor is used at its native resolution before geometric correction or that some resampling must be done.</a:t>
            </a:r>
          </a:p>
          <a:p>
            <a:r>
              <a:t>```</a:t>
            </a:r>
          </a:p>
          <a:p/>
          <a:p>
            <a:r>
              <a:t>**Goal — description** (AR notes wording):</a:t>
            </a:r>
          </a:p>
          <a:p/>
          <a:p>
            <a:r>
              <a:t>```</a:t>
            </a:r>
          </a:p>
          <a:p>
            <a:r>
              <a:t>Sub-pixel uncertainty is achieved relative to an identified absolute independent terrestrial referencing system (such as a national map grid). Relevant metadata must be provided under Section “General Metadata: Geometric Uncertainty of the Data” and Section “General Metadata: Instrument”.</a:t>
            </a:r>
          </a:p>
          <a:p>
            <a:r>
              <a:t>```</a:t>
            </a:r>
          </a:p>
          <a:p/>
          <a:p>
            <a:r>
              <a:t>**Goal — notes** (AR notes wording):</a:t>
            </a:r>
          </a:p>
          <a:p/>
          <a:p>
            <a:r>
              <a:t>```</a:t>
            </a:r>
          </a:p>
          <a:p>
            <a:r>
              <a:t>This requirement is intended to enable interoperability between imagery from different platforms that meet this level of correction and with non-image spatial data such as GIS layers and terrain models.</a:t>
            </a:r>
          </a:p>
          <a:p>
            <a:r>
              <a:t>```</a:t>
            </a:r>
          </a:p>
          <a:p/>
          <a:p>
            <a:r>
              <a:t>INTERNAL NOTES:</a:t>
            </a:r>
          </a:p>
          <a:p>
            <a:r>
              <a:t>ST 6.0 already aligned the metadata references ([@geometric-uncertainty]); remaining differences to the proposal: "accuracy" vs "uncertainty", "0.5 pixel" vs "0.5-pixel", and the gridding/sampling sentence.</a:t>
            </a:r>
          </a:p>
          <a:p/>
          <a:p>
            <a:r>
              <a:t>ST: requirement not yet touched; will accept any proposal for consistency (action: Ferran and Peter). In the same approach as AR, ST decided to replace "Accuracy" with "Uncertainty" across the document.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(SR)**: No Change</a:t>
            </a:r>
          </a:p>
          <a:p/>
          <a:p>
            <a:r>
              <a:t>**Threshold — description (AR)**: No change</a:t>
            </a:r>
          </a:p>
          <a:p/>
          <a:p>
            <a:r>
              <a:t>**Goal — description (SR)**: Match AR "Data is corrected for ozone if spectral bands are affected." Remove "Metadata contains a single DOI landing page with references to: a citable peer-reviewed algorithm technical documentation regarding the implementation of that algorithm"</a:t>
            </a:r>
          </a:p>
          <a:p/>
          <a:p>
            <a:r>
              <a:t>**Goal — description (AR)**: No change</a:t>
            </a:r>
          </a:p>
          <a:p/>
          <a:p>
            <a:r>
              <a:t>INTERNAL NOTES:</a:t>
            </a:r>
          </a:p>
          <a:p>
            <a:r>
              <a:t>For DOI related discussions see "PFS-specific overrides of requirement categories".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(AR requirement wording):</a:t>
            </a:r>
          </a:p>
          <a:p/>
          <a:p>
            <a:r>
              <a:t>```</a:t>
            </a:r>
          </a:p>
          <a:p>
            <a:r>
              <a:t>Corrections are applied for water vapour if spectral bands are affected.</a:t>
            </a:r>
          </a:p>
          <a:p>
            <a:r>
              <a:t>```</a:t>
            </a:r>
          </a:p>
          <a:p/>
          <a:p>
            <a:r>
              <a:t>**Threshold — notes**: SR match AR</a:t>
            </a:r>
          </a:p>
          <a:p/>
          <a:p>
            <a:r>
              <a:t>INTERNAL NOTES:</a:t>
            </a:r>
          </a:p>
          <a:p>
            <a:r>
              <a:t>For DOI related discussions see "PFS-specific overrides of requirement categories".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**Goal — description** (AR requirement wording):</a:t>
            </a:r>
          </a:p>
          <a:p/>
          <a:p>
            <a:r>
              <a:t>```</a:t>
            </a:r>
          </a:p>
          <a:p>
            <a:r>
              <a:t>Measurements are normalised (to nadir) to remove the effect of bidirectional dependence of the upwelling radiance on observation and solar-illumination geometries.</a:t>
            </a:r>
          </a:p>
          <a:p>
            <a:r>
              <a:t>```</a:t>
            </a:r>
          </a:p>
          <a:p/>
          <a:p>
            <a:r>
              <a:t>**Goal — notes**: Remove for NLSR and SR</a:t>
            </a:r>
          </a:p>
          <a:p/>
          <a:p>
            <a:r>
              <a:t>INTERNAL NOTES:</a:t>
            </a:r>
          </a:p>
          <a:p>
            <a:r>
              <a:t>For DOI related discussions see "PFS-specific overrides of requirement categories".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**Description**: Remove for SR and NLSR</a:t>
            </a:r>
          </a:p>
          <a:p/>
          <a:p>
            <a:r>
              <a:t>**Threshold — description (AR, NLSR, SR)**: Adopt the ST 6.0 wording for all optical PFS:</a:t>
            </a:r>
          </a:p>
          <a:p/>
          <a:p>
            <a:r>
              <a:t>```</a:t>
            </a:r>
          </a:p>
          <a:p>
            <a:r>
              <a:t>A self-assessed declaration of per-pixel measurement uncertainty, following Section 3.2.4 (Uncertainty Characterization) of the Joint Earth Observation Mission Quality Assessment Framework - Optical Guidelines is provided, meeting the Basic or Good criteria.</a:t>
            </a:r>
          </a:p>
          <a:p>
            <a:r>
              <a:t>```</a:t>
            </a:r>
          </a:p>
          <a:p/>
          <a:p>
            <a:r>
              <a:t>**Goal — description (AR, NLSR, SR)**:</a:t>
            </a:r>
          </a:p>
          <a:p/>
          <a:p>
            <a:r>
              <a:t>```</a:t>
            </a:r>
          </a:p>
          <a:p>
            <a:r>
              <a:t>A self-assessed declaration of per-pixel measurement uncertainty, following Section 3.2.4 (Uncertainty Characterization) of the Joint Earth Observation Mission Quality Assessment Framework - Optical Guidelines is provided, meeting the Excellent or Ideal criteria.</a:t>
            </a:r>
          </a:p>
          <a:p>
            <a:r>
              <a:t>```</a:t>
            </a:r>
          </a:p>
          <a:p/>
          <a:p>
            <a:r>
              <a:t>INTERNAL NOTES:</a:t>
            </a:r>
          </a:p>
          <a:p>
            <a:r>
              <a:t>For DOI related discussions see "PFS-specific overrides of requirement categories".</a:t>
            </a:r>
          </a:p>
          <a:p/>
          <a:p>
            <a:r>
              <a:t>ST updated this requirement following WGCV's recommendation to include uncertainty information at the threshold level, including the ESA-NASA-USGS quality guidelines, and proposes adopting it for all optical PFS; it also helps address the algorithms discussion (issue #84). This would constitute a major update for SR and NLSR and potentially a minor update for 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(NLSR, SR, ST)**: Match AR Goal (swap: the AR Goal text becomes the Threshold)</a:t>
            </a:r>
          </a:p>
          <a:p/>
          <a:p>
            <a:r>
              <a:t>**Goal — description (NLSR, SR, ST)**: Match AR Threshold (swap: the AR Threshold text becomes the Goal)</a:t>
            </a:r>
          </a:p>
          <a:p/>
          <a:p>
            <a:r>
              <a:t>**Threshold — notes**: Remove the note</a:t>
            </a:r>
          </a:p>
          <a:p/>
          <a:p>
            <a:r>
              <a:t>INTERNAL NOTES:</a:t>
            </a:r>
          </a:p>
          <a:p>
            <a:r>
              <a:t>For DOI related discussions see "PFS-specific overrides of requirement categories".</a:t>
            </a:r>
          </a:p>
          <a:p/>
          <a:p>
            <a:r>
              <a:t>ST agrees to adopt the AR requirement with swapped levels and without the note: with an uncertainty requirement at threshold, full provision of algorithm information is not required at threshold too, aiding commercial sector compliance (issue #55).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(AR, NLSR, SR)**: Align on:</a:t>
            </a:r>
          </a:p>
          <a:p/>
          <a:p>
            <a:r>
              <a:t>```</a:t>
            </a:r>
          </a:p>
          <a:p>
            <a:r>
              <a:t>The metadata identifies the sources of auxiliary data used in the generation process.</a:t>
            </a:r>
          </a:p>
          <a:p>
            <a:r>
              <a:t>```</a:t>
            </a:r>
          </a:p>
          <a:p/>
          <a:p>
            <a:r>
              <a:t>**Goal — description (NLSR, SR)**: Match AR</a:t>
            </a:r>
          </a:p>
          <a:p/>
          <a:p>
            <a:r>
              <a:t>**Threshold — notes (NLSR, SR)**: Align the note wording with the note of the SAR goal:</a:t>
            </a:r>
          </a:p>
          <a:p/>
          <a:p>
            <a:r>
              <a:t>```</a:t>
            </a:r>
          </a:p>
          <a:p>
            <a:r>
              <a:t>Auxiliary data includes DEMs, etc., and any additional data sources used in the generation of the product.</a:t>
            </a:r>
          </a:p>
          <a:p>
            <a:r>
              <a:t>```</a:t>
            </a:r>
          </a:p>
          <a:p/>
          <a:p>
            <a:r>
              <a:t>INTERNAL NOTES:</a:t>
            </a:r>
          </a:p>
          <a:p>
            <a:r>
              <a:t>For DOI related discussions see "PFS-specific overrides of requirement categories".</a:t>
            </a:r>
          </a:p>
          <a:p/>
          <a:p>
            <a:r>
              <a:t>The SAR variant only defines a goal; consider adding the aligned threshold requirement there as well.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**Title**: Align on "Coordinate Reference System" (drop the "Product" prefix)</a:t>
            </a:r>
          </a:p>
          <a:p/>
          <a:p>
            <a:r>
              <a:t>**Threshold — description (AR)**: Match NLSR "The metadata lists the coordinate reference system that has been used."</a:t>
            </a:r>
          </a:p>
          <a:p/>
          <a:p>
            <a:r>
              <a:t>INTERNAL NOTES:</a:t>
            </a:r>
          </a:p>
          <a:p>
            <a:r>
              <a:t>The SAR variant additionally requires a standardised format (e.g., WKT) and the EPSG code — consider adopting this for the optical PFS in a future revision.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**Title**: Align on "Data Access"</a:t>
            </a:r>
          </a:p>
          <a:p/>
          <a:p>
            <a:r>
              <a:t>**Threshold — description (AR, NLSR, SR, ST)**: Replace with:</a:t>
            </a:r>
          </a:p>
          <a:p/>
          <a:p>
            <a:r>
              <a:t>```</a:t>
            </a:r>
          </a:p>
          <a:p>
            <a:r>
              <a:t>The metadata identifies the location from where the product can be retrieved, expressed as a URL or DOI.</a:t>
            </a:r>
          </a:p>
          <a:p>
            <a:r>
              <a:t>```</a:t>
            </a:r>
          </a:p>
          <a:p/>
          <a:p>
            <a:r>
              <a:t>**Goal — description (AR, NLSR, SR, ST)**: Add as optional goal, matching the SAR variants:</a:t>
            </a:r>
          </a:p>
          <a:p/>
          <a:p>
            <a:r>
              <a:t>```</a:t>
            </a:r>
          </a:p>
          <a:p>
            <a:r>
              <a:t>The metadata identifies an online location from where the data can be consistently and reliably retrieved by a computer algorithm without any manual intervention being required.</a:t>
            </a:r>
          </a:p>
          <a:p>
            <a:r>
              <a:t>```</a:t>
            </a:r>
          </a:p>
          <a:p/>
          <a:p>
            <a:r>
              <a:t>INTERNAL NOTES:</a:t>
            </a:r>
          </a:p>
          <a:p>
            <a:r>
              <a:t>For DOI related discussions see "PFS-specific overrides of requirement categories".</a:t>
            </a:r>
          </a:p>
          <a:p/>
          <a:p>
            <a:r>
              <a:t>The current optical threshold only contains the DOI landing page sentence, which moves to category level — the proposal gives Data Access a concrete requirement, aligned with the SAR product variant. The split into Product/Source Data Access remains specific to the SAR family.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**Title**: Align on "Geographical Area"</a:t>
            </a:r>
          </a:p>
          <a:p/>
          <a:p>
            <a:r>
              <a:t>INTERNAL NOTES:</a:t>
            </a:r>
          </a:p>
          <a:p>
            <a:r>
              <a:t>The footprint conventions differ intentionally (optical: corner points; SAR: WKT polygon of the image footprint in EPSG 4326). Consider aligning on the more precise polygon/standardised-format wording across both families in a future revision.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**Goal — description (NLSR, SR)**: Match AR</a:t>
            </a:r>
          </a:p>
          <a:p/>
          <a:p>
            <a:r>
              <a:t>INTERNAL NOTES:</a:t>
            </a:r>
          </a:p>
          <a:p>
            <a:r>
              <a:t>For DOI related discussions see "PFS-specific overrides of requirement categories".</a:t>
            </a:r>
          </a:p>
          <a:p/>
          <a:p>
            <a:r>
              <a:t>Resolved for ST: it now uses the AR requirement directly (geometric-correction-methods-st was removed). ST team: agree to adopt the AR approach.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Adopt the SAR wording for all:</a:t>
            </a:r>
          </a:p>
          <a:p/>
          <a:p>
            <a:r>
              <a:t>```</a:t>
            </a:r>
          </a:p>
          <a:p>
            <a:r>
              <a:t>The instrument used to collect the data is identified in the metadata:</a:t>
            </a:r>
          </a:p>
          <a:p/>
          <a:p>
            <a:r>
              <a:t>- Satellite name</a:t>
            </a:r>
          </a:p>
          <a:p>
            <a:r>
              <a:t>- Instrument name</a:t>
            </a:r>
          </a:p>
          <a:p>
            <a:r>
              <a:t>```</a:t>
            </a:r>
          </a:p>
          <a:p/>
          <a:p>
            <a:r>
              <a:t>**Goal — description**: Align on:</a:t>
            </a:r>
          </a:p>
          <a:p/>
          <a:p>
            <a:r>
              <a:t>```</a:t>
            </a:r>
          </a:p>
          <a:p>
            <a:r>
              <a:t>As threshold, with references to the relevant CEOS Missions, Instruments, and Measurements (MIM) database record (https://ceos.org/mim-database).</a:t>
            </a:r>
          </a:p>
          <a:p>
            <a:r>
              <a:t>```</a:t>
            </a:r>
          </a:p>
          <a:p/>
          <a:p>
            <a:r>
              <a:t>INTERNAL NOTES:</a:t>
            </a:r>
          </a:p>
          <a:p>
            <a:r>
              <a:t>For DOI related discussions see "PFS-specific overrides of requirement categories".</a:t>
            </a:r>
          </a:p>
          <a:p/>
          <a:p>
            <a:r>
              <a:t>The MIM database URL (ceos.org/mim-database) supersedes the old database.eohandbook.com link used by 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Align on the SAR wording ("component/variable" instead of "component part"):</a:t>
            </a:r>
          </a:p>
          <a:p/>
          <a:p>
            <a:r>
              <a:t>```</a:t>
            </a:r>
          </a:p>
          <a:p>
            <a:r>
              <a:t>Metadata is provided in a structure that enables a computer algorithm to be used to consistently and automatically identify and extract each component/variable for further use.</a:t>
            </a:r>
          </a:p>
          <a:p>
            <a:r>
              <a:t>```</a:t>
            </a:r>
          </a:p>
          <a:p/>
          <a:p>
            <a:r>
              <a:t>**Goal — description (AR, NLSR, SR, ST)**: Extend the list of example standards:</a:t>
            </a:r>
          </a:p>
          <a:p/>
          <a:p>
            <a:r>
              <a:t>```</a:t>
            </a:r>
          </a:p>
          <a:p>
            <a:r>
              <a:t>As threshold, but metadata should be provided in a community endorsed standard that facilitates machine-readability, such as ISO 19115-2, the Climate and Forecast (CF) convention, or the Attribute Convention for Data Discovery (ACDD).</a:t>
            </a:r>
          </a:p>
          <a:p>
            <a:r>
              <a:t>```</a:t>
            </a:r>
          </a:p>
          <a:p/>
          <a:p>
            <a:r>
              <a:t>INTERNAL NOTES:</a:t>
            </a:r>
          </a:p>
          <a:p>
            <a:r>
              <a:t>The reference to the CEOS-ARD SAR Metadata Specifications remains specific to the SAR variant. The per-pixel variant has no goal — consider adding the same goal (optional) there for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(NLSR, SR)**: Match AR</a:t>
            </a:r>
          </a:p>
          <a:p/>
          <a:p>
            <a:r>
              <a:t>INTERNAL NOTES:</a:t>
            </a:r>
          </a:p>
          <a:p>
            <a:r>
              <a:t>Resolved: ST now uses the AR requirement directly (map-projection-st was removed). ST: it is unclear why the threshold became "Not Required" (introduced somewhere between v3.0 and v4.0); the ST team intends to adopt the AR PFS approach.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**Goal — description (NLSR, SR)**: Match AR</a:t>
            </a:r>
          </a:p>
          <a:p/>
          <a:p>
            <a:r>
              <a:t>INTERNAL NOTES:</a:t>
            </a:r>
          </a:p>
          <a:p>
            <a:r>
              <a:t>For DOI related discussions see "PFS-specific overrides of requirement categories".</a:t>
            </a:r>
          </a:p>
          <a:p/>
          <a:p>
            <a:r>
              <a:t>ST 6.0 upgraded provenance to a threshold requirement (reconstructable processing environment) with a reproducibility goal (issue #58). Still under discussion in the ST team; current thinking remains to introduce the threshold requirement — consider adopting this approach for the other optical PFS.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**Goal — description**: Keep per family (radiometric accuracy is assessed differently for SAR backscatter and for optical reflectance).</a:t>
            </a:r>
          </a:p>
          <a:p/>
          <a:p>
            <a:r>
              <a:t>**Goal — notes (NLSR, SR)**: Remove — covered by the category-level DOI landing page verbiage.</a:t>
            </a:r>
          </a:p>
          <a:p/>
          <a:p>
            <a:r>
              <a:t>INTERNAL NOTES:</a:t>
            </a:r>
          </a:p>
          <a:p>
            <a:r>
              <a:t>For DOI related discussions see "PFS-specific overrides of requirement categories".</a:t>
            </a:r>
          </a:p>
          <a:p/>
          <a:p>
            <a:r>
              <a:t>ST dropped its radiometric accuracy requirement in ST 6.0 (the file was removed).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**Goal — description (AR)**: Match NLSR</a:t>
            </a:r>
          </a:p>
          <a:p/>
          <a:p>
            <a:r>
              <a:t>**Goal — notes (NLSR, SR)**: Remove — covered by the category-level DOI landing page verbiage (the note also contains a typo: "sensory").</a:t>
            </a:r>
          </a:p>
          <a:p/>
          <a:p>
            <a:r>
              <a:t>INTERNAL NOTES:</a:t>
            </a:r>
          </a:p>
          <a:p>
            <a:r>
              <a:t>For DOI related discussions see "PFS-specific overrides of requirement categories".</a:t>
            </a:r>
          </a:p>
          <a:p/>
          <a:p>
            <a:r>
              <a:t>Only AR defines a threshold ("Binary description of calibrated/not calibrated only.") — consider adopting it for the other PFS (cheap and useful) or removing it from 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NLSR-SR-ST match AR</a:t>
            </a:r>
          </a:p>
          <a:p/>
          <a:p>
            <a:r>
              <a:t>**Goal — description**: NLSR-SR-ST match AR</a:t>
            </a:r>
          </a:p>
          <a:p/>
          <a:p>
            <a:r>
              <a:t>INTERNAL NOTES:</a:t>
            </a:r>
          </a:p>
          <a:p>
            <a:r>
              <a:t>For DOI related discussions see "PFS-specific overrides of requirement categories".</a:t>
            </a:r>
          </a:p>
          <a:p/>
          <a:p>
            <a:r>
              <a:t>ST has proposed to adopt the AR PFS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(NLSR, SR)**: Match AR</a:t>
            </a:r>
          </a:p>
          <a:p/>
          <a:p>
            <a:r>
              <a:t>**Goal — description (NLSR, SR)**: Match AR</a:t>
            </a:r>
          </a:p>
          <a:p/>
          <a:p>
            <a:r>
              <a:t>INTERNAL NOTES:</a:t>
            </a:r>
          </a:p>
          <a:p>
            <a:r>
              <a:t>time-sar and time-source remain SAR-specific (number of acquisitions, composites/mosaics, source acquisition time); consider requiring ISO 8601 there already at threshold — it currently only appears at goal.</a:t>
            </a:r>
          </a:p>
          <a:p/>
          <a:p>
            <a:r>
              <a:t>The current SR goal (per-pixel acquisition time) is more specific than the AR goal; if per-pixel time is essential for NLSR/SR, keep the current SR wording instead.</a:t>
            </a:r>
          </a:p>
          <a:p/>
          <a:p>
            <a:r>
              <a:t>Some PFS appear twice in this group because two separate requirements are compared together: the product acquisition time (time-sar) and the source data acquisition time (time-source). time-source was included in this comparison because it parallels the product/source split of Data Access.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**Title**: Align on "Traceability"; alternatively adopt the more precise ST title "Metrological Traceability of the Measurand to SI" for all PFS.</a:t>
            </a:r>
          </a:p>
          <a:p/>
          <a:p>
            <a:r>
              <a:t>**Goal — description (ST)**: Match AR "Data must be traceable to SI reference standard." (the DOI landing page sentence moves to category level)</a:t>
            </a:r>
          </a:p>
          <a:p/>
          <a:p>
            <a:r>
              <a:t>**Goal — notes**: Keep as is, except the DOI landing page note (covered by the category-level discussion).</a:t>
            </a:r>
          </a:p>
          <a:p/>
          <a:p>
            <a:r>
              <a:t>INTERNAL NOTES:</a:t>
            </a:r>
          </a:p>
          <a:p>
            <a:r>
              <a:t>For DOI related discussions see "PFS-specific overrides of requirement categories".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Adopt for all optical PFS, with simplified wording (issue #112):</a:t>
            </a:r>
          </a:p>
          <a:p/>
          <a:p>
            <a:r>
              <a:t>```</a:t>
            </a:r>
          </a:p>
          <a:p>
            <a:r>
              <a:t>Specification of whether a pixel is cloud-affected.</a:t>
            </a:r>
          </a:p>
          <a:p>
            <a:r>
              <a:t>```</a:t>
            </a:r>
          </a:p>
          <a:p/>
          <a:p>
            <a:r>
              <a:t>**Goal — description**:</a:t>
            </a:r>
          </a:p>
          <a:p/>
          <a:p>
            <a:r>
              <a:t>```</a:t>
            </a:r>
          </a:p>
          <a:p>
            <a:r>
              <a:t>As threshold, but information on cloud type or confidence is included.</a:t>
            </a:r>
          </a:p>
          <a:p>
            <a:r>
              <a:t>```</a:t>
            </a:r>
          </a:p>
          <a:p/>
          <a:p>
            <a:r>
              <a:t>INTERNAL NOTES:</a:t>
            </a:r>
          </a:p>
          <a:p>
            <a:r>
              <a:t>For DOI related discussions see "PFS-specific overrides of requirement categories".</a:t>
            </a:r>
          </a:p>
          <a:p/>
          <a:p>
            <a:r>
              <a:t>Agreed to adopt the requirement with this simplified wording (matches the ST 6.0 texts; GitHub issue #112).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(SR)**: Use the AR wording with "cloud shadow or cloud shadow-affected" merged:</a:t>
            </a:r>
          </a:p>
          <a:p/>
          <a:p>
            <a:r>
              <a:t>```</a:t>
            </a:r>
          </a:p>
          <a:p>
            <a:r>
              <a:t>Specification of whether a pixel is cloud shadow-affected.</a:t>
            </a:r>
          </a:p>
          <a:p>
            <a:r>
              <a:t>```</a:t>
            </a:r>
          </a:p>
          <a:p/>
          <a:p>
            <a:r>
              <a:t>**Goal — description (NLSR)**: Change wording - "Specification of whether a pixel is cloud shadow-affected."</a:t>
            </a:r>
          </a:p>
          <a:p/>
          <a:p>
            <a:r>
              <a:t>INTERNAL NOTES:</a:t>
            </a:r>
          </a:p>
          <a:p>
            <a:r>
              <a:t>For DOI related discussions see "PFS-specific overrides of requirement categories".</a:t>
            </a:r>
          </a:p>
          <a:p/>
          <a:p>
            <a:r>
              <a:t>Agreed to use the AR PFS wording with "cloud shadow or cloud shadow-affected" merged to simply "cloud shadow-affected". ST keeps it as a goal-only requirement (limited suitability for non-reflectance methods) — likely a requirement that stays unique for the ST PFS.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**Title**: Match AR "Per-pixel Assessment"</a:t>
            </a:r>
          </a:p>
          <a:p/>
          <a:p>
            <a:r>
              <a:t>**Threshold — description (NLSR, SR)**: Match AR</a:t>
            </a:r>
          </a:p>
          <a:p/>
          <a:p>
            <a:r>
              <a:t>**Goal — description (NLSR, SR)**: Match AR</a:t>
            </a:r>
          </a:p>
          <a:p/>
          <a:p>
            <a:r>
              <a:t>INTERNAL NOTES:</a:t>
            </a:r>
          </a:p>
          <a:p>
            <a:r>
              <a:t>ST added the explicit per-pixel test numbers deliberately (specifying them aids metadata machine readability and automated assessment), recognising that this diverges from the other PFS.</a:t>
            </a:r>
          </a:p>
          <a:p/>
          <a:p>
            <a:r>
              <a:t>For ST: the hard-coded test numbers (2.3, 2.4, …) in the descriptions do not work in the building blocks — the requirement numbering is generated per PFS — and need to be changed (e.g. to cross-references).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(AR)**: No change</a:t>
            </a:r>
          </a:p>
          <a:p/>
          <a:p>
            <a:r>
              <a:t>**Threshold — description (NLSR)**: Change wording to match AR phrasing - "Specification of whether a pixel is land or water"</a:t>
            </a:r>
          </a:p>
          <a:p/>
          <a:p>
            <a:r>
              <a:t>**Threshold — description (SR)**: No change</a:t>
            </a:r>
          </a:p>
          <a:p/>
          <a:p>
            <a:r>
              <a:t>**Goal — description (AR)**: No change</a:t>
            </a:r>
          </a:p>
          <a:p/>
          <a:p>
            <a:r>
              <a:t>**Goal — description (NLSR)**: Change wording to match AR phrasing - "As threshold"</a:t>
            </a:r>
          </a:p>
          <a:p/>
          <a:p>
            <a:r>
              <a:t>**Goal — description (SR)**: Change wording to match AR phrasing - "Specification of whether a pixel is land or water"</a:t>
            </a:r>
          </a:p>
          <a:p/>
          <a:p>
            <a:r>
              <a:t>INTERNAL NOTES:</a:t>
            </a:r>
          </a:p>
          <a:p>
            <a:r>
              <a:t>For DOI related discussions see "PFS-specific overrides of requirement categories".</a:t>
            </a:r>
          </a:p>
          <a:p/>
          <a:p>
            <a:r>
              <a:t>ST replaced its Snow/Ice requirement with a combined "Surface" requirement (threshold: land or water, including the information source and other relevant surface characteristic classification; goal: as threshold, plus snow or ice; external data sources listed under Auxiliary Data) — could be considered for the other optical PFS.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(AR, NLSR, SR)**: Adopt the ST wording for all optical PFS:</a:t>
            </a:r>
          </a:p>
          <a:p/>
          <a:p>
            <a:r>
              <a:t>```</a:t>
            </a:r>
          </a:p>
          <a:p>
            <a:r>
              <a:t>Pixels that do not correspond to an observation (‘No Data / Invalid / Falsified / Valid / Modelled’) are flagged.</a:t>
            </a:r>
          </a:p>
          <a:p>
            <a:r>
              <a:t>```</a:t>
            </a:r>
          </a:p>
          <a:p/>
          <a:p>
            <a:r>
              <a:t>**Goal — description (AR, NLSR, SR)**:</a:t>
            </a:r>
          </a:p>
          <a:p/>
          <a:p>
            <a:r>
              <a:t>```</a:t>
            </a:r>
          </a:p>
          <a:p>
            <a:r>
              <a:t>As threshold.</a:t>
            </a:r>
          </a:p>
          <a:p>
            <a:r>
              <a:t>```</a:t>
            </a:r>
          </a:p>
          <a:p/>
          <a:p>
            <a:r>
              <a:t>INTERNAL NOTES:</a:t>
            </a:r>
          </a:p>
          <a:p>
            <a:r>
              <a:t>ST proposes all other optical PFS adopt the five-class flag wording, addressing Peter's comment in issue #4.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NLSR-SR-ST match AR</a:t>
            </a:r>
          </a:p>
          <a:p/>
          <a:p>
            <a:r>
              <a:t>**Goal — description**: NLSR-SR-ST match AR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(NLSR)**: Change wording to maintain consistent PFS phrasing - "Specification of whether a pixel is snow/ice"</a:t>
            </a:r>
          </a:p>
          <a:p/>
          <a:p>
            <a:r>
              <a:t>**Goal — description (NLSR)**: As threshold</a:t>
            </a:r>
          </a:p>
          <a:p/>
          <a:p>
            <a:r>
              <a:t>**Threshold — description (SR)**: No change</a:t>
            </a:r>
          </a:p>
          <a:p/>
          <a:p>
            <a:r>
              <a:t>**Goal — description (SR)**: Change wording to maintain consistent PFS phrasing - "Specification of whether a pixel is snow/ice"</a:t>
            </a:r>
          </a:p>
          <a:p/>
          <a:p>
            <a:r>
              <a:t>INTERNAL NOTES:</a:t>
            </a:r>
          </a:p>
          <a:p>
            <a:r>
              <a:t>For DOI related discussions see "PFS-specific overrides of requirement categories".</a:t>
            </a:r>
          </a:p>
          <a:p/>
          <a:p>
            <a:r>
              <a:t>ST replaced its Snow/Ice requirement with a combined "Surface" requirement (threshold: land or water, including the information source and other relevant surface characteristic classification; goal: as threshold, plus snow or ice) — could be considered for the other optical PFS.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**Goal — description (SR, NLSR, ST)**: Change wording to maintain consistent PFS phrasing - "Specification of whether pixels that are not visible to the sensor due to terrain occlusion during off-nadir viewing."</a:t>
            </a:r>
          </a:p>
          <a:p/>
          <a:p>
            <a:r>
              <a:t>INTERNAL NOTES:</a:t>
            </a:r>
          </a:p>
          <a:p>
            <a:r>
              <a:t>ST removed the threshold ("Not required.") — the requirement is now goal-only like the SR/NLSR variant.</a:t>
            </a:r>
          </a:p>
          <a:p/>
          <a:p>
            <a:r>
              <a:t>Confirmed: Terrain Occlusion was introduced to the ST PFS with the initial pull request (hence visible in the draft but not in the released version). ST proposes to adopt the consistent wording proposed here.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a:t>
            </a:r>
          </a:p>
          <a:p>
            <a:r>
              <a:t>**Threshold — description**: ST-SR match AR</a:t>
            </a:r>
          </a:p>
          <a:p/>
          <a:p>
            <a:r>
              <a:t>**Goal — description (ST, SR)**: Change wording to maintain consistent PFS phrasing "Specification of the per-pixel solar and sensor viewing azimuth and zenith angles."</a:t>
            </a:r>
          </a:p>
          <a:p/>
          <a:p>
            <a:r>
              <a:t>INTERNAL NOTES:</a:t>
            </a:r>
          </a:p>
          <a:p>
            <a:r>
              <a:t>Proposal accepted by the ST team.</a:t>
            </a:r>
          </a:p>
          <a:p/>
          <a:p>
            <a:r>
              <a:t>Providing the angles instead of average angles would be a breaking change — the averages may be intentional, since the per-pixel requirement may already contain all angles specifically per pixel. It is unclear what the difference between non-average and per-pixel angles would be.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377440"/>
            <a:ext cx="11277295" cy="2011680"/>
          </a:xfrm>
          <a:prstGeom prst="rect">
            <a:avLst/>
          </a:prstGeom>
          <a:noFill/>
        </p:spPr>
        <p:txBody>
          <a:bodyPr wrap="square">
            <a:spAutoFit/>
          </a:bodyPr>
          <a:lstStyle/>
          <a:p>
            <a:pPr algn="ctr"/>
            <a:r>
              <a:rPr sz="4000" b="1"/>
              <a:t>Differences between similar building blocks</a:t>
            </a:r>
          </a:p>
          <a:p>
            <a:pPr algn="ctr"/>
            <a:r>
              <a:rPr sz="1800">
                <a:solidFill>
                  <a:srgbClr val="808080"/>
                </a:solidFill>
              </a:rPr>
              <a:t>CEOS-ARD Product Family Specifications — current wording per PFS and alignment proposals from the review feedback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Scope</a:t>
            </a:r>
          </a:p>
        </p:txBody>
      </p:sp>
      <p:sp>
        <p:nvSpPr>
          <p:cNvPr id="3" name="TextBox 2"/>
          <p:cNvSpPr txBox="1"/>
          <p:nvPr/>
        </p:nvSpPr>
        <p:spPr>
          <a:xfrm>
            <a:off x="457200" y="1097280"/>
            <a:ext cx="11277295" cy="5303520"/>
          </a:xfrm>
          <a:prstGeom prst="rect">
            <a:avLst/>
          </a:prstGeom>
          <a:noFill/>
        </p:spPr>
        <p:txBody>
          <a:bodyPr wrap="square">
            <a:spAutoFit/>
          </a:bodyPr>
          <a:lstStyle/>
          <a:p>
            <a:pPr>
              <a:spcAft>
                <a:spcPts val="1000"/>
              </a:spcAft>
            </a:pPr>
            <a:r>
              <a:rPr sz="1600"/>
              <a:t>•  Building blocks that exist in several variants (e.g. time-ar/-sar/-sr/-st) are compared; only the differences are shown — fields that are identical across all variants of a group are omitted.</a:t>
            </a:r>
          </a:p>
          <a:p>
            <a:pPr>
              <a:spcAft>
                <a:spcPts val="1000"/>
              </a:spcAft>
            </a:pPr>
            <a:r>
              <a:rPr sz="1600"/>
              <a:t>•  The groups are split by the type of the PFS that use them: used by both SAR and Optical PFS, or used only by Optical PFS.</a:t>
            </a:r>
          </a:p>
          <a:p>
            <a:pPr>
              <a:spcAft>
                <a:spcPts val="1000"/>
              </a:spcAft>
            </a:pPr>
            <a:r>
              <a:rPr sz="1600"/>
              <a:t>•  Building blocks used only by SAR PFS are omitted (as are PFS overrides that only affect them): their differences are intentional, as the SAR PFS were a combined document before being split.</a:t>
            </a:r>
          </a:p>
          <a:p>
            <a:pPr>
              <a:spcAft>
                <a:spcPts val="1000"/>
              </a:spcAft>
            </a:pPr>
            <a:r>
              <a:rPr sz="1600"/>
              <a:t>•  Compared fields: title, description, and per requirement level (threshold/goal/image) the description, the optional flag, and the notes.</a:t>
            </a:r>
          </a:p>
          <a:p>
            <a:pPr>
              <a:spcAft>
                <a:spcPts val="1000"/>
              </a:spcAft>
            </a:pPr>
            <a:r>
              <a:rPr sz="1600"/>
              <a:t>•  Ignored fields: id, dependencies, glossary, references, changes, history, remarks.</a:t>
            </a:r>
          </a:p>
          <a:p>
            <a:pPr>
              <a:spcAft>
                <a:spcPts val="1000"/>
              </a:spcAft>
            </a:pPr>
            <a:r>
              <a:rPr sz="1600"/>
              <a:t>•  Not compared: the measurement/measurand and backscatter building blocks (intentionally different per product).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How to read the tables</a:t>
            </a:r>
          </a:p>
        </p:txBody>
      </p:sp>
      <p:sp>
        <p:nvSpPr>
          <p:cNvPr id="3" name="TextBox 2"/>
          <p:cNvSpPr txBox="1"/>
          <p:nvPr/>
        </p:nvSpPr>
        <p:spPr>
          <a:xfrm>
            <a:off x="457200" y="1097280"/>
            <a:ext cx="11277295" cy="5303520"/>
          </a:xfrm>
          <a:prstGeom prst="rect">
            <a:avLst/>
          </a:prstGeom>
          <a:noFill/>
        </p:spPr>
        <p:txBody>
          <a:bodyPr wrap="square">
            <a:spAutoFit/>
          </a:bodyPr>
          <a:lstStyle/>
          <a:p>
            <a:r>
              <a:rPr sz="1400"/>
              <a:t>One slide per building block group. For every field that differs between the variants, a table shows the current text per PFS and the proposed alignment.</a:t>
            </a:r>
          </a:p>
          <a:p>
            <a:r>
              <a:rPr sz="1400"/>
              <a:t/>
            </a:r>
          </a:p>
          <a:p>
            <a:r>
              <a:rPr sz="1400"/>
              <a:t>Current column — differences to the row marked </a:t>
            </a:r>
            <a:r>
              <a:rPr sz="1400" i="1">
                <a:solidFill>
                  <a:srgbClr val="808080"/>
                </a:solidFill>
              </a:rPr>
              <a:t>(baseline)</a:t>
            </a:r>
            <a:r>
              <a:rPr sz="1400"/>
              <a:t> are highlighted:</a:t>
            </a:r>
          </a:p>
          <a:p>
            <a:r>
              <a:rPr sz="1400"/>
              <a:t>    </a:t>
            </a:r>
            <a:r>
              <a:rPr sz="1400" strike="sngStrike">
                <a:solidFill>
                  <a:srgbClr val="B00000"/>
                </a:solidFill>
              </a:rPr>
              <a:t>red struck-through</a:t>
            </a:r>
            <a:r>
              <a:rPr sz="1400"/>
              <a:t> text only appears in the baseline variant</a:t>
            </a:r>
          </a:p>
          <a:p>
            <a:r>
              <a:rPr sz="1400"/>
              <a:t>    </a:t>
            </a:r>
            <a:r>
              <a:rPr sz="1400" b="1">
                <a:solidFill>
                  <a:srgbClr val="2E7D32"/>
                </a:solidFill>
              </a:rPr>
              <a:t>green</a:t>
            </a:r>
            <a:r>
              <a:rPr sz="1400"/>
              <a:t> text only appears in this variant</a:t>
            </a:r>
          </a:p>
          <a:p>
            <a:r>
              <a:rPr sz="1400"/>
              <a:t>    </a:t>
            </a:r>
            <a:r>
              <a:rPr sz="1400">
                <a:solidFill>
                  <a:srgbClr val="1565C0"/>
                </a:solidFill>
              </a:rPr>
              <a:t>blue passages</a:t>
            </a:r>
            <a:r>
              <a:rPr sz="1400"/>
              <a:t> are shared with the baseline — used where texts are too different for a diff</a:t>
            </a:r>
          </a:p>
          <a:p>
            <a:r>
              <a:rPr sz="1400"/>
              <a:t>    </a:t>
            </a:r>
            <a:r>
              <a:rPr sz="1400" i="1">
                <a:solidFill>
                  <a:srgbClr val="808080"/>
                </a:solidFill>
              </a:rPr>
              <a:t>(optional) / (required)</a:t>
            </a:r>
            <a:r>
              <a:rPr sz="1400"/>
              <a:t> shows the optional flag where it differs between the variants</a:t>
            </a:r>
          </a:p>
          <a:p>
            <a:r>
              <a:rPr sz="1400"/>
              <a:t>    (not set) = the field or the whole requirement level is absent in that file</a:t>
            </a:r>
          </a:p>
          <a:p>
            <a:r>
              <a:rPr sz="1400"/>
              <a:t/>
            </a:r>
          </a:p>
          <a:p>
            <a:r>
              <a:rPr sz="1400"/>
              <a:t>Proposed column — proposed changes relative to the row's current text:</a:t>
            </a:r>
          </a:p>
          <a:p>
            <a:r>
              <a:rPr sz="1400"/>
              <a:t>    </a:t>
            </a:r>
            <a:r>
              <a:rPr sz="1400" strike="sngStrike">
                <a:solidFill>
                  <a:srgbClr val="B00000"/>
                </a:solidFill>
              </a:rPr>
              <a:t>red struck-through</a:t>
            </a:r>
            <a:r>
              <a:rPr sz="1400"/>
              <a:t> text is removed, </a:t>
            </a:r>
            <a:r>
              <a:rPr sz="1400" b="1">
                <a:solidFill>
                  <a:srgbClr val="2E7D32"/>
                </a:solidFill>
              </a:rPr>
              <a:t>green</a:t>
            </a:r>
            <a:r>
              <a:rPr sz="1400"/>
              <a:t> text is added by the proposal</a:t>
            </a:r>
          </a:p>
          <a:p>
            <a:r>
              <a:rPr sz="1400"/>
              <a:t>    </a:t>
            </a:r>
            <a:r>
              <a:rPr sz="1400" i="1">
                <a:solidFill>
                  <a:srgbClr val="808080"/>
                </a:solidFill>
              </a:rPr>
              <a:t>(keep as is)</a:t>
            </a:r>
            <a:r>
              <a:rPr sz="1400"/>
              <a:t> = unchanged (explicitly kept or nothing proposed)</a:t>
            </a:r>
          </a:p>
          <a:p>
            <a:r>
              <a:rPr sz="1400"/>
              <a:t>    </a:t>
            </a:r>
            <a:r>
              <a:rPr sz="1400" b="1">
                <a:solidFill>
                  <a:srgbClr val="B00000"/>
                </a:solidFill>
              </a:rPr>
              <a:t>DELETE NOTE</a:t>
            </a:r>
            <a:r>
              <a:rPr sz="1400"/>
              <a:t> = proposed removal</a:t>
            </a:r>
          </a:p>
          <a:p>
            <a:r>
              <a:rPr sz="1400"/>
              <a:t>    </a:t>
            </a:r>
            <a:r>
              <a:rPr sz="1400" i="1">
                <a:solidFill>
                  <a:srgbClr val="808080"/>
                </a:solidFill>
              </a:rPr>
              <a:t>gray italic</a:t>
            </a:r>
            <a:r>
              <a:rPr sz="1400"/>
              <a:t> text = proposal that could not be interpreted automatically, shown verbatim</a:t>
            </a:r>
          </a:p>
          <a:p>
            <a:r>
              <a:rPr sz="1400"/>
              <a:t/>
            </a:r>
          </a:p>
          <a:p>
            <a:r>
              <a:rPr sz="1400"/>
              <a:t>Internal notes are shown below the tables; the raw proposal text is in the slide's speaker notes.</a:t>
            </a:r>
          </a:p>
          <a:p>
            <a:r>
              <a:rPr sz="1400"/>
              <a:t>Each group is followed by a Proposal slide showing the proposed building blocks in YAML form (only the fields that change; proposed values in </a:t>
            </a:r>
            <a:r>
              <a:rPr sz="1400" b="1">
                <a:solidFill>
                  <a:srgbClr val="2E7D32"/>
                </a:solidFill>
              </a:rPr>
              <a:t>green</a:t>
            </a:r>
            <a:r>
              <a:rPr sz="1400"/>
              <a:t>) for editing and capturing the agreement during the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corrections/atmosphere-*</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Title</a:t>
                      </a:r>
                    </a:p>
                  </a:txBody>
                  <a:tcPr>
                    <a:solidFill>
                      <a:srgbClr val="000000"/>
                    </a:solidFill>
                  </a:tcPr>
                </a:tc>
                <a:tc>
                  <a:txBody>
                    <a:bodyPr/>
                    <a:lstStyle/>
                    <a:p>
                      <a:r>
                        <a:rPr b="1" sz="1100">
                          <a:solidFill>
                            <a:srgbClr val="FFFFFF"/>
                          </a:solidFill>
                        </a:rPr>
                        <a:t>Proposed Title</a:t>
                      </a:r>
                    </a:p>
                  </a:txBody>
                  <a:tcPr>
                    <a:solidFill>
                      <a:srgbClr val="000000"/>
                    </a:solidFill>
                  </a:tcPr>
                </a:tc>
              </a:tr>
              <a:tr h="121920">
                <a:tc>
                  <a:txBody>
                    <a:bodyPr/>
                    <a:lstStyle/>
                    <a:p>
                      <a:r>
                        <a:rPr sz="1000" b="1"/>
                        <a:t>ST</a:t>
                      </a:r>
                    </a:p>
                    <a:p>
                      <a:r>
                        <a:rPr sz="1000" i="1">
                          <a:solidFill>
                            <a:srgbClr val="808080"/>
                          </a:solidFill>
                        </a:rPr>
                        <a:t>(baseline)</a:t>
                      </a:r>
                    </a:p>
                  </a:txBody>
                  <a:tcPr>
                    <a:solidFill>
                      <a:srgbClr val="FFFFFF"/>
                    </a:solidFill>
                  </a:tcPr>
                </a:tc>
                <a:tc>
                  <a:txBody>
                    <a:bodyPr/>
                    <a:lstStyle/>
                    <a:p>
                      <a:r>
                        <a:rPr sz="1000"/>
                        <a:t>Corrections for Atmosphere</a:t>
                      </a:r>
                    </a:p>
                  </a:txBody>
                  <a:tcPr>
                    <a:solidFill>
                      <a:srgbClr val="FFFFFF"/>
                    </a:solidFill>
                  </a:tcPr>
                </a:tc>
                <a:tc>
                  <a:txBody>
                    <a:bodyPr/>
                    <a:lstStyle/>
                    <a:p>
                      <a:r>
                        <a:rPr sz="1000"/>
                        <a:t>Atmospheric </a:t>
                      </a:r>
                      <a:r>
                        <a:rPr sz="1000">
                          <a:solidFill>
                            <a:srgbClr val="1565C0"/>
                          </a:solidFill>
                        </a:rPr>
                        <a:t>Corrections</a:t>
                      </a:r>
                    </a:p>
                  </a:txBody>
                  <a:tcPr>
                    <a:solidFill>
                      <a:srgbClr val="FFFFFF"/>
                    </a:solidFill>
                  </a:tcPr>
                </a:tc>
              </a:tr>
              <a:tr h="121920">
                <a:tc>
                  <a:txBody>
                    <a:bodyPr/>
                    <a:lstStyle/>
                    <a:p>
                      <a:r>
                        <a:rPr sz="1000" b="1"/>
                        <a:t>NLSR</a:t>
                      </a:r>
                    </a:p>
                  </a:txBody>
                  <a:tcPr>
                    <a:solidFill>
                      <a:srgbClr val="F2F2F2"/>
                    </a:solidFill>
                  </a:tcPr>
                </a:tc>
                <a:tc>
                  <a:txBody>
                    <a:bodyPr/>
                    <a:lstStyle/>
                    <a:p>
                      <a:r>
                        <a:rPr sz="1000"/>
                        <a:t>Atmospheric </a:t>
                      </a:r>
                      <a:r>
                        <a:rPr sz="1000">
                          <a:solidFill>
                            <a:srgbClr val="1565C0"/>
                          </a:solidFill>
                        </a:rPr>
                        <a:t>Corrections</a:t>
                      </a:r>
                    </a:p>
                  </a:txBody>
                  <a:tcPr>
                    <a:solidFill>
                      <a:srgbClr val="F2F2F2"/>
                    </a:solidFill>
                  </a:tcPr>
                </a:tc>
                <a:tc>
                  <a:txBody>
                    <a:bodyPr/>
                    <a:lstStyle/>
                    <a:p>
                      <a:r>
                        <a:rPr sz="1000" i="1">
                          <a:solidFill>
                            <a:srgbClr val="808080"/>
                          </a:solidFill>
                        </a:rPr>
                        <a:t>(keep as is)</a:t>
                      </a:r>
                    </a:p>
                  </a:txBody>
                  <a:tcPr>
                    <a:solidFill>
                      <a:srgbClr val="F2F2F2"/>
                    </a:solidFill>
                  </a:tcPr>
                </a:tc>
              </a:tr>
            </a:tbl>
          </a:graphicData>
        </a:graphic>
      </p:graphicFrame>
      <p:graphicFrame>
        <p:nvGraphicFramePr>
          <p:cNvPr id="4" name="Table 3"/>
          <p:cNvGraphicFramePr>
            <a:graphicFrameLocks noGrp="1"/>
          </p:cNvGraphicFramePr>
          <p:nvPr/>
        </p:nvGraphicFramePr>
        <p:xfrm>
          <a:off x="457200" y="2258568"/>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ST</a:t>
                      </a:r>
                    </a:p>
                    <a:p>
                      <a:r>
                        <a:rPr sz="1000" i="1">
                          <a:solidFill>
                            <a:srgbClr val="808080"/>
                          </a:solidFill>
                        </a:rPr>
                        <a:t>(baseline)</a:t>
                      </a:r>
                    </a:p>
                  </a:txBody>
                  <a:tcPr>
                    <a:solidFill>
                      <a:srgbClr val="FFFFFF"/>
                    </a:solidFill>
                  </a:tcPr>
                </a:tc>
                <a:tc>
                  <a:txBody>
                    <a:bodyPr/>
                    <a:lstStyle/>
                    <a:p>
                      <a:r>
                        <a:rPr sz="1000"/>
                        <a:t>Retrieval methods for estimating surface temperature are provided.</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NLSR</a:t>
                      </a:r>
                    </a:p>
                  </a:txBody>
                  <a:tcPr>
                    <a:solidFill>
                      <a:srgbClr val="F2F2F2"/>
                    </a:solidFill>
                  </a:tcPr>
                </a:tc>
                <a:tc>
                  <a:txBody>
                    <a:bodyPr/>
                    <a:lstStyle/>
                    <a:p>
                      <a:r>
                        <a:rPr sz="1000"/>
                        <a:t>Corrections are applied for atmospheric scattering.</a:t>
                      </a:r>
                    </a:p>
                    <a:p/>
                    <a:p>
                      <a:r>
                        <a:rPr sz="1000"/>
                        <a:t>Metadata contains a single DOI landing page with references to:</a:t>
                      </a:r>
                    </a:p>
                    <a:p/>
                    <a:p>
                      <a:r>
                        <a:rPr sz="1000"/>
                        <a:t>- a citable peer-reviewed algorithm</a:t>
                      </a:r>
                    </a:p>
                    <a:p>
                      <a:r>
                        <a:rPr sz="1000"/>
                        <a:t>- technical documentation regarding the implementation of that algorithm</a:t>
                      </a:r>
                    </a:p>
                    <a:p>
                      <a:r>
                        <a:rPr sz="1000"/>
                        <a:t>- the sources of ancillary data used to make corrections</a:t>
                      </a:r>
                    </a:p>
                  </a:txBody>
                  <a:tcPr>
                    <a:solidFill>
                      <a:srgbClr val="F2F2F2"/>
                    </a:solidFill>
                  </a:tcPr>
                </a:tc>
                <a:tc>
                  <a:txBody>
                    <a:bodyPr/>
                    <a:lstStyle/>
                    <a:p>
                      <a:r>
                        <a:rPr sz="1000"/>
                        <a:t>Corrections are applied for atmospheric scattering.</a:t>
                      </a:r>
                    </a:p>
                    <a:p/>
                    <a:p>
                      <a:r>
                        <a:rPr sz="1000" strike="sngStrike">
                          <a:solidFill>
                            <a:srgbClr val="B00000"/>
                          </a:solidFill>
                        </a:rPr>
                        <a:t>Metadata contains a single DOI landing page with references to:</a:t>
                      </a:r>
                    </a:p>
                    <a:p/>
                    <a:p>
                      <a:r>
                        <a:rPr sz="1000" strike="sngStrike">
                          <a:solidFill>
                            <a:srgbClr val="B00000"/>
                          </a:solidFill>
                        </a:rPr>
                        <a:t>- a citable peer-reviewed algorithm</a:t>
                      </a:r>
                    </a:p>
                    <a:p>
                      <a:r>
                        <a:rPr sz="1000" strike="sngStrike">
                          <a:solidFill>
                            <a:srgbClr val="B00000"/>
                          </a:solidFill>
                        </a:rPr>
                        <a:t>- technical documentation regarding the implementation of that algorithm</a:t>
                      </a:r>
                    </a:p>
                    <a:p>
                      <a:r>
                        <a:rPr sz="1000" strike="sngStrike">
                          <a:solidFill>
                            <a:srgbClr val="B00000"/>
                          </a:solidFill>
                        </a:rPr>
                        <a:t>- the sources of ancillary data used to make corrections</a:t>
                      </a:r>
                    </a:p>
                  </a:txBody>
                  <a:tcPr>
                    <a:solidFill>
                      <a:srgbClr val="F2F2F2"/>
                    </a:solidFill>
                  </a:tcPr>
                </a:tc>
              </a:tr>
            </a:tbl>
          </a:graphicData>
        </a:graphic>
      </p:graphicFrame>
      <p:graphicFrame>
        <p:nvGraphicFramePr>
          <p:cNvPr id="5" name="Table 4"/>
          <p:cNvGraphicFramePr>
            <a:graphicFrameLocks noGrp="1"/>
          </p:cNvGraphicFramePr>
          <p:nvPr/>
        </p:nvGraphicFramePr>
        <p:xfrm>
          <a:off x="457200" y="4443983"/>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121920">
                <a:tc>
                  <a:txBody>
                    <a:bodyPr/>
                    <a:lstStyle/>
                    <a:p>
                      <a:r>
                        <a:rPr sz="1000" b="1"/>
                        <a:t>ST</a:t>
                      </a:r>
                    </a:p>
                  </a:txBody>
                  <a:tcPr>
                    <a:solidFill>
                      <a:srgbClr val="FFFFFF"/>
                    </a:solidFill>
                  </a:tcPr>
                </a:tc>
                <a:tc>
                  <a:txBody>
                    <a:bodyPr/>
                    <a:lstStyle/>
                    <a:p>
                      <a:r>
                        <a:rPr sz="1000"/>
                        <a:t>(no notes)</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NLSR</a:t>
                      </a:r>
                    </a:p>
                    <a:p>
                      <a:r>
                        <a:rPr sz="1000" i="1">
                          <a:solidFill>
                            <a:srgbClr val="808080"/>
                          </a:solidFill>
                        </a:rPr>
                        <a:t>(baseline)</a:t>
                      </a:r>
                    </a:p>
                  </a:txBody>
                  <a:tcPr>
                    <a:solidFill>
                      <a:srgbClr val="F2F2F2"/>
                    </a:solidFill>
                  </a:tcPr>
                </a:tc>
                <a:tc>
                  <a:txBody>
                    <a:bodyPr/>
                    <a:lstStyle/>
                    <a:p>
                      <a:r>
                        <a:rPr sz="1000"/>
                        <a:t>Examples of technical documentation include an Algorithm Theoretical Basis Document, product user guide, etc.</a:t>
                      </a:r>
                    </a:p>
                  </a:txBody>
                  <a:tcPr>
                    <a:solidFill>
                      <a:srgbClr val="F2F2F2"/>
                    </a:solidFill>
                  </a:tcPr>
                </a:tc>
                <a:tc>
                  <a:txBody>
                    <a:bodyPr/>
                    <a:lstStyle/>
                    <a:p>
                      <a:r>
                        <a:rPr sz="1000" b="1">
                          <a:solidFill>
                            <a:srgbClr val="B00000"/>
                          </a:solidFill>
                        </a:rPr>
                        <a:t>DELETE NOTE</a:t>
                      </a:r>
                    </a:p>
                  </a:txBody>
                  <a:tcPr>
                    <a:solidFill>
                      <a:srgbClr val="F2F2F2"/>
                    </a:solidFill>
                  </a:tcPr>
                </a:tc>
              </a:tr>
            </a:tbl>
          </a:graphicData>
        </a:graphic>
      </p:graphicFrame>
      <p:sp>
        <p:nvSpPr>
          <p:cNvPr id="6" name="TextBox 5"/>
          <p:cNvSpPr txBox="1"/>
          <p:nvPr/>
        </p:nvSpPr>
        <p:spPr>
          <a:xfrm>
            <a:off x="457200" y="5415259"/>
            <a:ext cx="11277295" cy="950976"/>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a:p>
            <a:r>
              <a:rPr sz="1200" i="1"/>
              <a:t/>
            </a:r>
          </a:p>
          <a:p>
            <a:r>
              <a:rPr sz="1200" i="1"/>
              <a:t>The two requirements intentionally differ in content (ST: surface temperature retrieval methods; NLSR: atmospheric scattering) and stay separate; only the title and the boilerplate are aligned.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corrections/atmosphere-*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Atmospheric Corrections</a:t>
            </a:r>
          </a:p>
          <a:p>
            <a:r>
              <a:rPr sz="1100">
                <a:latin typeface="Consolas"/>
              </a:rPr>
              <a:t>requirements:</a:t>
            </a:r>
          </a:p>
          <a:p>
            <a:r>
              <a:rPr sz="1100">
                <a:latin typeface="Consolas"/>
              </a:rPr>
              <a:t>  threshold:</a:t>
            </a:r>
          </a:p>
          <a:p>
            <a:r>
              <a:rPr sz="1100">
                <a:latin typeface="Consolas"/>
              </a:rPr>
              <a:t>    description: Retrieval methods for estimating surface temperature are provided.  # TODO: not aligned yet, see comparison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Directional Atmospheric Scattering</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AR</a:t>
                      </a:r>
                    </a:p>
                    <a:p>
                      <a:r>
                        <a:rPr sz="1000" i="1">
                          <a:solidFill>
                            <a:srgbClr val="808080"/>
                          </a:solidFill>
                        </a:rPr>
                        <a:t>(baseline)</a:t>
                      </a:r>
                    </a:p>
                  </a:txBody>
                  <a:tcPr>
                    <a:solidFill>
                      <a:srgbClr val="FFFFFF"/>
                    </a:solidFill>
                  </a:tcPr>
                </a:tc>
                <a:tc>
                  <a:txBody>
                    <a:bodyPr/>
                    <a:lstStyle/>
                    <a:p>
                      <a:r>
                        <a:rPr sz="1000"/>
                        <a:t>Specification of corrections applied for molecular (Rayleigh) scattering and for aerosol scattering and absorption..</a:t>
                      </a:r>
                    </a:p>
                  </a:txBody>
                  <a:tcPr>
                    <a:solidFill>
                      <a:srgbClr val="FFFFFF"/>
                    </a:solidFill>
                  </a:tcPr>
                </a:tc>
                <a:tc>
                  <a:txBody>
                    <a:bodyPr/>
                    <a:lstStyle/>
                    <a:p>
                      <a:r>
                        <a:rPr sz="1000"/>
                        <a:t>Specification of corrections applied for molecular (Rayleigh) scattering and for aerosol scattering and absorption.</a:t>
                      </a:r>
                      <a:r>
                        <a:rPr sz="1000" strike="sngStrike">
                          <a:solidFill>
                            <a:srgbClr val="B00000"/>
                          </a:solidFill>
                        </a:rPr>
                        <a:t>.</a:t>
                      </a:r>
                    </a:p>
                  </a:txBody>
                  <a:tcPr>
                    <a:solidFill>
                      <a:srgbClr val="FFFFFF"/>
                    </a:solidFill>
                  </a:tcPr>
                </a:tc>
              </a:tr>
              <a:tr h="121920">
                <a:tc>
                  <a:txBody>
                    <a:bodyPr/>
                    <a:lstStyle/>
                    <a:p>
                      <a:r>
                        <a:rPr sz="1000" b="1"/>
                        <a:t>SR</a:t>
                      </a:r>
                    </a:p>
                  </a:txBody>
                  <a:tcPr>
                    <a:solidFill>
                      <a:srgbClr val="F2F2F2"/>
                    </a:solidFill>
                  </a:tcPr>
                </a:tc>
                <a:tc>
                  <a:txBody>
                    <a:bodyPr/>
                    <a:lstStyle/>
                    <a:p>
                      <a:r>
                        <a:rPr sz="1000"/>
                        <a:t>C</a:t>
                      </a:r>
                      <a:r>
                        <a:rPr sz="1000">
                          <a:solidFill>
                            <a:srgbClr val="1565C0"/>
                          </a:solidFill>
                        </a:rPr>
                        <a:t>orrections a</a:t>
                      </a:r>
                      <a:r>
                        <a:rPr sz="1000"/>
                        <a:t>re a</a:t>
                      </a:r>
                      <a:r>
                        <a:rPr sz="1000">
                          <a:solidFill>
                            <a:srgbClr val="1565C0"/>
                          </a:solidFill>
                        </a:rPr>
                        <a:t>pplied for</a:t>
                      </a:r>
                      <a:r>
                        <a:rPr sz="1000"/>
                        <a:t> aerosols and</a:t>
                      </a:r>
                      <a:r>
                        <a:rPr sz="1000">
                          <a:solidFill>
                            <a:srgbClr val="1565C0"/>
                          </a:solidFill>
                        </a:rPr>
                        <a:t> molecular (Rayleigh) scattering</a:t>
                      </a:r>
                      <a:r>
                        <a:rPr sz="1000"/>
                        <a:t>.</a:t>
                      </a:r>
                    </a:p>
                    <a:p/>
                    <a:p>
                      <a:r>
                        <a:rPr sz="1000"/>
                        <a:t>Metadata contains a single DOI landing page with references to:</a:t>
                      </a:r>
                    </a:p>
                    <a:p/>
                    <a:p>
                      <a:r>
                        <a:rPr sz="1000"/>
                        <a:t>- a citable peer-reviewed algorithm</a:t>
                      </a:r>
                    </a:p>
                    <a:p>
                      <a:r>
                        <a:rPr sz="1000"/>
                        <a:t>- technical documentation regarding the implementation of that algorithm</a:t>
                      </a:r>
                    </a:p>
                    <a:p>
                      <a:r>
                        <a:rPr sz="1000"/>
                        <a:t>- the sources of ancillary data used to make corrections</a:t>
                      </a:r>
                    </a:p>
                  </a:txBody>
                  <a:tcPr>
                    <a:solidFill>
                      <a:srgbClr val="F2F2F2"/>
                    </a:solidFill>
                  </a:tcPr>
                </a:tc>
                <a:tc>
                  <a:txBody>
                    <a:bodyPr/>
                    <a:lstStyle/>
                    <a:p>
                      <a:r>
                        <a:rPr sz="1000"/>
                        <a:t>Specification of c</a:t>
                      </a:r>
                      <a:r>
                        <a:rPr sz="1000">
                          <a:solidFill>
                            <a:srgbClr val="1565C0"/>
                          </a:solidFill>
                        </a:rPr>
                        <a:t>orrections a</a:t>
                      </a:r>
                      <a:r>
                        <a:rPr sz="1000">
                          <a:solidFill>
                            <a:srgbClr val="1565C0"/>
                          </a:solidFill>
                        </a:rPr>
                        <a:t>pplied for</a:t>
                      </a:r>
                      <a:r>
                        <a:rPr sz="1000">
                          <a:solidFill>
                            <a:srgbClr val="1565C0"/>
                          </a:solidFill>
                        </a:rPr>
                        <a:t> molecular (Rayleigh) scattering</a:t>
                      </a:r>
                      <a:r>
                        <a:rPr sz="1000"/>
                        <a:t> and for aerosol scattering and absorption.</a:t>
                      </a:r>
                    </a:p>
                  </a:txBody>
                  <a:tcPr>
                    <a:solidFill>
                      <a:srgbClr val="F2F2F2"/>
                    </a:solidFill>
                  </a:tcPr>
                </a:tc>
              </a:tr>
            </a:tbl>
          </a:graphicData>
        </a:graphic>
      </p:graphicFrame>
      <p:graphicFrame>
        <p:nvGraphicFramePr>
          <p:cNvPr id="4" name="Table 3"/>
          <p:cNvGraphicFramePr>
            <a:graphicFrameLocks noGrp="1"/>
          </p:cNvGraphicFramePr>
          <p:nvPr/>
        </p:nvGraphicFramePr>
        <p:xfrm>
          <a:off x="457200" y="3191256"/>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121920">
                <a:tc>
                  <a:txBody>
                    <a:bodyPr/>
                    <a:lstStyle/>
                    <a:p>
                      <a:r>
                        <a:rPr sz="1000" b="1"/>
                        <a:t>AR</a:t>
                      </a:r>
                    </a:p>
                    <a:p>
                      <a:r>
                        <a:rPr sz="1000" i="1">
                          <a:solidFill>
                            <a:srgbClr val="808080"/>
                          </a:solidFill>
                        </a:rPr>
                        <a:t>(baseline)</a:t>
                      </a:r>
                    </a:p>
                  </a:txBody>
                  <a:tcPr>
                    <a:solidFill>
                      <a:srgbClr val="FFFFFF"/>
                    </a:solidFill>
                  </a:tcPr>
                </a:tc>
                <a:tc>
                  <a:txBody>
                    <a:bodyPr/>
                    <a:lstStyle/>
                    <a:p>
                      <a:r>
                        <a:rPr sz="1000"/>
                        <a:t>See @mobley2016.</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SR</a:t>
                      </a:r>
                    </a:p>
                  </a:txBody>
                  <a:tcPr>
                    <a:solidFill>
                      <a:srgbClr val="F2F2F2"/>
                    </a:solidFill>
                  </a:tcPr>
                </a:tc>
                <a:tc>
                  <a:txBody>
                    <a:bodyPr/>
                    <a:lstStyle/>
                    <a:p>
                      <a:r>
                        <a:rPr sz="1000"/>
                        <a:t>Examples of technical documentation include an Algorithm Theoretical Basis Document, product user guide, etc</a:t>
                      </a:r>
                      <a:r>
                        <a:rPr sz="1000"/>
                        <a:t>.</a:t>
                      </a:r>
                    </a:p>
                  </a:txBody>
                  <a:tcPr>
                    <a:solidFill>
                      <a:srgbClr val="F2F2F2"/>
                    </a:solidFill>
                  </a:tcPr>
                </a:tc>
                <a:tc>
                  <a:txBody>
                    <a:bodyPr/>
                    <a:lstStyle/>
                    <a:p>
                      <a:r>
                        <a:rPr sz="1000" b="1">
                          <a:solidFill>
                            <a:srgbClr val="B00000"/>
                          </a:solidFill>
                        </a:rPr>
                        <a:t>DELETE NOTE</a:t>
                      </a:r>
                    </a:p>
                  </a:txBody>
                  <a:tcPr>
                    <a:solidFill>
                      <a:srgbClr val="F2F2F2"/>
                    </a:solidFill>
                  </a:tcPr>
                </a:tc>
              </a:tr>
            </a:tbl>
          </a:graphicData>
        </a:graphic>
      </p:graphicFrame>
      <p:sp>
        <p:nvSpPr>
          <p:cNvPr id="5" name="TextBox 4"/>
          <p:cNvSpPr txBox="1"/>
          <p:nvPr/>
        </p:nvSpPr>
        <p:spPr>
          <a:xfrm>
            <a:off x="457200" y="4383816"/>
            <a:ext cx="11277295" cy="374904"/>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Directional Atmospheric Scattering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Directional Atmospheric Scattering</a:t>
            </a:r>
          </a:p>
          <a:p>
            <a:r>
              <a:rPr sz="1100">
                <a:latin typeface="Consolas"/>
              </a:rPr>
              <a:t>requirements:</a:t>
            </a:r>
          </a:p>
          <a:p>
            <a:r>
              <a:rPr sz="1100">
                <a:latin typeface="Consolas"/>
              </a:rPr>
              <a:t>  threshold:</a:t>
            </a:r>
          </a:p>
          <a:p>
            <a:r>
              <a:rPr sz="1100">
                <a:latin typeface="Consolas"/>
              </a:rPr>
              <a:t>    description: Specification of corrections applied for molecular (Rayleigh) scattering and for aerosol scattering and absorption.</a:t>
            </a:r>
          </a:p>
          <a:p>
            <a:r>
              <a:rPr sz="1100">
                <a:latin typeface="Consolas"/>
              </a:rPr>
              <a:t>    notes:  # TODO: not aligned yet, see comparison</a:t>
            </a:r>
          </a:p>
          <a:p>
            <a:r>
              <a:rPr sz="1100">
                <a:latin typeface="Consolas"/>
              </a:rPr>
              <a:t>      - See @mobley2016.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Geometric Correction</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Description</a:t>
                      </a:r>
                    </a:p>
                  </a:txBody>
                  <a:tcPr>
                    <a:solidFill>
                      <a:srgbClr val="000000"/>
                    </a:solidFill>
                  </a:tcPr>
                </a:tc>
                <a:tc>
                  <a:txBody>
                    <a:bodyPr/>
                    <a:lstStyle/>
                    <a:p>
                      <a:r>
                        <a:rPr b="1" sz="1100">
                          <a:solidFill>
                            <a:srgbClr val="FFFFFF"/>
                          </a:solidFill>
                        </a:rPr>
                        <a:t>Proposed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Applies for:</a:t>
                      </a:r>
                    </a:p>
                    <a:p/>
                    <a:p>
                      <a:r>
                        <a:rPr sz="1000"/>
                        <a:t>1. land </a:t>
                      </a:r>
                    </a:p>
                    <a:p>
                      <a:r>
                        <a:rPr sz="1000"/>
                        <a:t>2. inland waters where an independent terrestrial referencing system is available</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 SR</a:t>
                      </a:r>
                    </a:p>
                  </a:txBody>
                  <a:tcPr>
                    <a:solidFill>
                      <a:srgbClr val="F2F2F2"/>
                    </a:solidFill>
                  </a:tcPr>
                </a:tc>
                <a:tc>
                  <a:txBody>
                    <a:bodyPr/>
                    <a:lstStyle/>
                    <a:p>
                      <a:r>
                        <a:rPr sz="1000"/>
                        <a:t>(not set)</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ST</a:t>
                      </a:r>
                    </a:p>
                  </a:txBody>
                  <a:tcPr>
                    <a:solidFill>
                      <a:srgbClr val="FFFFFF"/>
                    </a:solidFill>
                  </a:tcPr>
                </a:tc>
                <a:tc>
                  <a:txBody>
                    <a:bodyPr/>
                    <a:lstStyle/>
                    <a:p>
                      <a:r>
                        <a:rPr sz="1000"/>
                        <a:t>(not set)</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Geometric Correction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Sub-pixel uncertainty is achieved in relative geolocation, that is, the pixels from the same instrument and platform are consistently located, and are thus comparable, through time.</a:t>
                      </a:r>
                    </a:p>
                    <a:p/>
                    <a:p>
                      <a:r>
                        <a:rPr sz="1000"/>
                        <a:t>Sub-pixel uncertainty is taken to be less than or equal to 0.5-pixel radial root mean square error (rRMSE) or equivalent in Circular Error Probability (CEP) relative to a defined reference image.</a:t>
                      </a:r>
                    </a:p>
                    <a:p/>
                    <a:p>
                      <a:r>
                        <a:rPr sz="1000"/>
                        <a:t>A consistent gridding/sampling frame is used, including common cell size, origin, and nominal sample point location within the cell (centre, ll, ur).</a:t>
                      </a:r>
                    </a:p>
                    <a:p/>
                    <a:p>
                      <a:r>
                        <a:rPr sz="1000"/>
                        <a:t>Relevant metadata must be provided under [@geometric-uncertainty] and [@instrument].</a:t>
                      </a:r>
                    </a:p>
                  </a:txBody>
                  <a:tcPr>
                    <a:solidFill>
                      <a:srgbClr val="FFFFFF"/>
                    </a:solidFill>
                  </a:tcPr>
                </a:tc>
                <a:tc>
                  <a:txBody>
                    <a:bodyPr/>
                    <a:lstStyle/>
                    <a:p>
                      <a:r>
                        <a:rPr sz="1000"/>
                        <a:t>Sub-pixel uncertainty is achieved in relative geolocation, that is, the pixels from the same instrument and platform are consistently located, and are thus comparable, through time.</a:t>
                      </a:r>
                    </a:p>
                    <a:p/>
                    <a:p>
                      <a:r>
                        <a:rPr sz="1000" b="1">
                          <a:solidFill>
                            <a:srgbClr val="2E7D32"/>
                          </a:solidFill>
                        </a:rPr>
                        <a:t> </a:t>
                      </a:r>
                      <a:r>
                        <a:rPr sz="1000"/>
                        <a:t>Sub-pixel uncertainty is taken to be less than or equal to 0.5-pixel radial root mean square error (rRMSE) or equivalent in Circular Error Probability (CEP) relative to a defined reference image.</a:t>
                      </a:r>
                    </a:p>
                    <a:p/>
                    <a:p>
                      <a:r>
                        <a:rPr sz="1000" b="1">
                          <a:solidFill>
                            <a:srgbClr val="2E7D32"/>
                          </a:solidFill>
                        </a:rPr>
                        <a:t> </a:t>
                      </a:r>
                      <a:r>
                        <a:rPr sz="1000"/>
                        <a:t>A consistent gridding/sampling frame is used, including common cell size, origin, and nominal sample point location within the cell (centre, ll, ur).</a:t>
                      </a:r>
                    </a:p>
                    <a:p/>
                    <a:p>
                      <a:r>
                        <a:rPr sz="1000"/>
                        <a:t>Relevant metadata must be provided under [@geometric-uncertainty] and [@instrument].</a:t>
                      </a:r>
                    </a:p>
                  </a:txBody>
                  <a:tcPr>
                    <a:solidFill>
                      <a:srgbClr val="FFFFFF"/>
                    </a:solidFill>
                  </a:tcPr>
                </a:tc>
              </a:tr>
              <a:tr h="91440">
                <a:tc>
                  <a:txBody>
                    <a:bodyPr/>
                    <a:lstStyle/>
                    <a:p>
                      <a:r>
                        <a:rPr sz="1000" b="1"/>
                        <a:t>NLSR, SR</a:t>
                      </a:r>
                    </a:p>
                  </a:txBody>
                  <a:tcPr>
                    <a:solidFill>
                      <a:srgbClr val="F2F2F2"/>
                    </a:solidFill>
                  </a:tcPr>
                </a:tc>
                <a:tc>
                  <a:txBody>
                    <a:bodyPr/>
                    <a:lstStyle/>
                    <a:p>
                      <a:r>
                        <a:rPr sz="1000"/>
                        <a:t>Sub-pixel </a:t>
                      </a:r>
                      <a:r>
                        <a:rPr sz="1000" strike="sngStrike">
                          <a:solidFill>
                            <a:srgbClr val="B00000"/>
                          </a:solidFill>
                        </a:rPr>
                        <a:t>uncertaint</a:t>
                      </a:r>
                      <a:r>
                        <a:rPr sz="1000" b="1">
                          <a:solidFill>
                            <a:srgbClr val="2E7D32"/>
                          </a:solidFill>
                        </a:rPr>
                        <a:t>accurac</a:t>
                      </a:r>
                      <a:r>
                        <a:rPr sz="1000"/>
                        <a:t>y is achieved in relative geolocation, that is, the pixels from the same instrument and platform are consistently located, and are thus comparable, through time.</a:t>
                      </a:r>
                    </a:p>
                    <a:p/>
                    <a:p>
                      <a:r>
                        <a:rPr sz="1000"/>
                        <a:t>Sub-pixel </a:t>
                      </a:r>
                      <a:r>
                        <a:rPr sz="1000" strike="sngStrike">
                          <a:solidFill>
                            <a:srgbClr val="B00000"/>
                          </a:solidFill>
                        </a:rPr>
                        <a:t>uncertaint</a:t>
                      </a:r>
                      <a:r>
                        <a:rPr sz="1000" b="1">
                          <a:solidFill>
                            <a:srgbClr val="2E7D32"/>
                          </a:solidFill>
                        </a:rPr>
                        <a:t>accurac</a:t>
                      </a:r>
                      <a:r>
                        <a:rPr sz="1000"/>
                        <a:t>y is taken to be less than or equal to 0.5</a:t>
                      </a:r>
                      <a:r>
                        <a:rPr sz="1000" strike="sngStrike">
                          <a:solidFill>
                            <a:srgbClr val="B00000"/>
                          </a:solidFill>
                        </a:rPr>
                        <a:t>-</a:t>
                      </a:r>
                      <a:r>
                        <a:rPr sz="1000" b="1">
                          <a:solidFill>
                            <a:srgbClr val="2E7D32"/>
                          </a:solidFill>
                        </a:rPr>
                        <a:t> </a:t>
                      </a:r>
                      <a:r>
                        <a:rPr sz="1000"/>
                        <a:t>pixel radial root mean square error (rRMSE) or equivalent in Circular Error Probability (CEP) relative to a defined reference image.</a:t>
                      </a:r>
                    </a:p>
                    <a:p/>
                    <a:p>
                      <a:r>
                        <a:rPr sz="1000"/>
                        <a:t>A consistent gridding/sampling frame is used, including common cell size, origin, and nominal sample point location within the cell (centre, ll, ur).</a:t>
                      </a:r>
                    </a:p>
                    <a:p/>
                    <a:p>
                      <a:r>
                        <a:rPr sz="1000"/>
                        <a:t>Relevant metadata must be provided under [@geometric-</a:t>
                      </a:r>
                      <a:r>
                        <a:rPr sz="1000" strike="sngStrike">
                          <a:solidFill>
                            <a:srgbClr val="B00000"/>
                          </a:solidFill>
                        </a:rPr>
                        <a:t>uncertaint</a:t>
                      </a:r>
                      <a:r>
                        <a:rPr sz="1000" b="1">
                          <a:solidFill>
                            <a:srgbClr val="2E7D32"/>
                          </a:solidFill>
                        </a:rPr>
                        <a:t>accurac</a:t>
                      </a:r>
                      <a:r>
                        <a:rPr sz="1000"/>
                        <a:t>y] and [@instrument].</a:t>
                      </a:r>
                    </a:p>
                  </a:txBody>
                  <a:tcPr>
                    <a:solidFill>
                      <a:srgbClr val="F2F2F2"/>
                    </a:solidFill>
                  </a:tcPr>
                </a:tc>
                <a:tc>
                  <a:txBody>
                    <a:bodyPr/>
                    <a:lstStyle/>
                    <a:p>
                      <a:r>
                        <a:rPr sz="1000"/>
                        <a:t>Sub-pixel </a:t>
                      </a:r>
                      <a:r>
                        <a:rPr sz="1000" strike="sngStrike">
                          <a:solidFill>
                            <a:srgbClr val="B00000"/>
                          </a:solidFill>
                        </a:rPr>
                        <a:t>accurac</a:t>
                      </a:r>
                      <a:r>
                        <a:rPr sz="1000" b="1">
                          <a:solidFill>
                            <a:srgbClr val="2E7D32"/>
                          </a:solidFill>
                        </a:rPr>
                        <a:t>uncertaint</a:t>
                      </a:r>
                      <a:r>
                        <a:rPr sz="1000"/>
                        <a:t>y is achieved in relative geolocation, that is, the pixels from the same instrument and platform are consistently located, and are thus comparable, through time.</a:t>
                      </a:r>
                    </a:p>
                    <a:p/>
                    <a:p>
                      <a:r>
                        <a:rPr sz="1000" b="1">
                          <a:solidFill>
                            <a:srgbClr val="2E7D32"/>
                          </a:solidFill>
                        </a:rPr>
                        <a:t> </a:t>
                      </a:r>
                      <a:r>
                        <a:rPr sz="1000"/>
                        <a:t>Sub-pixel </a:t>
                      </a:r>
                      <a:r>
                        <a:rPr sz="1000" strike="sngStrike">
                          <a:solidFill>
                            <a:srgbClr val="B00000"/>
                          </a:solidFill>
                        </a:rPr>
                        <a:t>accurac</a:t>
                      </a:r>
                      <a:r>
                        <a:rPr sz="1000" b="1">
                          <a:solidFill>
                            <a:srgbClr val="2E7D32"/>
                          </a:solidFill>
                        </a:rPr>
                        <a:t>uncertaint</a:t>
                      </a:r>
                      <a:r>
                        <a:rPr sz="1000"/>
                        <a:t>y is taken to be less than or equal to 0.5</a:t>
                      </a:r>
                      <a:r>
                        <a:rPr sz="1000" strike="sngStrike">
                          <a:solidFill>
                            <a:srgbClr val="B00000"/>
                          </a:solidFill>
                        </a:rPr>
                        <a:t> </a:t>
                      </a:r>
                      <a:r>
                        <a:rPr sz="1000" b="1">
                          <a:solidFill>
                            <a:srgbClr val="2E7D32"/>
                          </a:solidFill>
                        </a:rPr>
                        <a:t>-</a:t>
                      </a:r>
                      <a:r>
                        <a:rPr sz="1000"/>
                        <a:t>pixel radial root mean square error (rRMSE) or equivalent in Circular Error Probability (CEP) relative to a defined reference image.</a:t>
                      </a:r>
                    </a:p>
                    <a:p/>
                    <a:p>
                      <a:r>
                        <a:rPr sz="1000" b="1">
                          <a:solidFill>
                            <a:srgbClr val="2E7D32"/>
                          </a:solidFill>
                        </a:rPr>
                        <a:t> </a:t>
                      </a:r>
                      <a:r>
                        <a:rPr sz="1000"/>
                        <a:t>A consistent gridding/sampling frame is used, including common cell size, origin, and nominal sample point location within the cell (centre, ll, ur).</a:t>
                      </a:r>
                    </a:p>
                    <a:p/>
                    <a:p>
                      <a:r>
                        <a:rPr sz="1000"/>
                        <a:t>Relevant metadata must be provided under [@geometric-</a:t>
                      </a:r>
                      <a:r>
                        <a:rPr sz="1000" strike="sngStrike">
                          <a:solidFill>
                            <a:srgbClr val="B00000"/>
                          </a:solidFill>
                        </a:rPr>
                        <a:t>accurac</a:t>
                      </a:r>
                      <a:r>
                        <a:rPr sz="1000" b="1">
                          <a:solidFill>
                            <a:srgbClr val="2E7D32"/>
                          </a:solidFill>
                        </a:rPr>
                        <a:t>uncertaint</a:t>
                      </a:r>
                      <a:r>
                        <a:rPr sz="1000"/>
                        <a:t>y] and [@instrument].</a:t>
                      </a:r>
                    </a:p>
                  </a:txBody>
                  <a:tcPr>
                    <a:solidFill>
                      <a:srgbClr val="F2F2F2"/>
                    </a:solidFill>
                  </a:tcPr>
                </a:tc>
              </a:tr>
              <a:tr h="91440">
                <a:tc>
                  <a:txBody>
                    <a:bodyPr/>
                    <a:lstStyle/>
                    <a:p>
                      <a:r>
                        <a:rPr sz="1000" b="1"/>
                        <a:t>ST</a:t>
                      </a:r>
                    </a:p>
                  </a:txBody>
                  <a:tcPr>
                    <a:solidFill>
                      <a:srgbClr val="FFFFFF"/>
                    </a:solidFill>
                  </a:tcPr>
                </a:tc>
                <a:tc>
                  <a:txBody>
                    <a:bodyPr/>
                    <a:lstStyle/>
                    <a:p>
                      <a:r>
                        <a:rPr sz="1000"/>
                        <a:t>Sub-pixel </a:t>
                      </a:r>
                      <a:r>
                        <a:rPr sz="1000" strike="sngStrike">
                          <a:solidFill>
                            <a:srgbClr val="B00000"/>
                          </a:solidFill>
                        </a:rPr>
                        <a:t>uncertaint</a:t>
                      </a:r>
                      <a:r>
                        <a:rPr sz="1000" b="1">
                          <a:solidFill>
                            <a:srgbClr val="2E7D32"/>
                          </a:solidFill>
                        </a:rPr>
                        <a:t>accurac</a:t>
                      </a:r>
                      <a:r>
                        <a:rPr sz="1000"/>
                        <a:t>y is achieved in relative geolocation, that is, the pixels from the same instrument and platform are consistently located, and are thus comparable, through time.</a:t>
                      </a:r>
                    </a:p>
                    <a:p/>
                    <a:p>
                      <a:r>
                        <a:rPr sz="1000"/>
                        <a:t>Sub-pixel </a:t>
                      </a:r>
                      <a:r>
                        <a:rPr sz="1000" strike="sngStrike">
                          <a:solidFill>
                            <a:srgbClr val="B00000"/>
                          </a:solidFill>
                        </a:rPr>
                        <a:t>uncertaint</a:t>
                      </a:r>
                      <a:r>
                        <a:rPr sz="1000" b="1">
                          <a:solidFill>
                            <a:srgbClr val="2E7D32"/>
                          </a:solidFill>
                        </a:rPr>
                        <a:t>accurac</a:t>
                      </a:r>
                      <a:r>
                        <a:rPr sz="1000"/>
                        <a:t>y is taken to be less than or equal to 0.5</a:t>
                      </a:r>
                      <a:r>
                        <a:rPr sz="1000" strike="sngStrike">
                          <a:solidFill>
                            <a:srgbClr val="B00000"/>
                          </a:solidFill>
                        </a:rPr>
                        <a:t>-</a:t>
                      </a:r>
                      <a:r>
                        <a:rPr sz="1000" b="1">
                          <a:solidFill>
                            <a:srgbClr val="2E7D32"/>
                          </a:solidFill>
                        </a:rPr>
                        <a:t> </a:t>
                      </a:r>
                      <a:r>
                        <a:rPr sz="1000"/>
                        <a:t>pixel radial root mean square error (rRMSE) or equivalent in Circular Error Probability (CEP) relative to a defined reference image.</a:t>
                      </a:r>
                    </a:p>
                    <a:p/>
                    <a:p>
                      <a:r>
                        <a:rPr sz="1000"/>
                        <a:t>A consistent gridding/sampling frame is </a:t>
                      </a:r>
                      <a:r>
                        <a:rPr sz="1000" strike="sngStrike">
                          <a:solidFill>
                            <a:srgbClr val="B00000"/>
                          </a:solidFill>
                        </a:rPr>
                        <a:t>used, including common cell size, origin, and nominal sample point location within the cell (centre, ll, ur)</a:t>
                      </a:r>
                      <a:r>
                        <a:rPr sz="1000" b="1">
                          <a:solidFill>
                            <a:srgbClr val="2E7D32"/>
                          </a:solidFill>
                        </a:rPr>
                        <a:t>necessary to meet this requirement</a:t>
                      </a:r>
                      <a:r>
                        <a:rPr sz="1000"/>
                        <a:t>.</a:t>
                      </a:r>
                    </a:p>
                    <a:p/>
                    <a:p>
                      <a:r>
                        <a:rPr sz="1000"/>
                        <a:t>Relevant metadata must be provided under [@geometric-uncertainty] and [@instrument].</a:t>
                      </a:r>
                    </a:p>
                  </a:txBody>
                  <a:tcPr>
                    <a:solidFill>
                      <a:srgbClr val="FFFFFF"/>
                    </a:solidFill>
                  </a:tcPr>
                </a:tc>
                <a:tc>
                  <a:txBody>
                    <a:bodyPr/>
                    <a:lstStyle/>
                    <a:p>
                      <a:r>
                        <a:rPr sz="1000"/>
                        <a:t>Sub-pixel </a:t>
                      </a:r>
                      <a:r>
                        <a:rPr sz="1000" strike="sngStrike">
                          <a:solidFill>
                            <a:srgbClr val="B00000"/>
                          </a:solidFill>
                        </a:rPr>
                        <a:t>accurac</a:t>
                      </a:r>
                      <a:r>
                        <a:rPr sz="1000" b="1">
                          <a:solidFill>
                            <a:srgbClr val="2E7D32"/>
                          </a:solidFill>
                        </a:rPr>
                        <a:t>uncertaint</a:t>
                      </a:r>
                      <a:r>
                        <a:rPr sz="1000"/>
                        <a:t>y is achieved in relative geolocation, that is, the pixels from the same instrument and platform are consistently located, and are thus comparable, through time.</a:t>
                      </a:r>
                    </a:p>
                    <a:p/>
                    <a:p>
                      <a:r>
                        <a:rPr sz="1000" b="1">
                          <a:solidFill>
                            <a:srgbClr val="2E7D32"/>
                          </a:solidFill>
                        </a:rPr>
                        <a:t> </a:t>
                      </a:r>
                      <a:r>
                        <a:rPr sz="1000"/>
                        <a:t>Sub-pixel </a:t>
                      </a:r>
                      <a:r>
                        <a:rPr sz="1000" strike="sngStrike">
                          <a:solidFill>
                            <a:srgbClr val="B00000"/>
                          </a:solidFill>
                        </a:rPr>
                        <a:t>accurac</a:t>
                      </a:r>
                      <a:r>
                        <a:rPr sz="1000" b="1">
                          <a:solidFill>
                            <a:srgbClr val="2E7D32"/>
                          </a:solidFill>
                        </a:rPr>
                        <a:t>uncertaint</a:t>
                      </a:r>
                      <a:r>
                        <a:rPr sz="1000"/>
                        <a:t>y is taken to be less than or equal to 0.5</a:t>
                      </a:r>
                      <a:r>
                        <a:rPr sz="1000" strike="sngStrike">
                          <a:solidFill>
                            <a:srgbClr val="B00000"/>
                          </a:solidFill>
                        </a:rPr>
                        <a:t> </a:t>
                      </a:r>
                      <a:r>
                        <a:rPr sz="1000" b="1">
                          <a:solidFill>
                            <a:srgbClr val="2E7D32"/>
                          </a:solidFill>
                        </a:rPr>
                        <a:t>-</a:t>
                      </a:r>
                      <a:r>
                        <a:rPr sz="1000"/>
                        <a:t>pixel radial root mean square error (rRMSE) or equivalent in Circular Error Probability (CEP) relative to a defined reference image.</a:t>
                      </a:r>
                    </a:p>
                    <a:p/>
                    <a:p>
                      <a:r>
                        <a:rPr sz="1000" b="1">
                          <a:solidFill>
                            <a:srgbClr val="2E7D32"/>
                          </a:solidFill>
                        </a:rPr>
                        <a:t> </a:t>
                      </a:r>
                      <a:r>
                        <a:rPr sz="1000"/>
                        <a:t>A consistent gridding/sampling frame is </a:t>
                      </a:r>
                      <a:r>
                        <a:rPr sz="1000" strike="sngStrike">
                          <a:solidFill>
                            <a:srgbClr val="B00000"/>
                          </a:solidFill>
                        </a:rPr>
                        <a:t>necessary to meet this requirement</a:t>
                      </a:r>
                      <a:r>
                        <a:rPr sz="1000" b="1">
                          <a:solidFill>
                            <a:srgbClr val="2E7D32"/>
                          </a:solidFill>
                        </a:rPr>
                        <a:t>used, including common cell size, origin, and nominal sample point location within the cell (centre, ll, ur)</a:t>
                      </a:r>
                      <a:r>
                        <a:rPr sz="1000"/>
                        <a:t>.</a:t>
                      </a:r>
                    </a:p>
                    <a:p/>
                    <a:p>
                      <a:r>
                        <a:rPr sz="1000"/>
                        <a:t>Relevant metadata must be provided under [@geometric-uncertainty] and [@instrument].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Geometric Correction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91440">
                <a:tc>
                  <a:txBody>
                    <a:bodyPr/>
                    <a:lstStyle/>
                    <a:p>
                      <a:r>
                        <a:rPr sz="1000" b="1"/>
                        <a:t>AR</a:t>
                      </a:r>
                    </a:p>
                  </a:txBody>
                  <a:tcPr>
                    <a:solidFill>
                      <a:srgbClr val="FFFFFF"/>
                    </a:solidFill>
                  </a:tcPr>
                </a:tc>
                <a:tc>
                  <a:txBody>
                    <a:bodyPr/>
                    <a:lstStyle/>
                    <a:p>
                      <a:r>
                        <a:rPr sz="1000"/>
                        <a:t>The threshold level will not necessarily enable interoperability between data from **different** sources as the geometric corrections for each of the sources may differ.</a:t>
                      </a:r>
                    </a:p>
                    <a:p/>
                    <a:p>
                      <a:r>
                        <a:rPr sz="1000" b="1">
                          <a:solidFill>
                            <a:srgbClr val="2E7D32"/>
                          </a:solidFill>
                        </a:rPr>
                        <a:t>It is useful to note if the sensor is used at its native resolution before geometric correction or that some resampling must be done.</a:t>
                      </a:r>
                    </a:p>
                  </a:txBody>
                  <a:tcPr>
                    <a:solidFill>
                      <a:srgbClr val="FFFFFF"/>
                    </a:solidFill>
                  </a:tcPr>
                </a:tc>
                <a:tc>
                  <a:txBody>
                    <a:bodyPr/>
                    <a:lstStyle/>
                    <a:p>
                      <a:r>
                        <a:rPr sz="1000" b="1">
                          <a:solidFill>
                            <a:srgbClr val="2E7D32"/>
                          </a:solidFill>
                        </a:rPr>
                        <a:t>1. </a:t>
                      </a:r>
                      <a:r>
                        <a:rPr sz="1000"/>
                        <a:t>The threshold level will not necessarily enable interoperability between data from </a:t>
                      </a:r>
                      <a:r>
                        <a:rPr sz="1000" strike="sngStrike">
                          <a:solidFill>
                            <a:srgbClr val="B00000"/>
                          </a:solidFill>
                        </a:rPr>
                        <a:t>**different**</a:t>
                      </a:r>
                      <a:r>
                        <a:rPr sz="1000" b="1">
                          <a:solidFill>
                            <a:srgbClr val="2E7D32"/>
                          </a:solidFill>
                        </a:rPr>
                        <a:t>different</a:t>
                      </a:r>
                      <a:r>
                        <a:rPr sz="1000"/>
                        <a:t> sources as the geometric corrections for each of the sources may differ.</a:t>
                      </a:r>
                    </a:p>
                    <a:p/>
                    <a:p>
                      <a:r>
                        <a:rPr sz="1000" b="1">
                          <a:solidFill>
                            <a:srgbClr val="2E7D32"/>
                          </a:solidFill>
                        </a:rPr>
                        <a:t>2. </a:t>
                      </a:r>
                      <a:r>
                        <a:rPr sz="1000"/>
                        <a:t>It is useful to note if the sensor is used at its native resolution before geometric correction or that some resampling must be done.</a:t>
                      </a:r>
                    </a:p>
                  </a:txBody>
                  <a:tcPr>
                    <a:solidFill>
                      <a:srgbClr val="FFFFFF"/>
                    </a:solidFill>
                  </a:tcPr>
                </a:tc>
              </a:tr>
              <a:tr h="91440">
                <a:tc>
                  <a:txBody>
                    <a:bodyPr/>
                    <a:lstStyle/>
                    <a:p>
                      <a:r>
                        <a:rPr sz="1000" b="1"/>
                        <a:t>NLSR, SR</a:t>
                      </a:r>
                    </a:p>
                    <a:p>
                      <a:r>
                        <a:rPr sz="1000" i="1">
                          <a:solidFill>
                            <a:srgbClr val="808080"/>
                          </a:solidFill>
                        </a:rPr>
                        <a:t>(baseline)</a:t>
                      </a:r>
                    </a:p>
                  </a:txBody>
                  <a:tcPr>
                    <a:solidFill>
                      <a:srgbClr val="F2F2F2"/>
                    </a:solidFill>
                  </a:tcPr>
                </a:tc>
                <a:tc>
                  <a:txBody>
                    <a:bodyPr/>
                    <a:lstStyle/>
                    <a:p>
                      <a:r>
                        <a:rPr sz="1000"/>
                        <a:t>The threshold level will not necessarily enable interoperability between data from **different** sources as the geometric corrections for each of the sources may differ.</a:t>
                      </a:r>
                    </a:p>
                  </a:txBody>
                  <a:tcPr>
                    <a:solidFill>
                      <a:srgbClr val="F2F2F2"/>
                    </a:solidFill>
                  </a:tcPr>
                </a:tc>
                <a:tc>
                  <a:txBody>
                    <a:bodyPr/>
                    <a:lstStyle/>
                    <a:p>
                      <a:r>
                        <a:rPr sz="1000" b="1">
                          <a:solidFill>
                            <a:srgbClr val="2E7D32"/>
                          </a:solidFill>
                        </a:rPr>
                        <a:t>1. </a:t>
                      </a:r>
                      <a:r>
                        <a:rPr sz="1000"/>
                        <a:t>The threshold level will not necessarily enable interoperability between data from </a:t>
                      </a:r>
                      <a:r>
                        <a:rPr sz="1000" strike="sngStrike">
                          <a:solidFill>
                            <a:srgbClr val="B00000"/>
                          </a:solidFill>
                        </a:rPr>
                        <a:t>**different**</a:t>
                      </a:r>
                      <a:r>
                        <a:rPr sz="1000" b="1">
                          <a:solidFill>
                            <a:srgbClr val="2E7D32"/>
                          </a:solidFill>
                        </a:rPr>
                        <a:t>different</a:t>
                      </a:r>
                      <a:r>
                        <a:rPr sz="1000"/>
                        <a:t> sources as the geometric corrections for each of the sources may differ.</a:t>
                      </a:r>
                    </a:p>
                    <a:p>
                      <a:r>
                        <a:rPr sz="1000" b="1">
                          <a:solidFill>
                            <a:srgbClr val="2E7D32"/>
                          </a:solidFill>
                        </a:rPr>
                        <a:t>2. It is useful to note if the sensor is used at its native resolution before geometric correction or that some resampling must be done.</a:t>
                      </a:r>
                    </a:p>
                  </a:txBody>
                  <a:tcPr>
                    <a:solidFill>
                      <a:srgbClr val="F2F2F2"/>
                    </a:solidFill>
                  </a:tcPr>
                </a:tc>
              </a:tr>
              <a:tr h="91440">
                <a:tc>
                  <a:txBody>
                    <a:bodyPr/>
                    <a:lstStyle/>
                    <a:p>
                      <a:r>
                        <a:rPr sz="1000" b="1"/>
                        <a:t>ST</a:t>
                      </a:r>
                    </a:p>
                  </a:txBody>
                  <a:tcPr>
                    <a:solidFill>
                      <a:srgbClr val="FFFFFF"/>
                    </a:solidFill>
                  </a:tcPr>
                </a:tc>
                <a:tc>
                  <a:txBody>
                    <a:bodyPr/>
                    <a:lstStyle/>
                    <a:p>
                      <a:r>
                        <a:rPr sz="1000"/>
                        <a:t>The threshold level will not necessarily enable interoperability between data from **different** sources as the geometric corrections for each of the sources may differ.</a:t>
                      </a:r>
                    </a:p>
                  </a:txBody>
                  <a:tcPr>
                    <a:solidFill>
                      <a:srgbClr val="FFFFFF"/>
                    </a:solidFill>
                  </a:tcPr>
                </a:tc>
                <a:tc>
                  <a:txBody>
                    <a:bodyPr/>
                    <a:lstStyle/>
                    <a:p>
                      <a:r>
                        <a:rPr sz="1000" b="1">
                          <a:solidFill>
                            <a:srgbClr val="2E7D32"/>
                          </a:solidFill>
                        </a:rPr>
                        <a:t>1. </a:t>
                      </a:r>
                      <a:r>
                        <a:rPr sz="1000"/>
                        <a:t>The threshold level will not necessarily enable interoperability between data from </a:t>
                      </a:r>
                      <a:r>
                        <a:rPr sz="1000" strike="sngStrike">
                          <a:solidFill>
                            <a:srgbClr val="B00000"/>
                          </a:solidFill>
                        </a:rPr>
                        <a:t>**different**</a:t>
                      </a:r>
                      <a:r>
                        <a:rPr sz="1000" b="1">
                          <a:solidFill>
                            <a:srgbClr val="2E7D32"/>
                          </a:solidFill>
                        </a:rPr>
                        <a:t>different</a:t>
                      </a:r>
                      <a:r>
                        <a:rPr sz="1000"/>
                        <a:t> sources as the geometric corrections for each of the sources may differ.</a:t>
                      </a:r>
                    </a:p>
                    <a:p>
                      <a:r>
                        <a:rPr sz="1000" b="1">
                          <a:solidFill>
                            <a:srgbClr val="2E7D32"/>
                          </a:solidFill>
                        </a:rPr>
                        <a:t>2. It is useful to note if the sensor is used at its native resolution before geometric correction or that some resampling must be done.</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Geometric Correction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Sub-pixel uncertainty is achieved relative to an identified absolute independent terrestrial referencing system (such as a national map grid).</a:t>
                      </a:r>
                    </a:p>
                    <a:p/>
                    <a:p>
                      <a:r>
                        <a:rPr sz="1000"/>
                        <a:t>Relevant metadata must be provided under [@geometric-uncertainty] and [@instrument].</a:t>
                      </a:r>
                    </a:p>
                  </a:txBody>
                  <a:tcPr>
                    <a:solidFill>
                      <a:srgbClr val="FFFFFF"/>
                    </a:solidFill>
                  </a:tcPr>
                </a:tc>
                <a:tc>
                  <a:txBody>
                    <a:bodyPr/>
                    <a:lstStyle/>
                    <a:p>
                      <a:r>
                        <a:rPr sz="1000"/>
                        <a:t>Sub-pixel uncertainty is achieved relative to an identified absolute independent terrestrial referencing system (such as a national map grid).</a:t>
                      </a:r>
                    </a:p>
                    <a:p/>
                    <a:p>
                      <a:r>
                        <a:rPr sz="1000" b="1">
                          <a:solidFill>
                            <a:srgbClr val="2E7D32"/>
                          </a:solidFill>
                        </a:rPr>
                        <a:t> </a:t>
                      </a:r>
                      <a:r>
                        <a:rPr sz="1000"/>
                        <a:t>Relevant metadata must be provided under </a:t>
                      </a:r>
                      <a:r>
                        <a:rPr sz="1000" strike="sngStrike">
                          <a:solidFill>
                            <a:srgbClr val="B00000"/>
                          </a:solidFill>
                        </a:rPr>
                        <a:t>[@geometric-u</a:t>
                      </a:r>
                      <a:r>
                        <a:rPr sz="1000" b="1">
                          <a:solidFill>
                            <a:srgbClr val="2E7D32"/>
                          </a:solidFill>
                        </a:rPr>
                        <a:t>Section “General Metadata: Geometric U</a:t>
                      </a:r>
                      <a:r>
                        <a:rPr sz="1000"/>
                        <a:t>ncertainty</a:t>
                      </a:r>
                      <a:r>
                        <a:rPr sz="1000" strike="sngStrike">
                          <a:solidFill>
                            <a:srgbClr val="B00000"/>
                          </a:solidFill>
                        </a:rPr>
                        <a:t>] and [@instrument]</a:t>
                      </a:r>
                      <a:r>
                        <a:rPr sz="1000" b="1">
                          <a:solidFill>
                            <a:srgbClr val="2E7D32"/>
                          </a:solidFill>
                        </a:rPr>
                        <a:t> of the Data” and Section “General Metadata: Instrument”</a:t>
                      </a:r>
                      <a:r>
                        <a:rPr sz="1000"/>
                        <a:t>.</a:t>
                      </a:r>
                    </a:p>
                  </a:txBody>
                  <a:tcPr>
                    <a:solidFill>
                      <a:srgbClr val="FFFFFF"/>
                    </a:solidFill>
                  </a:tcPr>
                </a:tc>
              </a:tr>
              <a:tr h="91440">
                <a:tc>
                  <a:txBody>
                    <a:bodyPr/>
                    <a:lstStyle/>
                    <a:p>
                      <a:r>
                        <a:rPr sz="1000" b="1"/>
                        <a:t>NLSR, SR</a:t>
                      </a:r>
                    </a:p>
                  </a:txBody>
                  <a:tcPr>
                    <a:solidFill>
                      <a:srgbClr val="F2F2F2"/>
                    </a:solidFill>
                  </a:tcPr>
                </a:tc>
                <a:tc>
                  <a:txBody>
                    <a:bodyPr/>
                    <a:lstStyle/>
                    <a:p>
                      <a:r>
                        <a:rPr sz="1000"/>
                        <a:t>Sub-pixel </a:t>
                      </a:r>
                      <a:r>
                        <a:rPr sz="1000" strike="sngStrike">
                          <a:solidFill>
                            <a:srgbClr val="B00000"/>
                          </a:solidFill>
                        </a:rPr>
                        <a:t>uncertaint</a:t>
                      </a:r>
                      <a:r>
                        <a:rPr sz="1000" b="1">
                          <a:solidFill>
                            <a:srgbClr val="2E7D32"/>
                          </a:solidFill>
                        </a:rPr>
                        <a:t>accurac</a:t>
                      </a:r>
                      <a:r>
                        <a:rPr sz="1000"/>
                        <a:t>y is achieved relative to an identified absolute independent terrestrial referencing system (such as a national map grid).</a:t>
                      </a:r>
                    </a:p>
                    <a:p/>
                    <a:p>
                      <a:r>
                        <a:rPr sz="1000" b="1">
                          <a:solidFill>
                            <a:srgbClr val="2E7D32"/>
                          </a:solidFill>
                        </a:rPr>
                        <a:t>A consistent gridding/sampling frame is necessary to meet this requirement.</a:t>
                      </a:r>
                    </a:p>
                    <a:p/>
                    <a:p>
                      <a:r>
                        <a:rPr sz="1000"/>
                        <a:t>Relevant metadata must be provided under [@geometric-</a:t>
                      </a:r>
                      <a:r>
                        <a:rPr sz="1000" strike="sngStrike">
                          <a:solidFill>
                            <a:srgbClr val="B00000"/>
                          </a:solidFill>
                        </a:rPr>
                        <a:t>uncertaint</a:t>
                      </a:r>
                      <a:r>
                        <a:rPr sz="1000" b="1">
                          <a:solidFill>
                            <a:srgbClr val="2E7D32"/>
                          </a:solidFill>
                        </a:rPr>
                        <a:t>accurac</a:t>
                      </a:r>
                      <a:r>
                        <a:rPr sz="1000"/>
                        <a:t>y] and [@instrument].</a:t>
                      </a:r>
                    </a:p>
                  </a:txBody>
                  <a:tcPr>
                    <a:solidFill>
                      <a:srgbClr val="F2F2F2"/>
                    </a:solidFill>
                  </a:tcPr>
                </a:tc>
                <a:tc>
                  <a:txBody>
                    <a:bodyPr/>
                    <a:lstStyle/>
                    <a:p>
                      <a:r>
                        <a:rPr sz="1000"/>
                        <a:t>Sub-pixel </a:t>
                      </a:r>
                      <a:r>
                        <a:rPr sz="1000" strike="sngStrike">
                          <a:solidFill>
                            <a:srgbClr val="B00000"/>
                          </a:solidFill>
                        </a:rPr>
                        <a:t>accurac</a:t>
                      </a:r>
                      <a:r>
                        <a:rPr sz="1000" b="1">
                          <a:solidFill>
                            <a:srgbClr val="2E7D32"/>
                          </a:solidFill>
                        </a:rPr>
                        <a:t>uncertaint</a:t>
                      </a:r>
                      <a:r>
                        <a:rPr sz="1000"/>
                        <a:t>y is achieved relative to an identified absolute independent terrestrial referencing system (such as a national map grid).</a:t>
                      </a:r>
                    </a:p>
                    <a:p/>
                    <a:p>
                      <a:r>
                        <a:rPr sz="1000" strike="sngStrike">
                          <a:solidFill>
                            <a:srgbClr val="B00000"/>
                          </a:solidFill>
                        </a:rPr>
                        <a:t>A consistent gridding/sampling frame is necessary to meet this requirement.</a:t>
                      </a:r>
                    </a:p>
                    <a:p/>
                    <a:p>
                      <a:r>
                        <a:rPr sz="1000" b="1">
                          <a:solidFill>
                            <a:srgbClr val="2E7D32"/>
                          </a:solidFill>
                        </a:rPr>
                        <a:t> </a:t>
                      </a:r>
                      <a:r>
                        <a:rPr sz="1000"/>
                        <a:t>Relevant metadata must be provided under </a:t>
                      </a:r>
                      <a:r>
                        <a:rPr sz="1000" strike="sngStrike">
                          <a:solidFill>
                            <a:srgbClr val="B00000"/>
                          </a:solidFill>
                        </a:rPr>
                        <a:t>[@geometric-accuracy] and [@instrument]</a:t>
                      </a:r>
                      <a:r>
                        <a:rPr sz="1000" b="1">
                          <a:solidFill>
                            <a:srgbClr val="2E7D32"/>
                          </a:solidFill>
                        </a:rPr>
                        <a:t>Section “General Metadata: Geometric Uncertainty of the Data” and Section “General Metadata: Instrument”</a:t>
                      </a:r>
                      <a:r>
                        <a:rPr sz="1000"/>
                        <a:t>.</a:t>
                      </a:r>
                    </a:p>
                  </a:txBody>
                  <a:tcPr>
                    <a:solidFill>
                      <a:srgbClr val="F2F2F2"/>
                    </a:solidFill>
                  </a:tcPr>
                </a:tc>
              </a:tr>
              <a:tr h="91440">
                <a:tc>
                  <a:txBody>
                    <a:bodyPr/>
                    <a:lstStyle/>
                    <a:p>
                      <a:r>
                        <a:rPr sz="1000" b="1"/>
                        <a:t>ST</a:t>
                      </a:r>
                    </a:p>
                  </a:txBody>
                  <a:tcPr>
                    <a:solidFill>
                      <a:srgbClr val="FFFFFF"/>
                    </a:solidFill>
                  </a:tcPr>
                </a:tc>
                <a:tc>
                  <a:txBody>
                    <a:bodyPr/>
                    <a:lstStyle/>
                    <a:p>
                      <a:r>
                        <a:rPr sz="1000"/>
                        <a:t>Sub-pixel </a:t>
                      </a:r>
                      <a:r>
                        <a:rPr sz="1000" strike="sngStrike">
                          <a:solidFill>
                            <a:srgbClr val="B00000"/>
                          </a:solidFill>
                        </a:rPr>
                        <a:t>uncertaint</a:t>
                      </a:r>
                      <a:r>
                        <a:rPr sz="1000" b="1">
                          <a:solidFill>
                            <a:srgbClr val="2E7D32"/>
                          </a:solidFill>
                        </a:rPr>
                        <a:t>accurac</a:t>
                      </a:r>
                      <a:r>
                        <a:rPr sz="1000"/>
                        <a:t>y is achieved relative to an identified absolute independent terrestrial referencing system (such as a national map grid).</a:t>
                      </a:r>
                    </a:p>
                    <a:p/>
                    <a:p>
                      <a:r>
                        <a:rPr sz="1000" b="1">
                          <a:solidFill>
                            <a:srgbClr val="2E7D32"/>
                          </a:solidFill>
                        </a:rPr>
                        <a:t>A consistent gridding/sampling frame is necessary to meet this requirement.</a:t>
                      </a:r>
                    </a:p>
                    <a:p/>
                    <a:p>
                      <a:r>
                        <a:rPr sz="1000"/>
                        <a:t>Relevant metadata must be provided under [@geometric-uncertainty] and [@instrument].</a:t>
                      </a:r>
                    </a:p>
                  </a:txBody>
                  <a:tcPr>
                    <a:solidFill>
                      <a:srgbClr val="FFFFFF"/>
                    </a:solidFill>
                  </a:tcPr>
                </a:tc>
                <a:tc>
                  <a:txBody>
                    <a:bodyPr/>
                    <a:lstStyle/>
                    <a:p>
                      <a:r>
                        <a:rPr sz="1000"/>
                        <a:t>Sub-pixel </a:t>
                      </a:r>
                      <a:r>
                        <a:rPr sz="1000" strike="sngStrike">
                          <a:solidFill>
                            <a:srgbClr val="B00000"/>
                          </a:solidFill>
                        </a:rPr>
                        <a:t>accurac</a:t>
                      </a:r>
                      <a:r>
                        <a:rPr sz="1000" b="1">
                          <a:solidFill>
                            <a:srgbClr val="2E7D32"/>
                          </a:solidFill>
                        </a:rPr>
                        <a:t>uncertaint</a:t>
                      </a:r>
                      <a:r>
                        <a:rPr sz="1000"/>
                        <a:t>y is achieved relative to an identified absolute independent terrestrial referencing system (such as a national map grid).</a:t>
                      </a:r>
                    </a:p>
                    <a:p/>
                    <a:p>
                      <a:r>
                        <a:rPr sz="1000" strike="sngStrike">
                          <a:solidFill>
                            <a:srgbClr val="B00000"/>
                          </a:solidFill>
                        </a:rPr>
                        <a:t>A consistent gridding/sampling frame is necessary to meet this requirement.</a:t>
                      </a:r>
                    </a:p>
                    <a:p/>
                    <a:p>
                      <a:r>
                        <a:rPr sz="1000" b="1">
                          <a:solidFill>
                            <a:srgbClr val="2E7D32"/>
                          </a:solidFill>
                        </a:rPr>
                        <a:t> </a:t>
                      </a:r>
                      <a:r>
                        <a:rPr sz="1000"/>
                        <a:t>Relevant metadata must be provided under </a:t>
                      </a:r>
                      <a:r>
                        <a:rPr sz="1000" strike="sngStrike">
                          <a:solidFill>
                            <a:srgbClr val="B00000"/>
                          </a:solidFill>
                        </a:rPr>
                        <a:t>[@geometric-u</a:t>
                      </a:r>
                      <a:r>
                        <a:rPr sz="1000" b="1">
                          <a:solidFill>
                            <a:srgbClr val="2E7D32"/>
                          </a:solidFill>
                        </a:rPr>
                        <a:t>Section “General Metadata: Geometric U</a:t>
                      </a:r>
                      <a:r>
                        <a:rPr sz="1000"/>
                        <a:t>ncertainty</a:t>
                      </a:r>
                      <a:r>
                        <a:rPr sz="1000" strike="sngStrike">
                          <a:solidFill>
                            <a:srgbClr val="B00000"/>
                          </a:solidFill>
                        </a:rPr>
                        <a:t>] and [@instrument]</a:t>
                      </a:r>
                      <a:r>
                        <a:rPr sz="1000" b="1">
                          <a:solidFill>
                            <a:srgbClr val="2E7D32"/>
                          </a:solidFill>
                        </a:rPr>
                        <a:t> of the Data” and Section “General Metadata: Instrument”</a:t>
                      </a:r>
                      <a:r>
                        <a:rPr sz="1000"/>
                        <a:t>.</a:t>
                      </a:r>
                    </a:p>
                  </a:txBody>
                  <a:tcP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Geometric Correction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91440">
                <a:tc>
                  <a:txBody>
                    <a:bodyPr/>
                    <a:lstStyle/>
                    <a:p>
                      <a:r>
                        <a:rPr sz="1000" b="1"/>
                        <a:t>AR</a:t>
                      </a:r>
                    </a:p>
                  </a:txBody>
                  <a:tcPr>
                    <a:solidFill>
                      <a:srgbClr val="FFFFFF"/>
                    </a:solidFill>
                  </a:tcPr>
                </a:tc>
                <a:tc>
                  <a:txBody>
                    <a:bodyPr/>
                    <a:lstStyle/>
                    <a:p>
                      <a:r>
                        <a:rPr sz="1000"/>
                        <a:t>This requirement is intended to enable interoperability between imagery from different platforms that meet this level of correction</a:t>
                      </a:r>
                      <a:r>
                        <a:rPr sz="1000" strike="sngStrike">
                          <a:solidFill>
                            <a:srgbClr val="B00000"/>
                          </a:solidFill>
                        </a:rPr>
                        <a:t>,</a:t>
                      </a:r>
                      <a:r>
                        <a:rPr sz="1000"/>
                        <a:t> and with non-image spatial data such as GIS layers and terrain models.</a:t>
                      </a:r>
                    </a:p>
                    <a:p>
                      <a:r>
                        <a:rPr sz="1000" i="1">
                          <a:solidFill>
                            <a:srgbClr val="808080"/>
                          </a:solidFill>
                        </a:rPr>
                        <a:t>(differs only in punctuation/whitespace)</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 SR</a:t>
                      </a:r>
                    </a:p>
                    <a:p>
                      <a:r>
                        <a:rPr sz="1000" i="1">
                          <a:solidFill>
                            <a:srgbClr val="808080"/>
                          </a:solidFill>
                        </a:rPr>
                        <a:t>(baseline)</a:t>
                      </a:r>
                    </a:p>
                  </a:txBody>
                  <a:tcPr>
                    <a:solidFill>
                      <a:srgbClr val="F2F2F2"/>
                    </a:solidFill>
                  </a:tcPr>
                </a:tc>
                <a:tc>
                  <a:txBody>
                    <a:bodyPr/>
                    <a:lstStyle/>
                    <a:p>
                      <a:r>
                        <a:rPr sz="1000"/>
                        <a:t>This requirement is intended to enable interoperability between imagery from different platforms that meet this level of correction, and with non-image spatial data such as GIS layers and terrain models.</a:t>
                      </a:r>
                    </a:p>
                  </a:txBody>
                  <a:tcPr>
                    <a:solidFill>
                      <a:srgbClr val="F2F2F2"/>
                    </a:solidFill>
                  </a:tcPr>
                </a:tc>
                <a:tc>
                  <a:txBody>
                    <a:bodyPr/>
                    <a:lstStyle/>
                    <a:p>
                      <a:r>
                        <a:rPr sz="1000"/>
                        <a:t>This requirement is intended to enable interoperability between imagery from different platforms that meet this level of correction</a:t>
                      </a:r>
                      <a:r>
                        <a:rPr sz="1000" strike="sngStrike">
                          <a:solidFill>
                            <a:srgbClr val="B00000"/>
                          </a:solidFill>
                        </a:rPr>
                        <a:t>,</a:t>
                      </a:r>
                      <a:r>
                        <a:rPr sz="1000"/>
                        <a:t> and with non-image spatial data such as GIS layers and terrain models.</a:t>
                      </a:r>
                    </a:p>
                  </a:txBody>
                  <a:tcPr>
                    <a:solidFill>
                      <a:srgbClr val="F2F2F2"/>
                    </a:solidFill>
                  </a:tcPr>
                </a:tc>
              </a:tr>
              <a:tr h="91440">
                <a:tc>
                  <a:txBody>
                    <a:bodyPr/>
                    <a:lstStyle/>
                    <a:p>
                      <a:r>
                        <a:rPr sz="1000" b="1"/>
                        <a:t>ST</a:t>
                      </a:r>
                    </a:p>
                  </a:txBody>
                  <a:tcPr>
                    <a:solidFill>
                      <a:srgbClr val="FFFFFF"/>
                    </a:solidFill>
                  </a:tcPr>
                </a:tc>
                <a:tc>
                  <a:txBody>
                    <a:bodyPr/>
                    <a:lstStyle/>
                    <a:p>
                      <a:r>
                        <a:rPr sz="1000"/>
                        <a:t>This requirement is intended to enable interoperability between imagery from different platforms that meet this level of correction, and with non-image spatial data such as GIS layers and terrain models.</a:t>
                      </a:r>
                    </a:p>
                  </a:txBody>
                  <a:tcPr>
                    <a:solidFill>
                      <a:srgbClr val="FFFFFF"/>
                    </a:solidFill>
                  </a:tcPr>
                </a:tc>
                <a:tc>
                  <a:txBody>
                    <a:bodyPr/>
                    <a:lstStyle/>
                    <a:p>
                      <a:r>
                        <a:rPr sz="1000"/>
                        <a:t>This requirement is intended to enable interoperability between imagery from different platforms that meet this level of correction</a:t>
                      </a:r>
                      <a:r>
                        <a:rPr sz="1000" strike="sngStrike">
                          <a:solidFill>
                            <a:srgbClr val="B00000"/>
                          </a:solidFill>
                        </a:rPr>
                        <a:t>,</a:t>
                      </a:r>
                      <a:r>
                        <a:rPr sz="1000"/>
                        <a:t> and with non-image spatial data such as GIS layers and terrain models.</a:t>
                      </a:r>
                    </a:p>
                  </a:txBody>
                  <a:tcPr>
                    <a:solidFill>
                      <a:srgbClr val="FFFFFF"/>
                    </a:solidFill>
                  </a:tcPr>
                </a:tc>
              </a:tr>
            </a:tbl>
          </a:graphicData>
        </a:graphic>
      </p:graphicFrame>
      <p:sp>
        <p:nvSpPr>
          <p:cNvPr id="4" name="TextBox 3"/>
          <p:cNvSpPr txBox="1"/>
          <p:nvPr/>
        </p:nvSpPr>
        <p:spPr>
          <a:xfrm>
            <a:off x="457200" y="3309396"/>
            <a:ext cx="11277295" cy="1527048"/>
          </a:xfrm>
          <a:prstGeom prst="rect">
            <a:avLst/>
          </a:prstGeom>
          <a:noFill/>
        </p:spPr>
        <p:txBody>
          <a:bodyPr wrap="square" lIns="0" rIns="0" tIns="0" bIns="0">
            <a:spAutoFit/>
          </a:bodyPr>
          <a:lstStyle/>
          <a:p>
            <a:r>
              <a:rPr sz="1200" b="1"/>
              <a:t>Internal notes: </a:t>
            </a:r>
            <a:r>
              <a:rPr sz="1200" i="1"/>
              <a:t>ST 6.0 already aligned the metadata references ([@geometric-uncertainty]); remaining differences to the proposal: "accuracy" vs "uncertainty", "0.5 pixel" vs "0.5-pixel", and the gridding/sampling sentence.</a:t>
            </a:r>
          </a:p>
          <a:p>
            <a:r>
              <a:rPr sz="1200" i="1"/>
              <a:t/>
            </a:r>
          </a:p>
          <a:p>
            <a:r>
              <a:rPr sz="1200" i="1"/>
              <a:t>ST: requirement not yet touched; will accept any proposal for consistency (action: Ferran and Peter). In the same approach as AR, ST decided to replace "Accuracy" with "Uncertainty" across the document.</a:t>
            </a:r>
          </a:p>
        </p:txBody>
      </p:sp>
      <p:sp>
        <p:nvSpPr>
          <p:cNvPr id="5" name="TextBox 4"/>
          <p:cNvSpPr txBox="1"/>
          <p:nvPr/>
        </p:nvSpPr>
        <p:spPr>
          <a:xfrm>
            <a:off x="457200" y="4692561"/>
            <a:ext cx="11277295" cy="950976"/>
          </a:xfrm>
          <a:prstGeom prst="rect">
            <a:avLst/>
          </a:prstGeom>
          <a:noFill/>
        </p:spPr>
        <p:txBody>
          <a:bodyPr wrap="square" lIns="0" rIns="0" tIns="0" bIns="0">
            <a:spAutoFit/>
          </a:bodyPr>
          <a:lstStyle/>
          <a:p>
            <a:r>
              <a:rPr sz="1200" b="1"/>
              <a:t>Remarks from the building blocks: </a:t>
            </a:r>
            <a:r>
              <a:rPr sz="1200" i="1"/>
              <a:t>geometric-sr.yaml: The only difference to geometric-st.yaml is the third paragraph of the threshold description.</a:t>
            </a:r>
          </a:p>
          <a:p>
            <a:r>
              <a:rPr sz="1200" i="1"/>
              <a:t>geometric-st.yaml: The only difference to geometric-sr.yaml is the third paragraph of the threshold description.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Geometric Correction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Geometric Correction</a:t>
            </a:r>
          </a:p>
          <a:p>
            <a:r>
              <a:rPr sz="1100">
                <a:latin typeface="Consolas"/>
              </a:rPr>
              <a:t>requirements:</a:t>
            </a:r>
          </a:p>
          <a:p>
            <a:r>
              <a:rPr sz="1100">
                <a:latin typeface="Consolas"/>
              </a:rPr>
              <a:t>  threshold:</a:t>
            </a:r>
          </a:p>
          <a:p>
            <a:r>
              <a:rPr sz="1100">
                <a:latin typeface="Consolas"/>
              </a:rPr>
              <a:t>    description: |-</a:t>
            </a:r>
          </a:p>
          <a:p>
            <a:r>
              <a:rPr sz="1100">
                <a:latin typeface="Consolas"/>
              </a:rPr>
              <a:t>      Sub-pixel uncertainty is achieved in relative geolocation, that is, the pixels from the same instrument and platform are consistently located, and are thus comparable, through time. Sub-pixel uncertainty is taken to be less than or equal to 0.5-pixel radial root mean square error (rRMSE) or equivalent in Circular Error Probability (CEP) relative to a defined reference image. A consistent gridding/sampling frame is used, including common cell size, origin, and nominal sample point location within the cell (centre, ll, ur).</a:t>
            </a:r>
          </a:p>
          <a:p>
            <a:r>
              <a:rPr sz="1100">
                <a:latin typeface="Consolas"/>
              </a:rPr>
              <a:t>      </a:t>
            </a:r>
          </a:p>
          <a:p>
            <a:r>
              <a:rPr sz="1100">
                <a:latin typeface="Consolas"/>
              </a:rPr>
              <a:t>      Relevant metadata must be provided under [@geometric-uncertainty] and [@instrument].</a:t>
            </a:r>
          </a:p>
          <a:p>
            <a:r>
              <a:rPr sz="1100">
                <a:latin typeface="Consolas"/>
              </a:rPr>
              <a:t>    notes:</a:t>
            </a:r>
          </a:p>
          <a:p>
            <a:r>
              <a:rPr sz="1100">
                <a:latin typeface="Consolas"/>
              </a:rPr>
              <a:t>      - |-</a:t>
            </a:r>
          </a:p>
          <a:p>
            <a:r>
              <a:rPr sz="1100">
                <a:latin typeface="Consolas"/>
              </a:rPr>
              <a:t>        1. The threshold level will not necessarily enable interoperability between data from different sources as the geometric corrections for each of the sources may differ.</a:t>
            </a:r>
          </a:p>
          <a:p>
            <a:r>
              <a:rPr sz="1100">
                <a:latin typeface="Consolas"/>
              </a:rPr>
              <a:t>        2. It is useful to note if the sensor is used at its native resolution before geometric correction or that some resampling must be done.</a:t>
            </a:r>
          </a:p>
          <a:p>
            <a:r>
              <a:rPr sz="1100">
                <a:latin typeface="Consolas"/>
              </a:rPr>
              <a:t>  goal:</a:t>
            </a:r>
          </a:p>
          <a:p>
            <a:r>
              <a:rPr sz="1100">
                <a:latin typeface="Consolas"/>
              </a:rPr>
              <a:t>    description: Sub-pixel uncertainty is achieved relative to an identified absolute independent terrestrial referencing system (such as a national map grid). Relevant metadata must be provided under Section “General Metadata: Geometric Uncertainty of the Data” and Section “General Metadata: Instrument”.</a:t>
            </a:r>
          </a:p>
          <a:p>
            <a:r>
              <a:rPr sz="1100">
                <a:latin typeface="Consolas"/>
              </a:rPr>
              <a:t>    notes:</a:t>
            </a:r>
          </a:p>
          <a:p>
            <a:r>
              <a:rPr sz="1100">
                <a:latin typeface="Consolas"/>
              </a:rPr>
              <a:t>      - This requirement is intended to enable interoperability between imagery from different platforms that meet this level of correction and with non-image spatial data such as GIS layers and terrain models.</a:t>
            </a:r>
          </a:p>
          <a:p>
            <a:r>
              <a:rPr sz="1100">
                <a:latin typeface="Consolas"/>
              </a:rPr>
              <a:t>    optional: true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Ozone Corrections</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AR</a:t>
                      </a:r>
                    </a:p>
                    <a:p>
                      <a:r>
                        <a:rPr sz="1000" i="1">
                          <a:solidFill>
                            <a:srgbClr val="808080"/>
                          </a:solidFill>
                        </a:rPr>
                        <a:t>(baseline)</a:t>
                      </a:r>
                    </a:p>
                  </a:txBody>
                  <a:tcPr>
                    <a:solidFill>
                      <a:srgbClr val="FFFFFF"/>
                    </a:solidFill>
                  </a:tcPr>
                </a:tc>
                <a:tc>
                  <a:txBody>
                    <a:bodyPr/>
                    <a:lstStyle/>
                    <a:p>
                      <a:r>
                        <a:rPr sz="1000"/>
                        <a:t>Data is corrected for ozone if spectral bands are affected.</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SR</a:t>
                      </a:r>
                    </a:p>
                  </a:txBody>
                  <a:tcPr>
                    <a:solidFill>
                      <a:srgbClr val="F2F2F2"/>
                    </a:solidFill>
                  </a:tcPr>
                </a:tc>
                <a:tc>
                  <a:txBody>
                    <a:bodyPr/>
                    <a:lstStyle/>
                    <a:p>
                      <a:r>
                        <a:rPr sz="1000"/>
                        <a:t>(not set)</a:t>
                      </a:r>
                    </a:p>
                  </a:txBody>
                  <a:tcPr>
                    <a:solidFill>
                      <a:srgbClr val="F2F2F2"/>
                    </a:solidFill>
                  </a:tcPr>
                </a:tc>
                <a:tc>
                  <a:txBody>
                    <a:bodyPr/>
                    <a:lstStyle/>
                    <a:p>
                      <a:r>
                        <a:rPr sz="1000" i="1">
                          <a:solidFill>
                            <a:srgbClr val="808080"/>
                          </a:solidFill>
                        </a:rPr>
                        <a:t>(keep as is)</a:t>
                      </a:r>
                    </a:p>
                  </a:txBody>
                  <a:tcPr>
                    <a:solidFill>
                      <a:srgbClr val="F2F2F2"/>
                    </a:solidFill>
                  </a:tcPr>
                </a:tc>
              </a:tr>
            </a:tbl>
          </a:graphicData>
        </a:graphic>
      </p:graphicFrame>
      <p:graphicFrame>
        <p:nvGraphicFramePr>
          <p:cNvPr id="4" name="Table 3"/>
          <p:cNvGraphicFramePr>
            <a:graphicFrameLocks noGrp="1"/>
          </p:cNvGraphicFramePr>
          <p:nvPr/>
        </p:nvGraphicFramePr>
        <p:xfrm>
          <a:off x="457200" y="2258568"/>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121920">
                <a:tc>
                  <a:txBody>
                    <a:bodyPr/>
                    <a:lstStyle/>
                    <a:p>
                      <a:r>
                        <a:rPr sz="1000" b="1"/>
                        <a:t>AR</a:t>
                      </a:r>
                    </a:p>
                    <a:p>
                      <a:r>
                        <a:rPr sz="1000" i="1">
                          <a:solidFill>
                            <a:srgbClr val="808080"/>
                          </a:solidFill>
                        </a:rPr>
                        <a:t>(baseline)</a:t>
                      </a:r>
                    </a:p>
                  </a:txBody>
                  <a:tcPr>
                    <a:solidFill>
                      <a:srgbClr val="FFFFFF"/>
                    </a:solidFill>
                  </a:tcPr>
                </a:tc>
                <a:tc>
                  <a:txBody>
                    <a:bodyPr/>
                    <a:lstStyle/>
                    <a:p>
                      <a:r>
                        <a:rPr sz="1000"/>
                        <a:t>Relevant metadata must be provided in [@geometric-uncertainty] and [@instrument].</a:t>
                      </a:r>
                    </a:p>
                    <a:p/>
                    <a:p>
                      <a:r>
                        <a:rPr sz="1000"/>
                        <a:t>See @dekeukelaere2018, @harmel2018, @mobley2016, @pahlevan2017, @pahlevan2021, and @vanhellemont2019.</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SR</a:t>
                      </a:r>
                    </a:p>
                  </a:txBody>
                  <a:tcPr>
                    <a:solidFill>
                      <a:srgbClr val="F2F2F2"/>
                    </a:solidFill>
                  </a:tcPr>
                </a:tc>
                <a:tc>
                  <a:txBody>
                    <a:bodyPr/>
                    <a:lstStyle/>
                    <a:p>
                      <a:r>
                        <a:rPr sz="1000"/>
                        <a:t>(no notes)</a:t>
                      </a:r>
                    </a:p>
                  </a:txBody>
                  <a:tcPr>
                    <a:solidFill>
                      <a:srgbClr val="F2F2F2"/>
                    </a:solidFill>
                  </a:tcPr>
                </a:tc>
                <a:tc>
                  <a:txBody>
                    <a:bodyPr/>
                    <a:lstStyle/>
                    <a:p>
                      <a:r>
                        <a:rPr sz="1000" i="1">
                          <a:solidFill>
                            <a:srgbClr val="808080"/>
                          </a:solidFill>
                        </a:rPr>
                        <a:t>(keep as is)</a:t>
                      </a:r>
                    </a:p>
                  </a:txBody>
                  <a:tcPr>
                    <a:solidFill>
                      <a:srgbClr val="F2F2F2"/>
                    </a:solidFill>
                  </a:tcPr>
                </a:tc>
              </a:tr>
            </a:tbl>
          </a:graphicData>
        </a:graphic>
      </p:graphicFrame>
      <p:graphicFrame>
        <p:nvGraphicFramePr>
          <p:cNvPr id="5" name="Table 4"/>
          <p:cNvGraphicFramePr>
            <a:graphicFrameLocks noGrp="1"/>
          </p:cNvGraphicFramePr>
          <p:nvPr/>
        </p:nvGraphicFramePr>
        <p:xfrm>
          <a:off x="457200" y="39776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121920">
                <a:tc>
                  <a:txBody>
                    <a:bodyPr/>
                    <a:lstStyle/>
                    <a:p>
                      <a:r>
                        <a:rPr sz="1000" b="1"/>
                        <a:t>AR</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SR</a:t>
                      </a:r>
                    </a:p>
                    <a:p>
                      <a:r>
                        <a:rPr sz="1000" i="1">
                          <a:solidFill>
                            <a:srgbClr val="808080"/>
                          </a:solidFill>
                        </a:rPr>
                        <a:t>(baseline)</a:t>
                      </a:r>
                    </a:p>
                  </a:txBody>
                  <a:tcPr>
                    <a:solidFill>
                      <a:srgbClr val="F2F2F2"/>
                    </a:solidFill>
                  </a:tcPr>
                </a:tc>
                <a:tc>
                  <a:txBody>
                    <a:bodyPr/>
                    <a:lstStyle/>
                    <a:p>
                      <a:r>
                        <a:rPr sz="1000"/>
                        <a:t>Data is corrected for ozone.</a:t>
                      </a:r>
                    </a:p>
                    <a:p/>
                    <a:p>
                      <a:r>
                        <a:rPr sz="1000"/>
                        <a:t>Relevant metadata must be provided under [@geometric-accuracy] and [@instrument].</a:t>
                      </a:r>
                    </a:p>
                    <a:p/>
                    <a:p>
                      <a:r>
                        <a:rPr sz="1000"/>
                        <a:t>Metadata contains a single DOI landing page with references to:</a:t>
                      </a:r>
                    </a:p>
                    <a:p/>
                    <a:p>
                      <a:r>
                        <a:rPr sz="1000"/>
                        <a:t>- a citable peer-reviewed algorithm</a:t>
                      </a:r>
                    </a:p>
                    <a:p>
                      <a:r>
                        <a:rPr sz="1000"/>
                        <a:t>- technical documentation regarding the implementation of that algorithm</a:t>
                      </a:r>
                    </a:p>
                    <a:p>
                      <a:r>
                        <a:rPr sz="1000" i="1">
                          <a:solidFill>
                            <a:srgbClr val="808080"/>
                          </a:solidFill>
                        </a:rPr>
                        <a:t>(optional)</a:t>
                      </a:r>
                    </a:p>
                  </a:txBody>
                  <a:tcPr>
                    <a:solidFill>
                      <a:srgbClr val="F2F2F2"/>
                    </a:solidFill>
                  </a:tcPr>
                </a:tc>
                <a:tc>
                  <a:txBody>
                    <a:bodyPr/>
                    <a:lstStyle/>
                    <a:p>
                      <a:r>
                        <a:rPr sz="1000">
                          <a:solidFill>
                            <a:srgbClr val="1565C0"/>
                          </a:solidFill>
                        </a:rPr>
                        <a:t>Data is corrected for ozone</a:t>
                      </a:r>
                      <a:r>
                        <a:rPr sz="1000"/>
                        <a:t> if spectral bands are affected.</a:t>
                      </a:r>
                    </a:p>
                  </a:txBody>
                  <a:tcPr>
                    <a:solidFill>
                      <a:srgbClr val="F2F2F2"/>
                    </a:solidFill>
                  </a:tcPr>
                </a:tc>
              </a:tr>
            </a:tbl>
          </a:graphicData>
        </a:graphic>
      </p:graphicFrame>
      <p:sp>
        <p:nvSpPr>
          <p:cNvPr id="6" name="TextBox 5"/>
          <p:cNvSpPr txBox="1"/>
          <p:nvPr/>
        </p:nvSpPr>
        <p:spPr>
          <a:xfrm>
            <a:off x="457200" y="6291986"/>
            <a:ext cx="11277295" cy="374904"/>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Ozone Corrections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Ozone Corrections</a:t>
            </a:r>
          </a:p>
          <a:p>
            <a:r>
              <a:rPr sz="1100">
                <a:latin typeface="Consolas"/>
              </a:rPr>
              <a:t>requirements:</a:t>
            </a:r>
          </a:p>
          <a:p>
            <a:r>
              <a:rPr sz="1100">
                <a:latin typeface="Consolas"/>
              </a:rPr>
              <a:t>  threshold:</a:t>
            </a:r>
          </a:p>
          <a:p>
            <a:r>
              <a:rPr sz="1100">
                <a:latin typeface="Consolas"/>
              </a:rPr>
              <a:t>    description: Data is corrected for ozone if spectral bands are affected.  # TODO: not aligned yet, see comparison</a:t>
            </a:r>
          </a:p>
          <a:p>
            <a:r>
              <a:rPr sz="1100">
                <a:latin typeface="Consolas"/>
              </a:rPr>
              <a:t>    notes:  # TODO: not aligned yet, see comparison</a:t>
            </a:r>
          </a:p>
          <a:p>
            <a:r>
              <a:rPr sz="1100">
                <a:latin typeface="Consolas"/>
              </a:rPr>
              <a:t>      - Relevant metadata must be provided in [@geometric-uncertainty] and [@instrument].</a:t>
            </a:r>
          </a:p>
          <a:p>
            <a:r>
              <a:rPr sz="1100">
                <a:latin typeface="Consolas"/>
              </a:rPr>
              <a:t>      - See @dekeukelaere2018, @harmel2018, @mobley2016, @pahlevan2017, @pahlevan2021, and @vanhellemont2019.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Water Vapour Corrections</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AR</a:t>
                      </a:r>
                    </a:p>
                    <a:p>
                      <a:r>
                        <a:rPr sz="1000" i="1">
                          <a:solidFill>
                            <a:srgbClr val="808080"/>
                          </a:solidFill>
                        </a:rPr>
                        <a:t>(baseline)</a:t>
                      </a:r>
                    </a:p>
                  </a:txBody>
                  <a:tcPr>
                    <a:solidFill>
                      <a:srgbClr val="FFFFFF"/>
                    </a:solidFill>
                  </a:tcPr>
                </a:tc>
                <a:tc>
                  <a:txBody>
                    <a:bodyPr/>
                    <a:lstStyle/>
                    <a:p>
                      <a:r>
                        <a:rPr sz="1000"/>
                        <a:t>Corrections are applied for water vapour if spectral bands are affected.</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SR</a:t>
                      </a:r>
                    </a:p>
                  </a:txBody>
                  <a:tcPr>
                    <a:solidFill>
                      <a:srgbClr val="F2F2F2"/>
                    </a:solidFill>
                  </a:tcPr>
                </a:tc>
                <a:tc>
                  <a:txBody>
                    <a:bodyPr/>
                    <a:lstStyle/>
                    <a:p>
                      <a:r>
                        <a:rPr sz="1000"/>
                        <a:t>Corrections are applied for water vapour</a:t>
                      </a:r>
                      <a:r>
                        <a:rPr sz="1000" strike="sngStrike">
                          <a:solidFill>
                            <a:srgbClr val="B00000"/>
                          </a:solidFill>
                        </a:rPr>
                        <a:t> if spectral bands are affected.</a:t>
                      </a:r>
                      <a:r>
                        <a:rPr sz="1000" b="1">
                          <a:solidFill>
                            <a:srgbClr val="2E7D32"/>
                          </a:solidFill>
                        </a:rPr>
                        <a:t>. Metadata contains a single DOI landing page with references to:</a:t>
                      </a:r>
                    </a:p>
                    <a:p/>
                    <a:p>
                      <a:r>
                        <a:rPr sz="1000" b="1">
                          <a:solidFill>
                            <a:srgbClr val="2E7D32"/>
                          </a:solidFill>
                        </a:rPr>
                        <a:t>- a citable peer-reviewed algorithm</a:t>
                      </a:r>
                    </a:p>
                    <a:p>
                      <a:r>
                        <a:rPr sz="1000" b="1">
                          <a:solidFill>
                            <a:srgbClr val="2E7D32"/>
                          </a:solidFill>
                        </a:rPr>
                        <a:t>- technical documentation regarding the implementation of that algorithm</a:t>
                      </a:r>
                    </a:p>
                  </a:txBody>
                  <a:tcPr>
                    <a:solidFill>
                      <a:srgbClr val="F2F2F2"/>
                    </a:solidFill>
                  </a:tcPr>
                </a:tc>
                <a:tc>
                  <a:txBody>
                    <a:bodyPr/>
                    <a:lstStyle/>
                    <a:p>
                      <a:r>
                        <a:rPr sz="1000"/>
                        <a:t>Corrections are applied for water vapour</a:t>
                      </a:r>
                      <a:r>
                        <a:rPr sz="1000" strike="sngStrike">
                          <a:solidFill>
                            <a:srgbClr val="B00000"/>
                          </a:solidFill>
                        </a:rPr>
                        <a:t>. Metadata contains a single DOI landing page with references to:</a:t>
                      </a:r>
                    </a:p>
                    <a:p/>
                    <a:p>
                      <a:r>
                        <a:rPr sz="1000" strike="sngStrike">
                          <a:solidFill>
                            <a:srgbClr val="B00000"/>
                          </a:solidFill>
                        </a:rPr>
                        <a:t>- a citable peer-reviewed algorithm</a:t>
                      </a:r>
                    </a:p>
                    <a:p>
                      <a:r>
                        <a:rPr sz="1000" strike="sngStrike">
                          <a:solidFill>
                            <a:srgbClr val="B00000"/>
                          </a:solidFill>
                        </a:rPr>
                        <a:t>- technical documentation regarding the implementation of that algorithm</a:t>
                      </a:r>
                      <a:r>
                        <a:rPr sz="1000" b="1">
                          <a:solidFill>
                            <a:srgbClr val="2E7D32"/>
                          </a:solidFill>
                        </a:rPr>
                        <a:t> if spectral bands are affected.</a:t>
                      </a:r>
                    </a:p>
                  </a:txBody>
                  <a:tcPr>
                    <a:solidFill>
                      <a:srgbClr val="F2F2F2"/>
                    </a:solidFill>
                  </a:tcPr>
                </a:tc>
              </a:tr>
            </a:tbl>
          </a:graphicData>
        </a:graphic>
      </p:graphicFrame>
      <p:graphicFrame>
        <p:nvGraphicFramePr>
          <p:cNvPr id="4" name="Table 3"/>
          <p:cNvGraphicFramePr>
            <a:graphicFrameLocks noGrp="1"/>
          </p:cNvGraphicFramePr>
          <p:nvPr/>
        </p:nvGraphicFramePr>
        <p:xfrm>
          <a:off x="457200" y="3035808"/>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121920">
                <a:tc>
                  <a:txBody>
                    <a:bodyPr/>
                    <a:lstStyle/>
                    <a:p>
                      <a:r>
                        <a:rPr sz="1000" b="1"/>
                        <a:t>AR</a:t>
                      </a:r>
                    </a:p>
                  </a:txBody>
                  <a:tcPr>
                    <a:solidFill>
                      <a:srgbClr val="FFFFFF"/>
                    </a:solidFill>
                  </a:tcPr>
                </a:tc>
                <a:tc>
                  <a:txBody>
                    <a:bodyPr/>
                    <a:lstStyle/>
                    <a:p>
                      <a:r>
                        <a:rPr sz="1000"/>
                        <a:t>(no notes)</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SR</a:t>
                      </a:r>
                    </a:p>
                    <a:p>
                      <a:r>
                        <a:rPr sz="1000" i="1">
                          <a:solidFill>
                            <a:srgbClr val="808080"/>
                          </a:solidFill>
                        </a:rPr>
                        <a:t>(baseline)</a:t>
                      </a:r>
                    </a:p>
                  </a:txBody>
                  <a:tcPr>
                    <a:solidFill>
                      <a:srgbClr val="F2F2F2"/>
                    </a:solidFill>
                  </a:tcPr>
                </a:tc>
                <a:tc>
                  <a:txBody>
                    <a:bodyPr/>
                    <a:lstStyle/>
                    <a:p>
                      <a:r>
                        <a:rPr sz="1000"/>
                        <a:t>Examples of technical documentation include an Algorithm Theoretical Basis Document, product user guide, etc.</a:t>
                      </a:r>
                    </a:p>
                  </a:txBody>
                  <a:tcPr>
                    <a:solidFill>
                      <a:srgbClr val="F2F2F2"/>
                    </a:solidFill>
                  </a:tcPr>
                </a:tc>
                <a:tc>
                  <a:txBody>
                    <a:bodyPr/>
                    <a:lstStyle/>
                    <a:p>
                      <a:r>
                        <a:rPr sz="1000" b="1">
                          <a:solidFill>
                            <a:srgbClr val="B00000"/>
                          </a:solidFill>
                        </a:rPr>
                        <a:t>DELETE NOTE</a:t>
                      </a:r>
                    </a:p>
                  </a:txBody>
                  <a:tcPr>
                    <a:solidFill>
                      <a:srgbClr val="F2F2F2"/>
                    </a:solidFill>
                  </a:tcPr>
                </a:tc>
              </a:tr>
            </a:tbl>
          </a:graphicData>
        </a:graphic>
      </p:graphicFrame>
      <p:sp>
        <p:nvSpPr>
          <p:cNvPr id="5" name="TextBox 4"/>
          <p:cNvSpPr txBox="1"/>
          <p:nvPr/>
        </p:nvSpPr>
        <p:spPr>
          <a:xfrm>
            <a:off x="457200" y="4091574"/>
            <a:ext cx="11277295" cy="374904"/>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Water Vapour Corrections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Water Vapour Corrections</a:t>
            </a:r>
          </a:p>
          <a:p>
            <a:r>
              <a:rPr sz="1100">
                <a:latin typeface="Consolas"/>
              </a:rPr>
              <a:t>requirements:</a:t>
            </a:r>
          </a:p>
          <a:p>
            <a:r>
              <a:rPr sz="1100">
                <a:latin typeface="Consolas"/>
              </a:rPr>
              <a:t>  threshold:</a:t>
            </a:r>
          </a:p>
          <a:p>
            <a:r>
              <a:rPr sz="1100">
                <a:latin typeface="Consolas"/>
              </a:rPr>
              <a:t>    description: Corrections are applied for water vapour if spectral bands are affected.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Measurement Normalisation</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Measurements are normalised (to nadir) to remove the effect of bidirectional dependence of the upwelling radiance on observation and solar-illumination geometries.</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a:t>
                      </a:r>
                    </a:p>
                  </a:txBody>
                  <a:tcPr>
                    <a:solidFill>
                      <a:srgbClr val="F2F2F2"/>
                    </a:solidFill>
                  </a:tcPr>
                </a:tc>
                <a:tc>
                  <a:txBody>
                    <a:bodyPr/>
                    <a:lstStyle/>
                    <a:p>
                      <a:r>
                        <a:rPr sz="1000">
                          <a:solidFill>
                            <a:srgbClr val="1565C0"/>
                          </a:solidFill>
                        </a:rPr>
                        <a:t>Measurements are normalised </a:t>
                      </a:r>
                      <a:r>
                        <a:rPr sz="1000"/>
                        <a:t>for viewing conditions (i.e., nadir view angle).</a:t>
                      </a:r>
                    </a:p>
                    <a:p>
                      <a:r>
                        <a:rPr sz="1000"/>
                        <a:t>This may include radiative transfer modelling</a:t>
                      </a:r>
                      <a:r>
                        <a:rPr sz="1000"/>
                        <a:t>.</a:t>
                      </a:r>
                    </a:p>
                  </a:txBody>
                  <a:tcPr>
                    <a:solidFill>
                      <a:srgbClr val="F2F2F2"/>
                    </a:solidFill>
                  </a:tcPr>
                </a:tc>
                <a:tc>
                  <a:txBody>
                    <a:bodyPr/>
                    <a:lstStyle/>
                    <a:p>
                      <a:r>
                        <a:rPr sz="1000">
                          <a:solidFill>
                            <a:srgbClr val="1565C0"/>
                          </a:solidFill>
                        </a:rPr>
                        <a:t>Measurements are normalised </a:t>
                      </a:r>
                      <a:r>
                        <a:rPr sz="1000"/>
                        <a:t>(to nadir) to remove the effect of bidirectional dependence of the upwelling radiance on observation and solar-illumination geometries</a:t>
                      </a:r>
                      <a:r>
                        <a:rPr sz="1000"/>
                        <a:t>.</a:t>
                      </a:r>
                    </a:p>
                  </a:txBody>
                  <a:tcPr>
                    <a:solidFill>
                      <a:srgbClr val="F2F2F2"/>
                    </a:solidFill>
                  </a:tcPr>
                </a:tc>
              </a:tr>
              <a:tr h="91440">
                <a:tc>
                  <a:txBody>
                    <a:bodyPr/>
                    <a:lstStyle/>
                    <a:p>
                      <a:r>
                        <a:rPr sz="1000" b="1"/>
                        <a:t>SR</a:t>
                      </a:r>
                    </a:p>
                  </a:txBody>
                  <a:tcPr>
                    <a:solidFill>
                      <a:srgbClr val="FFFFFF"/>
                    </a:solidFill>
                  </a:tcPr>
                </a:tc>
                <a:tc>
                  <a:txBody>
                    <a:bodyPr/>
                    <a:lstStyle/>
                    <a:p>
                      <a:r>
                        <a:rPr sz="1000">
                          <a:solidFill>
                            <a:srgbClr val="1565C0"/>
                          </a:solidFill>
                        </a:rPr>
                        <a:t>Measurements are normalised </a:t>
                      </a:r>
                      <a:r>
                        <a:rPr sz="1000"/>
                        <a:t>for solar and viewing conditions (i.e., nadir view angle and average solar angles). This may include terrain </a:t>
                      </a:r>
                      <a:r>
                        <a:rPr sz="1000">
                          <a:solidFill>
                            <a:srgbClr val="1565C0"/>
                          </a:solidFill>
                        </a:rPr>
                        <a:t>illumination </a:t>
                      </a:r>
                      <a:r>
                        <a:rPr sz="1000"/>
                        <a:t>and/or Bi-Directional Reflectance Function (BRDF) correction</a:t>
                      </a:r>
                      <a:r>
                        <a:rPr sz="1000"/>
                        <a:t>.</a:t>
                      </a:r>
                    </a:p>
                  </a:txBody>
                  <a:tcPr>
                    <a:solidFill>
                      <a:srgbClr val="FFFFFF"/>
                    </a:solidFill>
                  </a:tcPr>
                </a:tc>
                <a:tc>
                  <a:txBody>
                    <a:bodyPr/>
                    <a:lstStyle/>
                    <a:p>
                      <a:r>
                        <a:rPr sz="1000">
                          <a:solidFill>
                            <a:srgbClr val="1565C0"/>
                          </a:solidFill>
                        </a:rPr>
                        <a:t>Measurements are normalised </a:t>
                      </a:r>
                      <a:r>
                        <a:rPr sz="1000"/>
                        <a:t>(to nadir) to remove the effect of bidirectional dependence of the upwelling radiance on observation and solar-</a:t>
                      </a:r>
                      <a:r>
                        <a:rPr sz="1000">
                          <a:solidFill>
                            <a:srgbClr val="1565C0"/>
                          </a:solidFill>
                        </a:rPr>
                        <a:t>illumination </a:t>
                      </a:r>
                      <a:r>
                        <a:rPr sz="1000"/>
                        <a:t>geometries</a:t>
                      </a:r>
                      <a:r>
                        <a:rPr sz="1000"/>
                        <a:t>.</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3300984"/>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91440">
                <a:tc>
                  <a:txBody>
                    <a:bodyPr/>
                    <a:lstStyle/>
                    <a:p>
                      <a:r>
                        <a:rPr sz="1000" b="1"/>
                        <a:t>AR</a:t>
                      </a:r>
                    </a:p>
                  </a:txBody>
                  <a:tcPr>
                    <a:solidFill>
                      <a:srgbClr val="FFFFFF"/>
                    </a:solidFill>
                  </a:tcPr>
                </a:tc>
                <a:tc>
                  <a:txBody>
                    <a:bodyPr/>
                    <a:lstStyle/>
                    <a:p>
                      <a:r>
                        <a:rPr sz="1000"/>
                        <a:t>(no notes)</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a:t>
                      </a:r>
                    </a:p>
                    <a:p>
                      <a:r>
                        <a:rPr sz="1000" i="1">
                          <a:solidFill>
                            <a:srgbClr val="808080"/>
                          </a:solidFill>
                        </a:rPr>
                        <a:t>(baseline)</a:t>
                      </a:r>
                    </a:p>
                  </a:txBody>
                  <a:tcPr>
                    <a:solidFill>
                      <a:srgbClr val="F2F2F2"/>
                    </a:solidFill>
                  </a:tcPr>
                </a:tc>
                <a:tc>
                  <a:txBody>
                    <a:bodyPr/>
                    <a:lstStyle/>
                    <a:p>
                      <a:r>
                        <a:rPr sz="1000"/>
                        <a:t>Information on measurement normalisation should be available in the metadata as a single DOI landing page.</a:t>
                      </a:r>
                    </a:p>
                  </a:txBody>
                  <a:tcPr>
                    <a:solidFill>
                      <a:srgbClr val="F2F2F2"/>
                    </a:solidFill>
                  </a:tcPr>
                </a:tc>
                <a:tc>
                  <a:txBody>
                    <a:bodyPr/>
                    <a:lstStyle/>
                    <a:p>
                      <a:r>
                        <a:rPr sz="1000" b="1">
                          <a:solidFill>
                            <a:srgbClr val="B00000"/>
                          </a:solidFill>
                        </a:rPr>
                        <a:t>DELETE NOTE</a:t>
                      </a:r>
                    </a:p>
                  </a:txBody>
                  <a:tcPr>
                    <a:solidFill>
                      <a:srgbClr val="F2F2F2"/>
                    </a:solidFill>
                  </a:tcPr>
                </a:tc>
              </a:tr>
              <a:tr h="91440">
                <a:tc>
                  <a:txBody>
                    <a:bodyPr/>
                    <a:lstStyle/>
                    <a:p>
                      <a:r>
                        <a:rPr sz="1000" b="1"/>
                        <a:t>SR</a:t>
                      </a:r>
                    </a:p>
                  </a:txBody>
                  <a:tcPr>
                    <a:solidFill>
                      <a:srgbClr val="FFFFFF"/>
                    </a:solidFill>
                  </a:tcPr>
                </a:tc>
                <a:tc>
                  <a:txBody>
                    <a:bodyPr/>
                    <a:lstStyle/>
                    <a:p>
                      <a:r>
                        <a:rPr sz="1000"/>
                        <a:t>Information on measurement normalisation should be available in the metadata as a single DOI landing page.</a:t>
                      </a:r>
                    </a:p>
                  </a:txBody>
                  <a:tcPr>
                    <a:solidFill>
                      <a:srgbClr val="FFFFFF"/>
                    </a:solidFill>
                  </a:tcPr>
                </a:tc>
                <a:tc>
                  <a:txBody>
                    <a:bodyPr/>
                    <a:lstStyle/>
                    <a:p>
                      <a:r>
                        <a:rPr sz="1000" b="1">
                          <a:solidFill>
                            <a:srgbClr val="B00000"/>
                          </a:solidFill>
                        </a:rPr>
                        <a:t>DELETE NOTE</a:t>
                      </a:r>
                    </a:p>
                  </a:txBody>
                  <a:tcPr>
                    <a:solidFill>
                      <a:srgbClr val="FFFFFF"/>
                    </a:solidFill>
                  </a:tcPr>
                </a:tc>
              </a:tr>
            </a:tbl>
          </a:graphicData>
        </a:graphic>
      </p:graphicFrame>
      <p:sp>
        <p:nvSpPr>
          <p:cNvPr id="5" name="TextBox 4"/>
          <p:cNvSpPr txBox="1"/>
          <p:nvPr/>
        </p:nvSpPr>
        <p:spPr>
          <a:xfrm>
            <a:off x="457200" y="4736226"/>
            <a:ext cx="11277295" cy="374904"/>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Measurement Normalisation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Measurement Normalisation</a:t>
            </a:r>
          </a:p>
          <a:p>
            <a:r>
              <a:rPr sz="1100">
                <a:latin typeface="Consolas"/>
              </a:rPr>
              <a:t>requirements:</a:t>
            </a:r>
          </a:p>
          <a:p>
            <a:r>
              <a:rPr sz="1100">
                <a:latin typeface="Consolas"/>
              </a:rPr>
              <a:t>  goal:</a:t>
            </a:r>
          </a:p>
          <a:p>
            <a:r>
              <a:rPr sz="1100">
                <a:latin typeface="Consolas"/>
              </a:rPr>
              <a:t>    description: Measurements are normalised (to nadir) to remove the effect of bidirectional dependence of the upwelling radiance on observation and solar-illumination geometries.</a:t>
            </a:r>
          </a:p>
          <a:p>
            <a:r>
              <a:rPr sz="1100">
                <a:latin typeface="Consolas"/>
              </a:rPr>
              <a:t>    optional: true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Measurement Uncertainty</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Description</a:t>
                      </a:r>
                    </a:p>
                  </a:txBody>
                  <a:tcPr>
                    <a:solidFill>
                      <a:srgbClr val="000000"/>
                    </a:solidFill>
                  </a:tcPr>
                </a:tc>
                <a:tc>
                  <a:txBody>
                    <a:bodyPr/>
                    <a:lstStyle/>
                    <a:p>
                      <a:r>
                        <a:rPr b="1" sz="1100">
                          <a:solidFill>
                            <a:srgbClr val="FFFFFF"/>
                          </a:solidFill>
                        </a:rPr>
                        <a:t>Proposed Description</a:t>
                      </a:r>
                    </a:p>
                  </a:txBody>
                  <a:tcPr>
                    <a:solidFill>
                      <a:srgbClr val="000000"/>
                    </a:solidFill>
                  </a:tcPr>
                </a:tc>
              </a:tr>
              <a:tr h="91440">
                <a:tc>
                  <a:txBody>
                    <a:bodyPr/>
                    <a:lstStyle/>
                    <a:p>
                      <a:r>
                        <a:rPr sz="1000" b="1"/>
                        <a:t>AR</a:t>
                      </a:r>
                    </a:p>
                  </a:txBody>
                  <a:tcPr>
                    <a:solidFill>
                      <a:srgbClr val="FFFFFF"/>
                    </a:solidFill>
                  </a:tcPr>
                </a:tc>
                <a:tc>
                  <a:txBody>
                    <a:bodyPr/>
                    <a:lstStyle/>
                    <a:p>
                      <a:r>
                        <a:rPr sz="1000"/>
                        <a:t>(not set)</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 SR</a:t>
                      </a:r>
                    </a:p>
                    <a:p>
                      <a:r>
                        <a:rPr sz="1000" i="1">
                          <a:solidFill>
                            <a:srgbClr val="808080"/>
                          </a:solidFill>
                        </a:rPr>
                        <a:t>(baseline)</a:t>
                      </a:r>
                    </a:p>
                  </a:txBody>
                  <a:tcPr>
                    <a:solidFill>
                      <a:srgbClr val="F2F2F2"/>
                    </a:solidFill>
                  </a:tcPr>
                </a:tc>
                <a:tc>
                  <a:txBody>
                    <a:bodyPr/>
                    <a:lstStyle/>
                    <a:p>
                      <a:r>
                        <a:rPr sz="1000"/>
                        <a:t>Note: In current practice, users determine fitness for purpose based on knowledge of the lineage of the data, rather than on a specific estimate of measurement uncertainty.</a:t>
                      </a:r>
                    </a:p>
                  </a:txBody>
                  <a:tcPr>
                    <a:solidFill>
                      <a:srgbClr val="F2F2F2"/>
                    </a:solidFill>
                  </a:tcPr>
                </a:tc>
                <a:tc>
                  <a:txBody>
                    <a:bodyPr/>
                    <a:lstStyle/>
                    <a:p>
                      <a:r>
                        <a:rPr sz="1000" b="1">
                          <a:solidFill>
                            <a:srgbClr val="B00000"/>
                          </a:solidFill>
                        </a:rPr>
                        <a:t>DELETE</a:t>
                      </a:r>
                    </a:p>
                  </a:txBody>
                  <a:tcPr>
                    <a:solidFill>
                      <a:srgbClr val="F2F2F2"/>
                    </a:solidFill>
                  </a:tcPr>
                </a:tc>
              </a:tr>
              <a:tr h="91440">
                <a:tc>
                  <a:txBody>
                    <a:bodyPr/>
                    <a:lstStyle/>
                    <a:p>
                      <a:r>
                        <a:rPr sz="1000" b="1"/>
                        <a:t>ST</a:t>
                      </a:r>
                    </a:p>
                  </a:txBody>
                  <a:tcPr>
                    <a:solidFill>
                      <a:srgbClr val="FFFFFF"/>
                    </a:solidFill>
                  </a:tcPr>
                </a:tc>
                <a:tc>
                  <a:txBody>
                    <a:bodyPr/>
                    <a:lstStyle/>
                    <a:p>
                      <a:r>
                        <a:rPr sz="1000"/>
                        <a:t>(not set)</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679192"/>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An estimate of the uncertainty of the values is provided in measurement units, following the BIPM Guide to the Expression of Uncertainty in Measurement (GUM).</a:t>
                      </a:r>
                    </a:p>
                  </a:txBody>
                  <a:tcPr>
                    <a:solidFill>
                      <a:srgbClr val="FFFFFF"/>
                    </a:solidFill>
                  </a:tcPr>
                </a:tc>
                <a:tc>
                  <a:txBody>
                    <a:bodyPr/>
                    <a:lstStyle/>
                    <a:p>
                      <a:r>
                        <a:rPr sz="1000"/>
                        <a:t>A</a:t>
                      </a:r>
                      <a:r>
                        <a:rPr sz="1000"/>
                        <a:t> self-assessed declaration of per-pixel</a:t>
                      </a:r>
                      <a:r>
                        <a:rPr sz="1000">
                          <a:solidFill>
                            <a:srgbClr val="1565C0"/>
                          </a:solidFill>
                        </a:rPr>
                        <a:t> measurement un</a:t>
                      </a:r>
                      <a:r>
                        <a:rPr sz="1000"/>
                        <a:t>certainty</a:t>
                      </a:r>
                      <a:r>
                        <a:rPr sz="1000">
                          <a:solidFill>
                            <a:srgbClr val="1565C0"/>
                          </a:solidFill>
                        </a:rPr>
                        <a:t>, following </a:t>
                      </a:r>
                      <a:r>
                        <a:rPr sz="1000"/>
                        <a:t>Section 3.2.4 (</a:t>
                      </a:r>
                      <a:r>
                        <a:rPr sz="1000">
                          <a:solidFill>
                            <a:srgbClr val="1565C0"/>
                          </a:solidFill>
                        </a:rPr>
                        <a:t>Uncertainty </a:t>
                      </a:r>
                      <a:r>
                        <a:rPr sz="1000"/>
                        <a:t>Characterization) of the Joint Earth Observation Mission Quality Assessment Framework - Optical Guidelines is provided, meeting the Basic or Good criteria</a:t>
                      </a:r>
                      <a:r>
                        <a:rPr sz="1000"/>
                        <a:t>.</a:t>
                      </a:r>
                    </a:p>
                  </a:txBody>
                  <a:tcPr>
                    <a:solidFill>
                      <a:srgbClr val="FFFFFF"/>
                    </a:solidFill>
                  </a:tcPr>
                </a:tc>
              </a:tr>
              <a:tr h="91440">
                <a:tc>
                  <a:txBody>
                    <a:bodyPr/>
                    <a:lstStyle/>
                    <a:p>
                      <a:r>
                        <a:rPr sz="1000" b="1"/>
                        <a:t>NLSR, SR</a:t>
                      </a:r>
                    </a:p>
                  </a:txBody>
                  <a:tcPr>
                    <a:solidFill>
                      <a:srgbClr val="F2F2F2"/>
                    </a:solidFill>
                  </a:tcPr>
                </a:tc>
                <a:tc>
                  <a:txBody>
                    <a:bodyPr/>
                    <a:lstStyle/>
                    <a:p>
                      <a:r>
                        <a:rPr sz="1000"/>
                        <a:t>(not set)</a:t>
                      </a:r>
                    </a:p>
                  </a:txBody>
                  <a:tcPr>
                    <a:solidFill>
                      <a:srgbClr val="F2F2F2"/>
                    </a:solidFill>
                  </a:tcPr>
                </a:tc>
                <a:tc>
                  <a:txBody>
                    <a:bodyPr/>
                    <a:lstStyle/>
                    <a:p>
                      <a:r>
                        <a:rPr sz="1000" b="1">
                          <a:solidFill>
                            <a:srgbClr val="2E7D32"/>
                          </a:solidFill>
                        </a:rPr>
                        <a:t>A self-assessed declaration of per-pixel measurement uncertainty, following Section 3.2.4 (Uncertainty Characterization) of the Joint Earth Observation Mission Quality Assessment Framework - Optical Guidelines is provided, meeting the Basic or Good criteria.</a:t>
                      </a:r>
                    </a:p>
                  </a:txBody>
                  <a:tcPr>
                    <a:solidFill>
                      <a:srgbClr val="F2F2F2"/>
                    </a:solidFill>
                  </a:tcPr>
                </a:tc>
              </a:tr>
              <a:tr h="91440">
                <a:tc>
                  <a:txBody>
                    <a:bodyPr/>
                    <a:lstStyle/>
                    <a:p>
                      <a:r>
                        <a:rPr sz="1000" b="1"/>
                        <a:t>ST</a:t>
                      </a:r>
                    </a:p>
                  </a:txBody>
                  <a:tcPr>
                    <a:solidFill>
                      <a:srgbClr val="FFFFFF"/>
                    </a:solidFill>
                  </a:tcPr>
                </a:tc>
                <a:tc>
                  <a:txBody>
                    <a:bodyPr/>
                    <a:lstStyle/>
                    <a:p>
                      <a:r>
                        <a:rPr sz="1000"/>
                        <a:t>A</a:t>
                      </a:r>
                      <a:r>
                        <a:rPr sz="1000"/>
                        <a:t> self-assessed declaration of per-pixel</a:t>
                      </a:r>
                      <a:r>
                        <a:rPr sz="1000">
                          <a:solidFill>
                            <a:srgbClr val="1565C0"/>
                          </a:solidFill>
                        </a:rPr>
                        <a:t> measurement un</a:t>
                      </a:r>
                      <a:r>
                        <a:rPr sz="1000"/>
                        <a:t>certainty</a:t>
                      </a:r>
                      <a:r>
                        <a:rPr sz="1000">
                          <a:solidFill>
                            <a:srgbClr val="1565C0"/>
                          </a:solidFill>
                        </a:rPr>
                        <a:t>, following </a:t>
                      </a:r>
                      <a:r>
                        <a:rPr sz="1000"/>
                        <a:t>Section 3.2.4 (</a:t>
                      </a:r>
                      <a:r>
                        <a:rPr sz="1000">
                          <a:solidFill>
                            <a:srgbClr val="1565C0"/>
                          </a:solidFill>
                        </a:rPr>
                        <a:t>Uncertainty </a:t>
                      </a:r>
                      <a:r>
                        <a:rPr sz="1000"/>
                        <a:t>Characterization) of the Joint Earth Observation Mission Quality Assessment Framework - Optical Guidelines is provided, meeting the Basic or Good criteria</a:t>
                      </a:r>
                      <a:r>
                        <a:rPr sz="1000"/>
                        <a:t>.</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Measurement Uncertainty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In current practice, users determine fitness for purpose based on knowledge of the lineage of the data, rather than on a specific estimate of measurement uncertainty.</a:t>
                      </a:r>
                    </a:p>
                    <a:p/>
                    <a:p>
                      <a:r>
                        <a:rPr sz="1000"/>
                        <a:t>See @gum_6_2020 and @vabson2024.</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 SR</a:t>
                      </a:r>
                    </a:p>
                  </a:txBody>
                  <a:tcPr>
                    <a:solidFill>
                      <a:srgbClr val="F2F2F2"/>
                    </a:solidFill>
                  </a:tcPr>
                </a:tc>
                <a:tc>
                  <a:txBody>
                    <a:bodyPr/>
                    <a:lstStyle/>
                    <a:p>
                      <a:r>
                        <a:rPr sz="1000"/>
                        <a:t>(no notes)</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ST</a:t>
                      </a:r>
                    </a:p>
                  </a:txBody>
                  <a:tcPr>
                    <a:solidFill>
                      <a:srgbClr val="FFFFFF"/>
                    </a:solidFill>
                  </a:tcPr>
                </a:tc>
                <a:tc>
                  <a:txBody>
                    <a:bodyPr/>
                    <a:lstStyle/>
                    <a:p>
                      <a:r>
                        <a:rPr sz="1000"/>
                        <a:t>(no notes)</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90088"/>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r>
                        <a:rPr sz="1000" b="1">
                          <a:solidFill>
                            <a:srgbClr val="2E7D32"/>
                          </a:solidFill>
                        </a:rPr>
                        <a:t>A self-assessed declaration of per-pixel measurement uncertainty, following Section 3.2.4 (Uncertainty Characterization) of the Joint Earth Observation Mission Quality Assessment Framework - Optical Guidelines is provided, meeting the Excellent or Ideal criteria.</a:t>
                      </a:r>
                    </a:p>
                  </a:txBody>
                  <a:tcPr>
                    <a:solidFill>
                      <a:srgbClr val="FFFFFF"/>
                    </a:solidFill>
                  </a:tcPr>
                </a:tc>
              </a:tr>
              <a:tr h="91440">
                <a:tc>
                  <a:txBody>
                    <a:bodyPr/>
                    <a:lstStyle/>
                    <a:p>
                      <a:r>
                        <a:rPr sz="1000" b="1"/>
                        <a:t>NLSR, SR</a:t>
                      </a:r>
                    </a:p>
                    <a:p>
                      <a:r>
                        <a:rPr sz="1000" i="1">
                          <a:solidFill>
                            <a:srgbClr val="808080"/>
                          </a:solidFill>
                        </a:rPr>
                        <a:t>(baseline)</a:t>
                      </a:r>
                    </a:p>
                  </a:txBody>
                  <a:tcPr>
                    <a:solidFill>
                      <a:srgbClr val="F2F2F2"/>
                    </a:solidFill>
                  </a:tcPr>
                </a:tc>
                <a:tc>
                  <a:txBody>
                    <a:bodyPr/>
                    <a:lstStyle/>
                    <a:p>
                      <a:r>
                        <a:rPr sz="1000"/>
                        <a:t>An estimate of the certainty of the values is provided in measurement units.</a:t>
                      </a:r>
                    </a:p>
                    <a:p>
                      <a:r>
                        <a:rPr sz="1000" i="1">
                          <a:solidFill>
                            <a:srgbClr val="808080"/>
                          </a:solidFill>
                        </a:rPr>
                        <a:t>(optional)</a:t>
                      </a:r>
                    </a:p>
                  </a:txBody>
                  <a:tcPr>
                    <a:solidFill>
                      <a:srgbClr val="F2F2F2"/>
                    </a:solidFill>
                  </a:tcPr>
                </a:tc>
                <a:tc>
                  <a:txBody>
                    <a:bodyPr/>
                    <a:lstStyle/>
                    <a:p>
                      <a:r>
                        <a:rPr sz="1000"/>
                        <a:t>A</a:t>
                      </a:r>
                      <a:r>
                        <a:rPr sz="1000"/>
                        <a:t> self-assessed declaration of per-pixel</a:t>
                      </a:r>
                      <a:r>
                        <a:rPr sz="1000">
                          <a:solidFill>
                            <a:srgbClr val="1565C0"/>
                          </a:solidFill>
                        </a:rPr>
                        <a:t> measurement un</a:t>
                      </a:r>
                      <a:r>
                        <a:rPr sz="1000"/>
                        <a:t>certainty, following Section 3.2.4 (Uncertainty Characterization) of the Joint Earth Observation Mission Quality Assessment Framework - Optical Guidelines is provided, meeting the Excellent or Ideal criteria</a:t>
                      </a:r>
                      <a:r>
                        <a:rPr sz="1000"/>
                        <a:t>.</a:t>
                      </a:r>
                    </a:p>
                  </a:txBody>
                  <a:tcPr>
                    <a:solidFill>
                      <a:srgbClr val="F2F2F2"/>
                    </a:solidFill>
                  </a:tcPr>
                </a:tc>
              </a:tr>
              <a:tr h="91440">
                <a:tc>
                  <a:txBody>
                    <a:bodyPr/>
                    <a:lstStyle/>
                    <a:p>
                      <a:r>
                        <a:rPr sz="1000" b="1"/>
                        <a:t>ST</a:t>
                      </a:r>
                    </a:p>
                  </a:txBody>
                  <a:tcPr>
                    <a:solidFill>
                      <a:srgbClr val="FFFFFF"/>
                    </a:solidFill>
                  </a:tcPr>
                </a:tc>
                <a:tc>
                  <a:txBody>
                    <a:bodyPr/>
                    <a:lstStyle/>
                    <a:p>
                      <a:r>
                        <a:rPr sz="1000"/>
                        <a:t>A</a:t>
                      </a:r>
                      <a:r>
                        <a:rPr sz="1000"/>
                        <a:t> self-assessed declaration of per-pixel</a:t>
                      </a:r>
                      <a:r>
                        <a:rPr sz="1000">
                          <a:solidFill>
                            <a:srgbClr val="1565C0"/>
                          </a:solidFill>
                        </a:rPr>
                        <a:t> measurement un</a:t>
                      </a:r>
                      <a:r>
                        <a:rPr sz="1000"/>
                        <a:t>certainty, following Section 3.2.4 (Uncertainty Characterization) of the Joint Earth Observation Mission Quality Assessment Framework - Optical Guidelines is provided, meeting the Excellent or Ideal criteria. </a:t>
                      </a:r>
                    </a:p>
                    <a:p>
                      <a:r>
                        <a:rPr sz="1000" i="1">
                          <a:solidFill>
                            <a:srgbClr val="808080"/>
                          </a:solidFill>
                        </a:rPr>
                        <a:t>(optional)</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Measurement Uncertainty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91440">
                <a:tc>
                  <a:txBody>
                    <a:bodyPr/>
                    <a:lstStyle/>
                    <a:p>
                      <a:r>
                        <a:rPr sz="1000" b="1"/>
                        <a:t>AR</a:t>
                      </a:r>
                    </a:p>
                  </a:txBody>
                  <a:tcPr>
                    <a:solidFill>
                      <a:srgbClr val="FFFFFF"/>
                    </a:solidFill>
                  </a:tcPr>
                </a:tc>
                <a:tc>
                  <a:txBody>
                    <a:bodyPr/>
                    <a:lstStyle/>
                    <a:p>
                      <a:r>
                        <a:rPr sz="1000"/>
                        <a:t>(no notes)</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 SR</a:t>
                      </a:r>
                    </a:p>
                    <a:p>
                      <a:r>
                        <a:rPr sz="1000" i="1">
                          <a:solidFill>
                            <a:srgbClr val="808080"/>
                          </a:solidFill>
                        </a:rPr>
                        <a:t>(baseline)</a:t>
                      </a:r>
                    </a:p>
                  </a:txBody>
                  <a:tcPr>
                    <a:solidFill>
                      <a:srgbClr val="F2F2F2"/>
                    </a:solidFill>
                  </a:tcPr>
                </a:tc>
                <a:tc>
                  <a:txBody>
                    <a:bodyPr/>
                    <a:lstStyle/>
                    <a:p>
                      <a:r>
                        <a:rPr sz="1000"/>
                        <a:t>This is a requirement for SI traceability. See also [@traceability].</a:t>
                      </a:r>
                    </a:p>
                    <a:p/>
                    <a:p>
                      <a:r>
                        <a:rPr sz="1000"/>
                        <a:t>Information on measurement uncertainty should be available in the metadata as a single DOI landing page.</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ST</a:t>
                      </a:r>
                    </a:p>
                  </a:txBody>
                  <a:tcPr>
                    <a:solidFill>
                      <a:srgbClr val="FFFFFF"/>
                    </a:solidFill>
                  </a:tcPr>
                </a:tc>
                <a:tc>
                  <a:txBody>
                    <a:bodyPr/>
                    <a:lstStyle/>
                    <a:p>
                      <a:r>
                        <a:rPr sz="1000"/>
                        <a:t>https://science.nasa.gov/wp-content/uploads/2026/05/joint-optical-guidelines-jul2025-signed.pdf</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sp>
        <p:nvSpPr>
          <p:cNvPr id="4" name="TextBox 3"/>
          <p:cNvSpPr txBox="1"/>
          <p:nvPr/>
        </p:nvSpPr>
        <p:spPr>
          <a:xfrm>
            <a:off x="457200" y="2871033"/>
            <a:ext cx="11277295" cy="1335024"/>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a:p>
            <a:r>
              <a:rPr sz="1200" i="1"/>
              <a:t/>
            </a:r>
          </a:p>
          <a:p>
            <a:r>
              <a:rPr sz="1200" i="1"/>
              <a:t>ST updated this requirement following WGCV's recommendation to include uncertainty information at the threshold level, including the ESA-NASA-USGS quality guidelines, and proposes adopting it for all optical PFS; it also helps address the algorithms discussion (issue #84). This would constitute a major update for SR and NLSR and potentially a minor update for 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Measurement Uncertainty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Measurement Uncertainty</a:t>
            </a:r>
          </a:p>
          <a:p>
            <a:r>
              <a:rPr sz="1100">
                <a:latin typeface="Consolas"/>
              </a:rPr>
              <a:t>requirements:</a:t>
            </a:r>
          </a:p>
          <a:p>
            <a:r>
              <a:rPr sz="1100">
                <a:latin typeface="Consolas"/>
              </a:rPr>
              <a:t>  threshold:</a:t>
            </a:r>
          </a:p>
          <a:p>
            <a:r>
              <a:rPr sz="1100">
                <a:latin typeface="Consolas"/>
              </a:rPr>
              <a:t>    description: A self-assessed declaration of per-pixel measurement uncertainty, following Section 3.2.4 (Uncertainty Characterization) of the Joint Earth Observation Mission Quality Assessment Framework - Optical Guidelines is provided, meeting the Basic or Good criteria.</a:t>
            </a:r>
          </a:p>
          <a:p>
            <a:r>
              <a:rPr sz="1100">
                <a:latin typeface="Consolas"/>
              </a:rPr>
              <a:t>  goal:</a:t>
            </a:r>
          </a:p>
          <a:p>
            <a:r>
              <a:rPr sz="1100">
                <a:latin typeface="Consolas"/>
              </a:rPr>
              <a:t>    description: A self-assessed declaration of per-pixel measurement uncertainty, following Section 3.2.4 (Uncertainty Characterization) of the Joint Earth Observation Mission Quality Assessment Framework - Optical Guidelines is provided, meeting the Excellent or Ideal criteria.  # TODO: not aligned yet, see comparison</a:t>
            </a:r>
          </a:p>
          <a:p>
            <a:r>
              <a:rPr sz="1100">
                <a:latin typeface="Consolas"/>
              </a:rPr>
              <a:t>    optional: true  # TODO: not aligned yet, see comparison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Algorithms</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All algorithms and the sequence in which they were applied in the generation process are identified.</a:t>
                      </a:r>
                    </a:p>
                    <a:p/>
                    <a:p>
                      <a:r>
                        <a:rPr sz="1000"/>
                        <a:t>Algorithms must be published and validated, and a description of the validation process is included.</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 SR</a:t>
                      </a:r>
                    </a:p>
                  </a:txBody>
                  <a:tcPr>
                    <a:solidFill>
                      <a:srgbClr val="F2F2F2"/>
                    </a:solidFill>
                  </a:tcPr>
                </a:tc>
                <a:tc>
                  <a:txBody>
                    <a:bodyPr/>
                    <a:lstStyle/>
                    <a:p>
                      <a:r>
                        <a:rPr sz="1000">
                          <a:solidFill>
                            <a:srgbClr val="1565C0"/>
                          </a:solidFill>
                        </a:rPr>
                        <a:t>All algorithms</a:t>
                      </a:r>
                      <a:r>
                        <a:rPr sz="1000"/>
                        <a:t>,</a:t>
                      </a:r>
                      <a:r>
                        <a:rPr sz="1000">
                          <a:solidFill>
                            <a:srgbClr val="1565C0"/>
                          </a:solidFill>
                        </a:rPr>
                        <a:t> and the sequence in which they were applied in the generation process</a:t>
                      </a:r>
                      <a:r>
                        <a:rPr sz="1000"/>
                        <a:t>,</a:t>
                      </a:r>
                      <a:r>
                        <a:rPr sz="1000">
                          <a:solidFill>
                            <a:srgbClr val="1565C0"/>
                          </a:solidFill>
                        </a:rPr>
                        <a:t> are identified</a:t>
                      </a:r>
                      <a:r>
                        <a:rPr sz="1000"/>
                        <a:t> in the metadata.</a:t>
                      </a:r>
                    </a:p>
                    <a:p>
                      <a:r>
                        <a:rPr sz="1000"/>
                        <a:t>For example, these may be available through Algorithm Theoretical Basis documents</a:t>
                      </a:r>
                      <a:r>
                        <a:rPr sz="1000"/>
                        <a:t>.</a:t>
                      </a:r>
                    </a:p>
                  </a:txBody>
                  <a:tcPr>
                    <a:solidFill>
                      <a:srgbClr val="F2F2F2"/>
                    </a:solidFill>
                  </a:tcPr>
                </a:tc>
                <a:tc>
                  <a:txBody>
                    <a:bodyPr/>
                    <a:lstStyle/>
                    <a:p>
                      <a:r>
                        <a:rPr sz="1000" b="1">
                          <a:solidFill>
                            <a:srgbClr val="B00000"/>
                          </a:solidFill>
                        </a:rPr>
                        <a:t>DELETE</a:t>
                      </a:r>
                    </a:p>
                  </a:txBody>
                  <a:tcPr>
                    <a:solidFill>
                      <a:srgbClr val="F2F2F2"/>
                    </a:solidFill>
                  </a:tcPr>
                </a:tc>
              </a:tr>
              <a:tr h="91440">
                <a:tc>
                  <a:txBody>
                    <a:bodyPr/>
                    <a:lstStyle/>
                    <a:p>
                      <a:r>
                        <a:rPr sz="1000" b="1"/>
                        <a:t>ST</a:t>
                      </a:r>
                    </a:p>
                  </a:txBody>
                  <a:tcPr>
                    <a:solidFill>
                      <a:srgbClr val="FFFFFF"/>
                    </a:solidFill>
                  </a:tcPr>
                </a:tc>
                <a:tc>
                  <a:txBody>
                    <a:bodyPr/>
                    <a:lstStyle/>
                    <a:p>
                      <a:r>
                        <a:rPr sz="1000"/>
                        <a:t>(not set)</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3456432"/>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It is possible that corrections are applied through non-disclosed processes. CEOS-ARD does not require full and open data and methods.</a:t>
                      </a:r>
                    </a:p>
                  </a:txBody>
                  <a:tcPr>
                    <a:solidFill>
                      <a:srgbClr val="FFFFFF"/>
                    </a:solidFill>
                  </a:tcPr>
                </a:tc>
                <a:tc>
                  <a:txBody>
                    <a:bodyPr/>
                    <a:lstStyle/>
                    <a:p>
                      <a:r>
                        <a:rPr sz="1000" b="1">
                          <a:solidFill>
                            <a:srgbClr val="B00000"/>
                          </a:solidFill>
                        </a:rPr>
                        <a:t>DELETE NOTE</a:t>
                      </a:r>
                    </a:p>
                  </a:txBody>
                  <a:tcPr>
                    <a:solidFill>
                      <a:srgbClr val="FFFFFF"/>
                    </a:solidFill>
                  </a:tcPr>
                </a:tc>
              </a:tr>
              <a:tr h="91440">
                <a:tc>
                  <a:txBody>
                    <a:bodyPr/>
                    <a:lstStyle/>
                    <a:p>
                      <a:r>
                        <a:rPr sz="1000" b="1"/>
                        <a:t>NLSR, SR</a:t>
                      </a:r>
                    </a:p>
                  </a:txBody>
                  <a:tcPr>
                    <a:solidFill>
                      <a:srgbClr val="F2F2F2"/>
                    </a:solidFill>
                  </a:tcPr>
                </a:tc>
                <a:tc>
                  <a:txBody>
                    <a:bodyPr/>
                    <a:lstStyle/>
                    <a:p>
                      <a:r>
                        <a:rPr sz="1000"/>
                        <a:t>I</a:t>
                      </a:r>
                      <a:r>
                        <a:rPr sz="1000"/>
                        <a:t>nformation on algorithms should be available in the metadata as a single DOI landing page</a:t>
                      </a:r>
                      <a:r>
                        <a:rPr sz="1000"/>
                        <a:t>.</a:t>
                      </a:r>
                    </a:p>
                  </a:txBody>
                  <a:tcPr>
                    <a:solidFill>
                      <a:srgbClr val="F2F2F2"/>
                    </a:solidFill>
                  </a:tcPr>
                </a:tc>
                <a:tc>
                  <a:txBody>
                    <a:bodyPr/>
                    <a:lstStyle/>
                    <a:p>
                      <a:r>
                        <a:rPr sz="1000" b="1">
                          <a:solidFill>
                            <a:srgbClr val="B00000"/>
                          </a:solidFill>
                        </a:rPr>
                        <a:t>DELETE NOTE</a:t>
                      </a:r>
                    </a:p>
                  </a:txBody>
                  <a:tcPr>
                    <a:solidFill>
                      <a:srgbClr val="F2F2F2"/>
                    </a:solidFill>
                  </a:tcPr>
                </a:tc>
              </a:tr>
              <a:tr h="91440">
                <a:tc>
                  <a:txBody>
                    <a:bodyPr/>
                    <a:lstStyle/>
                    <a:p>
                      <a:r>
                        <a:rPr sz="1000" b="1"/>
                        <a:t>ST</a:t>
                      </a:r>
                    </a:p>
                  </a:txBody>
                  <a:tcPr>
                    <a:solidFill>
                      <a:srgbClr val="FFFFFF"/>
                    </a:solidFill>
                  </a:tcPr>
                </a:tc>
                <a:tc>
                  <a:txBody>
                    <a:bodyPr/>
                    <a:lstStyle/>
                    <a:p>
                      <a:r>
                        <a:rPr sz="1000"/>
                        <a:t>(no notes)</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Algorithms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 SR</a:t>
                      </a:r>
                    </a:p>
                    <a:p>
                      <a:r>
                        <a:rPr sz="1000" i="1">
                          <a:solidFill>
                            <a:srgbClr val="808080"/>
                          </a:solidFill>
                        </a:rPr>
                        <a:t>(baseline)</a:t>
                      </a:r>
                    </a:p>
                  </a:txBody>
                  <a:tcPr>
                    <a:solidFill>
                      <a:srgbClr val="F2F2F2"/>
                    </a:solidFill>
                  </a:tcPr>
                </a:tc>
                <a:tc>
                  <a:txBody>
                    <a:bodyPr/>
                    <a:lstStyle/>
                    <a:p>
                      <a:r>
                        <a:rPr sz="1000"/>
                        <a:t>As threshold, but only algorithms that have been published in a peer-reviewed journal.</a:t>
                      </a:r>
                    </a:p>
                    <a:p>
                      <a:r>
                        <a:rPr sz="1000" i="1">
                          <a:solidFill>
                            <a:srgbClr val="808080"/>
                          </a:solidFill>
                        </a:rPr>
                        <a:t>(optional)</a:t>
                      </a:r>
                    </a:p>
                  </a:txBody>
                  <a:tcPr>
                    <a:solidFill>
                      <a:srgbClr val="F2F2F2"/>
                    </a:solidFill>
                  </a:tcPr>
                </a:tc>
                <a:tc>
                  <a:txBody>
                    <a:bodyPr/>
                    <a:lstStyle/>
                    <a:p>
                      <a:r>
                        <a:rPr sz="1000"/>
                        <a:t>A</a:t>
                      </a:r>
                      <a:r>
                        <a:rPr sz="1000"/>
                        <a:t>ll</a:t>
                      </a:r>
                      <a:r>
                        <a:rPr sz="1000">
                          <a:solidFill>
                            <a:srgbClr val="1565C0"/>
                          </a:solidFill>
                        </a:rPr>
                        <a:t> algorithms </a:t>
                      </a:r>
                      <a:r>
                        <a:rPr sz="1000"/>
                        <a:t>and the sequence in which they were applied in the generation process are identified.</a:t>
                      </a:r>
                    </a:p>
                    <a:p/>
                    <a:p>
                      <a:r>
                        <a:rPr sz="1000"/>
                        <a:t>Algorithms must be</a:t>
                      </a:r>
                      <a:r>
                        <a:rPr sz="1000">
                          <a:solidFill>
                            <a:srgbClr val="1565C0"/>
                          </a:solidFill>
                        </a:rPr>
                        <a:t> published </a:t>
                      </a:r>
                      <a:r>
                        <a:rPr sz="1000"/>
                        <a:t>and validated, and a description of the validation process is included</a:t>
                      </a:r>
                      <a:r>
                        <a:rPr sz="1000"/>
                        <a:t>.</a:t>
                      </a:r>
                    </a:p>
                  </a:txBody>
                  <a:tcPr>
                    <a:solidFill>
                      <a:srgbClr val="F2F2F2"/>
                    </a:solidFill>
                  </a:tcPr>
                </a:tc>
              </a:tr>
              <a:tr h="91440">
                <a:tc>
                  <a:txBody>
                    <a:bodyPr/>
                    <a:lstStyle/>
                    <a:p>
                      <a:r>
                        <a:rPr sz="1000" b="1"/>
                        <a:t>ST</a:t>
                      </a:r>
                    </a:p>
                  </a:txBody>
                  <a:tcPr>
                    <a:solidFill>
                      <a:srgbClr val="FFFFFF"/>
                    </a:solidFill>
                  </a:tcPr>
                </a:tc>
                <a:tc>
                  <a:txBody>
                    <a:bodyPr/>
                    <a:lstStyle/>
                    <a:p>
                      <a:r>
                        <a:rPr sz="1000"/>
                        <a:t>A</a:t>
                      </a:r>
                      <a:r>
                        <a:rPr sz="1000" strike="sngStrike">
                          <a:solidFill>
                            <a:srgbClr val="B00000"/>
                          </a:solidFill>
                        </a:rPr>
                        <a:t>s threshold, but only</a:t>
                      </a:r>
                      <a:r>
                        <a:rPr sz="1000" b="1">
                          <a:solidFill>
                            <a:srgbClr val="2E7D32"/>
                          </a:solidFill>
                        </a:rPr>
                        <a:t>ll</a:t>
                      </a:r>
                      <a:r>
                        <a:rPr sz="1000"/>
                        <a:t> algorithms </a:t>
                      </a:r>
                      <a:r>
                        <a:rPr sz="1000" strike="sngStrike">
                          <a:solidFill>
                            <a:srgbClr val="B00000"/>
                          </a:solidFill>
                        </a:rPr>
                        <a:t>that have been</a:t>
                      </a:r>
                      <a:r>
                        <a:rPr sz="1000" b="1">
                          <a:solidFill>
                            <a:srgbClr val="2E7D32"/>
                          </a:solidFill>
                        </a:rPr>
                        <a:t>and versions, and the sequence in which they were applied in the generation process, are identified and</a:t>
                      </a:r>
                      <a:r>
                        <a:rPr sz="1000"/>
                        <a:t> published in a peer-reviewed journal.</a:t>
                      </a:r>
                    </a:p>
                    <a:p>
                      <a:r>
                        <a:rPr sz="1000" i="1">
                          <a:solidFill>
                            <a:srgbClr val="808080"/>
                          </a:solidFill>
                        </a:rPr>
                        <a:t>(optional)</a:t>
                      </a:r>
                    </a:p>
                  </a:txBody>
                  <a:tcPr>
                    <a:solidFill>
                      <a:srgbClr val="FFFFFF"/>
                    </a:solidFill>
                  </a:tcPr>
                </a:tc>
                <a:tc>
                  <a:txBody>
                    <a:bodyPr/>
                    <a:lstStyle/>
                    <a:p>
                      <a:r>
                        <a:rPr sz="1000"/>
                        <a:t>All algorithms</a:t>
                      </a:r>
                      <a:r>
                        <a:rPr sz="1000" strike="sngStrike">
                          <a:solidFill>
                            <a:srgbClr val="B00000"/>
                          </a:solidFill>
                        </a:rPr>
                        <a:t> and versions,</a:t>
                      </a:r>
                      <a:r>
                        <a:rPr sz="1000"/>
                        <a:t> and the sequence in which they were applied in the generation process</a:t>
                      </a:r>
                      <a:r>
                        <a:rPr sz="1000" strike="sngStrike">
                          <a:solidFill>
                            <a:srgbClr val="B00000"/>
                          </a:solidFill>
                        </a:rPr>
                        <a:t>,</a:t>
                      </a:r>
                      <a:r>
                        <a:rPr sz="1000"/>
                        <a:t> are identified</a:t>
                      </a:r>
                      <a:r>
                        <a:rPr sz="1000" strike="sngStrike">
                          <a:solidFill>
                            <a:srgbClr val="B00000"/>
                          </a:solidFill>
                        </a:rPr>
                        <a:t> and</a:t>
                      </a:r>
                      <a:r>
                        <a:rPr sz="1000" b="1">
                          <a:solidFill>
                            <a:srgbClr val="2E7D32"/>
                          </a:solidFill>
                        </a:rPr>
                        <a:t>.</a:t>
                      </a:r>
                    </a:p>
                    <a:p/>
                    <a:p>
                      <a:r>
                        <a:rPr sz="1000" b="1">
                          <a:solidFill>
                            <a:srgbClr val="2E7D32"/>
                          </a:solidFill>
                        </a:rPr>
                        <a:t>Algorithms must be</a:t>
                      </a:r>
                      <a:r>
                        <a:rPr sz="1000"/>
                        <a:t> published </a:t>
                      </a:r>
                      <a:r>
                        <a:rPr sz="1000" strike="sngStrike">
                          <a:solidFill>
                            <a:srgbClr val="B00000"/>
                          </a:solidFill>
                        </a:rPr>
                        <a:t>in a peer-reviewed journal</a:t>
                      </a:r>
                      <a:r>
                        <a:rPr sz="1000" b="1">
                          <a:solidFill>
                            <a:srgbClr val="2E7D32"/>
                          </a:solidFill>
                        </a:rPr>
                        <a:t>and validated, and a description of the validation process is included</a:t>
                      </a:r>
                      <a:r>
                        <a:rPr sz="1000"/>
                        <a:t>.</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3767328"/>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91440">
                <a:tc>
                  <a:txBody>
                    <a:bodyPr/>
                    <a:lstStyle/>
                    <a:p>
                      <a:r>
                        <a:rPr sz="1000" b="1"/>
                        <a:t>AR</a:t>
                      </a:r>
                    </a:p>
                  </a:txBody>
                  <a:tcPr>
                    <a:solidFill>
                      <a:srgbClr val="FFFFFF"/>
                    </a:solidFill>
                  </a:tcPr>
                </a:tc>
                <a:tc>
                  <a:txBody>
                    <a:bodyPr/>
                    <a:lstStyle/>
                    <a:p>
                      <a:r>
                        <a:rPr sz="1000"/>
                        <a:t>(no notes)</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 SR</a:t>
                      </a:r>
                    </a:p>
                    <a:p>
                      <a:r>
                        <a:rPr sz="1000" i="1">
                          <a:solidFill>
                            <a:srgbClr val="808080"/>
                          </a:solidFill>
                        </a:rPr>
                        <a:t>(baseline)</a:t>
                      </a:r>
                    </a:p>
                  </a:txBody>
                  <a:tcPr>
                    <a:solidFill>
                      <a:srgbClr val="F2F2F2"/>
                    </a:solidFill>
                  </a:tcPr>
                </a:tc>
                <a:tc>
                  <a:txBody>
                    <a:bodyPr/>
                    <a:lstStyle/>
                    <a:p>
                      <a:r>
                        <a:rPr sz="1000"/>
                        <a:t>It is possible that high-quality corrections are applied through non-disclosed processes. CEOS-ARD does not per-se require full and open data and methods.</a:t>
                      </a:r>
                    </a:p>
                    <a:p/>
                    <a:p>
                      <a:r>
                        <a:rPr sz="1000"/>
                        <a:t>Information on algorithms should be available in the metadata as a single DOI landing page.</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ST</a:t>
                      </a:r>
                    </a:p>
                  </a:txBody>
                  <a:tcPr>
                    <a:solidFill>
                      <a:srgbClr val="FFFFFF"/>
                    </a:solidFill>
                  </a:tcPr>
                </a:tc>
                <a:tc>
                  <a:txBody>
                    <a:bodyPr/>
                    <a:lstStyle/>
                    <a:p>
                      <a:r>
                        <a:rPr sz="1000"/>
                        <a:t>(no notes)</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sp>
        <p:nvSpPr>
          <p:cNvPr id="5" name="TextBox 4"/>
          <p:cNvSpPr txBox="1"/>
          <p:nvPr/>
        </p:nvSpPr>
        <p:spPr>
          <a:xfrm>
            <a:off x="457200" y="5466831"/>
            <a:ext cx="11277295" cy="1143000"/>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a:p>
            <a:r>
              <a:rPr sz="1200" i="1"/>
              <a:t/>
            </a:r>
          </a:p>
          <a:p>
            <a:r>
              <a:rPr sz="1200" i="1"/>
              <a:t>ST agrees to adopt the AR requirement with swapped levels and without the note: with an uncertainty requirement at threshold, full provision of algorithm information is not required at threshold too, aiding commercial sector compliance (issue #55).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Algorithms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Algorithms</a:t>
            </a:r>
          </a:p>
          <a:p>
            <a:r>
              <a:rPr sz="1100">
                <a:latin typeface="Consolas"/>
              </a:rPr>
              <a:t>requirements:</a:t>
            </a:r>
          </a:p>
          <a:p>
            <a:r>
              <a:rPr sz="1100">
                <a:latin typeface="Consolas"/>
              </a:rPr>
              <a:t>  goal:</a:t>
            </a:r>
          </a:p>
          <a:p>
            <a:r>
              <a:rPr sz="1100">
                <a:latin typeface="Consolas"/>
              </a:rPr>
              <a:t>    description: |-  # TODO: not aligned yet, see comparison</a:t>
            </a:r>
          </a:p>
          <a:p>
            <a:r>
              <a:rPr sz="1100">
                <a:latin typeface="Consolas"/>
              </a:rPr>
              <a:t>      All algorithms and the sequence in which they were applied in the generation process are identified.</a:t>
            </a:r>
          </a:p>
          <a:p>
            <a:r>
              <a:rPr sz="1100">
                <a:latin typeface="Consolas"/>
              </a:rPr>
              <a:t>      </a:t>
            </a:r>
          </a:p>
          <a:p>
            <a:r>
              <a:rPr sz="1100">
                <a:latin typeface="Consolas"/>
              </a:rPr>
              <a:t>      Algorithms must be published and validated, and a description of the validation process is included.</a:t>
            </a:r>
          </a:p>
          <a:p>
            <a:r>
              <a:rPr sz="1100">
                <a:latin typeface="Consolas"/>
              </a:rPr>
              <a:t>    optional: true  # TODO: not aligned yet, see comparison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Auxiliary Data</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 ST</a:t>
                      </a:r>
                    </a:p>
                    <a:p>
                      <a:r>
                        <a:rPr sz="1000" i="1">
                          <a:solidFill>
                            <a:srgbClr val="808080"/>
                          </a:solidFill>
                        </a:rPr>
                        <a:t>(baseline)</a:t>
                      </a:r>
                    </a:p>
                  </a:txBody>
                  <a:tcPr>
                    <a:solidFill>
                      <a:srgbClr val="FFFFFF"/>
                    </a:solidFill>
                  </a:tcPr>
                </a:tc>
                <a:tc>
                  <a:txBody>
                    <a:bodyPr/>
                    <a:lstStyle/>
                    <a:p>
                      <a:r>
                        <a:rPr sz="1000"/>
                        <a:t>Lists the sources of auxiliary data used in the generation process.</a:t>
                      </a:r>
                    </a:p>
                  </a:txBody>
                  <a:tcPr>
                    <a:solidFill>
                      <a:srgbClr val="FFFFFF"/>
                    </a:solidFill>
                  </a:tcPr>
                </a:tc>
                <a:tc>
                  <a:txBody>
                    <a:bodyPr/>
                    <a:lstStyle/>
                    <a:p>
                      <a:r>
                        <a:rPr sz="1000" strike="sngStrike">
                          <a:solidFill>
                            <a:srgbClr val="B00000"/>
                          </a:solidFill>
                        </a:rPr>
                        <a:t>List</a:t>
                      </a:r>
                      <a:r>
                        <a:rPr sz="1000" b="1">
                          <a:solidFill>
                            <a:srgbClr val="2E7D32"/>
                          </a:solidFill>
                        </a:rPr>
                        <a:t>The metadata identifie</a:t>
                      </a:r>
                      <a:r>
                        <a:rPr sz="1000"/>
                        <a:t>s the sources of auxiliary data used in the generation process.</a:t>
                      </a:r>
                    </a:p>
                  </a:txBody>
                  <a:tcPr>
                    <a:solidFill>
                      <a:srgbClr val="FFFFFF"/>
                    </a:solidFill>
                  </a:tcPr>
                </a:tc>
              </a:tr>
              <a:tr h="91440">
                <a:tc>
                  <a:txBody>
                    <a:bodyPr/>
                    <a:lstStyle/>
                    <a:p>
                      <a:r>
                        <a:rPr sz="1000" b="1"/>
                        <a:t>NLSR, SR</a:t>
                      </a:r>
                    </a:p>
                  </a:txBody>
                  <a:tcPr>
                    <a:solidFill>
                      <a:srgbClr val="F2F2F2"/>
                    </a:solidFill>
                  </a:tcPr>
                </a:tc>
                <a:tc>
                  <a:txBody>
                    <a:bodyPr/>
                    <a:lstStyle/>
                    <a:p>
                      <a:r>
                        <a:rPr sz="1000" strike="sngStrike">
                          <a:solidFill>
                            <a:srgbClr val="B00000"/>
                          </a:solidFill>
                        </a:rPr>
                        <a:t>List</a:t>
                      </a:r>
                      <a:r>
                        <a:rPr sz="1000" b="1">
                          <a:solidFill>
                            <a:srgbClr val="2E7D32"/>
                          </a:solidFill>
                        </a:rPr>
                        <a:t>The metadata identifie</a:t>
                      </a:r>
                      <a:r>
                        <a:rPr sz="1000"/>
                        <a:t>s the sources of auxiliary data used in the generation process</a:t>
                      </a:r>
                      <a:r>
                        <a:rPr sz="1000" strike="sngStrike">
                          <a:solidFill>
                            <a:srgbClr val="B00000"/>
                          </a:solidFill>
                        </a:rPr>
                        <a:t>.</a:t>
                      </a:r>
                      <a:r>
                        <a:rPr sz="1000" b="1">
                          <a:solidFill>
                            <a:srgbClr val="2E7D32"/>
                          </a:solidFill>
                        </a:rPr>
                        <a:t>, ideally expressed as a single DOI landing page. </a:t>
                      </a:r>
                    </a:p>
                  </a:txBody>
                  <a:tcPr>
                    <a:solidFill>
                      <a:srgbClr val="F2F2F2"/>
                    </a:solidFill>
                  </a:tcPr>
                </a:tc>
                <a:tc>
                  <a:txBody>
                    <a:bodyPr/>
                    <a:lstStyle/>
                    <a:p>
                      <a:r>
                        <a:rPr sz="1000"/>
                        <a:t>The metadata identifies the sources of auxiliary data used in the generation process</a:t>
                      </a:r>
                      <a:r>
                        <a:rPr sz="1000" strike="sngStrike">
                          <a:solidFill>
                            <a:srgbClr val="B00000"/>
                          </a:solidFill>
                        </a:rPr>
                        <a:t>, ideally expressed as a single DOI landing page. </a:t>
                      </a:r>
                      <a:r>
                        <a:rPr sz="1000" b="1">
                          <a:solidFill>
                            <a:srgbClr val="2E7D32"/>
                          </a:solidFill>
                        </a:rPr>
                        <a:t>.</a:t>
                      </a:r>
                    </a:p>
                  </a:txBody>
                  <a:tcPr>
                    <a:solidFill>
                      <a:srgbClr val="F2F2F2"/>
                    </a:solidFill>
                  </a:tcPr>
                </a:tc>
              </a:tr>
              <a:tr h="91440">
                <a:tc>
                  <a:txBody>
                    <a:bodyPr/>
                    <a:lstStyle/>
                    <a:p>
                      <a:r>
                        <a:rPr sz="1000" b="1"/>
                        <a:t>CB, GSLC, INSAR, NRB, ORB, POL</a:t>
                      </a:r>
                    </a:p>
                  </a:txBody>
                  <a:tcPr>
                    <a:solidFill>
                      <a:srgbClr val="FFFFFF"/>
                    </a:solidFill>
                  </a:tcPr>
                </a:tc>
                <a:tc>
                  <a:txBody>
                    <a:bodyPr/>
                    <a:lstStyle/>
                    <a:p>
                      <a:r>
                        <a:rPr sz="1000"/>
                        <a:t>(not set)</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90088"/>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91440">
                <a:tc>
                  <a:txBody>
                    <a:bodyPr/>
                    <a:lstStyle/>
                    <a:p>
                      <a:r>
                        <a:rPr sz="1000" b="1"/>
                        <a:t>AR, ST</a:t>
                      </a:r>
                    </a:p>
                  </a:txBody>
                  <a:tcPr>
                    <a:solidFill>
                      <a:srgbClr val="FFFFFF"/>
                    </a:solidFill>
                  </a:tcPr>
                </a:tc>
                <a:tc>
                  <a:txBody>
                    <a:bodyPr/>
                    <a:lstStyle/>
                    <a:p>
                      <a:r>
                        <a:rPr sz="1000"/>
                        <a:t>(no notes)</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 SR</a:t>
                      </a:r>
                    </a:p>
                    <a:p>
                      <a:r>
                        <a:rPr sz="1000" i="1">
                          <a:solidFill>
                            <a:srgbClr val="808080"/>
                          </a:solidFill>
                        </a:rPr>
                        <a:t>(baseline)</a:t>
                      </a:r>
                    </a:p>
                  </a:txBody>
                  <a:tcPr>
                    <a:solidFill>
                      <a:srgbClr val="F2F2F2"/>
                    </a:solidFill>
                  </a:tcPr>
                </a:tc>
                <a:tc>
                  <a:txBody>
                    <a:bodyPr/>
                    <a:lstStyle/>
                    <a:p>
                      <a:r>
                        <a:rPr sz="1000"/>
                        <a:t>Auxiliary data includes DEMs, aerosols, etc. data sources.</a:t>
                      </a:r>
                    </a:p>
                  </a:txBody>
                  <a:tcPr>
                    <a:solidFill>
                      <a:srgbClr val="F2F2F2"/>
                    </a:solidFill>
                  </a:tcPr>
                </a:tc>
                <a:tc>
                  <a:txBody>
                    <a:bodyPr/>
                    <a:lstStyle/>
                    <a:p>
                      <a:r>
                        <a:rPr sz="1000"/>
                        <a:t>Auxiliary data includes DEMs, </a:t>
                      </a:r>
                      <a:r>
                        <a:rPr sz="1000" strike="sngStrike">
                          <a:solidFill>
                            <a:srgbClr val="B00000"/>
                          </a:solidFill>
                        </a:rPr>
                        <a:t>aerosols, etc.</a:t>
                      </a:r>
                      <a:r>
                        <a:rPr sz="1000" b="1">
                          <a:solidFill>
                            <a:srgbClr val="2E7D32"/>
                          </a:solidFill>
                        </a:rPr>
                        <a:t>etc., and any additional</a:t>
                      </a:r>
                      <a:r>
                        <a:rPr sz="1000"/>
                        <a:t> data sources</a:t>
                      </a:r>
                      <a:r>
                        <a:rPr sz="1000" b="1">
                          <a:solidFill>
                            <a:srgbClr val="2E7D32"/>
                          </a:solidFill>
                        </a:rPr>
                        <a:t> used in the generation of the product</a:t>
                      </a:r>
                      <a:r>
                        <a:rPr sz="1000"/>
                        <a:t>.</a:t>
                      </a:r>
                    </a:p>
                  </a:txBody>
                  <a:tcPr>
                    <a:solidFill>
                      <a:srgbClr val="F2F2F2"/>
                    </a:solidFill>
                  </a:tcPr>
                </a:tc>
              </a:tr>
              <a:tr h="91440">
                <a:tc>
                  <a:txBody>
                    <a:bodyPr/>
                    <a:lstStyle/>
                    <a:p>
                      <a:r>
                        <a:rPr sz="1000" b="1"/>
                        <a:t>CB, GSLC, INSAR, NRB, ORB, POL</a:t>
                      </a:r>
                    </a:p>
                  </a:txBody>
                  <a:tcPr>
                    <a:solidFill>
                      <a:srgbClr val="FFFFFF"/>
                    </a:solidFill>
                  </a:tcPr>
                </a:tc>
                <a:tc>
                  <a:txBody>
                    <a:bodyPr/>
                    <a:lstStyle/>
                    <a:p>
                      <a:r>
                        <a:rPr sz="1000"/>
                        <a:t>(no notes)</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Auxiliary Data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 ST</a:t>
                      </a:r>
                    </a:p>
                    <a:p>
                      <a:r>
                        <a:rPr sz="1000" i="1">
                          <a:solidFill>
                            <a:srgbClr val="808080"/>
                          </a:solidFill>
                        </a:rPr>
                        <a:t>(baseline)</a:t>
                      </a:r>
                    </a:p>
                  </a:txBody>
                  <a:tcPr>
                    <a:solidFill>
                      <a:srgbClr val="FFFFFF"/>
                    </a:solidFill>
                  </a:tcPr>
                </a:tc>
                <a:tc>
                  <a:txBody>
                    <a:bodyPr/>
                    <a:lstStyle/>
                    <a:p>
                      <a:r>
                        <a:rPr sz="1000"/>
                        <a:t>As threshold, but information on auxiliary data should be available for free online download, contemporaneously with the product or through a link to the source.</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 SR</a:t>
                      </a:r>
                    </a:p>
                  </a:txBody>
                  <a:tcPr>
                    <a:solidFill>
                      <a:srgbClr val="F2F2F2"/>
                    </a:solidFill>
                  </a:tcPr>
                </a:tc>
                <a:tc>
                  <a:txBody>
                    <a:bodyPr/>
                    <a:lstStyle/>
                    <a:p>
                      <a:r>
                        <a:rPr sz="1000"/>
                        <a:t>As threshold, but information on auxiliary data should be</a:t>
                      </a:r>
                      <a:r>
                        <a:rPr sz="1000" b="1">
                          <a:solidFill>
                            <a:srgbClr val="2E7D32"/>
                          </a:solidFill>
                        </a:rPr>
                        <a:t> available in the metadata as a single DOI landing page and is also</a:t>
                      </a:r>
                      <a:r>
                        <a:rPr sz="1000"/>
                        <a:t> available for free online download, contemporaneously with the product or through a link to the source.</a:t>
                      </a:r>
                    </a:p>
                  </a:txBody>
                  <a:tcPr>
                    <a:solidFill>
                      <a:srgbClr val="F2F2F2"/>
                    </a:solidFill>
                  </a:tcPr>
                </a:tc>
                <a:tc>
                  <a:txBody>
                    <a:bodyPr/>
                    <a:lstStyle/>
                    <a:p>
                      <a:r>
                        <a:rPr sz="1000"/>
                        <a:t>As threshold, but information on auxiliary data should be</a:t>
                      </a:r>
                      <a:r>
                        <a:rPr sz="1000" strike="sngStrike">
                          <a:solidFill>
                            <a:srgbClr val="B00000"/>
                          </a:solidFill>
                        </a:rPr>
                        <a:t> available in the metadata as a single DOI landing page and is also</a:t>
                      </a:r>
                      <a:r>
                        <a:rPr sz="1000"/>
                        <a:t> available for free online download, contemporaneously with the product or through a link to the source.</a:t>
                      </a:r>
                    </a:p>
                  </a:txBody>
                  <a:tcPr>
                    <a:solidFill>
                      <a:srgbClr val="F2F2F2"/>
                    </a:solidFill>
                  </a:tcPr>
                </a:tc>
              </a:tr>
              <a:tr h="91440">
                <a:tc>
                  <a:txBody>
                    <a:bodyPr/>
                    <a:lstStyle/>
                    <a:p>
                      <a:r>
                        <a:rPr sz="1000" b="1"/>
                        <a:t>CB, GSLC, INSAR, NRB, ORB, POL</a:t>
                      </a:r>
                    </a:p>
                  </a:txBody>
                  <a:tcPr>
                    <a:solidFill>
                      <a:srgbClr val="FFFFFF"/>
                    </a:solidFill>
                  </a:tcPr>
                </a:tc>
                <a:tc>
                  <a:txBody>
                    <a:bodyPr/>
                    <a:lstStyle/>
                    <a:p>
                      <a:r>
                        <a:rPr sz="1000"/>
                        <a:t>The metadata identifies the sources of</a:t>
                      </a:r>
                      <a:r>
                        <a:rPr sz="1000">
                          <a:solidFill>
                            <a:srgbClr val="1565C0"/>
                          </a:solidFill>
                        </a:rPr>
                        <a:t> auxiliary data </a:t>
                      </a:r>
                      <a:r>
                        <a:rPr sz="1000"/>
                        <a:t>used in the generation process, ideally expressed as DOIs</a:t>
                      </a:r>
                      <a:r>
                        <a:rPr sz="1000"/>
                        <a:t>.</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3300984"/>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91440">
                <a:tc>
                  <a:txBody>
                    <a:bodyPr/>
                    <a:lstStyle/>
                    <a:p>
                      <a:r>
                        <a:rPr sz="1000" b="1"/>
                        <a:t>AR, ST</a:t>
                      </a:r>
                    </a:p>
                  </a:txBody>
                  <a:tcPr>
                    <a:solidFill>
                      <a:srgbClr val="FFFFFF"/>
                    </a:solidFill>
                  </a:tcPr>
                </a:tc>
                <a:tc>
                  <a:txBody>
                    <a:bodyPr/>
                    <a:lstStyle/>
                    <a:p>
                      <a:r>
                        <a:rPr sz="1000"/>
                        <a:t>(no notes)</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 SR</a:t>
                      </a:r>
                    </a:p>
                  </a:txBody>
                  <a:tcPr>
                    <a:solidFill>
                      <a:srgbClr val="F2F2F2"/>
                    </a:solidFill>
                  </a:tcPr>
                </a:tc>
                <a:tc>
                  <a:txBody>
                    <a:bodyPr/>
                    <a:lstStyle/>
                    <a:p>
                      <a:r>
                        <a:rPr sz="1000"/>
                        <a:t>(no notes)</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CB, GSLC, INSAR, NRB, ORB, POL</a:t>
                      </a:r>
                    </a:p>
                    <a:p>
                      <a:r>
                        <a:rPr sz="1000" i="1">
                          <a:solidFill>
                            <a:srgbClr val="808080"/>
                          </a:solidFill>
                        </a:rPr>
                        <a:t>(baseline)</a:t>
                      </a:r>
                    </a:p>
                  </a:txBody>
                  <a:tcPr>
                    <a:solidFill>
                      <a:srgbClr val="FFFFFF"/>
                    </a:solidFill>
                  </a:tcPr>
                </a:tc>
                <a:tc>
                  <a:txBody>
                    <a:bodyPr/>
                    <a:lstStyle/>
                    <a:p>
                      <a:r>
                        <a:rPr sz="1000"/>
                        <a:t>Auxiliary data includes DEMs, etc., and any additional data sources used in the generation of the product.</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sp>
        <p:nvSpPr>
          <p:cNvPr id="5" name="TextBox 4"/>
          <p:cNvSpPr txBox="1"/>
          <p:nvPr/>
        </p:nvSpPr>
        <p:spPr>
          <a:xfrm>
            <a:off x="457200" y="4882347"/>
            <a:ext cx="11277295" cy="950976"/>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a:p>
            <a:r>
              <a:rPr sz="1200" i="1"/>
              <a:t/>
            </a:r>
          </a:p>
          <a:p>
            <a:r>
              <a:rPr sz="1200" i="1"/>
              <a:t>The SAR variant only defines a goal; consider adding the aligned threshold requirement there as well.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Auxiliary Data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Auxiliary Data</a:t>
            </a:r>
          </a:p>
          <a:p>
            <a:r>
              <a:rPr sz="1100">
                <a:latin typeface="Consolas"/>
              </a:rPr>
              <a:t>requirements:</a:t>
            </a:r>
          </a:p>
          <a:p>
            <a:r>
              <a:rPr sz="1100">
                <a:latin typeface="Consolas"/>
              </a:rPr>
              <a:t>  threshold:</a:t>
            </a:r>
          </a:p>
          <a:p>
            <a:r>
              <a:rPr sz="1100">
                <a:latin typeface="Consolas"/>
              </a:rPr>
              <a:t>    description: The metadata identifies the sources of auxiliary data used in the generation process.  # TODO: not aligned yet, see comparison</a:t>
            </a:r>
          </a:p>
          <a:p>
            <a:r>
              <a:rPr sz="1100">
                <a:latin typeface="Consolas"/>
              </a:rPr>
              <a:t>  goal:</a:t>
            </a:r>
          </a:p>
          <a:p>
            <a:r>
              <a:rPr sz="1100">
                <a:latin typeface="Consolas"/>
              </a:rPr>
              <a:t>    description: As threshold, but information on auxiliary data should be available for free online download, contemporaneously with the product or through a link to the source.  # TODO: not aligned yet, see comparison</a:t>
            </a:r>
          </a:p>
          <a:p>
            <a:r>
              <a:rPr sz="1100">
                <a:latin typeface="Consolas"/>
              </a:rPr>
              <a:t>    optional: true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metadata/crs-*</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Title</a:t>
                      </a:r>
                    </a:p>
                  </a:txBody>
                  <a:tcPr>
                    <a:solidFill>
                      <a:srgbClr val="000000"/>
                    </a:solidFill>
                  </a:tcPr>
                </a:tc>
                <a:tc>
                  <a:txBody>
                    <a:bodyPr/>
                    <a:lstStyle/>
                    <a:p>
                      <a:r>
                        <a:rPr b="1" sz="1100">
                          <a:solidFill>
                            <a:srgbClr val="FFFFFF"/>
                          </a:solidFill>
                        </a:rPr>
                        <a:t>Proposed Title</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Coordinate Reference System</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 SR, ST</a:t>
                      </a:r>
                    </a:p>
                  </a:txBody>
                  <a:tcPr>
                    <a:solidFill>
                      <a:srgbClr val="F2F2F2"/>
                    </a:solidFill>
                  </a:tcPr>
                </a:tc>
                <a:tc>
                  <a:txBody>
                    <a:bodyPr/>
                    <a:lstStyle/>
                    <a:p>
                      <a:r>
                        <a:rPr sz="1000"/>
                        <a:t>Coordinate Reference System</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CB, GSLC, INSAR, NRB, ORB, POL</a:t>
                      </a:r>
                    </a:p>
                  </a:txBody>
                  <a:tcPr>
                    <a:solidFill>
                      <a:srgbClr val="FFFFFF"/>
                    </a:solidFill>
                  </a:tcPr>
                </a:tc>
                <a:tc>
                  <a:txBody>
                    <a:bodyPr/>
                    <a:lstStyle/>
                    <a:p>
                      <a:r>
                        <a:rPr sz="1000" b="1">
                          <a:solidFill>
                            <a:srgbClr val="2E7D32"/>
                          </a:solidFill>
                        </a:rPr>
                        <a:t>Product </a:t>
                      </a:r>
                      <a:r>
                        <a:rPr sz="1000"/>
                        <a:t>Coordinate Reference System</a:t>
                      </a:r>
                    </a:p>
                  </a:txBody>
                  <a:tcPr>
                    <a:solidFill>
                      <a:srgbClr val="FFFFFF"/>
                    </a:solidFill>
                  </a:tcPr>
                </a:tc>
                <a:tc>
                  <a:txBody>
                    <a:bodyPr/>
                    <a:lstStyle/>
                    <a:p>
                      <a:r>
                        <a:rPr sz="1000" strike="sngStrike">
                          <a:solidFill>
                            <a:srgbClr val="B00000"/>
                          </a:solidFill>
                        </a:rPr>
                        <a:t>Product </a:t>
                      </a:r>
                      <a:r>
                        <a:rPr sz="1000"/>
                        <a:t>Coordinate Reference System</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8346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The coordinate reference system that has been used is detailed.</a:t>
                      </a:r>
                    </a:p>
                  </a:txBody>
                  <a:tcPr>
                    <a:solidFill>
                      <a:srgbClr val="FFFFFF"/>
                    </a:solidFill>
                  </a:tcPr>
                </a:tc>
                <a:tc>
                  <a:txBody>
                    <a:bodyPr/>
                    <a:lstStyle/>
                    <a:p>
                      <a:r>
                        <a:rPr sz="1000"/>
                        <a:t>T</a:t>
                      </a:r>
                      <a:r>
                        <a:rPr sz="1000" b="1">
                          <a:solidFill>
                            <a:srgbClr val="2E7D32"/>
                          </a:solidFill>
                        </a:rPr>
                        <a:t>he metadata lists t</a:t>
                      </a:r>
                      <a:r>
                        <a:rPr sz="1000"/>
                        <a:t>he coordinate reference system that has been used</a:t>
                      </a:r>
                      <a:r>
                        <a:rPr sz="1000" strike="sngStrike">
                          <a:solidFill>
                            <a:srgbClr val="B00000"/>
                          </a:solidFill>
                        </a:rPr>
                        <a:t> is detailed</a:t>
                      </a:r>
                      <a:r>
                        <a:rPr sz="1000"/>
                        <a:t>.</a:t>
                      </a:r>
                    </a:p>
                  </a:txBody>
                  <a:tcPr>
                    <a:solidFill>
                      <a:srgbClr val="FFFFFF"/>
                    </a:solidFill>
                  </a:tcPr>
                </a:tc>
              </a:tr>
              <a:tr h="91440">
                <a:tc>
                  <a:txBody>
                    <a:bodyPr/>
                    <a:lstStyle/>
                    <a:p>
                      <a:r>
                        <a:rPr sz="1000" b="1"/>
                        <a:t>NLSR, SR, ST</a:t>
                      </a:r>
                    </a:p>
                  </a:txBody>
                  <a:tcPr>
                    <a:solidFill>
                      <a:srgbClr val="F2F2F2"/>
                    </a:solidFill>
                  </a:tcPr>
                </a:tc>
                <a:tc>
                  <a:txBody>
                    <a:bodyPr/>
                    <a:lstStyle/>
                    <a:p>
                      <a:r>
                        <a:rPr sz="1000"/>
                        <a:t>T</a:t>
                      </a:r>
                      <a:r>
                        <a:rPr sz="1000" b="1">
                          <a:solidFill>
                            <a:srgbClr val="2E7D32"/>
                          </a:solidFill>
                        </a:rPr>
                        <a:t>he metadata lists t</a:t>
                      </a:r>
                      <a:r>
                        <a:rPr sz="1000"/>
                        <a:t>he coordinate reference system that has been used</a:t>
                      </a:r>
                      <a:r>
                        <a:rPr sz="1000" strike="sngStrike">
                          <a:solidFill>
                            <a:srgbClr val="B00000"/>
                          </a:solidFill>
                        </a:rPr>
                        <a:t> is detailed</a:t>
                      </a:r>
                      <a:r>
                        <a:rPr sz="1000"/>
                        <a:t>.</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CB, GSLC, INSAR, NRB, ORB, POL</a:t>
                      </a:r>
                    </a:p>
                  </a:txBody>
                  <a:tcPr>
                    <a:solidFill>
                      <a:srgbClr val="FFFFFF"/>
                    </a:solidFill>
                  </a:tcPr>
                </a:tc>
                <a:tc>
                  <a:txBody>
                    <a:bodyPr/>
                    <a:lstStyle/>
                    <a:p>
                      <a:r>
                        <a:rPr sz="1000"/>
                        <a:t>The</a:t>
                      </a:r>
                      <a:r>
                        <a:rPr sz="1000"/>
                        <a:t> metadata lists the map projection (or geographical</a:t>
                      </a:r>
                      <a:r>
                        <a:rPr sz="1000">
                          <a:solidFill>
                            <a:srgbClr val="1565C0"/>
                          </a:solidFill>
                        </a:rPr>
                        <a:t> coordinate</a:t>
                      </a:r>
                      <a:r>
                        <a:rPr sz="1000"/>
                        <a:t>s, if applicable) that was used and any relevant parameters required to geolocate data in that map projection, expressed in a standardised format (e.g., WKT).</a:t>
                      </a:r>
                    </a:p>
                    <a:p/>
                    <a:p>
                      <a:r>
                        <a:rPr sz="1000"/>
                        <a:t>Indicate EPSG code, if defined for the CRS</a:t>
                      </a:r>
                      <a:r>
                        <a:rPr sz="1000"/>
                        <a:t>.</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sp>
        <p:nvSpPr>
          <p:cNvPr id="5" name="TextBox 4"/>
          <p:cNvSpPr txBox="1"/>
          <p:nvPr/>
        </p:nvSpPr>
        <p:spPr>
          <a:xfrm>
            <a:off x="457200" y="4882347"/>
            <a:ext cx="11277295" cy="566928"/>
          </a:xfrm>
          <a:prstGeom prst="rect">
            <a:avLst/>
          </a:prstGeom>
          <a:noFill/>
        </p:spPr>
        <p:txBody>
          <a:bodyPr wrap="square" lIns="0" rIns="0" tIns="0" bIns="0">
            <a:spAutoFit/>
          </a:bodyPr>
          <a:lstStyle/>
          <a:p>
            <a:r>
              <a:rPr sz="1200" b="1"/>
              <a:t>Internal notes: </a:t>
            </a:r>
            <a:r>
              <a:rPr sz="1200" i="1"/>
              <a:t>The SAR variant additionally requires a standardised format (e.g., WKT) and the EPSG code — consider adopting this for the optical PFS in a future revision.</a:t>
            </a:r>
          </a:p>
        </p:txBody>
      </p:sp>
      <p:sp>
        <p:nvSpPr>
          <p:cNvPr id="6" name="TextBox 5"/>
          <p:cNvSpPr txBox="1"/>
          <p:nvPr/>
        </p:nvSpPr>
        <p:spPr>
          <a:xfrm>
            <a:off x="457200" y="5268622"/>
            <a:ext cx="11277295" cy="374904"/>
          </a:xfrm>
          <a:prstGeom prst="rect">
            <a:avLst/>
          </a:prstGeom>
          <a:noFill/>
        </p:spPr>
        <p:txBody>
          <a:bodyPr wrap="square" lIns="0" rIns="0" tIns="0" bIns="0">
            <a:spAutoFit/>
          </a:bodyPr>
          <a:lstStyle/>
          <a:p>
            <a:r>
              <a:rPr sz="1200" b="1"/>
              <a:t>Remarks from the building blocks: </a:t>
            </a:r>
            <a:r>
              <a:rPr sz="1200" i="1"/>
              <a:t>crs-sar.yaml: Remove "product" mentions to be reusable for source and product.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metadata/crs-*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Coordinate Reference System</a:t>
            </a:r>
          </a:p>
          <a:p>
            <a:r>
              <a:rPr sz="1100">
                <a:latin typeface="Consolas"/>
              </a:rPr>
              <a:t>requirements:</a:t>
            </a:r>
          </a:p>
          <a:p>
            <a:r>
              <a:rPr sz="1100">
                <a:latin typeface="Consolas"/>
              </a:rPr>
              <a:t>  threshold:</a:t>
            </a:r>
          </a:p>
          <a:p>
            <a:r>
              <a:rPr sz="1100">
                <a:latin typeface="Consolas"/>
              </a:rPr>
              <a:t>    description: The metadata lists the coordinate reference system that has been used.  # TODO: not aligned yet, see comparison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metadata/data-access-*</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Title</a:t>
                      </a:r>
                    </a:p>
                  </a:txBody>
                  <a:tcPr>
                    <a:solidFill>
                      <a:srgbClr val="000000"/>
                    </a:solidFill>
                  </a:tcPr>
                </a:tc>
                <a:tc>
                  <a:txBody>
                    <a:bodyPr/>
                    <a:lstStyle/>
                    <a:p>
                      <a:r>
                        <a:rPr b="1" sz="1100">
                          <a:solidFill>
                            <a:srgbClr val="FFFFFF"/>
                          </a:solidFill>
                        </a:rPr>
                        <a:t>Proposed Title</a:t>
                      </a:r>
                    </a:p>
                  </a:txBody>
                  <a:tcPr>
                    <a:solidFill>
                      <a:srgbClr val="000000"/>
                    </a:solidFill>
                  </a:tcPr>
                </a:tc>
              </a:tr>
              <a:tr h="91440">
                <a:tc>
                  <a:txBody>
                    <a:bodyPr/>
                    <a:lstStyle/>
                    <a:p>
                      <a:r>
                        <a:rPr sz="1000" b="1"/>
                        <a:t>AR, NLSR, SR, ST</a:t>
                      </a:r>
                    </a:p>
                    <a:p>
                      <a:r>
                        <a:rPr sz="1000" i="1">
                          <a:solidFill>
                            <a:srgbClr val="808080"/>
                          </a:solidFill>
                        </a:rPr>
                        <a:t>(baseline)</a:t>
                      </a:r>
                    </a:p>
                  </a:txBody>
                  <a:tcPr>
                    <a:solidFill>
                      <a:srgbClr val="FFFFFF"/>
                    </a:solidFill>
                  </a:tcPr>
                </a:tc>
                <a:tc>
                  <a:txBody>
                    <a:bodyPr/>
                    <a:lstStyle/>
                    <a:p>
                      <a:r>
                        <a:rPr sz="1000"/>
                        <a:t>Data Access</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CB, GSLC, INSAR, NRB, ORB, POL</a:t>
                      </a:r>
                    </a:p>
                  </a:txBody>
                  <a:tcPr>
                    <a:solidFill>
                      <a:srgbClr val="F2F2F2"/>
                    </a:solidFill>
                  </a:tcPr>
                </a:tc>
                <a:tc>
                  <a:txBody>
                    <a:bodyPr/>
                    <a:lstStyle/>
                    <a:p>
                      <a:r>
                        <a:rPr sz="1000" b="1">
                          <a:solidFill>
                            <a:srgbClr val="2E7D32"/>
                          </a:solidFill>
                        </a:rPr>
                        <a:t>Product </a:t>
                      </a:r>
                      <a:r>
                        <a:rPr sz="1000"/>
                        <a:t>Data Access</a:t>
                      </a:r>
                    </a:p>
                  </a:txBody>
                  <a:tcPr>
                    <a:solidFill>
                      <a:srgbClr val="F2F2F2"/>
                    </a:solidFill>
                  </a:tcPr>
                </a:tc>
                <a:tc>
                  <a:txBody>
                    <a:bodyPr/>
                    <a:lstStyle/>
                    <a:p>
                      <a:r>
                        <a:rPr sz="1000" strike="sngStrike">
                          <a:solidFill>
                            <a:srgbClr val="B00000"/>
                          </a:solidFill>
                        </a:rPr>
                        <a:t>Product </a:t>
                      </a:r>
                      <a:r>
                        <a:rPr sz="1000"/>
                        <a:t>Data Access</a:t>
                      </a:r>
                    </a:p>
                  </a:txBody>
                  <a:tcPr>
                    <a:solidFill>
                      <a:srgbClr val="F2F2F2"/>
                    </a:solidFill>
                  </a:tcPr>
                </a:tc>
              </a:tr>
              <a:tr h="91440">
                <a:tc>
                  <a:txBody>
                    <a:bodyPr/>
                    <a:lstStyle/>
                    <a:p>
                      <a:r>
                        <a:rPr sz="1000" b="1"/>
                        <a:t>CB, GSLC, INSAR, NRB, ORB, POL</a:t>
                      </a:r>
                    </a:p>
                  </a:txBody>
                  <a:tcPr>
                    <a:solidFill>
                      <a:srgbClr val="FFFFFF"/>
                    </a:solidFill>
                  </a:tcPr>
                </a:tc>
                <a:tc>
                  <a:txBody>
                    <a:bodyPr/>
                    <a:lstStyle/>
                    <a:p>
                      <a:r>
                        <a:rPr sz="1000" b="1">
                          <a:solidFill>
                            <a:srgbClr val="2E7D32"/>
                          </a:solidFill>
                        </a:rPr>
                        <a:t>Source </a:t>
                      </a:r>
                      <a:r>
                        <a:rPr sz="1000"/>
                        <a:t>Data Access</a:t>
                      </a:r>
                    </a:p>
                  </a:txBody>
                  <a:tcPr>
                    <a:solidFill>
                      <a:srgbClr val="FFFFFF"/>
                    </a:solidFill>
                  </a:tcPr>
                </a:tc>
                <a:tc>
                  <a:txBody>
                    <a:bodyPr/>
                    <a:lstStyle/>
                    <a:p>
                      <a:r>
                        <a:rPr sz="1000" strike="sngStrike">
                          <a:solidFill>
                            <a:srgbClr val="B00000"/>
                          </a:solidFill>
                        </a:rPr>
                        <a:t>Source </a:t>
                      </a:r>
                      <a:r>
                        <a:rPr sz="1000"/>
                        <a:t>Data Access</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3300984"/>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 NLSR, SR, ST</a:t>
                      </a:r>
                    </a:p>
                    <a:p>
                      <a:r>
                        <a:rPr sz="1000" i="1">
                          <a:solidFill>
                            <a:srgbClr val="808080"/>
                          </a:solidFill>
                        </a:rPr>
                        <a:t>(baseline)</a:t>
                      </a:r>
                    </a:p>
                  </a:txBody>
                  <a:tcPr>
                    <a:solidFill>
                      <a:srgbClr val="FFFFFF"/>
                    </a:solidFill>
                  </a:tcPr>
                </a:tc>
                <a:tc>
                  <a:txBody>
                    <a:bodyPr/>
                    <a:lstStyle/>
                    <a:p>
                      <a:r>
                        <a:rPr sz="1000"/>
                        <a:t>Information on data access should be available in the metadata as a single DOI landing page.</a:t>
                      </a:r>
                    </a:p>
                  </a:txBody>
                  <a:tcPr>
                    <a:solidFill>
                      <a:srgbClr val="FFFFFF"/>
                    </a:solidFill>
                  </a:tcPr>
                </a:tc>
                <a:tc>
                  <a:txBody>
                    <a:bodyPr/>
                    <a:lstStyle/>
                    <a:p>
                      <a:r>
                        <a:rPr sz="1000"/>
                        <a:t>T</a:t>
                      </a:r>
                      <a:r>
                        <a:rPr sz="1000">
                          <a:solidFill>
                            <a:srgbClr val="1565C0"/>
                          </a:solidFill>
                        </a:rPr>
                        <a:t>he metadata </a:t>
                      </a:r>
                      <a:r>
                        <a:rPr sz="1000"/>
                        <a:t>identifies the location from where the product can be retrieved, expressed as a URL or DOI</a:t>
                      </a:r>
                      <a:r>
                        <a:rPr sz="1000"/>
                        <a:t>.</a:t>
                      </a:r>
                    </a:p>
                  </a:txBody>
                  <a:tcPr>
                    <a:solidFill>
                      <a:srgbClr val="FFFFFF"/>
                    </a:solidFill>
                  </a:tcPr>
                </a:tc>
              </a:tr>
              <a:tr h="91440">
                <a:tc>
                  <a:txBody>
                    <a:bodyPr/>
                    <a:lstStyle/>
                    <a:p>
                      <a:r>
                        <a:rPr sz="1000" b="1"/>
                        <a:t>CB, GSLC, INSAR, NRB, ORB, POL</a:t>
                      </a:r>
                    </a:p>
                  </a:txBody>
                  <a:tcPr>
                    <a:solidFill>
                      <a:srgbClr val="F2F2F2"/>
                    </a:solidFill>
                  </a:tcPr>
                </a:tc>
                <a:tc>
                  <a:txBody>
                    <a:bodyPr/>
                    <a:lstStyle/>
                    <a:p>
                      <a:r>
                        <a:rPr sz="1000"/>
                        <a:t>Processing parameters details of the CEOS-ARD product:</a:t>
                      </a:r>
                    </a:p>
                    <a:p/>
                    <a:p>
                      <a:r>
                        <a:rPr sz="1000"/>
                        <a:t>- Processing facility</a:t>
                      </a:r>
                    </a:p>
                    <a:p>
                      <a:r>
                        <a:rPr sz="1000"/>
                        <a:t>- Processing date</a:t>
                      </a:r>
                    </a:p>
                    <a:p>
                      <a:r>
                        <a:rPr sz="1000"/>
                        <a:t>- Software version</a:t>
                      </a:r>
                    </a:p>
                    <a:p>
                      <a:r>
                        <a:rPr sz="1000"/>
                        <a:t>- Location from where CEOS-ARD product can be retrieved, expressed as a URL or DOI</a:t>
                      </a:r>
                      <a:r>
                        <a:rPr sz="1000"/>
                        <a:t>.</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CB, GSLC, INSAR, NRB, ORB, POL</a:t>
                      </a:r>
                    </a:p>
                  </a:txBody>
                  <a:tcPr>
                    <a:solidFill>
                      <a:srgbClr val="FFFFFF"/>
                    </a:solidFill>
                  </a:tcPr>
                </a:tc>
                <a:tc>
                  <a:txBody>
                    <a:bodyPr/>
                    <a:lstStyle/>
                    <a:p>
                      <a:r>
                        <a:rPr sz="1000"/>
                        <a:t>T</a:t>
                      </a:r>
                      <a:r>
                        <a:rPr sz="1000">
                          <a:solidFill>
                            <a:srgbClr val="1565C0"/>
                          </a:solidFill>
                        </a:rPr>
                        <a:t>he metadata </a:t>
                      </a:r>
                      <a:r>
                        <a:rPr sz="1000"/>
                        <a:t>identifies the location from where the source data can be retrieved, expressed as a URL or DOI</a:t>
                      </a:r>
                      <a:r>
                        <a:rPr sz="1000"/>
                        <a:t>.</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metadata/data-access-*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91440">
                <a:tc>
                  <a:txBody>
                    <a:bodyPr/>
                    <a:lstStyle/>
                    <a:p>
                      <a:r>
                        <a:rPr sz="1000" b="1"/>
                        <a:t>AR, NLSR, SR, ST</a:t>
                      </a:r>
                    </a:p>
                    <a:p>
                      <a:r>
                        <a:rPr sz="1000" i="1">
                          <a:solidFill>
                            <a:srgbClr val="808080"/>
                          </a:solidFill>
                        </a:rPr>
                        <a:t>(baseline)</a:t>
                      </a:r>
                    </a:p>
                  </a:txBody>
                  <a:tcPr>
                    <a:solidFill>
                      <a:srgbClr val="FFFFFF"/>
                    </a:solidFill>
                  </a:tcPr>
                </a:tc>
                <a:tc>
                  <a:txBody>
                    <a:bodyPr/>
                    <a:lstStyle/>
                    <a:p>
                      <a:r>
                        <a:rPr sz="1000"/>
                        <a:t>Manual and offline interaction action (e.g., login) may be required.</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CB, GSLC, INSAR, NRB, ORB, POL</a:t>
                      </a:r>
                    </a:p>
                  </a:txBody>
                  <a:tcPr>
                    <a:solidFill>
                      <a:srgbClr val="F2F2F2"/>
                    </a:solidFill>
                  </a:tcPr>
                </a:tc>
                <a:tc>
                  <a:txBody>
                    <a:bodyPr/>
                    <a:lstStyle/>
                    <a:p>
                      <a:r>
                        <a:rPr sz="1000"/>
                        <a:t>(no notes)</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CB, GSLC, INSAR, NRB, ORB, POL</a:t>
                      </a:r>
                    </a:p>
                  </a:txBody>
                  <a:tcPr>
                    <a:solidFill>
                      <a:srgbClr val="FFFFFF"/>
                    </a:solidFill>
                  </a:tcPr>
                </a:tc>
                <a:tc>
                  <a:txBody>
                    <a:bodyPr/>
                    <a:lstStyle/>
                    <a:p>
                      <a:r>
                        <a:rPr sz="1000"/>
                        <a:t>(no notes)</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3300984"/>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 NLSR, SR, ST</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r>
                        <a:rPr sz="1000" b="1">
                          <a:solidFill>
                            <a:srgbClr val="2E7D32"/>
                          </a:solidFill>
                        </a:rPr>
                        <a:t>The metadata identifies an online location from where the data can be consistently and reliably retrieved by a computer algorithm without any manual intervention being required.</a:t>
                      </a:r>
                    </a:p>
                  </a:txBody>
                  <a:tcPr>
                    <a:solidFill>
                      <a:srgbClr val="FFFFFF"/>
                    </a:solidFill>
                  </a:tcPr>
                </a:tc>
              </a:tr>
              <a:tr h="91440">
                <a:tc>
                  <a:txBody>
                    <a:bodyPr/>
                    <a:lstStyle/>
                    <a:p>
                      <a:r>
                        <a:rPr sz="1000" b="1"/>
                        <a:t>CB, GSLC, INSAR, NRB, ORB, POL</a:t>
                      </a:r>
                    </a:p>
                    <a:p>
                      <a:r>
                        <a:rPr sz="1000" i="1">
                          <a:solidFill>
                            <a:srgbClr val="808080"/>
                          </a:solidFill>
                        </a:rPr>
                        <a:t>(baseline)</a:t>
                      </a:r>
                    </a:p>
                  </a:txBody>
                  <a:tcPr>
                    <a:solidFill>
                      <a:srgbClr val="F2F2F2"/>
                    </a:solidFill>
                  </a:tcPr>
                </a:tc>
                <a:tc>
                  <a:txBody>
                    <a:bodyPr/>
                    <a:lstStyle/>
                    <a:p>
                      <a:r>
                        <a:rPr sz="1000"/>
                        <a:t>The metadata identifies an online location from where the data can be consistently and reliably retrieved by a computer algorithm without any manual intervention being required.</a:t>
                      </a:r>
                    </a:p>
                    <a:p>
                      <a:r>
                        <a:rPr sz="1000" i="1">
                          <a:solidFill>
                            <a:srgbClr val="808080"/>
                          </a:solidFill>
                        </a:rPr>
                        <a:t>(optional)</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CB, GSLC, INSAR, NRB, ORB, POL</a:t>
                      </a:r>
                    </a:p>
                  </a:txBody>
                  <a:tcPr>
                    <a:solidFill>
                      <a:srgbClr val="FFFFFF"/>
                    </a:solidFill>
                  </a:tcPr>
                </a:tc>
                <a:tc>
                  <a:txBody>
                    <a:bodyPr/>
                    <a:lstStyle/>
                    <a:p>
                      <a:r>
                        <a:rPr sz="1000"/>
                        <a:t>The metadata identifies an online location from where the data can be consistently and reliably retrieved by a computer algorithm without any manual intervention being required.</a:t>
                      </a:r>
                    </a:p>
                    <a:p>
                      <a:r>
                        <a:rPr sz="1000" i="1">
                          <a:solidFill>
                            <a:srgbClr val="808080"/>
                          </a:solidFill>
                        </a:rPr>
                        <a:t>(optional)</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sp>
        <p:nvSpPr>
          <p:cNvPr id="5" name="TextBox 4"/>
          <p:cNvSpPr txBox="1"/>
          <p:nvPr/>
        </p:nvSpPr>
        <p:spPr>
          <a:xfrm>
            <a:off x="457200" y="5612952"/>
            <a:ext cx="11277295" cy="1143000"/>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a:p>
            <a:r>
              <a:rPr sz="1200" i="1"/>
              <a:t/>
            </a:r>
          </a:p>
          <a:p>
            <a:r>
              <a:rPr sz="1200" i="1"/>
              <a:t>The current optical threshold only contains the DOI landing page sentence, which moves to category level — the proposal gives Data Access a concrete requirement, aligned with the SAR product variant. The split into Product/Source Data Access remains specific to the SAR family.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metadata/data-access-* (cont.)</a:t>
            </a:r>
          </a:p>
        </p:txBody>
      </p:sp>
      <p:sp>
        <p:nvSpPr>
          <p:cNvPr id="3" name="TextBox 2"/>
          <p:cNvSpPr txBox="1"/>
          <p:nvPr/>
        </p:nvSpPr>
        <p:spPr>
          <a:xfrm>
            <a:off x="457200" y="1005840"/>
            <a:ext cx="11277295" cy="566928"/>
          </a:xfrm>
          <a:prstGeom prst="rect">
            <a:avLst/>
          </a:prstGeom>
          <a:noFill/>
        </p:spPr>
        <p:txBody>
          <a:bodyPr wrap="square" lIns="0" rIns="0" tIns="0" bIns="0">
            <a:spAutoFit/>
          </a:bodyPr>
          <a:lstStyle/>
          <a:p>
            <a:r>
              <a:rPr sz="1200" b="1"/>
              <a:t>Remarks from the building blocks: </a:t>
            </a:r>
            <a:r>
              <a:rPr sz="1200" i="1"/>
              <a:t>data-access-product.yaml: Make generic for source and product.</a:t>
            </a:r>
          </a:p>
          <a:p>
            <a:r>
              <a:rPr sz="1200" i="1"/>
              <a:t>data-access-source.yaml: Make generic for source and product.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metadata/data-access-*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Data Access</a:t>
            </a:r>
          </a:p>
          <a:p>
            <a:r>
              <a:rPr sz="1100">
                <a:latin typeface="Consolas"/>
              </a:rPr>
              <a:t>requirements:</a:t>
            </a:r>
          </a:p>
          <a:p>
            <a:r>
              <a:rPr sz="1100">
                <a:latin typeface="Consolas"/>
              </a:rPr>
              <a:t>  threshold:</a:t>
            </a:r>
          </a:p>
          <a:p>
            <a:r>
              <a:rPr sz="1100">
                <a:latin typeface="Consolas"/>
              </a:rPr>
              <a:t>    description: The metadata identifies the location from where the product can be retrieved, expressed as a URL or DOI.  # TODO: not aligned yet, see comparison</a:t>
            </a:r>
          </a:p>
          <a:p>
            <a:r>
              <a:rPr sz="1100">
                <a:latin typeface="Consolas"/>
              </a:rPr>
              <a:t>  goal:</a:t>
            </a:r>
          </a:p>
          <a:p>
            <a:r>
              <a:rPr sz="1100">
                <a:latin typeface="Consolas"/>
              </a:rPr>
              <a:t>    description: The metadata identifies an online location from where the data can be consistently and reliably retrieved by a computer algorithm without any manual intervention being required.</a:t>
            </a:r>
          </a:p>
          <a:p>
            <a:r>
              <a:rPr sz="1100">
                <a:latin typeface="Consolas"/>
              </a:rPr>
              <a:t>    optional: true  # TODO: not aligned yet, see comparison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metadata/geo-area-*</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Title</a:t>
                      </a:r>
                    </a:p>
                  </a:txBody>
                  <a:tcPr>
                    <a:solidFill>
                      <a:srgbClr val="000000"/>
                    </a:solidFill>
                  </a:tcPr>
                </a:tc>
                <a:tc>
                  <a:txBody>
                    <a:bodyPr/>
                    <a:lstStyle/>
                    <a:p>
                      <a:r>
                        <a:rPr b="1" sz="1100">
                          <a:solidFill>
                            <a:srgbClr val="FFFFFF"/>
                          </a:solidFill>
                        </a:rPr>
                        <a:t>Proposed Title</a:t>
                      </a:r>
                    </a:p>
                  </a:txBody>
                  <a:tcPr>
                    <a:solidFill>
                      <a:srgbClr val="000000"/>
                    </a:solidFill>
                  </a:tcPr>
                </a:tc>
              </a:tr>
              <a:tr h="121920">
                <a:tc>
                  <a:txBody>
                    <a:bodyPr/>
                    <a:lstStyle/>
                    <a:p>
                      <a:r>
                        <a:rPr sz="1000" b="1"/>
                        <a:t>AR, NLSR, SR, ST</a:t>
                      </a:r>
                    </a:p>
                    <a:p>
                      <a:r>
                        <a:rPr sz="1000" i="1">
                          <a:solidFill>
                            <a:srgbClr val="808080"/>
                          </a:solidFill>
                        </a:rPr>
                        <a:t>(baseline)</a:t>
                      </a:r>
                    </a:p>
                  </a:txBody>
                  <a:tcPr>
                    <a:solidFill>
                      <a:srgbClr val="FFFFFF"/>
                    </a:solidFill>
                  </a:tcPr>
                </a:tc>
                <a:tc>
                  <a:txBody>
                    <a:bodyPr/>
                    <a:lstStyle/>
                    <a:p>
                      <a:r>
                        <a:rPr sz="1000"/>
                        <a:t>Geographical Area</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CB, GSLC, INSAR, NRB, ORB, POL</a:t>
                      </a:r>
                    </a:p>
                  </a:txBody>
                  <a:tcPr>
                    <a:solidFill>
                      <a:srgbClr val="F2F2F2"/>
                    </a:solidFill>
                  </a:tcPr>
                </a:tc>
                <a:tc>
                  <a:txBody>
                    <a:bodyPr/>
                    <a:lstStyle/>
                    <a:p>
                      <a:r>
                        <a:rPr sz="1000" b="1">
                          <a:solidFill>
                            <a:srgbClr val="2E7D32"/>
                          </a:solidFill>
                        </a:rPr>
                        <a:t>Product </a:t>
                      </a:r>
                      <a:r>
                        <a:rPr sz="1000"/>
                        <a:t>Geographical </a:t>
                      </a:r>
                      <a:r>
                        <a:rPr sz="1000" strike="sngStrike">
                          <a:solidFill>
                            <a:srgbClr val="B00000"/>
                          </a:solidFill>
                        </a:rPr>
                        <a:t>Area</a:t>
                      </a:r>
                      <a:r>
                        <a:rPr sz="1000" b="1">
                          <a:solidFill>
                            <a:srgbClr val="2E7D32"/>
                          </a:solidFill>
                        </a:rPr>
                        <a:t>Extent</a:t>
                      </a:r>
                    </a:p>
                  </a:txBody>
                  <a:tcPr>
                    <a:solidFill>
                      <a:srgbClr val="F2F2F2"/>
                    </a:solidFill>
                  </a:tcPr>
                </a:tc>
                <a:tc>
                  <a:txBody>
                    <a:bodyPr/>
                    <a:lstStyle/>
                    <a:p>
                      <a:r>
                        <a:rPr sz="1000" strike="sngStrike">
                          <a:solidFill>
                            <a:srgbClr val="B00000"/>
                          </a:solidFill>
                        </a:rPr>
                        <a:t>Product </a:t>
                      </a:r>
                      <a:r>
                        <a:rPr sz="1000"/>
                        <a:t>Geographical </a:t>
                      </a:r>
                      <a:r>
                        <a:rPr sz="1000" strike="sngStrike">
                          <a:solidFill>
                            <a:srgbClr val="B00000"/>
                          </a:solidFill>
                        </a:rPr>
                        <a:t>Extent</a:t>
                      </a:r>
                      <a:r>
                        <a:rPr sz="1000" b="1">
                          <a:solidFill>
                            <a:srgbClr val="2E7D32"/>
                          </a:solidFill>
                        </a:rPr>
                        <a:t>Area</a:t>
                      </a:r>
                    </a:p>
                  </a:txBody>
                  <a:tcPr>
                    <a:solidFill>
                      <a:srgbClr val="F2F2F2"/>
                    </a:solidFill>
                  </a:tcPr>
                </a:tc>
              </a:tr>
            </a:tbl>
          </a:graphicData>
        </a:graphic>
      </p:graphicFrame>
      <p:graphicFrame>
        <p:nvGraphicFramePr>
          <p:cNvPr id="4" name="Table 3"/>
          <p:cNvGraphicFramePr>
            <a:graphicFrameLocks noGrp="1"/>
          </p:cNvGraphicFramePr>
          <p:nvPr/>
        </p:nvGraphicFramePr>
        <p:xfrm>
          <a:off x="457200" y="2724912"/>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AR, NLSR, SR, ST</a:t>
                      </a:r>
                    </a:p>
                    <a:p>
                      <a:r>
                        <a:rPr sz="1000" i="1">
                          <a:solidFill>
                            <a:srgbClr val="808080"/>
                          </a:solidFill>
                        </a:rPr>
                        <a:t>(baseline)</a:t>
                      </a:r>
                    </a:p>
                  </a:txBody>
                  <a:tcPr>
                    <a:solidFill>
                      <a:srgbClr val="FFFFFF"/>
                    </a:solidFill>
                  </a:tcPr>
                </a:tc>
                <a:tc>
                  <a:txBody>
                    <a:bodyPr/>
                    <a:lstStyle/>
                    <a:p>
                      <a:r>
                        <a:rPr sz="1000"/>
                        <a:t>The surface location to which the data relates is identified, typically as a series of four corner points, expressed in an accepted coordinate reference system (e.g., WGS84).</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CB, GSLC, INSAR, NRB, ORB, POL</a:t>
                      </a:r>
                    </a:p>
                  </a:txBody>
                  <a:tcPr>
                    <a:solidFill>
                      <a:srgbClr val="F2F2F2"/>
                    </a:solidFill>
                  </a:tcPr>
                </a:tc>
                <a:tc>
                  <a:txBody>
                    <a:bodyPr/>
                    <a:lstStyle/>
                    <a:p>
                      <a:r>
                        <a:rPr sz="1000"/>
                        <a:t>The </a:t>
                      </a:r>
                      <a:r>
                        <a:rPr sz="1000"/>
                        <a:t>geometry of the SAR image footprint</a:t>
                      </a:r>
                      <a:r>
                        <a:rPr sz="1000">
                          <a:solidFill>
                            <a:srgbClr val="1565C0"/>
                          </a:solidFill>
                        </a:rPr>
                        <a:t> expressed in </a:t>
                      </a:r>
                      <a:r>
                        <a:rPr sz="1000"/>
                        <a:t>longitude/latitude based on WGS84 (EPSG 4326), in a standardised format (e.g., WKT Polygon</a:t>
                      </a:r>
                      <a:r>
                        <a:rPr sz="1000"/>
                        <a:t>).</a:t>
                      </a:r>
                    </a:p>
                  </a:txBody>
                  <a:tcPr>
                    <a:solidFill>
                      <a:srgbClr val="F2F2F2"/>
                    </a:solidFill>
                  </a:tcPr>
                </a:tc>
                <a:tc>
                  <a:txBody>
                    <a:bodyPr/>
                    <a:lstStyle/>
                    <a:p>
                      <a:r>
                        <a:rPr sz="1000" i="1">
                          <a:solidFill>
                            <a:srgbClr val="808080"/>
                          </a:solidFill>
                        </a:rPr>
                        <a:t>(keep as is)</a:t>
                      </a:r>
                    </a:p>
                  </a:txBody>
                  <a:tcPr>
                    <a:solidFill>
                      <a:srgbClr val="F2F2F2"/>
                    </a:solidFill>
                  </a:tcPr>
                </a:tc>
              </a:tr>
            </a:tbl>
          </a:graphicData>
        </a:graphic>
      </p:graphicFrame>
      <p:graphicFrame>
        <p:nvGraphicFramePr>
          <p:cNvPr id="5" name="Table 4"/>
          <p:cNvGraphicFramePr>
            <a:graphicFrameLocks noGrp="1"/>
          </p:cNvGraphicFramePr>
          <p:nvPr/>
        </p:nvGraphicFramePr>
        <p:xfrm>
          <a:off x="457200" y="4443984"/>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121920">
                <a:tc>
                  <a:txBody>
                    <a:bodyPr/>
                    <a:lstStyle/>
                    <a:p>
                      <a:r>
                        <a:rPr sz="1000" b="1"/>
                        <a:t>AR, NLSR, SR, ST</a:t>
                      </a:r>
                    </a:p>
                    <a:p>
                      <a:r>
                        <a:rPr sz="1000" i="1">
                          <a:solidFill>
                            <a:srgbClr val="808080"/>
                          </a:solidFill>
                        </a:rPr>
                        <a:t>(baseline)</a:t>
                      </a:r>
                    </a:p>
                  </a:txBody>
                  <a:tcPr>
                    <a:solidFill>
                      <a:srgbClr val="FFFFFF"/>
                    </a:solidFill>
                  </a:tcPr>
                </a:tc>
                <a:tc>
                  <a:txBody>
                    <a:bodyPr/>
                    <a:lstStyle/>
                    <a:p>
                      <a:r>
                        <a:rPr sz="1000"/>
                        <a:t>The geographic area covered by the observations is identified specifically, such as through a set of coordinates of a closely bounding polygon. The location to which each pixel refers is identified (or can be reliably determined) with the projection system (if any) and reference datum provided.</a:t>
                      </a:r>
                    </a:p>
                    <a:p>
                      <a:r>
                        <a:rPr sz="1000" i="1">
                          <a:solidFill>
                            <a:srgbClr val="808080"/>
                          </a:solidFill>
                        </a:rPr>
                        <a:t>(optional)</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CB, GSLC, INSAR, NRB, ORB, POL</a:t>
                      </a:r>
                    </a:p>
                  </a:txBody>
                  <a:tcPr>
                    <a:solidFill>
                      <a:srgbClr val="F2F2F2"/>
                    </a:solidFill>
                  </a:tcPr>
                </a:tc>
                <a:tc>
                  <a:txBody>
                    <a:bodyPr/>
                    <a:lstStyle/>
                    <a:p>
                      <a:r>
                        <a:rPr sz="1000"/>
                        <a:t>(not set)</a:t>
                      </a:r>
                    </a:p>
                    <a:p>
                      <a:r>
                        <a:rPr sz="1000" i="1">
                          <a:solidFill>
                            <a:srgbClr val="808080"/>
                          </a:solidFill>
                        </a:rPr>
                        <a:t>(required)</a:t>
                      </a:r>
                    </a:p>
                  </a:txBody>
                  <a:tcPr>
                    <a:solidFill>
                      <a:srgbClr val="F2F2F2"/>
                    </a:solidFill>
                  </a:tcPr>
                </a:tc>
                <a:tc>
                  <a:txBody>
                    <a:bodyPr/>
                    <a:lstStyle/>
                    <a:p>
                      <a:r>
                        <a:rPr sz="1000" i="1">
                          <a:solidFill>
                            <a:srgbClr val="808080"/>
                          </a:solidFill>
                        </a:rPr>
                        <a:t>(keep as is)</a:t>
                      </a:r>
                    </a:p>
                  </a:txBody>
                  <a:tcPr>
                    <a:solidFill>
                      <a:srgbClr val="F2F2F2"/>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metadata/geo-area-* (cont.)</a:t>
            </a:r>
          </a:p>
        </p:txBody>
      </p:sp>
      <p:sp>
        <p:nvSpPr>
          <p:cNvPr id="3" name="TextBox 2"/>
          <p:cNvSpPr txBox="1"/>
          <p:nvPr/>
        </p:nvSpPr>
        <p:spPr>
          <a:xfrm>
            <a:off x="457200" y="1005840"/>
            <a:ext cx="11277295" cy="758952"/>
          </a:xfrm>
          <a:prstGeom prst="rect">
            <a:avLst/>
          </a:prstGeom>
          <a:noFill/>
        </p:spPr>
        <p:txBody>
          <a:bodyPr wrap="square" lIns="0" rIns="0" tIns="0" bIns="0">
            <a:spAutoFit/>
          </a:bodyPr>
          <a:lstStyle/>
          <a:p>
            <a:r>
              <a:rPr sz="1200" b="1"/>
              <a:t>Internal notes: </a:t>
            </a:r>
            <a:r>
              <a:rPr sz="1200" i="1"/>
              <a:t>The footprint conventions differ intentionally (optical: corner points; SAR: WKT polygon of the image footprint in EPSG 4326). Consider aligning on the more precise polygon/standardised-format wording across both families in a future revision.</a:t>
            </a:r>
          </a:p>
        </p:txBody>
      </p:sp>
      <p:sp>
        <p:nvSpPr>
          <p:cNvPr id="4" name="TextBox 3"/>
          <p:cNvSpPr txBox="1"/>
          <p:nvPr/>
        </p:nvSpPr>
        <p:spPr>
          <a:xfrm>
            <a:off x="457200" y="1805208"/>
            <a:ext cx="11277295" cy="950976"/>
          </a:xfrm>
          <a:prstGeom prst="rect">
            <a:avLst/>
          </a:prstGeom>
          <a:noFill/>
        </p:spPr>
        <p:txBody>
          <a:bodyPr wrap="square" lIns="0" rIns="0" tIns="0" bIns="0">
            <a:spAutoFit/>
          </a:bodyPr>
          <a:lstStyle/>
          <a:p>
            <a:r>
              <a:rPr sz="1200" b="1"/>
              <a:t>Remarks from the building blocks: </a:t>
            </a:r>
            <a:r>
              <a:rPr sz="1200" i="1"/>
              <a:t>geo-area-sar.yaml: - Remove "product" mentions to be reusable for source and product.</a:t>
            </a:r>
          </a:p>
          <a:p>
            <a:r>
              <a:rPr sz="1200" i="1"/>
              <a:t>- todo: Remove SAR mentions to be reusable in other products.</a:t>
            </a:r>
          </a:p>
          <a:p>
            <a:r>
              <a:rPr sz="1200" i="1"/>
              <a:t>- todo: "Extent" is misleading and usually a synonym for the bbox, the requirement should probably be renamed to "Geographical Area" or similar.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metadata/geo-area-*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Geographical Area</a:t>
            </a:r>
          </a:p>
          <a:p>
            <a:r>
              <a:rPr sz="1100">
                <a:latin typeface="Consolas"/>
              </a:rPr>
              <a:t>requirements:</a:t>
            </a:r>
          </a:p>
          <a:p>
            <a:r>
              <a:rPr sz="1100">
                <a:latin typeface="Consolas"/>
              </a:rPr>
              <a:t>  threshold:</a:t>
            </a:r>
          </a:p>
          <a:p>
            <a:r>
              <a:rPr sz="1100">
                <a:latin typeface="Consolas"/>
              </a:rPr>
              <a:t>    description: The surface location to which the data relates is identified, typically as a series of four corner points, expressed in an accepted coordinate reference system (e.g., WGS84).  # TODO: not aligned yet, see comparison</a:t>
            </a:r>
          </a:p>
          <a:p>
            <a:r>
              <a:rPr sz="1100">
                <a:latin typeface="Consolas"/>
              </a:rPr>
              <a:t>  goal:</a:t>
            </a:r>
          </a:p>
          <a:p>
            <a:r>
              <a:rPr sz="1100">
                <a:latin typeface="Consolas"/>
              </a:rPr>
              <a:t>    description: The geographic area covered by the observations is identified specifically, such as through a set of coordinates of a closely bounding polygon. The location to which each pixel refers is identified (or can be reliably determined) with the projection system (if any) and reference datum provided.  # TODO: not aligned yet, see comparison</a:t>
            </a:r>
          </a:p>
          <a:p>
            <a:r>
              <a:rPr sz="1100">
                <a:latin typeface="Consolas"/>
              </a:rPr>
              <a:t>    optional: true  # TODO: not aligned yet, see comparison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Geometric Correction Methods</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121920">
                <a:tc>
                  <a:txBody>
                    <a:bodyPr/>
                    <a:lstStyle/>
                    <a:p>
                      <a:r>
                        <a:rPr sz="1000" b="1"/>
                        <a:t>AR, ST</a:t>
                      </a:r>
                    </a:p>
                    <a:p>
                      <a:r>
                        <a:rPr sz="1000" i="1">
                          <a:solidFill>
                            <a:srgbClr val="808080"/>
                          </a:solidFill>
                        </a:rPr>
                        <a:t>(baseline)</a:t>
                      </a:r>
                    </a:p>
                  </a:txBody>
                  <a:tcPr>
                    <a:solidFill>
                      <a:srgbClr val="FFFFFF"/>
                    </a:solidFill>
                  </a:tcPr>
                </a:tc>
                <a:tc>
                  <a:txBody>
                    <a:bodyPr/>
                    <a:lstStyle/>
                    <a:p>
                      <a:r>
                        <a:rPr sz="1000"/>
                        <a:t>Information on geometric correction source and methods are provided, including reference database and auxiliary data such as elevation model(s) and reference chip-sets.</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NLSR, SR</a:t>
                      </a:r>
                    </a:p>
                  </a:txBody>
                  <a:tcPr>
                    <a:solidFill>
                      <a:srgbClr val="F2F2F2"/>
                    </a:solidFill>
                  </a:tcPr>
                </a:tc>
                <a:tc>
                  <a:txBody>
                    <a:bodyPr/>
                    <a:lstStyle/>
                    <a:p>
                      <a:r>
                        <a:rPr sz="1000"/>
                        <a:t>Information on geometric correction </a:t>
                      </a:r>
                      <a:r>
                        <a:rPr sz="1000" strike="sngStrike">
                          <a:solidFill>
                            <a:srgbClr val="B00000"/>
                          </a:solidFill>
                        </a:rPr>
                        <a:t>source and methods are provided</a:t>
                      </a:r>
                      <a:r>
                        <a:rPr sz="1000" b="1">
                          <a:solidFill>
                            <a:srgbClr val="2E7D32"/>
                          </a:solidFill>
                        </a:rPr>
                        <a:t>methods should be available in the metadata as a single DOI landing page</a:t>
                      </a:r>
                      <a:r>
                        <a:rPr sz="1000"/>
                        <a:t>, including reference database and auxiliary data such as elevation model(s) and reference chip-sets.</a:t>
                      </a:r>
                      <a:r>
                        <a:rPr sz="1000" b="1">
                          <a:solidFill>
                            <a:srgbClr val="2E7D32"/>
                          </a:solidFill>
                        </a:rPr>
                        <a:t>  </a:t>
                      </a:r>
                    </a:p>
                  </a:txBody>
                  <a:tcPr>
                    <a:solidFill>
                      <a:srgbClr val="F2F2F2"/>
                    </a:solidFill>
                  </a:tcPr>
                </a:tc>
                <a:tc>
                  <a:txBody>
                    <a:bodyPr/>
                    <a:lstStyle/>
                    <a:p>
                      <a:r>
                        <a:rPr sz="1000"/>
                        <a:t>Information on geometric correction </a:t>
                      </a:r>
                      <a:r>
                        <a:rPr sz="1000" strike="sngStrike">
                          <a:solidFill>
                            <a:srgbClr val="B00000"/>
                          </a:solidFill>
                        </a:rPr>
                        <a:t>methods should be available in the metadata as a single DOI landing page</a:t>
                      </a:r>
                      <a:r>
                        <a:rPr sz="1000" b="1">
                          <a:solidFill>
                            <a:srgbClr val="2E7D32"/>
                          </a:solidFill>
                        </a:rPr>
                        <a:t>source and methods are provided</a:t>
                      </a:r>
                      <a:r>
                        <a:rPr sz="1000"/>
                        <a:t>, including reference database and auxiliary data such as elevation model(s) and reference chip-sets.</a:t>
                      </a:r>
                      <a:r>
                        <a:rPr sz="1000" strike="sngStrike">
                          <a:solidFill>
                            <a:srgbClr val="B00000"/>
                          </a:solidFill>
                        </a:rPr>
                        <a:t>  </a:t>
                      </a:r>
                    </a:p>
                  </a:txBody>
                  <a:tcPr>
                    <a:solidFill>
                      <a:srgbClr val="F2F2F2"/>
                    </a:solidFill>
                  </a:tcPr>
                </a:tc>
              </a:tr>
            </a:tbl>
          </a:graphicData>
        </a:graphic>
      </p:graphicFrame>
      <p:sp>
        <p:nvSpPr>
          <p:cNvPr id="4" name="TextBox 3"/>
          <p:cNvSpPr txBox="1"/>
          <p:nvPr/>
        </p:nvSpPr>
        <p:spPr>
          <a:xfrm>
            <a:off x="457200" y="2767888"/>
            <a:ext cx="11277295" cy="950976"/>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a:p>
            <a:r>
              <a:rPr sz="1200" i="1"/>
              <a:t/>
            </a:r>
          </a:p>
          <a:p>
            <a:r>
              <a:rPr sz="1200" i="1"/>
              <a:t>Resolved for ST: it now uses the AR requirement directly (geometric-correction-methods-st was removed). ST team: agree to adopt the AR approach.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Geometric Correction Methods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Geometric Correction Methods</a:t>
            </a:r>
          </a:p>
          <a:p>
            <a:r>
              <a:rPr sz="1100">
                <a:latin typeface="Consolas"/>
              </a:rPr>
              <a:t>requirements:</a:t>
            </a:r>
          </a:p>
          <a:p>
            <a:r>
              <a:rPr sz="1100">
                <a:latin typeface="Consolas"/>
              </a:rPr>
              <a:t>  goal:</a:t>
            </a:r>
          </a:p>
          <a:p>
            <a:r>
              <a:rPr sz="1100">
                <a:latin typeface="Consolas"/>
              </a:rPr>
              <a:t>    description: Information on geometric correction source and methods are provided, including reference database and auxiliary data such as elevation model(s) and reference chip-sets.</a:t>
            </a:r>
          </a:p>
          <a:p>
            <a:r>
              <a:rPr sz="1100">
                <a:latin typeface="Consolas"/>
              </a:rPr>
              <a:t>    optional: true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Instrument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 ST</a:t>
                      </a:r>
                    </a:p>
                    <a:p>
                      <a:r>
                        <a:rPr sz="1000" i="1">
                          <a:solidFill>
                            <a:srgbClr val="808080"/>
                          </a:solidFill>
                        </a:rPr>
                        <a:t>(baseline)</a:t>
                      </a:r>
                    </a:p>
                  </a:txBody>
                  <a:tcPr>
                    <a:solidFill>
                      <a:srgbClr val="FFFFFF"/>
                    </a:solidFill>
                  </a:tcPr>
                </a:tc>
                <a:tc>
                  <a:txBody>
                    <a:bodyPr/>
                    <a:lstStyle/>
                    <a:p>
                      <a:r>
                        <a:rPr sz="1000"/>
                        <a:t>The instrument used to collect the data is identified.</a:t>
                      </a:r>
                    </a:p>
                  </a:txBody>
                  <a:tcPr>
                    <a:solidFill>
                      <a:srgbClr val="FFFFFF"/>
                    </a:solidFill>
                  </a:tcPr>
                </a:tc>
                <a:tc>
                  <a:txBody>
                    <a:bodyPr/>
                    <a:lstStyle/>
                    <a:p>
                      <a:r>
                        <a:rPr sz="1000"/>
                        <a:t>The instrument used to collect the data is identified</a:t>
                      </a:r>
                      <a:r>
                        <a:rPr sz="1000" strike="sngStrike">
                          <a:solidFill>
                            <a:srgbClr val="B00000"/>
                          </a:solidFill>
                        </a:rPr>
                        <a:t>.</a:t>
                      </a:r>
                      <a:r>
                        <a:rPr sz="1000" b="1">
                          <a:solidFill>
                            <a:srgbClr val="2E7D32"/>
                          </a:solidFill>
                        </a:rPr>
                        <a:t> in the metadata:</a:t>
                      </a:r>
                    </a:p>
                    <a:p/>
                    <a:p>
                      <a:r>
                        <a:rPr sz="1000" b="1">
                          <a:solidFill>
                            <a:srgbClr val="2E7D32"/>
                          </a:solidFill>
                        </a:rPr>
                        <a:t>- Satellite name</a:t>
                      </a:r>
                    </a:p>
                    <a:p>
                      <a:r>
                        <a:rPr sz="1000" b="1">
                          <a:solidFill>
                            <a:srgbClr val="2E7D32"/>
                          </a:solidFill>
                        </a:rPr>
                        <a:t>- Instrument name</a:t>
                      </a:r>
                    </a:p>
                  </a:txBody>
                  <a:tcPr>
                    <a:solidFill>
                      <a:srgbClr val="FFFFFF"/>
                    </a:solidFill>
                  </a:tcPr>
                </a:tc>
              </a:tr>
              <a:tr h="91440">
                <a:tc>
                  <a:txBody>
                    <a:bodyPr/>
                    <a:lstStyle/>
                    <a:p>
                      <a:r>
                        <a:rPr sz="1000" b="1"/>
                        <a:t>NLSR, SR</a:t>
                      </a:r>
                    </a:p>
                  </a:txBody>
                  <a:tcPr>
                    <a:solidFill>
                      <a:srgbClr val="F2F2F2"/>
                    </a:solidFill>
                  </a:tcPr>
                </a:tc>
                <a:tc>
                  <a:txBody>
                    <a:bodyPr/>
                    <a:lstStyle/>
                    <a:p>
                      <a:r>
                        <a:rPr sz="1000"/>
                        <a:t>The instrument used to collect the data is identified</a:t>
                      </a:r>
                      <a:r>
                        <a:rPr sz="1000" b="1">
                          <a:solidFill>
                            <a:srgbClr val="2E7D32"/>
                          </a:solidFill>
                        </a:rPr>
                        <a:t> in the metadata</a:t>
                      </a:r>
                      <a:r>
                        <a:rPr sz="1000"/>
                        <a:t>.</a:t>
                      </a:r>
                    </a:p>
                  </a:txBody>
                  <a:tcPr>
                    <a:solidFill>
                      <a:srgbClr val="F2F2F2"/>
                    </a:solidFill>
                  </a:tcPr>
                </a:tc>
                <a:tc>
                  <a:txBody>
                    <a:bodyPr/>
                    <a:lstStyle/>
                    <a:p>
                      <a:r>
                        <a:rPr sz="1000"/>
                        <a:t>The instrument used to collect the data is identified in the metadata</a:t>
                      </a:r>
                      <a:r>
                        <a:rPr sz="1000" strike="sngStrike">
                          <a:solidFill>
                            <a:srgbClr val="B00000"/>
                          </a:solidFill>
                        </a:rPr>
                        <a:t>.</a:t>
                      </a:r>
                      <a:r>
                        <a:rPr sz="1000" b="1">
                          <a:solidFill>
                            <a:srgbClr val="2E7D32"/>
                          </a:solidFill>
                        </a:rPr>
                        <a:t>:</a:t>
                      </a:r>
                    </a:p>
                    <a:p/>
                    <a:p>
                      <a:r>
                        <a:rPr sz="1000" b="1">
                          <a:solidFill>
                            <a:srgbClr val="2E7D32"/>
                          </a:solidFill>
                        </a:rPr>
                        <a:t>- Satellite name</a:t>
                      </a:r>
                    </a:p>
                    <a:p>
                      <a:r>
                        <a:rPr sz="1000" b="1">
                          <a:solidFill>
                            <a:srgbClr val="2E7D32"/>
                          </a:solidFill>
                        </a:rPr>
                        <a:t>- Instrument name</a:t>
                      </a:r>
                    </a:p>
                  </a:txBody>
                  <a:tcPr>
                    <a:solidFill>
                      <a:srgbClr val="F2F2F2"/>
                    </a:solidFill>
                  </a:tcPr>
                </a:tc>
              </a:tr>
              <a:tr h="91440">
                <a:tc>
                  <a:txBody>
                    <a:bodyPr/>
                    <a:lstStyle/>
                    <a:p>
                      <a:r>
                        <a:rPr sz="1000" b="1"/>
                        <a:t>CB, GSLC, INSAR, NRB, ORB, POL</a:t>
                      </a:r>
                    </a:p>
                  </a:txBody>
                  <a:tcPr>
                    <a:solidFill>
                      <a:srgbClr val="FFFFFF"/>
                    </a:solidFill>
                  </a:tcPr>
                </a:tc>
                <a:tc>
                  <a:txBody>
                    <a:bodyPr/>
                    <a:lstStyle/>
                    <a:p>
                      <a:r>
                        <a:rPr sz="1000"/>
                        <a:t>The instrument used to collect the data is identified</a:t>
                      </a:r>
                      <a:r>
                        <a:rPr sz="1000" strike="sngStrike">
                          <a:solidFill>
                            <a:srgbClr val="B00000"/>
                          </a:solidFill>
                        </a:rPr>
                        <a:t>.</a:t>
                      </a:r>
                      <a:r>
                        <a:rPr sz="1000" b="1">
                          <a:solidFill>
                            <a:srgbClr val="2E7D32"/>
                          </a:solidFill>
                        </a:rPr>
                        <a:t> in the metadata:</a:t>
                      </a:r>
                    </a:p>
                    <a:p/>
                    <a:p>
                      <a:r>
                        <a:rPr sz="1000" b="1">
                          <a:solidFill>
                            <a:srgbClr val="2E7D32"/>
                          </a:solidFill>
                        </a:rPr>
                        <a:t>- Satellite name</a:t>
                      </a:r>
                    </a:p>
                    <a:p>
                      <a:r>
                        <a:rPr sz="1000" b="1">
                          <a:solidFill>
                            <a:srgbClr val="2E7D32"/>
                          </a:solidFill>
                        </a:rPr>
                        <a:t>- Instrument name</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3767328"/>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 ST</a:t>
                      </a:r>
                    </a:p>
                    <a:p>
                      <a:r>
                        <a:rPr sz="1000" i="1">
                          <a:solidFill>
                            <a:srgbClr val="808080"/>
                          </a:solidFill>
                        </a:rPr>
                        <a:t>(baseline)</a:t>
                      </a:r>
                    </a:p>
                  </a:txBody>
                  <a:tcPr>
                    <a:solidFill>
                      <a:srgbClr val="FFFFFF"/>
                    </a:solidFill>
                  </a:tcPr>
                </a:tc>
                <a:tc>
                  <a:txBody>
                    <a:bodyPr/>
                    <a:lstStyle/>
                    <a:p>
                      <a:r>
                        <a:rPr sz="1000"/>
                        <a:t>As threshold, with references to the relevant “CEOS Missions, Instruments, and Measurements Database” record ([database.eohandbook.com](https://database.eohandbook.com)).</a:t>
                      </a:r>
                    </a:p>
                  </a:txBody>
                  <a:tcPr>
                    <a:solidFill>
                      <a:srgbClr val="FFFFFF"/>
                    </a:solidFill>
                  </a:tcPr>
                </a:tc>
                <a:tc>
                  <a:txBody>
                    <a:bodyPr/>
                    <a:lstStyle/>
                    <a:p>
                      <a:r>
                        <a:rPr sz="1000"/>
                        <a:t>As threshold, with references to the relevant </a:t>
                      </a:r>
                      <a:r>
                        <a:rPr sz="1000" strike="sngStrike">
                          <a:solidFill>
                            <a:srgbClr val="B00000"/>
                          </a:solidFill>
                        </a:rPr>
                        <a:t>“</a:t>
                      </a:r>
                      <a:r>
                        <a:rPr sz="1000"/>
                        <a:t>CEOS Missions, Instruments, and Measurements </a:t>
                      </a:r>
                      <a:r>
                        <a:rPr sz="1000" strike="sngStrike">
                          <a:solidFill>
                            <a:srgbClr val="B00000"/>
                          </a:solidFill>
                        </a:rPr>
                        <a:t>Database” record ([database.eohandbook.com](https://database.eohandbook.com)</a:t>
                      </a:r>
                      <a:r>
                        <a:rPr sz="1000" b="1">
                          <a:solidFill>
                            <a:srgbClr val="2E7D32"/>
                          </a:solidFill>
                        </a:rPr>
                        <a:t>(MIM) database record (https://ceos.org/mim-database</a:t>
                      </a:r>
                      <a:r>
                        <a:rPr sz="1000"/>
                        <a:t>).</a:t>
                      </a:r>
                    </a:p>
                  </a:txBody>
                  <a:tcPr>
                    <a:solidFill>
                      <a:srgbClr val="FFFFFF"/>
                    </a:solidFill>
                  </a:tcPr>
                </a:tc>
              </a:tr>
              <a:tr h="91440">
                <a:tc>
                  <a:txBody>
                    <a:bodyPr/>
                    <a:lstStyle/>
                    <a:p>
                      <a:r>
                        <a:rPr sz="1000" b="1"/>
                        <a:t>NLSR, SR</a:t>
                      </a:r>
                    </a:p>
                  </a:txBody>
                  <a:tcPr>
                    <a:solidFill>
                      <a:srgbClr val="F2F2F2"/>
                    </a:solidFill>
                  </a:tcPr>
                </a:tc>
                <a:tc>
                  <a:txBody>
                    <a:bodyPr/>
                    <a:lstStyle/>
                    <a:p>
                      <a:r>
                        <a:rPr sz="1000"/>
                        <a:t>As threshold,</a:t>
                      </a:r>
                      <a:r>
                        <a:rPr sz="1000" b="1">
                          <a:solidFill>
                            <a:srgbClr val="2E7D32"/>
                          </a:solidFill>
                        </a:rPr>
                        <a:t> but information should be available in the metadata as a single DOI landing page</a:t>
                      </a:r>
                      <a:r>
                        <a:rPr sz="1000"/>
                        <a:t> with references to the relevant </a:t>
                      </a:r>
                      <a:r>
                        <a:rPr sz="1000" strike="sngStrike">
                          <a:solidFill>
                            <a:srgbClr val="B00000"/>
                          </a:solidFill>
                        </a:rPr>
                        <a:t>“</a:t>
                      </a:r>
                      <a:r>
                        <a:rPr sz="1000"/>
                        <a:t>CEOS Missions, Instruments, and Measurements Database</a:t>
                      </a:r>
                      <a:r>
                        <a:rPr sz="1000" strike="sngStrike">
                          <a:solidFill>
                            <a:srgbClr val="B00000"/>
                          </a:solidFill>
                        </a:rPr>
                        <a:t>” record ([database.eohandbook.com](https://database.eohandbook.com)).</a:t>
                      </a:r>
                      <a:r>
                        <a:rPr sz="1000" b="1">
                          <a:solidFill>
                            <a:srgbClr val="2E7D32"/>
                          </a:solidFill>
                        </a:rPr>
                        <a:t> record.</a:t>
                      </a:r>
                    </a:p>
                  </a:txBody>
                  <a:tcPr>
                    <a:solidFill>
                      <a:srgbClr val="F2F2F2"/>
                    </a:solidFill>
                  </a:tcPr>
                </a:tc>
                <a:tc>
                  <a:txBody>
                    <a:bodyPr/>
                    <a:lstStyle/>
                    <a:p>
                      <a:r>
                        <a:rPr sz="1000"/>
                        <a:t>As threshold,</a:t>
                      </a:r>
                      <a:r>
                        <a:rPr sz="1000" strike="sngStrike">
                          <a:solidFill>
                            <a:srgbClr val="B00000"/>
                          </a:solidFill>
                        </a:rPr>
                        <a:t> but information should be available in the metadata as a single DOI landing page</a:t>
                      </a:r>
                      <a:r>
                        <a:rPr sz="1000"/>
                        <a:t> with references to the relevant CEOS Missions, Instruments, and Measurements </a:t>
                      </a:r>
                      <a:r>
                        <a:rPr sz="1000" strike="sngStrike">
                          <a:solidFill>
                            <a:srgbClr val="B00000"/>
                          </a:solidFill>
                        </a:rPr>
                        <a:t>D</a:t>
                      </a:r>
                      <a:r>
                        <a:rPr sz="1000" b="1">
                          <a:solidFill>
                            <a:srgbClr val="2E7D32"/>
                          </a:solidFill>
                        </a:rPr>
                        <a:t>(MIM) d</a:t>
                      </a:r>
                      <a:r>
                        <a:rPr sz="1000"/>
                        <a:t>atabase record</a:t>
                      </a:r>
                      <a:r>
                        <a:rPr sz="1000" strike="sngStrike">
                          <a:solidFill>
                            <a:srgbClr val="B00000"/>
                          </a:solidFill>
                        </a:rPr>
                        <a:t>.</a:t>
                      </a:r>
                      <a:r>
                        <a:rPr sz="1000" b="1">
                          <a:solidFill>
                            <a:srgbClr val="2E7D32"/>
                          </a:solidFill>
                        </a:rPr>
                        <a:t> (https://ceos.org/mim-database).</a:t>
                      </a:r>
                    </a:p>
                  </a:txBody>
                  <a:tcPr>
                    <a:solidFill>
                      <a:srgbClr val="F2F2F2"/>
                    </a:solidFill>
                  </a:tcPr>
                </a:tc>
              </a:tr>
              <a:tr h="91440">
                <a:tc>
                  <a:txBody>
                    <a:bodyPr/>
                    <a:lstStyle/>
                    <a:p>
                      <a:r>
                        <a:rPr sz="1000" b="1"/>
                        <a:t>CB, GSLC, INSAR, NRB, ORB, POL</a:t>
                      </a:r>
                    </a:p>
                  </a:txBody>
                  <a:tcPr>
                    <a:solidFill>
                      <a:srgbClr val="FFFFFF"/>
                    </a:solidFill>
                  </a:tcPr>
                </a:tc>
                <a:tc>
                  <a:txBody>
                    <a:bodyPr/>
                    <a:lstStyle/>
                    <a:p>
                      <a:r>
                        <a:rPr sz="1000">
                          <a:solidFill>
                            <a:srgbClr val="1565C0"/>
                          </a:solidFill>
                        </a:rPr>
                        <a:t>As threshold, </a:t>
                      </a:r>
                      <a:r>
                        <a:rPr sz="1000"/>
                        <a:t>but using [</a:t>
                      </a:r>
                      <a:r>
                        <a:rPr sz="1000">
                          <a:solidFill>
                            <a:srgbClr val="1565C0"/>
                          </a:solidFill>
                        </a:rPr>
                        <a:t>CEOS Mission</a:t>
                      </a:r>
                      <a:r>
                        <a:rPr sz="1000"/>
                        <a:t>-</a:t>
                      </a:r>
                      <a:r>
                        <a:rPr sz="1000">
                          <a:solidFill>
                            <a:srgbClr val="1565C0"/>
                          </a:solidFill>
                        </a:rPr>
                        <a:t>Instruments</a:t>
                      </a:r>
                      <a:r>
                        <a:rPr sz="1000"/>
                        <a:t>-</a:t>
                      </a:r>
                      <a:r>
                        <a:rPr sz="1000">
                          <a:solidFill>
                            <a:srgbClr val="1565C0"/>
                          </a:solidFill>
                        </a:rPr>
                        <a:t>Measurements </a:t>
                      </a:r>
                      <a:r>
                        <a:rPr sz="1000"/>
                        <a:t>(MIM) database</a:t>
                      </a:r>
                      <a:r>
                        <a:rPr sz="1000">
                          <a:solidFill>
                            <a:srgbClr val="1565C0"/>
                          </a:solidFill>
                        </a:rPr>
                        <a:t>](https://</a:t>
                      </a:r>
                      <a:r>
                        <a:rPr sz="1000"/>
                        <a:t>ceos.org/mim-database) as reference.</a:t>
                      </a:r>
                    </a:p>
                  </a:txBody>
                  <a:tcPr>
                    <a:solidFill>
                      <a:srgbClr val="FFFFFF"/>
                    </a:solidFill>
                  </a:tcPr>
                </a:tc>
                <a:tc>
                  <a:txBody>
                    <a:bodyPr/>
                    <a:lstStyle/>
                    <a:p>
                      <a:r>
                        <a:rPr sz="1000"/>
                        <a:t>As threshold, </a:t>
                      </a:r>
                      <a:r>
                        <a:rPr sz="1000" strike="sngStrike">
                          <a:solidFill>
                            <a:srgbClr val="B00000"/>
                          </a:solidFill>
                        </a:rPr>
                        <a:t>but using [</a:t>
                      </a:r>
                      <a:r>
                        <a:rPr sz="1000" b="1">
                          <a:solidFill>
                            <a:srgbClr val="2E7D32"/>
                          </a:solidFill>
                        </a:rPr>
                        <a:t>with references to the relevant </a:t>
                      </a:r>
                      <a:r>
                        <a:rPr sz="1000"/>
                        <a:t>CEOS Mission</a:t>
                      </a:r>
                      <a:r>
                        <a:rPr sz="1000" strike="sngStrike">
                          <a:solidFill>
                            <a:srgbClr val="B00000"/>
                          </a:solidFill>
                        </a:rPr>
                        <a:t>-</a:t>
                      </a:r>
                      <a:r>
                        <a:rPr sz="1000" b="1">
                          <a:solidFill>
                            <a:srgbClr val="2E7D32"/>
                          </a:solidFill>
                        </a:rPr>
                        <a:t>s, </a:t>
                      </a:r>
                      <a:r>
                        <a:rPr sz="1000"/>
                        <a:t>Instruments</a:t>
                      </a:r>
                      <a:r>
                        <a:rPr sz="1000" strike="sngStrike">
                          <a:solidFill>
                            <a:srgbClr val="B00000"/>
                          </a:solidFill>
                        </a:rPr>
                        <a:t>-</a:t>
                      </a:r>
                      <a:r>
                        <a:rPr sz="1000" b="1">
                          <a:solidFill>
                            <a:srgbClr val="2E7D32"/>
                          </a:solidFill>
                        </a:rPr>
                        <a:t>, and </a:t>
                      </a:r>
                      <a:r>
                        <a:rPr sz="1000"/>
                        <a:t>Measurements (MIM) database</a:t>
                      </a:r>
                      <a:r>
                        <a:rPr sz="1000" strike="sngStrike">
                          <a:solidFill>
                            <a:srgbClr val="B00000"/>
                          </a:solidFill>
                        </a:rPr>
                        <a:t>]</a:t>
                      </a:r>
                      <a:r>
                        <a:rPr sz="1000" b="1">
                          <a:solidFill>
                            <a:srgbClr val="2E7D32"/>
                          </a:solidFill>
                        </a:rPr>
                        <a:t> record </a:t>
                      </a:r>
                      <a:r>
                        <a:rPr sz="1000"/>
                        <a:t>(https://ceos.org/mim-database)</a:t>
                      </a:r>
                      <a:r>
                        <a:rPr sz="1000" strike="sngStrike">
                          <a:solidFill>
                            <a:srgbClr val="B00000"/>
                          </a:solidFill>
                        </a:rPr>
                        <a:t> as reference</a:t>
                      </a:r>
                      <a:r>
                        <a:rPr sz="1000"/>
                        <a:t>.</a:t>
                      </a:r>
                    </a:p>
                  </a:txBody>
                  <a:tcPr>
                    <a:solidFill>
                      <a:srgbClr val="FFFFFF"/>
                    </a:solidFill>
                  </a:tcPr>
                </a:tc>
              </a:tr>
            </a:tbl>
          </a:graphicData>
        </a:graphic>
      </p:graphicFrame>
      <p:sp>
        <p:nvSpPr>
          <p:cNvPr id="5" name="TextBox 4"/>
          <p:cNvSpPr txBox="1"/>
          <p:nvPr/>
        </p:nvSpPr>
        <p:spPr>
          <a:xfrm>
            <a:off x="457200" y="5905195"/>
            <a:ext cx="11277295" cy="950976"/>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a:p>
            <a:r>
              <a:rPr sz="1200" i="1"/>
              <a:t/>
            </a:r>
          </a:p>
          <a:p>
            <a:r>
              <a:rPr sz="1200" i="1"/>
              <a:t>The MIM database URL (ceos.org/mim-database) supersedes the old database.eohandbook.com link used by AR.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Instrument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Instrument</a:t>
            </a:r>
          </a:p>
          <a:p>
            <a:r>
              <a:rPr sz="1100">
                <a:latin typeface="Consolas"/>
              </a:rPr>
              <a:t>requirements:</a:t>
            </a:r>
          </a:p>
          <a:p>
            <a:r>
              <a:rPr sz="1100">
                <a:latin typeface="Consolas"/>
              </a:rPr>
              <a:t>  threshold:</a:t>
            </a:r>
          </a:p>
          <a:p>
            <a:r>
              <a:rPr sz="1100">
                <a:latin typeface="Consolas"/>
              </a:rPr>
              <a:t>    description: |-</a:t>
            </a:r>
          </a:p>
          <a:p>
            <a:r>
              <a:rPr sz="1100">
                <a:latin typeface="Consolas"/>
              </a:rPr>
              <a:t>      The instrument used to collect the data is identified in the metadata:</a:t>
            </a:r>
          </a:p>
          <a:p>
            <a:r>
              <a:rPr sz="1100">
                <a:latin typeface="Consolas"/>
              </a:rPr>
              <a:t>      </a:t>
            </a:r>
          </a:p>
          <a:p>
            <a:r>
              <a:rPr sz="1100">
                <a:latin typeface="Consolas"/>
              </a:rPr>
              <a:t>      - Satellite name</a:t>
            </a:r>
          </a:p>
          <a:p>
            <a:r>
              <a:rPr sz="1100">
                <a:latin typeface="Consolas"/>
              </a:rPr>
              <a:t>      - Instrument name</a:t>
            </a:r>
          </a:p>
          <a:p>
            <a:r>
              <a:rPr sz="1100">
                <a:latin typeface="Consolas"/>
              </a:rPr>
              <a:t>  goal:</a:t>
            </a:r>
          </a:p>
          <a:p>
            <a:r>
              <a:rPr sz="1100">
                <a:latin typeface="Consolas"/>
              </a:rPr>
              <a:t>    description: As threshold, with references to the relevant CEOS Missions, Instruments, and Measurements (MIM) database record (https://ceos.org/mim-database).</a:t>
            </a:r>
          </a:p>
          <a:p>
            <a:r>
              <a:rPr sz="1100">
                <a:latin typeface="Consolas"/>
              </a:rPr>
              <a:t>    optional: true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 Machine Readability</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 NLSR, SR, ST</a:t>
                      </a:r>
                    </a:p>
                    <a:p>
                      <a:r>
                        <a:rPr sz="1000" i="1">
                          <a:solidFill>
                            <a:srgbClr val="808080"/>
                          </a:solidFill>
                        </a:rPr>
                        <a:t>(baseline)</a:t>
                      </a:r>
                    </a:p>
                  </a:txBody>
                  <a:tcPr>
                    <a:solidFill>
                      <a:srgbClr val="FFFFFF"/>
                    </a:solidFill>
                  </a:tcPr>
                </a:tc>
                <a:tc>
                  <a:txBody>
                    <a:bodyPr/>
                    <a:lstStyle/>
                    <a:p>
                      <a:r>
                        <a:rPr sz="1000"/>
                        <a:t>Metadata is provided in a structure that enables a computer algorithm to be used to consistently and automatically identify and extract each component part for further use.</a:t>
                      </a:r>
                    </a:p>
                  </a:txBody>
                  <a:tcPr>
                    <a:solidFill>
                      <a:srgbClr val="FFFFFF"/>
                    </a:solidFill>
                  </a:tcPr>
                </a:tc>
                <a:tc>
                  <a:txBody>
                    <a:bodyPr/>
                    <a:lstStyle/>
                    <a:p>
                      <a:r>
                        <a:rPr sz="1000"/>
                        <a:t>Metadata is provided in a structure that enables a computer algorithm to be used to consistently and automatically identify and extract each component</a:t>
                      </a:r>
                      <a:r>
                        <a:rPr sz="1000" strike="sngStrike">
                          <a:solidFill>
                            <a:srgbClr val="B00000"/>
                          </a:solidFill>
                        </a:rPr>
                        <a:t> part</a:t>
                      </a:r>
                      <a:r>
                        <a:rPr sz="1000" b="1">
                          <a:solidFill>
                            <a:srgbClr val="2E7D32"/>
                          </a:solidFill>
                        </a:rPr>
                        <a:t>/variable</a:t>
                      </a:r>
                      <a:r>
                        <a:rPr sz="1000"/>
                        <a:t> for further use.</a:t>
                      </a:r>
                    </a:p>
                  </a:txBody>
                  <a:tcPr>
                    <a:solidFill>
                      <a:srgbClr val="FFFFFF"/>
                    </a:solidFill>
                  </a:tcPr>
                </a:tc>
              </a:tr>
              <a:tr h="91440">
                <a:tc>
                  <a:txBody>
                    <a:bodyPr/>
                    <a:lstStyle/>
                    <a:p>
                      <a:r>
                        <a:rPr sz="1000" b="1"/>
                        <a:t>CB, GSLC, INSAR, NRB, ORB, POL</a:t>
                      </a:r>
                    </a:p>
                  </a:txBody>
                  <a:tcPr>
                    <a:solidFill>
                      <a:srgbClr val="F2F2F2"/>
                    </a:solidFill>
                  </a:tcPr>
                </a:tc>
                <a:tc>
                  <a:txBody>
                    <a:bodyPr/>
                    <a:lstStyle/>
                    <a:p>
                      <a:r>
                        <a:rPr sz="1000"/>
                        <a:t>Metadata is provided in a structure that enables a computer algorithm to be used to consistently and automatically identify and extract each component</a:t>
                      </a:r>
                      <a:r>
                        <a:rPr sz="1000" strike="sngStrike">
                          <a:solidFill>
                            <a:srgbClr val="B00000"/>
                          </a:solidFill>
                        </a:rPr>
                        <a:t> part</a:t>
                      </a:r>
                      <a:r>
                        <a:rPr sz="1000" b="1">
                          <a:solidFill>
                            <a:srgbClr val="2E7D32"/>
                          </a:solidFill>
                        </a:rPr>
                        <a:t>/variable</a:t>
                      </a:r>
                      <a:r>
                        <a:rPr sz="1000"/>
                        <a:t> for further use.</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AR, NLSR, SR</a:t>
                      </a:r>
                    </a:p>
                  </a:txBody>
                  <a:tcPr>
                    <a:solidFill>
                      <a:srgbClr val="FFFFFF"/>
                    </a:solidFill>
                  </a:tcPr>
                </a:tc>
                <a:tc>
                  <a:txBody>
                    <a:bodyPr/>
                    <a:lstStyle/>
                    <a:p>
                      <a:r>
                        <a:rPr sz="1000"/>
                        <a:t>Metadata is provided in a structure that enables a computer algorithm to be used to consistently and automatically identify and extract each component part for further use.</a:t>
                      </a:r>
                    </a:p>
                  </a:txBody>
                  <a:tcPr>
                    <a:solidFill>
                      <a:srgbClr val="FFFFFF"/>
                    </a:solidFill>
                  </a:tcPr>
                </a:tc>
                <a:tc>
                  <a:txBody>
                    <a:bodyPr/>
                    <a:lstStyle/>
                    <a:p>
                      <a:r>
                        <a:rPr sz="1000"/>
                        <a:t>Metadata is provided in a structure that enables a computer algorithm to be used to consistently and automatically identify and extract each component</a:t>
                      </a:r>
                      <a:r>
                        <a:rPr sz="1000" strike="sngStrike">
                          <a:solidFill>
                            <a:srgbClr val="B00000"/>
                          </a:solidFill>
                        </a:rPr>
                        <a:t> part</a:t>
                      </a:r>
                      <a:r>
                        <a:rPr sz="1000" b="1">
                          <a:solidFill>
                            <a:srgbClr val="2E7D32"/>
                          </a:solidFill>
                        </a:rPr>
                        <a:t>/variable</a:t>
                      </a:r>
                      <a:r>
                        <a:rPr sz="1000"/>
                        <a:t> for further use.</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3300984"/>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 NLSR, SR, ST</a:t>
                      </a:r>
                    </a:p>
                    <a:p>
                      <a:r>
                        <a:rPr sz="1000" i="1">
                          <a:solidFill>
                            <a:srgbClr val="808080"/>
                          </a:solidFill>
                        </a:rPr>
                        <a:t>(baseline)</a:t>
                      </a:r>
                    </a:p>
                  </a:txBody>
                  <a:tcPr>
                    <a:solidFill>
                      <a:srgbClr val="FFFFFF"/>
                    </a:solidFill>
                  </a:tcPr>
                </a:tc>
                <a:tc>
                  <a:txBody>
                    <a:bodyPr/>
                    <a:lstStyle/>
                    <a:p>
                      <a:r>
                        <a:rPr sz="1000"/>
                        <a:t>As threshold, but metadata should be provided in a community endorsed standard that facilitates machine-readability, such as ISO 19115-2.</a:t>
                      </a:r>
                    </a:p>
                    <a:p>
                      <a:r>
                        <a:rPr sz="1000" i="1">
                          <a:solidFill>
                            <a:srgbClr val="808080"/>
                          </a:solidFill>
                        </a:rPr>
                        <a:t>(optional)</a:t>
                      </a:r>
                    </a:p>
                  </a:txBody>
                  <a:tcPr>
                    <a:solidFill>
                      <a:srgbClr val="FFFFFF"/>
                    </a:solidFill>
                  </a:tcPr>
                </a:tc>
                <a:tc>
                  <a:txBody>
                    <a:bodyPr/>
                    <a:lstStyle/>
                    <a:p>
                      <a:r>
                        <a:rPr sz="1000"/>
                        <a:t>As threshold, but metadata should be provided in a community endorsed standard that facilitates machine-readability, such as ISO 19115-2</a:t>
                      </a:r>
                      <a:r>
                        <a:rPr sz="1000" b="1">
                          <a:solidFill>
                            <a:srgbClr val="2E7D32"/>
                          </a:solidFill>
                        </a:rPr>
                        <a:t>, the Climate and Forecast (CF) convention, or the Attribute Convention for Data Discovery (ACDD)</a:t>
                      </a:r>
                      <a:r>
                        <a:rPr sz="1000"/>
                        <a:t>.</a:t>
                      </a:r>
                    </a:p>
                  </a:txBody>
                  <a:tcPr>
                    <a:solidFill>
                      <a:srgbClr val="FFFFFF"/>
                    </a:solidFill>
                  </a:tcPr>
                </a:tc>
              </a:tr>
              <a:tr h="91440">
                <a:tc>
                  <a:txBody>
                    <a:bodyPr/>
                    <a:lstStyle/>
                    <a:p>
                      <a:r>
                        <a:rPr sz="1000" b="1"/>
                        <a:t>CB, GSLC, INSAR, NRB, ORB, POL</a:t>
                      </a:r>
                    </a:p>
                  </a:txBody>
                  <a:tcPr>
                    <a:solidFill>
                      <a:srgbClr val="F2F2F2"/>
                    </a:solidFill>
                  </a:tcPr>
                </a:tc>
                <a:tc>
                  <a:txBody>
                    <a:bodyPr/>
                    <a:lstStyle/>
                    <a:p>
                      <a:r>
                        <a:rPr sz="1000"/>
                        <a:t>As threshold, but metadata </a:t>
                      </a:r>
                      <a:r>
                        <a:rPr sz="1000" strike="sngStrike">
                          <a:solidFill>
                            <a:srgbClr val="B00000"/>
                          </a:solidFill>
                        </a:rPr>
                        <a:t>should be provided</a:t>
                      </a:r>
                      <a:r>
                        <a:rPr sz="1000" b="1">
                          <a:solidFill>
                            <a:srgbClr val="2E7D32"/>
                          </a:solidFill>
                        </a:rPr>
                        <a:t>is formatted in accordance with the latest corresponding CEOS-ARD SAR Metadata Specifications, or</a:t>
                      </a:r>
                      <a:r>
                        <a:rPr sz="1000"/>
                        <a:t> in a community endorsed standard that facilitates machine-readability, such as ISO 19115-2</a:t>
                      </a:r>
                      <a:r>
                        <a:rPr sz="1000" b="1">
                          <a:solidFill>
                            <a:srgbClr val="2E7D32"/>
                          </a:solidFill>
                        </a:rPr>
                        <a:t>, Climate and Forecast (CF) convention and the Attribute Convention for Data Discovery (ACDD), etc</a:t>
                      </a:r>
                      <a:r>
                        <a:rPr sz="1000"/>
                        <a:t>.</a:t>
                      </a:r>
                    </a:p>
                    <a:p>
                      <a:r>
                        <a:rPr sz="1000" i="1">
                          <a:solidFill>
                            <a:srgbClr val="808080"/>
                          </a:solidFill>
                        </a:rPr>
                        <a:t>(optional)</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AR, NLSR, SR</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r>
                        <a:rPr sz="1000" b="1">
                          <a:solidFill>
                            <a:srgbClr val="2E7D32"/>
                          </a:solidFill>
                        </a:rPr>
                        <a:t>As threshold, but metadata should be provided in a community endorsed standard that facilitates machine-readability, such as ISO 19115-2, the Climate and Forecast (CF) convention, or the Attribute Convention for Data Discovery (ACDD).</a:t>
                      </a:r>
                    </a:p>
                  </a:txBody>
                  <a:tcPr>
                    <a:solidFill>
                      <a:srgbClr val="FFFFFF"/>
                    </a:solidFill>
                  </a:tcPr>
                </a:tc>
              </a:tr>
            </a:tbl>
          </a:graphicData>
        </a:graphic>
      </p:graphicFrame>
      <p:sp>
        <p:nvSpPr>
          <p:cNvPr id="5" name="TextBox 4"/>
          <p:cNvSpPr txBox="1"/>
          <p:nvPr/>
        </p:nvSpPr>
        <p:spPr>
          <a:xfrm>
            <a:off x="457200" y="6051316"/>
            <a:ext cx="11277295" cy="566928"/>
          </a:xfrm>
          <a:prstGeom prst="rect">
            <a:avLst/>
          </a:prstGeom>
          <a:noFill/>
        </p:spPr>
        <p:txBody>
          <a:bodyPr wrap="square" lIns="0" rIns="0" tIns="0" bIns="0">
            <a:spAutoFit/>
          </a:bodyPr>
          <a:lstStyle/>
          <a:p>
            <a:r>
              <a:rPr sz="1200" b="1"/>
              <a:t>Internal notes: </a:t>
            </a:r>
            <a:r>
              <a:rPr sz="1200" i="1"/>
              <a:t>The reference to the CEOS-ARD SAR Metadata Specifications remains specific to the SAR variant. The per-pixel variant has no goal — consider adding the same goal (optional) there for consistency.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 Machine Readability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Metadata Machine Readability</a:t>
            </a:r>
          </a:p>
          <a:p>
            <a:r>
              <a:rPr sz="1100">
                <a:latin typeface="Consolas"/>
              </a:rPr>
              <a:t>requirements:</a:t>
            </a:r>
          </a:p>
          <a:p>
            <a:r>
              <a:rPr sz="1100">
                <a:latin typeface="Consolas"/>
              </a:rPr>
              <a:t>  threshold:</a:t>
            </a:r>
          </a:p>
          <a:p>
            <a:r>
              <a:rPr sz="1100">
                <a:latin typeface="Consolas"/>
              </a:rPr>
              <a:t>    description: Metadata is provided in a structure that enables a computer algorithm to be used to consistently and automatically identify and extract each component/variable for further use.</a:t>
            </a:r>
          </a:p>
          <a:p>
            <a:r>
              <a:rPr sz="1100">
                <a:latin typeface="Consolas"/>
              </a:rPr>
              <a:t>  goal:</a:t>
            </a:r>
          </a:p>
          <a:p>
            <a:r>
              <a:rPr sz="1100">
                <a:latin typeface="Consolas"/>
              </a:rPr>
              <a:t>    description: As threshold, but metadata should be provided in a community endorsed standard that facilitates machine-readability, such as ISO 19115-2, the Climate and Forecast (CF) convention, or the Attribute Convention for Data Discovery (ACDD).  # TODO: not aligned yet, see comparison</a:t>
            </a:r>
          </a:p>
          <a:p>
            <a:r>
              <a:rPr sz="1100">
                <a:latin typeface="Consolas"/>
              </a:rPr>
              <a:t>    optional: true  # TODO: not aligned yet, see comparison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Map Projection</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 ST</a:t>
                      </a:r>
                    </a:p>
                    <a:p>
                      <a:r>
                        <a:rPr sz="1000" i="1">
                          <a:solidFill>
                            <a:srgbClr val="808080"/>
                          </a:solidFill>
                        </a:rPr>
                        <a:t>(baseline)</a:t>
                      </a:r>
                    </a:p>
                  </a:txBody>
                  <a:tcPr>
                    <a:solidFill>
                      <a:srgbClr val="FFFFFF"/>
                    </a:solidFill>
                  </a:tcPr>
                </a:tc>
                <a:tc>
                  <a:txBody>
                    <a:bodyPr/>
                    <a:lstStyle/>
                    <a:p>
                      <a:r>
                        <a:rPr sz="1000"/>
                        <a:t>The map projection that has been used and any relevant parameters required in relation to use of data in that map projection is detailed.</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a:t>
                      </a:r>
                    </a:p>
                  </a:txBody>
                  <a:tcPr>
                    <a:solidFill>
                      <a:srgbClr val="F2F2F2"/>
                    </a:solidFill>
                  </a:tcPr>
                </a:tc>
                <a:tc>
                  <a:txBody>
                    <a:bodyPr/>
                    <a:lstStyle/>
                    <a:p>
                      <a:r>
                        <a:rPr sz="1000"/>
                        <a:t>T</a:t>
                      </a:r>
                      <a:r>
                        <a:rPr sz="1000" b="1">
                          <a:solidFill>
                            <a:srgbClr val="2E7D32"/>
                          </a:solidFill>
                        </a:rPr>
                        <a:t>he metadata lists t</a:t>
                      </a:r>
                      <a:r>
                        <a:rPr sz="1000"/>
                        <a:t>he map projection that has been used and any relevant parameters required in relation to use of data in that map projection</a:t>
                      </a:r>
                      <a:r>
                        <a:rPr sz="1000" strike="sngStrike">
                          <a:solidFill>
                            <a:srgbClr val="B00000"/>
                          </a:solidFill>
                        </a:rPr>
                        <a:t> is detailed</a:t>
                      </a:r>
                      <a:r>
                        <a:rPr sz="1000"/>
                        <a:t>.</a:t>
                      </a:r>
                    </a:p>
                  </a:txBody>
                  <a:tcPr>
                    <a:solidFill>
                      <a:srgbClr val="F2F2F2"/>
                    </a:solidFill>
                  </a:tcPr>
                </a:tc>
                <a:tc>
                  <a:txBody>
                    <a:bodyPr/>
                    <a:lstStyle/>
                    <a:p>
                      <a:r>
                        <a:rPr sz="1000"/>
                        <a:t>T</a:t>
                      </a:r>
                      <a:r>
                        <a:rPr sz="1000" strike="sngStrike">
                          <a:solidFill>
                            <a:srgbClr val="B00000"/>
                          </a:solidFill>
                        </a:rPr>
                        <a:t>he metadata lists t</a:t>
                      </a:r>
                      <a:r>
                        <a:rPr sz="1000"/>
                        <a:t>he map projection that has been used and any relevant parameters required in relation to use of data in that map projection</a:t>
                      </a:r>
                      <a:r>
                        <a:rPr sz="1000" b="1">
                          <a:solidFill>
                            <a:srgbClr val="2E7D32"/>
                          </a:solidFill>
                        </a:rPr>
                        <a:t> is detailed</a:t>
                      </a:r>
                      <a:r>
                        <a:rPr sz="1000"/>
                        <a:t>.</a:t>
                      </a:r>
                    </a:p>
                  </a:txBody>
                  <a:tcPr>
                    <a:solidFill>
                      <a:srgbClr val="F2F2F2"/>
                    </a:solidFill>
                  </a:tcPr>
                </a:tc>
              </a:tr>
              <a:tr h="91440">
                <a:tc>
                  <a:txBody>
                    <a:bodyPr/>
                    <a:lstStyle/>
                    <a:p>
                      <a:r>
                        <a:rPr sz="1000" b="1"/>
                        <a:t>SR</a:t>
                      </a:r>
                    </a:p>
                  </a:txBody>
                  <a:tcPr>
                    <a:solidFill>
                      <a:srgbClr val="FFFFFF"/>
                    </a:solidFill>
                  </a:tcPr>
                </a:tc>
                <a:tc>
                  <a:txBody>
                    <a:bodyPr/>
                    <a:lstStyle/>
                    <a:p>
                      <a:r>
                        <a:rPr sz="1000"/>
                        <a:t>T</a:t>
                      </a:r>
                      <a:r>
                        <a:rPr sz="1000" b="1">
                          <a:solidFill>
                            <a:srgbClr val="2E7D32"/>
                          </a:solidFill>
                        </a:rPr>
                        <a:t>he metadata lists t</a:t>
                      </a:r>
                      <a:r>
                        <a:rPr sz="1000"/>
                        <a:t>he map projection that has been used</a:t>
                      </a:r>
                      <a:r>
                        <a:rPr sz="1000" b="1">
                          <a:solidFill>
                            <a:srgbClr val="2E7D32"/>
                          </a:solidFill>
                        </a:rPr>
                        <a:t> (or geographical coordinates, if applicable)</a:t>
                      </a:r>
                      <a:r>
                        <a:rPr sz="1000"/>
                        <a:t> and any relevant parameters required in relation to use of data in that map projection</a:t>
                      </a:r>
                      <a:r>
                        <a:rPr sz="1000" strike="sngStrike">
                          <a:solidFill>
                            <a:srgbClr val="B00000"/>
                          </a:solidFill>
                        </a:rPr>
                        <a:t> is detailed</a:t>
                      </a:r>
                      <a:r>
                        <a:rPr sz="1000"/>
                        <a:t>.</a:t>
                      </a:r>
                    </a:p>
                  </a:txBody>
                  <a:tcPr>
                    <a:solidFill>
                      <a:srgbClr val="FFFFFF"/>
                    </a:solidFill>
                  </a:tcPr>
                </a:tc>
                <a:tc>
                  <a:txBody>
                    <a:bodyPr/>
                    <a:lstStyle/>
                    <a:p>
                      <a:r>
                        <a:rPr sz="1000"/>
                        <a:t>T</a:t>
                      </a:r>
                      <a:r>
                        <a:rPr sz="1000" strike="sngStrike">
                          <a:solidFill>
                            <a:srgbClr val="B00000"/>
                          </a:solidFill>
                        </a:rPr>
                        <a:t>he metadata lists t</a:t>
                      </a:r>
                      <a:r>
                        <a:rPr sz="1000"/>
                        <a:t>he map projection that has been used</a:t>
                      </a:r>
                      <a:r>
                        <a:rPr sz="1000" strike="sngStrike">
                          <a:solidFill>
                            <a:srgbClr val="B00000"/>
                          </a:solidFill>
                        </a:rPr>
                        <a:t> (or geographical coordinates, if applicable)</a:t>
                      </a:r>
                      <a:r>
                        <a:rPr sz="1000"/>
                        <a:t> and any relevant parameters required in relation to use of data in that map projection</a:t>
                      </a:r>
                      <a:r>
                        <a:rPr sz="1000" b="1">
                          <a:solidFill>
                            <a:srgbClr val="2E7D32"/>
                          </a:solidFill>
                        </a:rPr>
                        <a:t> is detailed</a:t>
                      </a:r>
                      <a:r>
                        <a:rPr sz="1000"/>
                        <a:t>.</a:t>
                      </a:r>
                    </a:p>
                  </a:txBody>
                  <a:tcPr>
                    <a:solidFill>
                      <a:srgbClr val="FFFFFF"/>
                    </a:solidFill>
                  </a:tcPr>
                </a:tc>
              </a:tr>
            </a:tbl>
          </a:graphicData>
        </a:graphic>
      </p:graphicFrame>
      <p:sp>
        <p:nvSpPr>
          <p:cNvPr id="4" name="TextBox 3"/>
          <p:cNvSpPr txBox="1"/>
          <p:nvPr/>
        </p:nvSpPr>
        <p:spPr>
          <a:xfrm>
            <a:off x="457200" y="3017154"/>
            <a:ext cx="11277295" cy="758952"/>
          </a:xfrm>
          <a:prstGeom prst="rect">
            <a:avLst/>
          </a:prstGeom>
          <a:noFill/>
        </p:spPr>
        <p:txBody>
          <a:bodyPr wrap="square" lIns="0" rIns="0" tIns="0" bIns="0">
            <a:spAutoFit/>
          </a:bodyPr>
          <a:lstStyle/>
          <a:p>
            <a:r>
              <a:rPr sz="1200" b="1"/>
              <a:t>Internal notes: </a:t>
            </a:r>
            <a:r>
              <a:rPr sz="1200" i="1"/>
              <a:t>Resolved: ST now uses the AR requirement directly (map-projection-st was removed). ST: it is unclear why the threshold became "Not Required" (introduced somewhere between v3.0 and v4.0); the ST team intends to adopt the AR PFS approach.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Map Projection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Map Projection</a:t>
            </a:r>
          </a:p>
          <a:p>
            <a:r>
              <a:rPr sz="1100">
                <a:latin typeface="Consolas"/>
              </a:rPr>
              <a:t>requirements:</a:t>
            </a:r>
          </a:p>
          <a:p>
            <a:r>
              <a:rPr sz="1100">
                <a:latin typeface="Consolas"/>
              </a:rPr>
              <a:t>  threshold:</a:t>
            </a:r>
          </a:p>
          <a:p>
            <a:r>
              <a:rPr sz="1100">
                <a:latin typeface="Consolas"/>
              </a:rPr>
              <a:t>    description: The map projection that has been used and any relevant parameters required in relation to use of data in that map projection is detailed.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Processing Chain Provenance</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73152">
                <a:tc>
                  <a:txBody>
                    <a:bodyPr/>
                    <a:lstStyle/>
                    <a:p>
                      <a:r>
                        <a:rPr sz="1000" b="1"/>
                        <a:t>AR</a:t>
                      </a:r>
                    </a:p>
                  </a:txBody>
                  <a:tcPr>
                    <a:solidFill>
                      <a:srgbClr val="FFFFFF"/>
                    </a:solidFill>
                  </a:tcPr>
                </a:tc>
                <a:tc>
                  <a:txBody>
                    <a:bodyPr/>
                    <a:lstStyle/>
                    <a:p>
                      <a:r>
                        <a:rPr sz="1000"/>
                        <a:t>(not set)</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NLSR</a:t>
                      </a:r>
                    </a:p>
                  </a:txBody>
                  <a:tcPr>
                    <a:solidFill>
                      <a:srgbClr val="F2F2F2"/>
                    </a:solidFill>
                  </a:tcPr>
                </a:tc>
                <a:tc>
                  <a:txBody>
                    <a:bodyPr/>
                    <a:lstStyle/>
                    <a:p>
                      <a:r>
                        <a:rPr sz="1000"/>
                        <a:t>(not set)</a:t>
                      </a:r>
                    </a:p>
                  </a:txBody>
                  <a:tcPr>
                    <a:solidFill>
                      <a:srgbClr val="F2F2F2"/>
                    </a:solidFill>
                  </a:tcPr>
                </a:tc>
                <a:tc>
                  <a:txBody>
                    <a:bodyPr/>
                    <a:lstStyle/>
                    <a:p>
                      <a:r>
                        <a:rPr sz="1000" i="1">
                          <a:solidFill>
                            <a:srgbClr val="808080"/>
                          </a:solidFill>
                        </a:rPr>
                        <a:t>(keep as is)</a:t>
                      </a:r>
                    </a:p>
                  </a:txBody>
                  <a:tcPr>
                    <a:solidFill>
                      <a:srgbClr val="F2F2F2"/>
                    </a:solidFill>
                  </a:tcPr>
                </a:tc>
              </a:tr>
              <a:tr h="73152">
                <a:tc>
                  <a:txBody>
                    <a:bodyPr/>
                    <a:lstStyle/>
                    <a:p>
                      <a:r>
                        <a:rPr sz="1000" b="1"/>
                        <a:t>SR</a:t>
                      </a:r>
                    </a:p>
                  </a:txBody>
                  <a:tcPr>
                    <a:solidFill>
                      <a:srgbClr val="FFFFFF"/>
                    </a:solidFill>
                  </a:tcPr>
                </a:tc>
                <a:tc>
                  <a:txBody>
                    <a:bodyPr/>
                    <a:lstStyle/>
                    <a:p>
                      <a:r>
                        <a:rPr sz="1000"/>
                        <a:t>(not set)</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ST</a:t>
                      </a:r>
                    </a:p>
                    <a:p>
                      <a:r>
                        <a:rPr sz="1000" i="1">
                          <a:solidFill>
                            <a:srgbClr val="808080"/>
                          </a:solidFill>
                        </a:rPr>
                        <a:t>(baseline)</a:t>
                      </a:r>
                    </a:p>
                  </a:txBody>
                  <a:tcPr>
                    <a:solidFill>
                      <a:srgbClr val="F2F2F2"/>
                    </a:solidFill>
                  </a:tcPr>
                </a:tc>
                <a:tc>
                  <a:txBody>
                    <a:bodyPr/>
                    <a:lstStyle/>
                    <a:p>
                      <a:r>
                        <a:rPr sz="1000"/>
                        <a:t>The provider attaches to each delivered dataset (delivery unit) a code which allows them to reconstruct the exact processing environment (software versions, calibration files, parameter settings) in which this particular output was produced.</a:t>
                      </a:r>
                    </a:p>
                  </a:txBody>
                  <a:tcPr>
                    <a:solidFill>
                      <a:srgbClr val="F2F2F2"/>
                    </a:solidFill>
                  </a:tcPr>
                </a:tc>
                <a:tc>
                  <a:txBody>
                    <a:bodyPr/>
                    <a:lstStyle/>
                    <a:p>
                      <a:r>
                        <a:rPr sz="1000" i="1">
                          <a:solidFill>
                            <a:srgbClr val="808080"/>
                          </a:solidFill>
                        </a:rPr>
                        <a:t>(keep as is)</a:t>
                      </a:r>
                    </a:p>
                  </a:txBody>
                  <a:tcPr>
                    <a:solidFill>
                      <a:srgbClr val="F2F2F2"/>
                    </a:solidFill>
                  </a:tcPr>
                </a:tc>
              </a:tr>
            </a:tbl>
          </a:graphicData>
        </a:graphic>
      </p:graphicFrame>
      <p:graphicFrame>
        <p:nvGraphicFramePr>
          <p:cNvPr id="4" name="Table 3"/>
          <p:cNvGraphicFramePr>
            <a:graphicFrameLocks noGrp="1"/>
          </p:cNvGraphicFramePr>
          <p:nvPr/>
        </p:nvGraphicFramePr>
        <p:xfrm>
          <a:off x="457200" y="3099816"/>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73152">
                <a:tc>
                  <a:txBody>
                    <a:bodyPr/>
                    <a:lstStyle/>
                    <a:p>
                      <a:r>
                        <a:rPr sz="1000" b="1"/>
                        <a:t>AR</a:t>
                      </a:r>
                    </a:p>
                    <a:p>
                      <a:r>
                        <a:rPr sz="1000" i="1">
                          <a:solidFill>
                            <a:srgbClr val="808080"/>
                          </a:solidFill>
                        </a:rPr>
                        <a:t>(baseline)</a:t>
                      </a:r>
                    </a:p>
                  </a:txBody>
                  <a:tcPr>
                    <a:solidFill>
                      <a:srgbClr val="FFFFFF"/>
                    </a:solidFill>
                  </a:tcPr>
                </a:tc>
                <a:tc>
                  <a:txBody>
                    <a:bodyPr/>
                    <a:lstStyle/>
                    <a:p>
                      <a:r>
                        <a:rPr sz="1000"/>
                        <a:t>Information on processing chain provenance should be available with a detailed description of the processing steps used to generate the product, including the versions of software used, giving full transparency to the users.</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NLSR</a:t>
                      </a:r>
                    </a:p>
                  </a:txBody>
                  <a:tcPr>
                    <a:solidFill>
                      <a:srgbClr val="F2F2F2"/>
                    </a:solidFill>
                  </a:tcPr>
                </a:tc>
                <a:tc>
                  <a:txBody>
                    <a:bodyPr/>
                    <a:lstStyle/>
                    <a:p>
                      <a:r>
                        <a:rPr sz="1000"/>
                        <a:t>Information on processing chain provenance should be available </a:t>
                      </a:r>
                      <a:r>
                        <a:rPr sz="1000" strike="sngStrike">
                          <a:solidFill>
                            <a:srgbClr val="B00000"/>
                          </a:solidFill>
                        </a:rPr>
                        <a:t>with a</a:t>
                      </a:r>
                      <a:r>
                        <a:rPr sz="1000" b="1">
                          <a:solidFill>
                            <a:srgbClr val="2E7D32"/>
                          </a:solidFill>
                        </a:rPr>
                        <a:t>in the metadata as a single DOI landing page containing</a:t>
                      </a:r>
                      <a:r>
                        <a:rPr sz="1000"/>
                        <a:t> detailed description of the processing steps used to generate the product, </a:t>
                      </a:r>
                      <a:r>
                        <a:rPr sz="1000" strike="sngStrike">
                          <a:solidFill>
                            <a:srgbClr val="B00000"/>
                          </a:solidFill>
                        </a:rPr>
                        <a:t>including</a:t>
                      </a:r>
                      <a:r>
                        <a:rPr sz="1000" b="1">
                          <a:solidFill>
                            <a:srgbClr val="2E7D32"/>
                          </a:solidFill>
                        </a:rPr>
                        <a:t>the organization that performed the processing, and</a:t>
                      </a:r>
                      <a:r>
                        <a:rPr sz="1000"/>
                        <a:t> the versions of software used, giving full transparency to the users.</a:t>
                      </a:r>
                    </a:p>
                  </a:txBody>
                  <a:tcPr>
                    <a:solidFill>
                      <a:srgbClr val="F2F2F2"/>
                    </a:solidFill>
                  </a:tcPr>
                </a:tc>
                <a:tc>
                  <a:txBody>
                    <a:bodyPr/>
                    <a:lstStyle/>
                    <a:p>
                      <a:r>
                        <a:rPr sz="1000"/>
                        <a:t>Information on processing chain provenance should be available </a:t>
                      </a:r>
                      <a:r>
                        <a:rPr sz="1000" strike="sngStrike">
                          <a:solidFill>
                            <a:srgbClr val="B00000"/>
                          </a:solidFill>
                        </a:rPr>
                        <a:t>in the metadata as a single DOI landing page containing</a:t>
                      </a:r>
                      <a:r>
                        <a:rPr sz="1000" b="1">
                          <a:solidFill>
                            <a:srgbClr val="2E7D32"/>
                          </a:solidFill>
                        </a:rPr>
                        <a:t>with a</a:t>
                      </a:r>
                      <a:r>
                        <a:rPr sz="1000"/>
                        <a:t> detailed description of the processing steps used to generate the product, </a:t>
                      </a:r>
                      <a:r>
                        <a:rPr sz="1000" strike="sngStrike">
                          <a:solidFill>
                            <a:srgbClr val="B00000"/>
                          </a:solidFill>
                        </a:rPr>
                        <a:t>the organization that performed the processing, and</a:t>
                      </a:r>
                      <a:r>
                        <a:rPr sz="1000" b="1">
                          <a:solidFill>
                            <a:srgbClr val="2E7D32"/>
                          </a:solidFill>
                        </a:rPr>
                        <a:t>including</a:t>
                      </a:r>
                      <a:r>
                        <a:rPr sz="1000"/>
                        <a:t> the versions of software used, giving full transparency to the users.</a:t>
                      </a:r>
                    </a:p>
                  </a:txBody>
                  <a:tcPr>
                    <a:solidFill>
                      <a:srgbClr val="F2F2F2"/>
                    </a:solidFill>
                  </a:tcPr>
                </a:tc>
              </a:tr>
              <a:tr h="73152">
                <a:tc>
                  <a:txBody>
                    <a:bodyPr/>
                    <a:lstStyle/>
                    <a:p>
                      <a:r>
                        <a:rPr sz="1000" b="1"/>
                        <a:t>SR</a:t>
                      </a:r>
                    </a:p>
                  </a:txBody>
                  <a:tcPr>
                    <a:solidFill>
                      <a:srgbClr val="FFFFFF"/>
                    </a:solidFill>
                  </a:tcPr>
                </a:tc>
                <a:tc>
                  <a:txBody>
                    <a:bodyPr/>
                    <a:lstStyle/>
                    <a:p>
                      <a:r>
                        <a:rPr sz="1000"/>
                        <a:t>Information on processing chain provenance should be available </a:t>
                      </a:r>
                      <a:r>
                        <a:rPr sz="1000" strike="sngStrike">
                          <a:solidFill>
                            <a:srgbClr val="B00000"/>
                          </a:solidFill>
                        </a:rPr>
                        <a:t>with a</a:t>
                      </a:r>
                      <a:r>
                        <a:rPr sz="1000" b="1">
                          <a:solidFill>
                            <a:srgbClr val="2E7D32"/>
                          </a:solidFill>
                        </a:rPr>
                        <a:t>in the metadata as a single DOI landing page containing</a:t>
                      </a:r>
                      <a:r>
                        <a:rPr sz="1000"/>
                        <a:t> detailed description of the processing steps used to generate the product, including the versions of software used, giving full transparency to the users.</a:t>
                      </a:r>
                    </a:p>
                  </a:txBody>
                  <a:tcPr>
                    <a:solidFill>
                      <a:srgbClr val="FFFFFF"/>
                    </a:solidFill>
                  </a:tcPr>
                </a:tc>
                <a:tc>
                  <a:txBody>
                    <a:bodyPr/>
                    <a:lstStyle/>
                    <a:p>
                      <a:r>
                        <a:rPr sz="1000"/>
                        <a:t>Information on processing chain provenance should be available </a:t>
                      </a:r>
                      <a:r>
                        <a:rPr sz="1000" strike="sngStrike">
                          <a:solidFill>
                            <a:srgbClr val="B00000"/>
                          </a:solidFill>
                        </a:rPr>
                        <a:t>in the metadata as a single DOI landing page containing</a:t>
                      </a:r>
                      <a:r>
                        <a:rPr sz="1000" b="1">
                          <a:solidFill>
                            <a:srgbClr val="2E7D32"/>
                          </a:solidFill>
                        </a:rPr>
                        <a:t>with a</a:t>
                      </a:r>
                      <a:r>
                        <a:rPr sz="1000"/>
                        <a:t> detailed description of the processing steps used to generate the product, including the versions of software used, giving full transparency to the users.</a:t>
                      </a:r>
                    </a:p>
                  </a:txBody>
                  <a:tcPr>
                    <a:solidFill>
                      <a:srgbClr val="FFFFFF"/>
                    </a:solidFill>
                  </a:tcPr>
                </a:tc>
              </a:tr>
              <a:tr h="73152">
                <a:tc>
                  <a:txBody>
                    <a:bodyPr/>
                    <a:lstStyle/>
                    <a:p>
                      <a:r>
                        <a:rPr sz="1000" b="1"/>
                        <a:t>ST</a:t>
                      </a:r>
                    </a:p>
                  </a:txBody>
                  <a:tcPr>
                    <a:solidFill>
                      <a:srgbClr val="F2F2F2"/>
                    </a:solidFill>
                  </a:tcPr>
                </a:tc>
                <a:tc>
                  <a:txBody>
                    <a:bodyPr/>
                    <a:lstStyle/>
                    <a:p>
                      <a:r>
                        <a:rPr sz="1000"/>
                        <a:t>As threshold, but the provider is also in grade to reproduce the exact same output</a:t>
                      </a:r>
                      <a:r>
                        <a:rPr sz="1000"/>
                        <a:t>.</a:t>
                      </a:r>
                    </a:p>
                  </a:txBody>
                  <a:tcPr>
                    <a:solidFill>
                      <a:srgbClr val="F2F2F2"/>
                    </a:solidFill>
                  </a:tcPr>
                </a:tc>
                <a:tc>
                  <a:txBody>
                    <a:bodyPr/>
                    <a:lstStyle/>
                    <a:p>
                      <a:r>
                        <a:rPr sz="1000" i="1">
                          <a:solidFill>
                            <a:srgbClr val="808080"/>
                          </a:solidFill>
                        </a:rPr>
                        <a:t>(keep as is)</a:t>
                      </a:r>
                    </a:p>
                  </a:txBody>
                  <a:tcPr>
                    <a:solidFill>
                      <a:srgbClr val="F2F2F2"/>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Processing Chain Provenance (cont.)</a:t>
            </a:r>
          </a:p>
        </p:txBody>
      </p:sp>
      <p:sp>
        <p:nvSpPr>
          <p:cNvPr id="3" name="TextBox 2"/>
          <p:cNvSpPr txBox="1"/>
          <p:nvPr/>
        </p:nvSpPr>
        <p:spPr>
          <a:xfrm>
            <a:off x="457200" y="1005840"/>
            <a:ext cx="11277295" cy="1143000"/>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a:p>
            <a:r>
              <a:rPr sz="1200" i="1"/>
              <a:t/>
            </a:r>
          </a:p>
          <a:p>
            <a:r>
              <a:rPr sz="1200" i="1"/>
              <a:t>ST 6.0 upgraded provenance to a threshold requirement (reconstructable processing environment) with a reproducibility goal (issue #58). Still under discussion in the ST team; current thinking remains to introduce the threshold requirement — consider adopting this approach for the other optical PFS.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Processing Chain Provenance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Processing Chain Provenance</a:t>
            </a:r>
          </a:p>
          <a:p>
            <a:r>
              <a:rPr sz="1100">
                <a:latin typeface="Consolas"/>
              </a:rPr>
              <a:t>requirements:</a:t>
            </a:r>
          </a:p>
          <a:p>
            <a:r>
              <a:rPr sz="1100">
                <a:latin typeface="Consolas"/>
              </a:rPr>
              <a:t>  goal:</a:t>
            </a:r>
          </a:p>
          <a:p>
            <a:r>
              <a:rPr sz="1100">
                <a:latin typeface="Consolas"/>
              </a:rPr>
              <a:t>    description: Information on processing chain provenance should be available with a detailed description of the processing steps used to generate the product, including the versions of software used, giving full transparency to the users.  # TODO: not aligned yet, see comparison</a:t>
            </a:r>
          </a:p>
          <a:p>
            <a:r>
              <a:rPr sz="1100">
                <a:latin typeface="Consolas"/>
              </a:rPr>
              <a:t>    optional: true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Radiometric Accuracy</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121920">
                <a:tc>
                  <a:txBody>
                    <a:bodyPr/>
                    <a:lstStyle/>
                    <a:p>
                      <a:r>
                        <a:rPr sz="1000" b="1"/>
                        <a:t>CB, GSLC, INSAR, NRB, ORB, POL</a:t>
                      </a:r>
                    </a:p>
                    <a:p>
                      <a:r>
                        <a:rPr sz="1000" i="1">
                          <a:solidFill>
                            <a:srgbClr val="808080"/>
                          </a:solidFill>
                        </a:rPr>
                        <a:t>(baseline)</a:t>
                      </a:r>
                    </a:p>
                  </a:txBody>
                  <a:tcPr>
                    <a:solidFill>
                      <a:srgbClr val="FFFFFF"/>
                    </a:solidFill>
                  </a:tcPr>
                </a:tc>
                <a:tc>
                  <a:txBody>
                    <a:bodyPr/>
                    <a:lstStyle/>
                    <a:p>
                      <a:r>
                        <a:rPr sz="1000"/>
                        <a:t>Uncertainty (e.g., bounds on $\gamma^0$ or $\sigma^0$) information is provided as document referenced as URL or DOI.</a:t>
                      </a:r>
                    </a:p>
                    <a:p>
                      <a:r>
                        <a:rPr sz="1000"/>
                        <a:t>SI traceability is achieved. </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NLSR, SR</a:t>
                      </a:r>
                    </a:p>
                  </a:txBody>
                  <a:tcPr>
                    <a:solidFill>
                      <a:srgbClr val="F2F2F2"/>
                    </a:solidFill>
                  </a:tcPr>
                </a:tc>
                <a:tc>
                  <a:txBody>
                    <a:bodyPr/>
                    <a:lstStyle/>
                    <a:p>
                      <a:r>
                        <a:rPr sz="1000"/>
                        <a:t>The metadata includes metrics describing the assessed absolute radiometric u</a:t>
                      </a:r>
                      <a:r>
                        <a:rPr sz="1000">
                          <a:solidFill>
                            <a:srgbClr val="1565C0"/>
                          </a:solidFill>
                        </a:rPr>
                        <a:t>ncertainty </a:t>
                      </a:r>
                      <a:r>
                        <a:rPr sz="1000"/>
                        <a:t>of the version of the data or product, expressed as absolute radiometric uncertainty relative to appropriate, known</a:t>
                      </a:r>
                      <a:r>
                        <a:rPr sz="1000">
                          <a:solidFill>
                            <a:srgbClr val="1565C0"/>
                          </a:solidFill>
                        </a:rPr>
                        <a:t> reference</a:t>
                      </a:r>
                      <a:r>
                        <a:rPr sz="1000"/>
                        <a:t> sites and standards (for example, pseudo-invariant calibration sites, rigorously collected field spectra, Rayleigh, DCC, etc.)</a:t>
                      </a:r>
                    </a:p>
                  </a:txBody>
                  <a:tcPr>
                    <a:solidFill>
                      <a:srgbClr val="F2F2F2"/>
                    </a:solidFill>
                  </a:tcPr>
                </a:tc>
                <a:tc>
                  <a:txBody>
                    <a:bodyPr/>
                    <a:lstStyle/>
                    <a:p>
                      <a:r>
                        <a:rPr sz="1000" i="1">
                          <a:solidFill>
                            <a:srgbClr val="808080"/>
                          </a:solidFill>
                        </a:rPr>
                        <a:t>(keep as is)</a:t>
                      </a:r>
                    </a:p>
                  </a:txBody>
                  <a:tcPr>
                    <a:solidFill>
                      <a:srgbClr val="F2F2F2"/>
                    </a:solidFill>
                  </a:tcPr>
                </a:tc>
              </a:tr>
            </a:tbl>
          </a:graphicData>
        </a:graphic>
      </p:graphicFrame>
      <p:graphicFrame>
        <p:nvGraphicFramePr>
          <p:cNvPr id="4" name="Table 3"/>
          <p:cNvGraphicFramePr>
            <a:graphicFrameLocks noGrp="1"/>
          </p:cNvGraphicFramePr>
          <p:nvPr/>
        </p:nvGraphicFramePr>
        <p:xfrm>
          <a:off x="457200" y="3191256"/>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121920">
                <a:tc>
                  <a:txBody>
                    <a:bodyPr/>
                    <a:lstStyle/>
                    <a:p>
                      <a:r>
                        <a:rPr sz="1000" b="1"/>
                        <a:t>CB, GSLC, INSAR, NRB, ORB, POL</a:t>
                      </a:r>
                    </a:p>
                  </a:txBody>
                  <a:tcPr>
                    <a:solidFill>
                      <a:srgbClr val="FFFFFF"/>
                    </a:solidFill>
                  </a:tcPr>
                </a:tc>
                <a:tc>
                  <a:txBody>
                    <a:bodyPr/>
                    <a:lstStyle/>
                    <a:p>
                      <a:r>
                        <a:rPr sz="1000"/>
                        <a:t>(no notes)</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NLSR, SR</a:t>
                      </a:r>
                    </a:p>
                    <a:p>
                      <a:r>
                        <a:rPr sz="1000" i="1">
                          <a:solidFill>
                            <a:srgbClr val="808080"/>
                          </a:solidFill>
                        </a:rPr>
                        <a:t>(baseline)</a:t>
                      </a:r>
                    </a:p>
                  </a:txBody>
                  <a:tcPr>
                    <a:solidFill>
                      <a:srgbClr val="F2F2F2"/>
                    </a:solidFill>
                  </a:tcPr>
                </a:tc>
                <a:tc>
                  <a:txBody>
                    <a:bodyPr/>
                    <a:lstStyle/>
                    <a:p>
                      <a:r>
                        <a:rPr sz="1000"/>
                        <a:t>Information on radiometric accuracy should be available in the metadata as a single DOI landing page.</a:t>
                      </a:r>
                    </a:p>
                  </a:txBody>
                  <a:tcPr>
                    <a:solidFill>
                      <a:srgbClr val="F2F2F2"/>
                    </a:solidFill>
                  </a:tcPr>
                </a:tc>
                <a:tc>
                  <a:txBody>
                    <a:bodyPr/>
                    <a:lstStyle/>
                    <a:p>
                      <a:r>
                        <a:rPr sz="1000" b="1">
                          <a:solidFill>
                            <a:srgbClr val="B00000"/>
                          </a:solidFill>
                        </a:rPr>
                        <a:t>DELETE NOTE</a:t>
                      </a:r>
                    </a:p>
                  </a:txBody>
                  <a:tcPr>
                    <a:solidFill>
                      <a:srgbClr val="F2F2F2"/>
                    </a:solidFill>
                  </a:tcPr>
                </a:tc>
              </a:tr>
            </a:tbl>
          </a:graphicData>
        </a:graphic>
      </p:graphicFrame>
      <p:sp>
        <p:nvSpPr>
          <p:cNvPr id="5" name="TextBox 4"/>
          <p:cNvSpPr txBox="1"/>
          <p:nvPr/>
        </p:nvSpPr>
        <p:spPr>
          <a:xfrm>
            <a:off x="457200" y="4529937"/>
            <a:ext cx="11277295" cy="758952"/>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a:p>
            <a:r>
              <a:rPr sz="1200" i="1"/>
              <a:t/>
            </a:r>
          </a:p>
          <a:p>
            <a:r>
              <a:rPr sz="1200" i="1"/>
              <a:t>ST dropped its radiometric accuracy requirement in ST 6.0 (the file was removed).</a:t>
            </a:r>
          </a:p>
        </p:txBody>
      </p:sp>
      <p:sp>
        <p:nvSpPr>
          <p:cNvPr id="6" name="TextBox 5"/>
          <p:cNvSpPr txBox="1"/>
          <p:nvPr/>
        </p:nvSpPr>
        <p:spPr>
          <a:xfrm>
            <a:off x="457200" y="5117860"/>
            <a:ext cx="11277295" cy="374904"/>
          </a:xfrm>
          <a:prstGeom prst="rect">
            <a:avLst/>
          </a:prstGeom>
          <a:noFill/>
        </p:spPr>
        <p:txBody>
          <a:bodyPr wrap="square" lIns="0" rIns="0" tIns="0" bIns="0">
            <a:spAutoFit/>
          </a:bodyPr>
          <a:lstStyle/>
          <a:p>
            <a:r>
              <a:rPr sz="1200" b="1"/>
              <a:t>Remarks from the building blocks: </a:t>
            </a:r>
            <a:r>
              <a:rPr sz="1200" i="1"/>
              <a:t>radiometric-accuracy-sr.yaml: todo: What does DCC stand for? Add to glossary.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Radiometric Accuracy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Radiometric Accuracy</a:t>
            </a:r>
          </a:p>
          <a:p>
            <a:r>
              <a:rPr sz="1100">
                <a:latin typeface="Consolas"/>
              </a:rPr>
              <a:t>requirements:</a:t>
            </a:r>
          </a:p>
          <a:p>
            <a:r>
              <a:rPr sz="1100">
                <a:latin typeface="Consolas"/>
              </a:rPr>
              <a:t>  goal:</a:t>
            </a:r>
          </a:p>
          <a:p>
            <a:r>
              <a:rPr sz="1100">
                <a:latin typeface="Consolas"/>
              </a:rPr>
              <a:t>    description: |-  # TODO: not aligned yet, see comparison</a:t>
            </a:r>
          </a:p>
          <a:p>
            <a:r>
              <a:rPr sz="1100">
                <a:latin typeface="Consolas"/>
              </a:rPr>
              <a:t>      Uncertainty (e.g., bounds on $\gamma^0$ or $\sigma^0$) information is provided as document referenced as URL or DOI.</a:t>
            </a:r>
          </a:p>
          <a:p>
            <a:r>
              <a:rPr sz="1100">
                <a:latin typeface="Consolas"/>
              </a:rPr>
              <a:t>      SI traceability is achieved. </a:t>
            </a:r>
          </a:p>
          <a:p>
            <a:r>
              <a:rPr sz="1100">
                <a:latin typeface="Consolas"/>
              </a:rPr>
              <a:t>    optional: true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Sensor Calibration</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 ST</a:t>
                      </a:r>
                    </a:p>
                    <a:p>
                      <a:r>
                        <a:rPr sz="1000" i="1">
                          <a:solidFill>
                            <a:srgbClr val="808080"/>
                          </a:solidFill>
                        </a:rPr>
                        <a:t>(baseline)</a:t>
                      </a:r>
                    </a:p>
                  </a:txBody>
                  <a:tcPr>
                    <a:solidFill>
                      <a:srgbClr val="FFFFFF"/>
                    </a:solidFill>
                  </a:tcPr>
                </a:tc>
                <a:tc>
                  <a:txBody>
                    <a:bodyPr/>
                    <a:lstStyle/>
                    <a:p>
                      <a:r>
                        <a:rPr sz="1000"/>
                        <a:t>Binary description of calibrated/not calibrated only.</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 SR</a:t>
                      </a:r>
                    </a:p>
                  </a:txBody>
                  <a:tcPr>
                    <a:solidFill>
                      <a:srgbClr val="F2F2F2"/>
                    </a:solidFill>
                  </a:tcPr>
                </a:tc>
                <a:tc>
                  <a:txBody>
                    <a:bodyPr/>
                    <a:lstStyle/>
                    <a:p>
                      <a:r>
                        <a:rPr sz="1000"/>
                        <a:t>(not set)</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GSLC, INSAR, NRB, ORB, POL</a:t>
                      </a:r>
                    </a:p>
                  </a:txBody>
                  <a:tcPr>
                    <a:solidFill>
                      <a:srgbClr val="FFFFFF"/>
                    </a:solidFill>
                  </a:tcPr>
                </a:tc>
                <a:tc>
                  <a:txBody>
                    <a:bodyPr/>
                    <a:lstStyle/>
                    <a:p>
                      <a:r>
                        <a:rPr sz="1000"/>
                        <a:t>(not set)</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8346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 ST</a:t>
                      </a:r>
                    </a:p>
                    <a:p>
                      <a:r>
                        <a:rPr sz="1000" i="1">
                          <a:solidFill>
                            <a:srgbClr val="808080"/>
                          </a:solidFill>
                        </a:rPr>
                        <a:t>(baseline)</a:t>
                      </a:r>
                    </a:p>
                  </a:txBody>
                  <a:tcPr>
                    <a:solidFill>
                      <a:srgbClr val="FFFFFF"/>
                    </a:solidFill>
                  </a:tcPr>
                </a:tc>
                <a:tc>
                  <a:txBody>
                    <a:bodyPr/>
                    <a:lstStyle/>
                    <a:p>
                      <a:r>
                        <a:rPr sz="1000"/>
                        <a:t>Specification of sensor calibration parameters including history of onboard calibrations where available.</a:t>
                      </a:r>
                    </a:p>
                  </a:txBody>
                  <a:tcPr>
                    <a:solidFill>
                      <a:srgbClr val="FFFFFF"/>
                    </a:solidFill>
                  </a:tcPr>
                </a:tc>
                <a:tc>
                  <a:txBody>
                    <a:bodyPr/>
                    <a:lstStyle/>
                    <a:p>
                      <a:r>
                        <a:rPr sz="1000"/>
                        <a:t>S</a:t>
                      </a:r>
                      <a:r>
                        <a:rPr sz="1000">
                          <a:solidFill>
                            <a:srgbClr val="1565C0"/>
                          </a:solidFill>
                        </a:rPr>
                        <a:t>ensor calibration parameters </a:t>
                      </a:r>
                      <a:r>
                        <a:rPr sz="1000"/>
                        <a:t>are identified in the metadata or can be accessed using details included in the metadata.</a:t>
                      </a:r>
                    </a:p>
                    <a:p>
                      <a:r>
                        <a:rPr sz="1000"/>
                        <a:t>Ideally this would support machine-to-machine access</a:t>
                      </a:r>
                      <a:r>
                        <a:rPr sz="1000"/>
                        <a:t>.</a:t>
                      </a:r>
                    </a:p>
                  </a:txBody>
                  <a:tcPr>
                    <a:solidFill>
                      <a:srgbClr val="FFFFFF"/>
                    </a:solidFill>
                  </a:tcPr>
                </a:tc>
              </a:tr>
              <a:tr h="91440">
                <a:tc>
                  <a:txBody>
                    <a:bodyPr/>
                    <a:lstStyle/>
                    <a:p>
                      <a:r>
                        <a:rPr sz="1000" b="1"/>
                        <a:t>NLSR, SR</a:t>
                      </a:r>
                    </a:p>
                  </a:txBody>
                  <a:tcPr>
                    <a:solidFill>
                      <a:srgbClr val="F2F2F2"/>
                    </a:solidFill>
                  </a:tcPr>
                </a:tc>
                <a:tc>
                  <a:txBody>
                    <a:bodyPr/>
                    <a:lstStyle/>
                    <a:p>
                      <a:r>
                        <a:rPr sz="1000"/>
                        <a:t>S</a:t>
                      </a:r>
                      <a:r>
                        <a:rPr sz="1000">
                          <a:solidFill>
                            <a:srgbClr val="1565C0"/>
                          </a:solidFill>
                        </a:rPr>
                        <a:t>ensor calibration parameters </a:t>
                      </a:r>
                      <a:r>
                        <a:rPr sz="1000"/>
                        <a:t>are identified in the metadata or can be accessed using details included in the metadata.</a:t>
                      </a:r>
                    </a:p>
                    <a:p>
                      <a:r>
                        <a:rPr sz="1000"/>
                        <a:t>Ideally this would support machine-to-machine access</a:t>
                      </a:r>
                      <a:r>
                        <a:rPr sz="1000"/>
                        <a:t>.</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GSLC, INSAR, NRB, ORB, POL</a:t>
                      </a:r>
                    </a:p>
                  </a:txBody>
                  <a:tcPr>
                    <a:solidFill>
                      <a:srgbClr val="FFFFFF"/>
                    </a:solidFill>
                  </a:tcPr>
                </a:tc>
                <a:tc>
                  <a:txBody>
                    <a:bodyPr/>
                    <a:lstStyle/>
                    <a:p>
                      <a:r>
                        <a:rPr sz="1000"/>
                        <a:t>S</a:t>
                      </a:r>
                      <a:r>
                        <a:rPr sz="1000">
                          <a:solidFill>
                            <a:srgbClr val="1565C0"/>
                          </a:solidFill>
                        </a:rPr>
                        <a:t>ensor calibration parameters </a:t>
                      </a:r>
                      <a:r>
                        <a:rPr sz="1000"/>
                        <a:t>are identified in the metadata or can be accessed using details included in the metadata.</a:t>
                      </a:r>
                    </a:p>
                    <a:p>
                      <a:r>
                        <a:rPr sz="1000"/>
                        <a:t>Ideally this would support machine-to-machine access. </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Sensor Calibration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91440">
                <a:tc>
                  <a:txBody>
                    <a:bodyPr/>
                    <a:lstStyle/>
                    <a:p>
                      <a:r>
                        <a:rPr sz="1000" b="1"/>
                        <a:t>AR, ST</a:t>
                      </a:r>
                    </a:p>
                  </a:txBody>
                  <a:tcPr>
                    <a:solidFill>
                      <a:srgbClr val="FFFFFF"/>
                    </a:solidFill>
                  </a:tcPr>
                </a:tc>
                <a:tc>
                  <a:txBody>
                    <a:bodyPr/>
                    <a:lstStyle/>
                    <a:p>
                      <a:r>
                        <a:rPr sz="1000"/>
                        <a:t>(no notes)</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 SR</a:t>
                      </a:r>
                    </a:p>
                    <a:p>
                      <a:r>
                        <a:rPr sz="1000" i="1">
                          <a:solidFill>
                            <a:srgbClr val="808080"/>
                          </a:solidFill>
                        </a:rPr>
                        <a:t>(baseline)</a:t>
                      </a:r>
                    </a:p>
                  </a:txBody>
                  <a:tcPr>
                    <a:solidFill>
                      <a:srgbClr val="F2F2F2"/>
                    </a:solidFill>
                  </a:tcPr>
                </a:tc>
                <a:tc>
                  <a:txBody>
                    <a:bodyPr/>
                    <a:lstStyle/>
                    <a:p>
                      <a:r>
                        <a:rPr sz="1000"/>
                        <a:t>Information on sensory calibration should be available in the metadata as a single DOI landing page.</a:t>
                      </a:r>
                    </a:p>
                  </a:txBody>
                  <a:tcPr>
                    <a:solidFill>
                      <a:srgbClr val="F2F2F2"/>
                    </a:solidFill>
                  </a:tcPr>
                </a:tc>
                <a:tc>
                  <a:txBody>
                    <a:bodyPr/>
                    <a:lstStyle/>
                    <a:p>
                      <a:r>
                        <a:rPr sz="1000" b="1">
                          <a:solidFill>
                            <a:srgbClr val="B00000"/>
                          </a:solidFill>
                        </a:rPr>
                        <a:t>DELETE NOTE</a:t>
                      </a:r>
                    </a:p>
                  </a:txBody>
                  <a:tcPr>
                    <a:solidFill>
                      <a:srgbClr val="F2F2F2"/>
                    </a:solidFill>
                  </a:tcPr>
                </a:tc>
              </a:tr>
              <a:tr h="91440">
                <a:tc>
                  <a:txBody>
                    <a:bodyPr/>
                    <a:lstStyle/>
                    <a:p>
                      <a:r>
                        <a:rPr sz="1000" b="1"/>
                        <a:t>GSLC, INSAR, NRB, ORB, POL</a:t>
                      </a:r>
                    </a:p>
                  </a:txBody>
                  <a:tcPr>
                    <a:solidFill>
                      <a:srgbClr val="FFFFFF"/>
                    </a:solidFill>
                  </a:tcPr>
                </a:tc>
                <a:tc>
                  <a:txBody>
                    <a:bodyPr/>
                    <a:lstStyle/>
                    <a:p>
                      <a:r>
                        <a:rPr sz="1000"/>
                        <a:t>(no notes)</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sp>
        <p:nvSpPr>
          <p:cNvPr id="4" name="TextBox 3"/>
          <p:cNvSpPr txBox="1"/>
          <p:nvPr/>
        </p:nvSpPr>
        <p:spPr>
          <a:xfrm>
            <a:off x="457200" y="2724912"/>
            <a:ext cx="11277295" cy="950976"/>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a:p>
            <a:r>
              <a:rPr sz="1200" i="1"/>
              <a:t/>
            </a:r>
          </a:p>
          <a:p>
            <a:r>
              <a:rPr sz="1200" i="1"/>
              <a:t>Only AR defines a threshold ("Binary description of calibrated/not calibrated only.") — consider adopting it for the other PFS (cheap and useful) or removing it from AR.</a:t>
            </a:r>
          </a:p>
        </p:txBody>
      </p:sp>
      <p:sp>
        <p:nvSpPr>
          <p:cNvPr id="5" name="TextBox 4"/>
          <p:cNvSpPr txBox="1"/>
          <p:nvPr/>
        </p:nvSpPr>
        <p:spPr>
          <a:xfrm>
            <a:off x="457200" y="3601638"/>
            <a:ext cx="11277295" cy="566928"/>
          </a:xfrm>
          <a:prstGeom prst="rect">
            <a:avLst/>
          </a:prstGeom>
          <a:noFill/>
        </p:spPr>
        <p:txBody>
          <a:bodyPr wrap="square" lIns="0" rIns="0" tIns="0" bIns="0">
            <a:spAutoFit/>
          </a:bodyPr>
          <a:lstStyle/>
          <a:p>
            <a:r>
              <a:rPr sz="1200" b="1"/>
              <a:t>Remarks from the building blocks: </a:t>
            </a:r>
            <a:r>
              <a:rPr sz="1200" i="1"/>
              <a:t>sensor-calibration-optical.yaml: todo: This is exactly the same as sensor-calibration-sar.yaml except for the added note. Can we align?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Sensor Calibration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Sensor Calibration</a:t>
            </a:r>
          </a:p>
          <a:p>
            <a:r>
              <a:rPr sz="1100">
                <a:latin typeface="Consolas"/>
              </a:rPr>
              <a:t>requirements:</a:t>
            </a:r>
          </a:p>
          <a:p>
            <a:r>
              <a:rPr sz="1100">
                <a:latin typeface="Consolas"/>
              </a:rPr>
              <a:t>  goal:</a:t>
            </a:r>
          </a:p>
          <a:p>
            <a:r>
              <a:rPr sz="1100">
                <a:latin typeface="Consolas"/>
              </a:rPr>
              <a:t>    description: |-  # TODO: not aligned yet, see comparison</a:t>
            </a:r>
          </a:p>
          <a:p>
            <a:r>
              <a:rPr sz="1100">
                <a:latin typeface="Consolas"/>
              </a:rPr>
              <a:t>      Sensor calibration parameters are identified in the metadata or can be accessed using details included in the metadata.</a:t>
            </a:r>
          </a:p>
          <a:p>
            <a:r>
              <a:rPr sz="1100">
                <a:latin typeface="Consolas"/>
              </a:rPr>
              <a:t>      Ideally this would support machine-to-machine access.</a:t>
            </a:r>
          </a:p>
          <a:p>
            <a:r>
              <a:rPr sz="1100">
                <a:latin typeface="Consolas"/>
              </a:rPr>
              <a:t>    optional: true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Spectral Bands</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AR, ST</a:t>
                      </a:r>
                    </a:p>
                    <a:p>
                      <a:r>
                        <a:rPr sz="1000" i="1">
                          <a:solidFill>
                            <a:srgbClr val="808080"/>
                          </a:solidFill>
                        </a:rPr>
                        <a:t>(baseline)</a:t>
                      </a:r>
                    </a:p>
                  </a:txBody>
                  <a:tcPr>
                    <a:solidFill>
                      <a:srgbClr val="FFFFFF"/>
                    </a:solidFill>
                  </a:tcPr>
                </a:tc>
                <a:tc>
                  <a:txBody>
                    <a:bodyPr/>
                    <a:lstStyle/>
                    <a:p>
                      <a:r>
                        <a:rPr sz="1000"/>
                        <a:t>Full spectral response function is provided.</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NLSR, SR</a:t>
                      </a:r>
                    </a:p>
                  </a:txBody>
                  <a:tcPr>
                    <a:solidFill>
                      <a:srgbClr val="F2F2F2"/>
                    </a:solidFill>
                  </a:tcPr>
                </a:tc>
                <a:tc>
                  <a:txBody>
                    <a:bodyPr/>
                    <a:lstStyle/>
                    <a:p>
                      <a:r>
                        <a:rPr sz="1000"/>
                        <a:t>The central wavelength for each band for which data is included is identified in the metadata, expressed in SI units</a:t>
                      </a:r>
                      <a:r>
                        <a:rPr sz="1000"/>
                        <a:t>.</a:t>
                      </a:r>
                    </a:p>
                  </a:txBody>
                  <a:tcPr>
                    <a:solidFill>
                      <a:srgbClr val="F2F2F2"/>
                    </a:solidFill>
                  </a:tcPr>
                </a:tc>
                <a:tc>
                  <a:txBody>
                    <a:bodyPr/>
                    <a:lstStyle/>
                    <a:p>
                      <a:r>
                        <a:rPr sz="1000"/>
                        <a:t>Full spectral response function is provided</a:t>
                      </a:r>
                      <a:r>
                        <a:rPr sz="1000"/>
                        <a:t>.</a:t>
                      </a:r>
                    </a:p>
                  </a:txBody>
                  <a:tcPr>
                    <a:solidFill>
                      <a:srgbClr val="F2F2F2"/>
                    </a:solidFill>
                  </a:tcPr>
                </a:tc>
              </a:tr>
            </a:tbl>
          </a:graphicData>
        </a:graphic>
      </p:graphicFrame>
      <p:graphicFrame>
        <p:nvGraphicFramePr>
          <p:cNvPr id="4" name="Table 3"/>
          <p:cNvGraphicFramePr>
            <a:graphicFrameLocks noGrp="1"/>
          </p:cNvGraphicFramePr>
          <p:nvPr/>
        </p:nvGraphicFramePr>
        <p:xfrm>
          <a:off x="457200" y="2414016"/>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121920">
                <a:tc>
                  <a:txBody>
                    <a:bodyPr/>
                    <a:lstStyle/>
                    <a:p>
                      <a:r>
                        <a:rPr sz="1000" b="1"/>
                        <a:t>AR, ST</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NLSR, SR</a:t>
                      </a:r>
                    </a:p>
                    <a:p>
                      <a:r>
                        <a:rPr sz="1000" i="1">
                          <a:solidFill>
                            <a:srgbClr val="808080"/>
                          </a:solidFill>
                        </a:rPr>
                        <a:t>(baseline)</a:t>
                      </a:r>
                    </a:p>
                  </a:txBody>
                  <a:tcPr>
                    <a:solidFill>
                      <a:srgbClr val="F2F2F2"/>
                    </a:solidFill>
                  </a:tcPr>
                </a:tc>
                <a:tc>
                  <a:txBody>
                    <a:bodyPr/>
                    <a:lstStyle/>
                    <a:p>
                      <a:r>
                        <a:rPr sz="1000"/>
                        <a:t>As threshold, with instrument spectral response details (e.g., full spectral response function) also included or directly accessible using details in the metadata. </a:t>
                      </a:r>
                    </a:p>
                    <a:p>
                      <a:r>
                        <a:rPr sz="1000"/>
                        <a:t>Central wavelength and bandwidth at full-width half maximum value of the relative spectral response function are provided at least.</a:t>
                      </a:r>
                    </a:p>
                    <a:p>
                      <a:r>
                        <a:rPr sz="1000" i="1">
                          <a:solidFill>
                            <a:srgbClr val="808080"/>
                          </a:solidFill>
                        </a:rPr>
                        <a:t>(optional)</a:t>
                      </a:r>
                    </a:p>
                  </a:txBody>
                  <a:tcPr>
                    <a:solidFill>
                      <a:srgbClr val="F2F2F2"/>
                    </a:solidFill>
                  </a:tcPr>
                </a:tc>
                <a:tc>
                  <a:txBody>
                    <a:bodyPr/>
                    <a:lstStyle/>
                    <a:p>
                      <a:r>
                        <a:rPr sz="1000" b="1">
                          <a:solidFill>
                            <a:srgbClr val="B00000"/>
                          </a:solidFill>
                        </a:rPr>
                        <a:t>DELETE</a:t>
                      </a:r>
                    </a:p>
                  </a:txBody>
                  <a:tcPr>
                    <a:solidFill>
                      <a:srgbClr val="F2F2F2"/>
                    </a:solidFill>
                  </a:tcPr>
                </a:tc>
              </a:tr>
            </a:tbl>
          </a:graphicData>
        </a:graphic>
      </p:graphicFrame>
      <p:graphicFrame>
        <p:nvGraphicFramePr>
          <p:cNvPr id="5" name="Table 4"/>
          <p:cNvGraphicFramePr>
            <a:graphicFrameLocks noGrp="1"/>
          </p:cNvGraphicFramePr>
          <p:nvPr/>
        </p:nvGraphicFramePr>
        <p:xfrm>
          <a:off x="457200" y="4443984"/>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121920">
                <a:tc>
                  <a:txBody>
                    <a:bodyPr/>
                    <a:lstStyle/>
                    <a:p>
                      <a:r>
                        <a:rPr sz="1000" b="1"/>
                        <a:t>AR, ST</a:t>
                      </a:r>
                    </a:p>
                  </a:txBody>
                  <a:tcPr>
                    <a:solidFill>
                      <a:srgbClr val="FFFFFF"/>
                    </a:solidFill>
                  </a:tcPr>
                </a:tc>
                <a:tc>
                  <a:txBody>
                    <a:bodyPr/>
                    <a:lstStyle/>
                    <a:p>
                      <a:r>
                        <a:rPr sz="1000"/>
                        <a:t>(no notes)</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NLSR, SR</a:t>
                      </a:r>
                    </a:p>
                    <a:p>
                      <a:r>
                        <a:rPr sz="1000" i="1">
                          <a:solidFill>
                            <a:srgbClr val="808080"/>
                          </a:solidFill>
                        </a:rPr>
                        <a:t>(baseline)</a:t>
                      </a:r>
                    </a:p>
                  </a:txBody>
                  <a:tcPr>
                    <a:solidFill>
                      <a:srgbClr val="F2F2F2"/>
                    </a:solidFill>
                  </a:tcPr>
                </a:tc>
                <a:tc>
                  <a:txBody>
                    <a:bodyPr/>
                    <a:lstStyle/>
                    <a:p>
                      <a:r>
                        <a:rPr sz="1000"/>
                        <a:t>Information on spectral bands should be available in the metadata as a single DOI landing page.</a:t>
                      </a:r>
                    </a:p>
                  </a:txBody>
                  <a:tcPr>
                    <a:solidFill>
                      <a:srgbClr val="F2F2F2"/>
                    </a:solidFill>
                  </a:tcPr>
                </a:tc>
                <a:tc>
                  <a:txBody>
                    <a:bodyPr/>
                    <a:lstStyle/>
                    <a:p>
                      <a:r>
                        <a:rPr sz="1000" i="1">
                          <a:solidFill>
                            <a:srgbClr val="808080"/>
                          </a:solidFill>
                        </a:rPr>
                        <a:t>(keep as is)</a:t>
                      </a:r>
                    </a:p>
                  </a:txBody>
                  <a:tcPr>
                    <a:solidFill>
                      <a:srgbClr val="F2F2F2"/>
                    </a:solidFill>
                  </a:tcPr>
                </a:tc>
              </a:tr>
            </a:tbl>
          </a:graphicData>
        </a:graphic>
      </p:graphicFrame>
      <p:sp>
        <p:nvSpPr>
          <p:cNvPr id="6" name="TextBox 5"/>
          <p:cNvSpPr txBox="1"/>
          <p:nvPr/>
        </p:nvSpPr>
        <p:spPr>
          <a:xfrm>
            <a:off x="457200" y="5415259"/>
            <a:ext cx="11277295" cy="758952"/>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a:p>
            <a:r>
              <a:rPr sz="1200" i="1"/>
              <a:t/>
            </a:r>
          </a:p>
          <a:p>
            <a:r>
              <a:rPr sz="1200" i="1"/>
              <a:t>ST has proposed to adopt the AR PFS requirement.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Spectral Bands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Spectral Bands</a:t>
            </a:r>
          </a:p>
          <a:p>
            <a:r>
              <a:rPr sz="1100">
                <a:latin typeface="Consolas"/>
              </a:rPr>
              <a:t>requirements:</a:t>
            </a:r>
          </a:p>
          <a:p>
            <a:r>
              <a:rPr sz="1100">
                <a:latin typeface="Consolas"/>
              </a:rPr>
              <a:t>  threshold:</a:t>
            </a:r>
          </a:p>
          <a:p>
            <a:r>
              <a:rPr sz="1100">
                <a:latin typeface="Consolas"/>
              </a:rPr>
              <a:t>    description: Full spectral response function is provided.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metadata/time-*</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Title</a:t>
                      </a:r>
                    </a:p>
                  </a:txBody>
                  <a:tcPr>
                    <a:solidFill>
                      <a:srgbClr val="000000"/>
                    </a:solidFill>
                  </a:tcPr>
                </a:tc>
                <a:tc>
                  <a:txBody>
                    <a:bodyPr/>
                    <a:lstStyle/>
                    <a:p>
                      <a:r>
                        <a:rPr b="1" sz="1100">
                          <a:solidFill>
                            <a:srgbClr val="FFFFFF"/>
                          </a:solidFill>
                        </a:rPr>
                        <a:t>Proposed Title</a:t>
                      </a:r>
                    </a:p>
                  </a:txBody>
                  <a:tcPr>
                    <a:solidFill>
                      <a:srgbClr val="000000"/>
                    </a:solidFill>
                  </a:tcPr>
                </a:tc>
              </a:tr>
              <a:tr h="73152">
                <a:tc>
                  <a:txBody>
                    <a:bodyPr/>
                    <a:lstStyle/>
                    <a:p>
                      <a:r>
                        <a:rPr sz="1000" b="1"/>
                        <a:t>AR, ST</a:t>
                      </a:r>
                    </a:p>
                    <a:p>
                      <a:r>
                        <a:rPr sz="1000" i="1">
                          <a:solidFill>
                            <a:srgbClr val="808080"/>
                          </a:solidFill>
                        </a:rPr>
                        <a:t>(baseline)</a:t>
                      </a:r>
                    </a:p>
                  </a:txBody>
                  <a:tcPr>
                    <a:solidFill>
                      <a:srgbClr val="FFFFFF"/>
                    </a:solidFill>
                  </a:tcPr>
                </a:tc>
                <a:tc>
                  <a:txBody>
                    <a:bodyPr/>
                    <a:lstStyle/>
                    <a:p>
                      <a:r>
                        <a:rPr sz="1000"/>
                        <a:t>Data Collection Time</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CB, GSLC, INSAR, NRB, ORB, POL</a:t>
                      </a:r>
                    </a:p>
                  </a:txBody>
                  <a:tcPr>
                    <a:solidFill>
                      <a:srgbClr val="F2F2F2"/>
                    </a:solidFill>
                  </a:tcPr>
                </a:tc>
                <a:tc>
                  <a:txBody>
                    <a:bodyPr/>
                    <a:lstStyle/>
                    <a:p>
                      <a:r>
                        <a:rPr sz="1000"/>
                        <a:t>Data Collection Time</a:t>
                      </a:r>
                    </a:p>
                  </a:txBody>
                  <a:tcPr>
                    <a:solidFill>
                      <a:srgbClr val="F2F2F2"/>
                    </a:solidFill>
                  </a:tcPr>
                </a:tc>
                <a:tc>
                  <a:txBody>
                    <a:bodyPr/>
                    <a:lstStyle/>
                    <a:p>
                      <a:r>
                        <a:rPr sz="1000" i="1">
                          <a:solidFill>
                            <a:srgbClr val="808080"/>
                          </a:solidFill>
                        </a:rPr>
                        <a:t>(keep as is)</a:t>
                      </a:r>
                    </a:p>
                  </a:txBody>
                  <a:tcPr>
                    <a:solidFill>
                      <a:srgbClr val="F2F2F2"/>
                    </a:solidFill>
                  </a:tcPr>
                </a:tc>
              </a:tr>
              <a:tr h="73152">
                <a:tc>
                  <a:txBody>
                    <a:bodyPr/>
                    <a:lstStyle/>
                    <a:p>
                      <a:r>
                        <a:rPr sz="1000" b="1"/>
                        <a:t>CB, GSLC, INSAR, NRB, ORB, POL</a:t>
                      </a:r>
                    </a:p>
                  </a:txBody>
                  <a:tcPr>
                    <a:solidFill>
                      <a:srgbClr val="FFFFFF"/>
                    </a:solidFill>
                  </a:tcPr>
                </a:tc>
                <a:tc>
                  <a:txBody>
                    <a:bodyPr/>
                    <a:lstStyle/>
                    <a:p>
                      <a:r>
                        <a:rPr sz="1000"/>
                        <a:t>Source Data Acquisi</a:t>
                      </a:r>
                      <a:r>
                        <a:rPr sz="1000"/>
                        <a:t>tion Time</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NLSR, SR</a:t>
                      </a:r>
                    </a:p>
                  </a:txBody>
                  <a:tcPr>
                    <a:solidFill>
                      <a:srgbClr val="F2F2F2"/>
                    </a:solidFill>
                  </a:tcPr>
                </a:tc>
                <a:tc>
                  <a:txBody>
                    <a:bodyPr/>
                    <a:lstStyle/>
                    <a:p>
                      <a:r>
                        <a:rPr sz="1000"/>
                        <a:t>Data Collection Time</a:t>
                      </a:r>
                    </a:p>
                  </a:txBody>
                  <a:tcPr>
                    <a:solidFill>
                      <a:srgbClr val="F2F2F2"/>
                    </a:solidFill>
                  </a:tcPr>
                </a:tc>
                <a:tc>
                  <a:txBody>
                    <a:bodyPr/>
                    <a:lstStyle/>
                    <a:p>
                      <a:r>
                        <a:rPr sz="1000" i="1">
                          <a:solidFill>
                            <a:srgbClr val="808080"/>
                          </a:solidFill>
                        </a:rPr>
                        <a:t>(keep as is)</a:t>
                      </a:r>
                    </a:p>
                  </a:txBody>
                  <a:tcPr>
                    <a:solidFill>
                      <a:srgbClr val="F2F2F2"/>
                    </a:solidFill>
                  </a:tcPr>
                </a:tc>
              </a:tr>
            </a:tbl>
          </a:graphicData>
        </a:graphic>
      </p:graphicFrame>
      <p:graphicFrame>
        <p:nvGraphicFramePr>
          <p:cNvPr id="4" name="Table 3"/>
          <p:cNvGraphicFramePr>
            <a:graphicFrameLocks noGrp="1"/>
          </p:cNvGraphicFramePr>
          <p:nvPr/>
        </p:nvGraphicFramePr>
        <p:xfrm>
          <a:off x="457200" y="3410712"/>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73152">
                <a:tc>
                  <a:txBody>
                    <a:bodyPr/>
                    <a:lstStyle/>
                    <a:p>
                      <a:r>
                        <a:rPr sz="1000" b="1"/>
                        <a:t>AR, ST</a:t>
                      </a:r>
                    </a:p>
                    <a:p>
                      <a:r>
                        <a:rPr sz="1000" i="1">
                          <a:solidFill>
                            <a:srgbClr val="808080"/>
                          </a:solidFill>
                        </a:rPr>
                        <a:t>(baseline)</a:t>
                      </a:r>
                    </a:p>
                  </a:txBody>
                  <a:tcPr>
                    <a:solidFill>
                      <a:srgbClr val="FFFFFF"/>
                    </a:solidFill>
                  </a:tcPr>
                </a:tc>
                <a:tc>
                  <a:txBody>
                    <a:bodyPr/>
                    <a:lstStyle/>
                    <a:p>
                      <a:r>
                        <a:rPr sz="1000"/>
                        <a:t>The beginning and end of the data collection time is expressed in date/time and identified in the metadata consistent with ISO 8601. The time is expressed with the time offset from UTC unambiguously identified.</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CB, GSLC, INSAR, NRB, ORB, POL</a:t>
                      </a:r>
                    </a:p>
                  </a:txBody>
                  <a:tcPr>
                    <a:solidFill>
                      <a:srgbClr val="F2F2F2"/>
                    </a:solidFill>
                  </a:tcPr>
                </a:tc>
                <a:tc>
                  <a:txBody>
                    <a:bodyPr/>
                    <a:lstStyle/>
                    <a:p>
                      <a:r>
                        <a:rPr sz="1000"/>
                        <a:t>Number of source data acquisitions</a:t>
                      </a:r>
                      <a:r>
                        <a:rPr sz="1000">
                          <a:solidFill>
                            <a:srgbClr val="1565C0"/>
                          </a:solidFill>
                        </a:rPr>
                        <a:t> of the data collection </a:t>
                      </a:r>
                      <a:r>
                        <a:rPr sz="1000"/>
                        <a:t>is identified.</a:t>
                      </a:r>
                    </a:p>
                    <a:p>
                      <a:r>
                        <a:rPr sz="1000"/>
                        <a:t>The start and stop UTC time of data collection is</a:t>
                      </a:r>
                      <a:r>
                        <a:rPr sz="1000">
                          <a:solidFill>
                            <a:srgbClr val="1565C0"/>
                          </a:solidFill>
                        </a:rPr>
                        <a:t> identified in the metadata</a:t>
                      </a:r>
                      <a:r>
                        <a:rPr sz="1000"/>
                        <a:t>, expressed in date/time.</a:t>
                      </a:r>
                    </a:p>
                    <a:p>
                      <a:r>
                        <a:rPr sz="1000"/>
                        <a:t>In the case of composite or mosaic products, the dates/times of the first and last data takes is provid</a:t>
                      </a:r>
                      <a:r>
                        <a:rPr sz="1000">
                          <a:solidFill>
                            <a:srgbClr val="1565C0"/>
                          </a:solidFill>
                        </a:rPr>
                        <a:t>ed with the </a:t>
                      </a:r>
                      <a:r>
                        <a:rPr sz="1000"/>
                        <a:t>product</a:t>
                      </a:r>
                      <a:r>
                        <a:rPr sz="1000"/>
                        <a:t>.</a:t>
                      </a:r>
                    </a:p>
                  </a:txBody>
                  <a:tcPr>
                    <a:solidFill>
                      <a:srgbClr val="F2F2F2"/>
                    </a:solidFill>
                  </a:tcPr>
                </a:tc>
                <a:tc>
                  <a:txBody>
                    <a:bodyPr/>
                    <a:lstStyle/>
                    <a:p>
                      <a:r>
                        <a:rPr sz="1000" i="1">
                          <a:solidFill>
                            <a:srgbClr val="808080"/>
                          </a:solidFill>
                        </a:rPr>
                        <a:t>(keep as is)</a:t>
                      </a:r>
                    </a:p>
                  </a:txBody>
                  <a:tcPr>
                    <a:solidFill>
                      <a:srgbClr val="F2F2F2"/>
                    </a:solidFill>
                  </a:tcPr>
                </a:tc>
              </a:tr>
              <a:tr h="73152">
                <a:tc>
                  <a:txBody>
                    <a:bodyPr/>
                    <a:lstStyle/>
                    <a:p>
                      <a:r>
                        <a:rPr sz="1000" b="1"/>
                        <a:t>CB, GSLC, INSAR, NRB, ORB, POL</a:t>
                      </a:r>
                    </a:p>
                  </a:txBody>
                  <a:tcPr>
                    <a:solidFill>
                      <a:srgbClr val="FFFFFF"/>
                    </a:solidFill>
                  </a:tcPr>
                </a:tc>
                <a:tc>
                  <a:txBody>
                    <a:bodyPr/>
                    <a:lstStyle/>
                    <a:p>
                      <a:r>
                        <a:rPr sz="1000"/>
                        <a:t>The </a:t>
                      </a:r>
                      <a:r>
                        <a:rPr sz="1000"/>
                        <a:t>start date and time of source data is</a:t>
                      </a:r>
                      <a:r>
                        <a:rPr sz="1000">
                          <a:solidFill>
                            <a:srgbClr val="1565C0"/>
                          </a:solidFill>
                        </a:rPr>
                        <a:t> identified in the metadata</a:t>
                      </a:r>
                      <a:r>
                        <a:rPr sz="1000"/>
                        <a:t>,</a:t>
                      </a:r>
                      <a:r>
                        <a:rPr sz="1000">
                          <a:solidFill>
                            <a:srgbClr val="1565C0"/>
                          </a:solidFill>
                        </a:rPr>
                        <a:t> expressed </a:t>
                      </a:r>
                      <a:r>
                        <a:rPr sz="1000"/>
                        <a:t>in UTC in date and time, at least to the secon</a:t>
                      </a:r>
                      <a:r>
                        <a:rPr sz="1000"/>
                        <a:t>d.</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NLSR, SR</a:t>
                      </a:r>
                    </a:p>
                  </a:txBody>
                  <a:tcPr>
                    <a:solidFill>
                      <a:srgbClr val="F2F2F2"/>
                    </a:solidFill>
                  </a:tcPr>
                </a:tc>
                <a:tc>
                  <a:txBody>
                    <a:bodyPr/>
                    <a:lstStyle/>
                    <a:p>
                      <a:r>
                        <a:rPr sz="1000"/>
                        <a:t>T</a:t>
                      </a:r>
                      <a:r>
                        <a:rPr sz="1000" strike="sngStrike">
                          <a:solidFill>
                            <a:srgbClr val="B00000"/>
                          </a:solidFill>
                        </a:rPr>
                        <a:t>he beginning and end of t</a:t>
                      </a:r>
                      <a:r>
                        <a:rPr sz="1000"/>
                        <a:t>he data collection time is </a:t>
                      </a:r>
                      <a:r>
                        <a:rPr sz="1000" strike="sngStrike">
                          <a:solidFill>
                            <a:srgbClr val="B00000"/>
                          </a:solidFill>
                        </a:rPr>
                        <a:t>expressed in date/time and </a:t>
                      </a:r>
                      <a:r>
                        <a:rPr sz="1000"/>
                        <a:t>identified in the metadata</a:t>
                      </a:r>
                      <a:r>
                        <a:rPr sz="1000" strike="sngStrike">
                          <a:solidFill>
                            <a:srgbClr val="B00000"/>
                          </a:solidFill>
                        </a:rPr>
                        <a:t> consistent with ISO 8601. The time is</a:t>
                      </a:r>
                      <a:r>
                        <a:rPr sz="1000" b="1">
                          <a:solidFill>
                            <a:srgbClr val="2E7D32"/>
                          </a:solidFill>
                        </a:rPr>
                        <a:t>,</a:t>
                      </a:r>
                      <a:r>
                        <a:rPr sz="1000"/>
                        <a:t> expressed</a:t>
                      </a:r>
                      <a:r>
                        <a:rPr sz="1000" b="1">
                          <a:solidFill>
                            <a:srgbClr val="2E7D32"/>
                          </a:solidFill>
                        </a:rPr>
                        <a:t> in date/time, to the second,</a:t>
                      </a:r>
                      <a:r>
                        <a:rPr sz="1000"/>
                        <a:t> with the time offset from UTC unambiguously identified.</a:t>
                      </a:r>
                    </a:p>
                  </a:txBody>
                  <a:tcPr>
                    <a:solidFill>
                      <a:srgbClr val="F2F2F2"/>
                    </a:solidFill>
                  </a:tcPr>
                </a:tc>
                <a:tc>
                  <a:txBody>
                    <a:bodyPr/>
                    <a:lstStyle/>
                    <a:p>
                      <a:r>
                        <a:rPr sz="1000"/>
                        <a:t>T</a:t>
                      </a:r>
                      <a:r>
                        <a:rPr sz="1000" b="1">
                          <a:solidFill>
                            <a:srgbClr val="2E7D32"/>
                          </a:solidFill>
                        </a:rPr>
                        <a:t>he beginning and end of t</a:t>
                      </a:r>
                      <a:r>
                        <a:rPr sz="1000"/>
                        <a:t>he data collection time is </a:t>
                      </a:r>
                      <a:r>
                        <a:rPr sz="1000" b="1">
                          <a:solidFill>
                            <a:srgbClr val="2E7D32"/>
                          </a:solidFill>
                        </a:rPr>
                        <a:t>expressed in date/time and </a:t>
                      </a:r>
                      <a:r>
                        <a:rPr sz="1000"/>
                        <a:t>identified in the metadata</a:t>
                      </a:r>
                      <a:r>
                        <a:rPr sz="1000" strike="sngStrike">
                          <a:solidFill>
                            <a:srgbClr val="B00000"/>
                          </a:solidFill>
                        </a:rPr>
                        <a:t>,</a:t>
                      </a:r>
                      <a:r>
                        <a:rPr sz="1000" b="1">
                          <a:solidFill>
                            <a:srgbClr val="2E7D32"/>
                          </a:solidFill>
                        </a:rPr>
                        <a:t> consistent with ISO 8601. The time is</a:t>
                      </a:r>
                      <a:r>
                        <a:rPr sz="1000"/>
                        <a:t> expressed</a:t>
                      </a:r>
                      <a:r>
                        <a:rPr sz="1000" strike="sngStrike">
                          <a:solidFill>
                            <a:srgbClr val="B00000"/>
                          </a:solidFill>
                        </a:rPr>
                        <a:t> in date/time, to the second,</a:t>
                      </a:r>
                      <a:r>
                        <a:rPr sz="1000"/>
                        <a:t> with the time offset from UTC unambiguously identified.</a:t>
                      </a:r>
                    </a:p>
                  </a:txBody>
                  <a:tcPr>
                    <a:solidFill>
                      <a:srgbClr val="F2F2F2"/>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metadata/time-*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73152">
                <a:tc>
                  <a:txBody>
                    <a:bodyPr/>
                    <a:lstStyle/>
                    <a:p>
                      <a:r>
                        <a:rPr sz="1000" b="1"/>
                        <a:t>AR, ST</a:t>
                      </a:r>
                    </a:p>
                    <a:p>
                      <a:r>
                        <a:rPr sz="1000" i="1">
                          <a:solidFill>
                            <a:srgbClr val="808080"/>
                          </a:solidFill>
                        </a:rPr>
                        <a:t>(baseline)</a:t>
                      </a:r>
                    </a:p>
                  </a:txBody>
                  <a:tcPr>
                    <a:solidFill>
                      <a:srgbClr val="FFFFFF"/>
                    </a:solidFill>
                  </a:tcPr>
                </a:tc>
                <a:tc>
                  <a:txBody>
                    <a:bodyPr/>
                    <a:lstStyle/>
                    <a:p>
                      <a:r>
                        <a:rPr sz="1000"/>
                        <a:t>As threshold, but information required to determine, within a stated uncertainty, when the individual observations were taken is available.</a:t>
                      </a:r>
                    </a:p>
                    <a:p>
                      <a:r>
                        <a:rPr sz="1000" i="1">
                          <a:solidFill>
                            <a:srgbClr val="808080"/>
                          </a:solidFill>
                        </a:rPr>
                        <a:t>(optional)</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CB, GSLC, INSAR, NRB, ORB, POL</a:t>
                      </a:r>
                    </a:p>
                  </a:txBody>
                  <a:tcPr>
                    <a:solidFill>
                      <a:srgbClr val="F2F2F2"/>
                    </a:solidFill>
                  </a:tcPr>
                </a:tc>
                <a:tc>
                  <a:txBody>
                    <a:bodyPr/>
                    <a:lstStyle/>
                    <a:p>
                      <a:r>
                        <a:rPr sz="1000">
                          <a:solidFill>
                            <a:srgbClr val="1565C0"/>
                          </a:solidFill>
                        </a:rPr>
                        <a:t>As threshold, but </a:t>
                      </a:r>
                      <a:r>
                        <a:rPr sz="1000"/>
                        <a:t>using ISO 8601 time format</a:t>
                      </a:r>
                      <a:r>
                        <a:rPr sz="1000"/>
                        <a:t>.</a:t>
                      </a:r>
                    </a:p>
                    <a:p>
                      <a:r>
                        <a:rPr sz="1000" i="1">
                          <a:solidFill>
                            <a:srgbClr val="808080"/>
                          </a:solidFill>
                        </a:rPr>
                        <a:t>(optional)</a:t>
                      </a:r>
                    </a:p>
                  </a:txBody>
                  <a:tcPr>
                    <a:solidFill>
                      <a:srgbClr val="F2F2F2"/>
                    </a:solidFill>
                  </a:tcPr>
                </a:tc>
                <a:tc>
                  <a:txBody>
                    <a:bodyPr/>
                    <a:lstStyle/>
                    <a:p>
                      <a:r>
                        <a:rPr sz="1000" i="1">
                          <a:solidFill>
                            <a:srgbClr val="808080"/>
                          </a:solidFill>
                        </a:rPr>
                        <a:t>(keep as is)</a:t>
                      </a:r>
                    </a:p>
                  </a:txBody>
                  <a:tcPr>
                    <a:solidFill>
                      <a:srgbClr val="F2F2F2"/>
                    </a:solidFill>
                  </a:tcPr>
                </a:tc>
              </a:tr>
              <a:tr h="73152">
                <a:tc>
                  <a:txBody>
                    <a:bodyPr/>
                    <a:lstStyle/>
                    <a:p>
                      <a:r>
                        <a:rPr sz="1000" b="1"/>
                        <a:t>CB, GSLC, INSAR, NRB, ORB, POL</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NLSR, SR</a:t>
                      </a:r>
                    </a:p>
                  </a:txBody>
                  <a:tcPr>
                    <a:solidFill>
                      <a:srgbClr val="F2F2F2"/>
                    </a:solidFill>
                  </a:tcPr>
                </a:tc>
                <a:tc>
                  <a:txBody>
                    <a:bodyPr/>
                    <a:lstStyle/>
                    <a:p>
                      <a:r>
                        <a:rPr sz="1000"/>
                        <a:t>A</a:t>
                      </a:r>
                      <a:r>
                        <a:rPr sz="1000"/>
                        <a:t>cquisition time for each pixel is identified (or can be reliably</a:t>
                      </a:r>
                      <a:r>
                        <a:rPr sz="1000">
                          <a:solidFill>
                            <a:srgbClr val="1565C0"/>
                          </a:solidFill>
                        </a:rPr>
                        <a:t> determine</a:t>
                      </a:r>
                      <a:r>
                        <a:rPr sz="1000"/>
                        <a:t>d) in the metadata, expressed in date/time at UTC, to the second</a:t>
                      </a:r>
                      <a:r>
                        <a:rPr sz="1000"/>
                        <a:t>.</a:t>
                      </a:r>
                    </a:p>
                    <a:p>
                      <a:r>
                        <a:rPr sz="1000" i="1">
                          <a:solidFill>
                            <a:srgbClr val="808080"/>
                          </a:solidFill>
                        </a:rPr>
                        <a:t>(optional)</a:t>
                      </a:r>
                    </a:p>
                  </a:txBody>
                  <a:tcPr>
                    <a:solidFill>
                      <a:srgbClr val="F2F2F2"/>
                    </a:solidFill>
                  </a:tcPr>
                </a:tc>
                <a:tc>
                  <a:txBody>
                    <a:bodyPr/>
                    <a:lstStyle/>
                    <a:p>
                      <a:r>
                        <a:rPr sz="1000"/>
                        <a:t>A</a:t>
                      </a:r>
                      <a:r>
                        <a:rPr sz="1000"/>
                        <a:t>s threshold, but information required to</a:t>
                      </a:r>
                      <a:r>
                        <a:rPr sz="1000">
                          <a:solidFill>
                            <a:srgbClr val="1565C0"/>
                          </a:solidFill>
                        </a:rPr>
                        <a:t> determine</a:t>
                      </a:r>
                      <a:r>
                        <a:rPr sz="1000"/>
                        <a:t>, within a stated uncertainty, when the individual observations were taken is available</a:t>
                      </a:r>
                      <a:r>
                        <a:rPr sz="1000"/>
                        <a:t>.</a:t>
                      </a:r>
                    </a:p>
                  </a:txBody>
                  <a:tcPr>
                    <a:solidFill>
                      <a:srgbClr val="F2F2F2"/>
                    </a:solidFill>
                  </a:tcPr>
                </a:tc>
              </a:tr>
            </a:tbl>
          </a:graphicData>
        </a:graphic>
      </p:graphicFrame>
      <p:sp>
        <p:nvSpPr>
          <p:cNvPr id="4" name="TextBox 3"/>
          <p:cNvSpPr txBox="1"/>
          <p:nvPr/>
        </p:nvSpPr>
        <p:spPr>
          <a:xfrm>
            <a:off x="457200" y="3704783"/>
            <a:ext cx="11277295" cy="2103120"/>
          </a:xfrm>
          <a:prstGeom prst="rect">
            <a:avLst/>
          </a:prstGeom>
          <a:noFill/>
        </p:spPr>
        <p:txBody>
          <a:bodyPr wrap="square" lIns="0" rIns="0" tIns="0" bIns="0">
            <a:spAutoFit/>
          </a:bodyPr>
          <a:lstStyle/>
          <a:p>
            <a:r>
              <a:rPr sz="1200" b="1"/>
              <a:t>Internal notes: </a:t>
            </a:r>
            <a:r>
              <a:rPr sz="1200" i="1"/>
              <a:t>time-sar and time-source remain SAR-specific (number of acquisitions, composites/mosaics, source acquisition time); consider requiring ISO 8601 there already at threshold — it currently only appears at goal.</a:t>
            </a:r>
          </a:p>
          <a:p>
            <a:r>
              <a:rPr sz="1200" i="1"/>
              <a:t/>
            </a:r>
          </a:p>
          <a:p>
            <a:r>
              <a:rPr sz="1200" i="1"/>
              <a:t>The current SR goal (per-pixel acquisition time) is more specific than the AR goal; if per-pixel time is essential for NLSR/SR, keep the current SR wording instead.</a:t>
            </a:r>
          </a:p>
          <a:p>
            <a:r>
              <a:rPr sz="1200" i="1"/>
              <a:t/>
            </a:r>
          </a:p>
          <a:p>
            <a:r>
              <a:rPr sz="1200" i="1"/>
              <a:t>Some PFS appear twice in this group because two separate requirements are compared together: the product acquisition time (time-sar) and the source data acquisition time (time-source). time-source was included in this comparison because it parallels the product/source split of Data Access.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metadata/time-* (cont.)</a:t>
            </a:r>
          </a:p>
        </p:txBody>
      </p:sp>
      <p:sp>
        <p:nvSpPr>
          <p:cNvPr id="3" name="TextBox 2"/>
          <p:cNvSpPr txBox="1"/>
          <p:nvPr/>
        </p:nvSpPr>
        <p:spPr>
          <a:xfrm>
            <a:off x="457200" y="1005840"/>
            <a:ext cx="11277295" cy="1335024"/>
          </a:xfrm>
          <a:prstGeom prst="rect">
            <a:avLst/>
          </a:prstGeom>
          <a:noFill/>
        </p:spPr>
        <p:txBody>
          <a:bodyPr wrap="square" lIns="0" rIns="0" tIns="0" bIns="0">
            <a:spAutoFit/>
          </a:bodyPr>
          <a:lstStyle/>
          <a:p>
            <a:r>
              <a:rPr sz="1200" b="1"/>
              <a:t>Remarks from the building blocks: </a:t>
            </a:r>
            <a:r>
              <a:rPr sz="1200" i="1"/>
              <a:t>time-sar.yaml: todo: The number of source data acquisitions has nothing to do with the time requirements, should be separate.</a:t>
            </a:r>
          </a:p>
          <a:p>
            <a:r>
              <a:rPr sz="1200" i="1"/>
              <a:t>time-source.yaml: - todo: This seems to be a duplicate of time.yaml?!</a:t>
            </a:r>
          </a:p>
          <a:p>
            <a:r>
              <a:rPr sz="1200" i="1"/>
              <a:t>- todo: time-sar.yaml has a ISO 8601 goal requirement, but this one does not. Should it?</a:t>
            </a:r>
          </a:p>
          <a:p>
            <a:r>
              <a:rPr sz="1200" i="1"/>
              <a:t>time-sr.yaml: todo: This is per-pixel metadata, but in metadata. We should make this consistent. Do we want per-pixel metadata or not?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metadata/time-*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Data Collection Time  # TODO: not aligned yet, see comparison</a:t>
            </a:r>
          </a:p>
          <a:p>
            <a:r>
              <a:rPr sz="1100">
                <a:latin typeface="Consolas"/>
              </a:rPr>
              <a:t>requirements:</a:t>
            </a:r>
          </a:p>
          <a:p>
            <a:r>
              <a:rPr sz="1100">
                <a:latin typeface="Consolas"/>
              </a:rPr>
              <a:t>  threshold:</a:t>
            </a:r>
          </a:p>
          <a:p>
            <a:r>
              <a:rPr sz="1100">
                <a:latin typeface="Consolas"/>
              </a:rPr>
              <a:t>    description: The beginning and end of the data collection time is expressed in date/time and identified in the metadata consistent with ISO 8601. The time is expressed with the time offset from UTC unambiguously identified.  # TODO: not aligned yet, see comparison</a:t>
            </a:r>
          </a:p>
          <a:p>
            <a:r>
              <a:rPr sz="1100">
                <a:latin typeface="Consolas"/>
              </a:rPr>
              <a:t>  goal:</a:t>
            </a:r>
          </a:p>
          <a:p>
            <a:r>
              <a:rPr sz="1100">
                <a:latin typeface="Consolas"/>
              </a:rPr>
              <a:t>    description: As threshold, but information required to determine, within a stated uncertainty, when the individual observations were taken is available.  # TODO: not aligned yet, see comparison</a:t>
            </a:r>
          </a:p>
          <a:p>
            <a:r>
              <a:rPr sz="1100">
                <a:latin typeface="Consolas"/>
              </a:rPr>
              <a:t>    optional: true  # TODO: not aligned yet, see comparison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metadata/traceability-*</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Title</a:t>
                      </a:r>
                    </a:p>
                  </a:txBody>
                  <a:tcPr>
                    <a:solidFill>
                      <a:srgbClr val="000000"/>
                    </a:solidFill>
                  </a:tcPr>
                </a:tc>
                <a:tc>
                  <a:txBody>
                    <a:bodyPr/>
                    <a:lstStyle/>
                    <a:p>
                      <a:r>
                        <a:rPr b="1" sz="1100">
                          <a:solidFill>
                            <a:srgbClr val="FFFFFF"/>
                          </a:solidFill>
                        </a:rPr>
                        <a:t>Proposed Title</a:t>
                      </a:r>
                    </a:p>
                  </a:txBody>
                  <a:tcPr>
                    <a:solidFill>
                      <a:srgbClr val="000000"/>
                    </a:solidFill>
                  </a:tcPr>
                </a:tc>
              </a:tr>
              <a:tr h="73152">
                <a:tc>
                  <a:txBody>
                    <a:bodyPr/>
                    <a:lstStyle/>
                    <a:p>
                      <a:r>
                        <a:rPr sz="1000" b="1"/>
                        <a:t>AR</a:t>
                      </a:r>
                    </a:p>
                    <a:p>
                      <a:r>
                        <a:rPr sz="1000" i="1">
                          <a:solidFill>
                            <a:srgbClr val="808080"/>
                          </a:solidFill>
                        </a:rPr>
                        <a:t>(baseline)</a:t>
                      </a:r>
                    </a:p>
                  </a:txBody>
                  <a:tcPr>
                    <a:solidFill>
                      <a:srgbClr val="FFFFFF"/>
                    </a:solidFill>
                  </a:tcPr>
                </a:tc>
                <a:tc>
                  <a:txBody>
                    <a:bodyPr/>
                    <a:lstStyle/>
                    <a:p>
                      <a:r>
                        <a:rPr sz="1000"/>
                        <a:t>Traceability</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CB, GSLC, INSAR, NRB, ORB, POL</a:t>
                      </a:r>
                    </a:p>
                  </a:txBody>
                  <a:tcPr>
                    <a:solidFill>
                      <a:srgbClr val="F2F2F2"/>
                    </a:solidFill>
                  </a:tcPr>
                </a:tc>
                <a:tc>
                  <a:txBody>
                    <a:bodyPr/>
                    <a:lstStyle/>
                    <a:p>
                      <a:r>
                        <a:rPr sz="1000"/>
                        <a:t>Traceability</a:t>
                      </a:r>
                    </a:p>
                  </a:txBody>
                  <a:tcPr>
                    <a:solidFill>
                      <a:srgbClr val="F2F2F2"/>
                    </a:solidFill>
                  </a:tcPr>
                </a:tc>
                <a:tc>
                  <a:txBody>
                    <a:bodyPr/>
                    <a:lstStyle/>
                    <a:p>
                      <a:r>
                        <a:rPr sz="1000" i="1">
                          <a:solidFill>
                            <a:srgbClr val="808080"/>
                          </a:solidFill>
                        </a:rPr>
                        <a:t>(keep as is)</a:t>
                      </a:r>
                    </a:p>
                  </a:txBody>
                  <a:tcPr>
                    <a:solidFill>
                      <a:srgbClr val="F2F2F2"/>
                    </a:solidFill>
                  </a:tcPr>
                </a:tc>
              </a:tr>
              <a:tr h="73152">
                <a:tc>
                  <a:txBody>
                    <a:bodyPr/>
                    <a:lstStyle/>
                    <a:p>
                      <a:r>
                        <a:rPr sz="1000" b="1"/>
                        <a:t>NLSR, SR</a:t>
                      </a:r>
                    </a:p>
                  </a:txBody>
                  <a:tcPr>
                    <a:solidFill>
                      <a:srgbClr val="FFFFFF"/>
                    </a:solidFill>
                  </a:tcPr>
                </a:tc>
                <a:tc>
                  <a:txBody>
                    <a:bodyPr/>
                    <a:lstStyle/>
                    <a:p>
                      <a:r>
                        <a:rPr sz="1000"/>
                        <a:t>Traceability</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ST</a:t>
                      </a:r>
                    </a:p>
                  </a:txBody>
                  <a:tcPr>
                    <a:solidFill>
                      <a:srgbClr val="F2F2F2"/>
                    </a:solidFill>
                  </a:tcPr>
                </a:tc>
                <a:tc>
                  <a:txBody>
                    <a:bodyPr/>
                    <a:lstStyle/>
                    <a:p>
                      <a:r>
                        <a:rPr sz="1000" b="1">
                          <a:solidFill>
                            <a:srgbClr val="2E7D32"/>
                          </a:solidFill>
                        </a:rPr>
                        <a:t>Metrological </a:t>
                      </a:r>
                      <a:r>
                        <a:rPr sz="1000"/>
                        <a:t>Traceability</a:t>
                      </a:r>
                      <a:r>
                        <a:rPr sz="1000" b="1">
                          <a:solidFill>
                            <a:srgbClr val="2E7D32"/>
                          </a:solidFill>
                        </a:rPr>
                        <a:t> of the Measurand to SI</a:t>
                      </a:r>
                    </a:p>
                  </a:txBody>
                  <a:tcPr>
                    <a:solidFill>
                      <a:srgbClr val="F2F2F2"/>
                    </a:solidFill>
                  </a:tcPr>
                </a:tc>
                <a:tc>
                  <a:txBody>
                    <a:bodyPr/>
                    <a:lstStyle/>
                    <a:p>
                      <a:r>
                        <a:rPr sz="1000" strike="sngStrike">
                          <a:solidFill>
                            <a:srgbClr val="B00000"/>
                          </a:solidFill>
                        </a:rPr>
                        <a:t>Metrological </a:t>
                      </a:r>
                      <a:r>
                        <a:rPr sz="1000"/>
                        <a:t>Traceability</a:t>
                      </a:r>
                      <a:r>
                        <a:rPr sz="1000" strike="sngStrike">
                          <a:solidFill>
                            <a:srgbClr val="B00000"/>
                          </a:solidFill>
                        </a:rPr>
                        <a:t> of the Measurand to SI</a:t>
                      </a:r>
                    </a:p>
                  </a:txBody>
                  <a:tcPr>
                    <a:solidFill>
                      <a:srgbClr val="F2F2F2"/>
                    </a:solidFill>
                  </a:tcPr>
                </a:tc>
              </a:tr>
            </a:tbl>
          </a:graphicData>
        </a:graphic>
      </p:graphicFrame>
      <p:graphicFrame>
        <p:nvGraphicFramePr>
          <p:cNvPr id="4" name="Table 3"/>
          <p:cNvGraphicFramePr>
            <a:graphicFrameLocks noGrp="1"/>
          </p:cNvGraphicFramePr>
          <p:nvPr/>
        </p:nvGraphicFramePr>
        <p:xfrm>
          <a:off x="457200" y="3099816"/>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73152">
                <a:tc>
                  <a:txBody>
                    <a:bodyPr/>
                    <a:lstStyle/>
                    <a:p>
                      <a:r>
                        <a:rPr sz="1000" b="1"/>
                        <a:t>AR</a:t>
                      </a:r>
                    </a:p>
                    <a:p>
                      <a:r>
                        <a:rPr sz="1000" i="1">
                          <a:solidFill>
                            <a:srgbClr val="808080"/>
                          </a:solidFill>
                        </a:rPr>
                        <a:t>(baseline)</a:t>
                      </a:r>
                    </a:p>
                  </a:txBody>
                  <a:tcPr>
                    <a:solidFill>
                      <a:srgbClr val="FFFFFF"/>
                    </a:solidFill>
                  </a:tcPr>
                </a:tc>
                <a:tc>
                  <a:txBody>
                    <a:bodyPr/>
                    <a:lstStyle/>
                    <a:p>
                      <a:r>
                        <a:rPr sz="1000"/>
                        <a:t>Aquatic Reflectance (dimensionless) or the Remote Sensing Reflectance ($sr^{-1}$) of the water bodies ($AR = \pi \cdot R_{rs}$) is given.</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CB, GSLC, INSAR, NRB, ORB, POL</a:t>
                      </a:r>
                    </a:p>
                  </a:txBody>
                  <a:tcPr>
                    <a:solidFill>
                      <a:srgbClr val="F2F2F2"/>
                    </a:solidFill>
                  </a:tcPr>
                </a:tc>
                <a:tc>
                  <a:txBody>
                    <a:bodyPr/>
                    <a:lstStyle/>
                    <a:p>
                      <a:r>
                        <a:rPr sz="1000"/>
                        <a:t>(not set)</a:t>
                      </a:r>
                    </a:p>
                  </a:txBody>
                  <a:tcPr>
                    <a:solidFill>
                      <a:srgbClr val="F2F2F2"/>
                    </a:solidFill>
                  </a:tcPr>
                </a:tc>
                <a:tc>
                  <a:txBody>
                    <a:bodyPr/>
                    <a:lstStyle/>
                    <a:p>
                      <a:r>
                        <a:rPr sz="1000" i="1">
                          <a:solidFill>
                            <a:srgbClr val="808080"/>
                          </a:solidFill>
                        </a:rPr>
                        <a:t>(keep as is)</a:t>
                      </a:r>
                    </a:p>
                  </a:txBody>
                  <a:tcPr>
                    <a:solidFill>
                      <a:srgbClr val="F2F2F2"/>
                    </a:solidFill>
                  </a:tcPr>
                </a:tc>
              </a:tr>
              <a:tr h="73152">
                <a:tc>
                  <a:txBody>
                    <a:bodyPr/>
                    <a:lstStyle/>
                    <a:p>
                      <a:r>
                        <a:rPr sz="1000" b="1"/>
                        <a:t>NLSR, SR</a:t>
                      </a:r>
                    </a:p>
                  </a:txBody>
                  <a:tcPr>
                    <a:solidFill>
                      <a:srgbClr val="FFFFFF"/>
                    </a:solidFill>
                  </a:tcPr>
                </a:tc>
                <a:tc>
                  <a:txBody>
                    <a:bodyPr/>
                    <a:lstStyle/>
                    <a:p>
                      <a:r>
                        <a:rPr sz="1000"/>
                        <a:t>(not set)</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ST</a:t>
                      </a:r>
                    </a:p>
                  </a:txBody>
                  <a:tcPr>
                    <a:solidFill>
                      <a:srgbClr val="F2F2F2"/>
                    </a:solidFill>
                  </a:tcPr>
                </a:tc>
                <a:tc>
                  <a:txBody>
                    <a:bodyPr/>
                    <a:lstStyle/>
                    <a:p>
                      <a:r>
                        <a:rPr sz="1000"/>
                        <a:t>(not set)</a:t>
                      </a:r>
                    </a:p>
                  </a:txBody>
                  <a:tcPr>
                    <a:solidFill>
                      <a:srgbClr val="F2F2F2"/>
                    </a:solidFill>
                  </a:tcPr>
                </a:tc>
                <a:tc>
                  <a:txBody>
                    <a:bodyPr/>
                    <a:lstStyle/>
                    <a:p>
                      <a:r>
                        <a:rPr sz="1000" i="1">
                          <a:solidFill>
                            <a:srgbClr val="808080"/>
                          </a:solidFill>
                        </a:rPr>
                        <a:t>(keep as is)</a:t>
                      </a:r>
                    </a:p>
                  </a:txBody>
                  <a:tcPr>
                    <a:solidFill>
                      <a:srgbClr val="F2F2F2"/>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metadata/traceability-*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73152">
                <a:tc>
                  <a:txBody>
                    <a:bodyPr/>
                    <a:lstStyle/>
                    <a:p>
                      <a:r>
                        <a:rPr sz="1000" b="1"/>
                        <a:t>AR</a:t>
                      </a:r>
                    </a:p>
                    <a:p>
                      <a:r>
                        <a:rPr sz="1000" i="1">
                          <a:solidFill>
                            <a:srgbClr val="808080"/>
                          </a:solidFill>
                        </a:rPr>
                        <a:t>(baseline)</a:t>
                      </a:r>
                    </a:p>
                  </a:txBody>
                  <a:tcPr>
                    <a:solidFill>
                      <a:srgbClr val="FFFFFF"/>
                    </a:solidFill>
                  </a:tcPr>
                </a:tc>
                <a:tc>
                  <a:txBody>
                    <a:bodyPr/>
                    <a:lstStyle/>
                    <a:p>
                      <a:r>
                        <a:rPr sz="1000"/>
                        <a:t>Data must be traceable to SI reference standard.</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CB, GSLC, INSAR, NRB, ORB, POL</a:t>
                      </a:r>
                    </a:p>
                  </a:txBody>
                  <a:tcPr>
                    <a:solidFill>
                      <a:srgbClr val="F2F2F2"/>
                    </a:solidFill>
                  </a:tcPr>
                </a:tc>
                <a:tc>
                  <a:txBody>
                    <a:bodyPr/>
                    <a:lstStyle/>
                    <a:p>
                      <a:r>
                        <a:rPr sz="1000"/>
                        <a:t>Data must be traceable to SI reference standard.</a:t>
                      </a:r>
                    </a:p>
                  </a:txBody>
                  <a:tcPr>
                    <a:solidFill>
                      <a:srgbClr val="F2F2F2"/>
                    </a:solidFill>
                  </a:tcPr>
                </a:tc>
                <a:tc>
                  <a:txBody>
                    <a:bodyPr/>
                    <a:lstStyle/>
                    <a:p>
                      <a:r>
                        <a:rPr sz="1000" i="1">
                          <a:solidFill>
                            <a:srgbClr val="808080"/>
                          </a:solidFill>
                        </a:rPr>
                        <a:t>(keep as is)</a:t>
                      </a:r>
                    </a:p>
                  </a:txBody>
                  <a:tcPr>
                    <a:solidFill>
                      <a:srgbClr val="F2F2F2"/>
                    </a:solidFill>
                  </a:tcPr>
                </a:tc>
              </a:tr>
              <a:tr h="73152">
                <a:tc>
                  <a:txBody>
                    <a:bodyPr/>
                    <a:lstStyle/>
                    <a:p>
                      <a:r>
                        <a:rPr sz="1000" b="1"/>
                        <a:t>NLSR, SR</a:t>
                      </a:r>
                    </a:p>
                  </a:txBody>
                  <a:tcPr>
                    <a:solidFill>
                      <a:srgbClr val="FFFFFF"/>
                    </a:solidFill>
                  </a:tcPr>
                </a:tc>
                <a:tc>
                  <a:txBody>
                    <a:bodyPr/>
                    <a:lstStyle/>
                    <a:p>
                      <a:r>
                        <a:rPr sz="1000"/>
                        <a:t>Data must be traceable to SI reference standard.</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ST</a:t>
                      </a:r>
                    </a:p>
                  </a:txBody>
                  <a:tcPr>
                    <a:solidFill>
                      <a:srgbClr val="F2F2F2"/>
                    </a:solidFill>
                  </a:tcPr>
                </a:tc>
                <a:tc>
                  <a:txBody>
                    <a:bodyPr/>
                    <a:lstStyle/>
                    <a:p>
                      <a:r>
                        <a:rPr sz="1000"/>
                        <a:t>Data must be traceable to SI reference standard.</a:t>
                      </a:r>
                    </a:p>
                    <a:p>
                      <a:r>
                        <a:rPr sz="1000" b="1">
                          <a:solidFill>
                            <a:srgbClr val="2E7D32"/>
                          </a:solidFill>
                        </a:rPr>
                        <a:t>Information on traceability should be available in the metadata as a single DOI landing page.</a:t>
                      </a:r>
                    </a:p>
                  </a:txBody>
                  <a:tcPr>
                    <a:solidFill>
                      <a:srgbClr val="F2F2F2"/>
                    </a:solidFill>
                  </a:tcPr>
                </a:tc>
                <a:tc>
                  <a:txBody>
                    <a:bodyPr/>
                    <a:lstStyle/>
                    <a:p>
                      <a:r>
                        <a:rPr sz="1000"/>
                        <a:t>Data must be traceable to SI reference standard.</a:t>
                      </a:r>
                    </a:p>
                    <a:p>
                      <a:r>
                        <a:rPr sz="1000" strike="sngStrike">
                          <a:solidFill>
                            <a:srgbClr val="B00000"/>
                          </a:solidFill>
                        </a:rPr>
                        <a:t>Information on traceability should be available in the metadata as a single DOI landing page.</a:t>
                      </a:r>
                    </a:p>
                  </a:txBody>
                  <a:tcPr>
                    <a:solidFill>
                      <a:srgbClr val="F2F2F2"/>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metadata/traceability-*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73152">
                <a:tc>
                  <a:txBody>
                    <a:bodyPr/>
                    <a:lstStyle/>
                    <a:p>
                      <a:r>
                        <a:rPr sz="1000" b="1"/>
                        <a:t>AR</a:t>
                      </a:r>
                    </a:p>
                  </a:txBody>
                  <a:tcPr>
                    <a:solidFill>
                      <a:srgbClr val="FFFFFF"/>
                    </a:solidFill>
                  </a:tcPr>
                </a:tc>
                <a:tc>
                  <a:txBody>
                    <a:bodyPr/>
                    <a:lstStyle/>
                    <a:p>
                      <a:r>
                        <a:rPr sz="1000"/>
                        <a:t>Relationship to [@</a:t>
                      </a:r>
                      <a:r>
                        <a:rPr sz="1000" strike="sngStrike">
                          <a:solidFill>
                            <a:srgbClr val="B00000"/>
                          </a:solidFill>
                        </a:rPr>
                        <a:t>relationship</a:t>
                      </a:r>
                      <a:r>
                        <a:rPr sz="1000" b="1">
                          <a:solidFill>
                            <a:srgbClr val="2E7D32"/>
                          </a:solidFill>
                        </a:rPr>
                        <a:t>uncertainty</a:t>
                      </a:r>
                      <a:r>
                        <a:rPr sz="1000"/>
                        <a:t>]. Traceability requires an estimate of measurement uncertainty.</a:t>
                      </a:r>
                    </a:p>
                    <a:p/>
                    <a:p>
                      <a:r>
                        <a:rPr sz="1000" strike="sngStrike">
                          <a:solidFill>
                            <a:srgbClr val="B00000"/>
                          </a:solidFill>
                        </a:rPr>
                        <a:t>Information on traceability should be available in the metadata as a single DOI landing page.</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CB, GSLC, INSAR, NRB, ORB, POL</a:t>
                      </a:r>
                    </a:p>
                    <a:p>
                      <a:r>
                        <a:rPr sz="1000" i="1">
                          <a:solidFill>
                            <a:srgbClr val="808080"/>
                          </a:solidFill>
                        </a:rPr>
                        <a:t>(baseline)</a:t>
                      </a:r>
                    </a:p>
                  </a:txBody>
                  <a:tcPr>
                    <a:solidFill>
                      <a:srgbClr val="F2F2F2"/>
                    </a:solidFill>
                  </a:tcPr>
                </a:tc>
                <a:tc>
                  <a:txBody>
                    <a:bodyPr/>
                    <a:lstStyle/>
                    <a:p>
                      <a:r>
                        <a:rPr sz="1000"/>
                        <a:t>Relationship to [@relationship]. Traceability requires an estimate of measurement uncertainty.</a:t>
                      </a:r>
                    </a:p>
                    <a:p/>
                    <a:p>
                      <a:r>
                        <a:rPr sz="1000"/>
                        <a:t>Information on traceability should be available in the metadata as a single DOI landing page.</a:t>
                      </a:r>
                    </a:p>
                  </a:txBody>
                  <a:tcPr>
                    <a:solidFill>
                      <a:srgbClr val="F2F2F2"/>
                    </a:solidFill>
                  </a:tcPr>
                </a:tc>
                <a:tc>
                  <a:txBody>
                    <a:bodyPr/>
                    <a:lstStyle/>
                    <a:p>
                      <a:r>
                        <a:rPr sz="1000" i="1">
                          <a:solidFill>
                            <a:srgbClr val="808080"/>
                          </a:solidFill>
                        </a:rPr>
                        <a:t>(keep as is)</a:t>
                      </a:r>
                    </a:p>
                  </a:txBody>
                  <a:tcPr>
                    <a:solidFill>
                      <a:srgbClr val="F2F2F2"/>
                    </a:solidFill>
                  </a:tcPr>
                </a:tc>
              </a:tr>
              <a:tr h="73152">
                <a:tc>
                  <a:txBody>
                    <a:bodyPr/>
                    <a:lstStyle/>
                    <a:p>
                      <a:r>
                        <a:rPr sz="1000" b="1"/>
                        <a:t>NLSR, SR</a:t>
                      </a:r>
                    </a:p>
                  </a:txBody>
                  <a:tcPr>
                    <a:solidFill>
                      <a:srgbClr val="FFFFFF"/>
                    </a:solidFill>
                  </a:tcPr>
                </a:tc>
                <a:tc>
                  <a:txBody>
                    <a:bodyPr/>
                    <a:lstStyle/>
                    <a:p>
                      <a:r>
                        <a:rPr sz="1000"/>
                        <a:t>Relationship to [@relationship]. Traceability requires an estimate of measurement uncertainty.</a:t>
                      </a:r>
                    </a:p>
                    <a:p/>
                    <a:p>
                      <a:r>
                        <a:rPr sz="1000"/>
                        <a:t>Information on traceability should be available in the metadata as a single DOI landing page.</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ST</a:t>
                      </a:r>
                    </a:p>
                  </a:txBody>
                  <a:tcPr>
                    <a:solidFill>
                      <a:srgbClr val="F2F2F2"/>
                    </a:solidFill>
                  </a:tcPr>
                </a:tc>
                <a:tc>
                  <a:txBody>
                    <a:bodyPr/>
                    <a:lstStyle/>
                    <a:p>
                      <a:r>
                        <a:rPr sz="1000" strike="sngStrike">
                          <a:solidFill>
                            <a:srgbClr val="B00000"/>
                          </a:solidFill>
                        </a:rPr>
                        <a:t>Relationship to [@relationship].</a:t>
                      </a:r>
                      <a:r>
                        <a:rPr sz="1000" b="1">
                          <a:solidFill>
                            <a:srgbClr val="2E7D32"/>
                          </a:solidFill>
                        </a:rPr>
                        <a:t>SI</a:t>
                      </a:r>
                      <a:r>
                        <a:rPr sz="1000"/>
                        <a:t> Traceability requires an estimate of measurement uncertainty</a:t>
                      </a:r>
                      <a:r>
                        <a:rPr sz="1000" strike="sngStrike">
                          <a:solidFill>
                            <a:srgbClr val="B00000"/>
                          </a:solidFill>
                        </a:rPr>
                        <a:t>.</a:t>
                      </a:r>
                    </a:p>
                    <a:p/>
                    <a:p>
                      <a:r>
                        <a:rPr sz="1000" strike="sngStrike">
                          <a:solidFill>
                            <a:srgbClr val="B00000"/>
                          </a:solidFill>
                        </a:rPr>
                        <a:t>Information on traceability should be available in the metadata as a single DOI landing page</a:t>
                      </a:r>
                      <a:r>
                        <a:rPr sz="1000" b="1">
                          <a:solidFill>
                            <a:srgbClr val="2E7D32"/>
                          </a:solidFill>
                        </a:rPr>
                        <a:t> (see [@uncertainty])</a:t>
                      </a:r>
                      <a:r>
                        <a:rPr sz="1000"/>
                        <a:t>.</a:t>
                      </a:r>
                    </a:p>
                  </a:txBody>
                  <a:tcPr>
                    <a:solidFill>
                      <a:srgbClr val="F2F2F2"/>
                    </a:solidFill>
                  </a:tcPr>
                </a:tc>
                <a:tc>
                  <a:txBody>
                    <a:bodyPr/>
                    <a:lstStyle/>
                    <a:p>
                      <a:r>
                        <a:rPr sz="1000" i="1">
                          <a:solidFill>
                            <a:srgbClr val="808080"/>
                          </a:solidFill>
                        </a:rPr>
                        <a:t>(keep as is)</a:t>
                      </a:r>
                    </a:p>
                  </a:txBody>
                  <a:tcPr>
                    <a:solidFill>
                      <a:srgbClr val="F2F2F2"/>
                    </a:solidFill>
                  </a:tcPr>
                </a:tc>
              </a:tr>
            </a:tbl>
          </a:graphicData>
        </a:graphic>
      </p:graphicFrame>
      <p:sp>
        <p:nvSpPr>
          <p:cNvPr id="4" name="TextBox 3"/>
          <p:cNvSpPr txBox="1"/>
          <p:nvPr/>
        </p:nvSpPr>
        <p:spPr>
          <a:xfrm>
            <a:off x="457200" y="4873752"/>
            <a:ext cx="11277295" cy="374904"/>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metadata/traceability-*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Traceability</a:t>
            </a:r>
          </a:p>
          <a:p>
            <a:r>
              <a:rPr sz="1100">
                <a:latin typeface="Consolas"/>
              </a:rPr>
              <a:t>requirements:</a:t>
            </a:r>
          </a:p>
          <a:p>
            <a:r>
              <a:rPr sz="1100">
                <a:latin typeface="Consolas"/>
              </a:rPr>
              <a:t>  goal:</a:t>
            </a:r>
          </a:p>
          <a:p>
            <a:r>
              <a:rPr sz="1100">
                <a:latin typeface="Consolas"/>
              </a:rPr>
              <a:t>    description: Data must be traceable to SI reference standard.</a:t>
            </a:r>
          </a:p>
          <a:p>
            <a:r>
              <a:rPr sz="1100">
                <a:latin typeface="Consolas"/>
              </a:rPr>
              <a:t>    notes:  # TODO: not aligned yet, see comparison</a:t>
            </a:r>
          </a:p>
          <a:p>
            <a:r>
              <a:rPr sz="1100">
                <a:latin typeface="Consolas"/>
              </a:rPr>
              <a:t>      - Relationship to [@relationship]. Traceability requires an estimate of measurement uncertainty.</a:t>
            </a:r>
          </a:p>
          <a:p>
            <a:r>
              <a:rPr sz="1100">
                <a:latin typeface="Consolas"/>
              </a:rPr>
              <a:t>      - Information on traceability should be available in the metadata as a single DOI landing page.</a:t>
            </a:r>
          </a:p>
          <a:p>
            <a:r>
              <a:rPr sz="1100">
                <a:latin typeface="Consolas"/>
              </a:rPr>
              <a:t>    optional: true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Cloud</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Specification of whether a pixel is cloud or cloud-affected.</a:t>
                      </a:r>
                    </a:p>
                  </a:txBody>
                  <a:tcPr>
                    <a:solidFill>
                      <a:srgbClr val="FFFFFF"/>
                    </a:solidFill>
                  </a:tcPr>
                </a:tc>
                <a:tc>
                  <a:txBody>
                    <a:bodyPr/>
                    <a:lstStyle/>
                    <a:p>
                      <a:r>
                        <a:rPr sz="1000"/>
                        <a:t>Specification of whether a pixel is cloud</a:t>
                      </a:r>
                      <a:r>
                        <a:rPr sz="1000" strike="sngStrike">
                          <a:solidFill>
                            <a:srgbClr val="B00000"/>
                          </a:solidFill>
                        </a:rPr>
                        <a:t> or cloud</a:t>
                      </a:r>
                      <a:r>
                        <a:rPr sz="1000"/>
                        <a:t>-affected.</a:t>
                      </a:r>
                    </a:p>
                  </a:txBody>
                  <a:tcPr>
                    <a:solidFill>
                      <a:srgbClr val="FFFFFF"/>
                    </a:solidFill>
                  </a:tcPr>
                </a:tc>
              </a:tr>
              <a:tr h="91440">
                <a:tc>
                  <a:txBody>
                    <a:bodyPr/>
                    <a:lstStyle/>
                    <a:p>
                      <a:r>
                        <a:rPr sz="1000" b="1"/>
                        <a:t>ST</a:t>
                      </a:r>
                    </a:p>
                  </a:txBody>
                  <a:tcPr>
                    <a:solidFill>
                      <a:srgbClr val="F2F2F2"/>
                    </a:solidFill>
                  </a:tcPr>
                </a:tc>
                <a:tc>
                  <a:txBody>
                    <a:bodyPr/>
                    <a:lstStyle/>
                    <a:p>
                      <a:r>
                        <a:rPr sz="1000"/>
                        <a:t>Specification of whether a pixel is cloud</a:t>
                      </a:r>
                      <a:r>
                        <a:rPr sz="1000" strike="sngStrike">
                          <a:solidFill>
                            <a:srgbClr val="B00000"/>
                          </a:solidFill>
                        </a:rPr>
                        <a:t> or cloud</a:t>
                      </a:r>
                      <a:r>
                        <a:rPr sz="1000"/>
                        <a:t>-affected.</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NLSR, SR</a:t>
                      </a:r>
                    </a:p>
                  </a:txBody>
                  <a:tcPr>
                    <a:solidFill>
                      <a:srgbClr val="FFFFFF"/>
                    </a:solidFill>
                  </a:tcPr>
                </a:tc>
                <a:tc>
                  <a:txBody>
                    <a:bodyPr/>
                    <a:lstStyle/>
                    <a:p>
                      <a:r>
                        <a:rPr sz="1000"/>
                        <a:t>Metadata indicates</a:t>
                      </a:r>
                      <a:r>
                        <a:rPr sz="1000">
                          <a:solidFill>
                            <a:srgbClr val="1565C0"/>
                          </a:solidFill>
                        </a:rPr>
                        <a:t> whether a pixel is </a:t>
                      </a:r>
                      <a:r>
                        <a:rPr sz="1000"/>
                        <a:t>assessed as being cloud</a:t>
                      </a:r>
                      <a:r>
                        <a:rPr sz="1000"/>
                        <a:t>.</a:t>
                      </a:r>
                    </a:p>
                  </a:txBody>
                  <a:tcPr>
                    <a:solidFill>
                      <a:srgbClr val="FFFFFF"/>
                    </a:solidFill>
                  </a:tcPr>
                </a:tc>
                <a:tc>
                  <a:txBody>
                    <a:bodyPr/>
                    <a:lstStyle/>
                    <a:p>
                      <a:r>
                        <a:rPr sz="1000"/>
                        <a:t>Specification of</a:t>
                      </a:r>
                      <a:r>
                        <a:rPr sz="1000">
                          <a:solidFill>
                            <a:srgbClr val="1565C0"/>
                          </a:solidFill>
                        </a:rPr>
                        <a:t> whether a pixel is </a:t>
                      </a:r>
                      <a:r>
                        <a:rPr sz="1000"/>
                        <a:t>cloud-affected</a:t>
                      </a:r>
                      <a:r>
                        <a:rPr sz="1000"/>
                        <a:t>.</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523744"/>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As threshold, but clouds and cirrus clouds are differentiated.</a:t>
                      </a:r>
                    </a:p>
                  </a:txBody>
                  <a:tcPr>
                    <a:solidFill>
                      <a:srgbClr val="FFFFFF"/>
                    </a:solidFill>
                  </a:tcPr>
                </a:tc>
                <a:tc>
                  <a:txBody>
                    <a:bodyPr/>
                    <a:lstStyle/>
                    <a:p>
                      <a:r>
                        <a:rPr sz="1000">
                          <a:solidFill>
                            <a:srgbClr val="1565C0"/>
                          </a:solidFill>
                        </a:rPr>
                        <a:t>As threshold, but </a:t>
                      </a:r>
                      <a:r>
                        <a:rPr sz="1000"/>
                        <a:t>information on cloud type or confidence is includ</a:t>
                      </a:r>
                      <a:r>
                        <a:rPr sz="1000"/>
                        <a:t>ed.</a:t>
                      </a:r>
                    </a:p>
                  </a:txBody>
                  <a:tcPr>
                    <a:solidFill>
                      <a:srgbClr val="FFFFFF"/>
                    </a:solidFill>
                  </a:tcPr>
                </a:tc>
              </a:tr>
              <a:tr h="91440">
                <a:tc>
                  <a:txBody>
                    <a:bodyPr/>
                    <a:lstStyle/>
                    <a:p>
                      <a:r>
                        <a:rPr sz="1000" b="1"/>
                        <a:t>ST</a:t>
                      </a:r>
                    </a:p>
                  </a:txBody>
                  <a:tcPr>
                    <a:solidFill>
                      <a:srgbClr val="F2F2F2"/>
                    </a:solidFill>
                  </a:tcPr>
                </a:tc>
                <a:tc>
                  <a:txBody>
                    <a:bodyPr/>
                    <a:lstStyle/>
                    <a:p>
                      <a:r>
                        <a:rPr sz="1000">
                          <a:solidFill>
                            <a:srgbClr val="1565C0"/>
                          </a:solidFill>
                        </a:rPr>
                        <a:t>As threshold, but </a:t>
                      </a:r>
                      <a:r>
                        <a:rPr sz="1000"/>
                        <a:t>information on cloud type or confidence is includ</a:t>
                      </a:r>
                      <a:r>
                        <a:rPr sz="1000"/>
                        <a:t>ed.</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NLSR, SR</a:t>
                      </a:r>
                    </a:p>
                  </a:txBody>
                  <a:tcPr>
                    <a:solidFill>
                      <a:srgbClr val="FFFFFF"/>
                    </a:solidFill>
                  </a:tcPr>
                </a:tc>
                <a:tc>
                  <a:txBody>
                    <a:bodyPr/>
                    <a:lstStyle/>
                    <a:p>
                      <a:r>
                        <a:rPr sz="1000">
                          <a:solidFill>
                            <a:srgbClr val="1565C0"/>
                          </a:solidFill>
                        </a:rPr>
                        <a:t>As threshold, but </a:t>
                      </a:r>
                      <a:r>
                        <a:rPr sz="1000"/>
                        <a:t>information on cloud detection should be available in the metadata as a single DOI landing page</a:t>
                      </a:r>
                      <a:r>
                        <a:rPr sz="1000"/>
                        <a:t>.</a:t>
                      </a:r>
                    </a:p>
                  </a:txBody>
                  <a:tcPr>
                    <a:solidFill>
                      <a:srgbClr val="FFFFFF"/>
                    </a:solidFill>
                  </a:tcPr>
                </a:tc>
                <a:tc>
                  <a:txBody>
                    <a:bodyPr/>
                    <a:lstStyle/>
                    <a:p>
                      <a:r>
                        <a:rPr sz="1000"/>
                        <a:t>As threshold, but information on cloud </a:t>
                      </a:r>
                      <a:r>
                        <a:rPr sz="1000" strike="sngStrike">
                          <a:solidFill>
                            <a:srgbClr val="B00000"/>
                          </a:solidFill>
                        </a:rPr>
                        <a:t>detection should be available in the metadata as a single DOI landing page</a:t>
                      </a:r>
                      <a:r>
                        <a:rPr sz="1000" b="1">
                          <a:solidFill>
                            <a:srgbClr val="2E7D32"/>
                          </a:solidFill>
                        </a:rPr>
                        <a:t>type or confidence is included</a:t>
                      </a:r>
                      <a:r>
                        <a:rPr sz="1000"/>
                        <a:t>.</a:t>
                      </a:r>
                    </a:p>
                  </a:txBody>
                  <a:tcPr>
                    <a:solidFill>
                      <a:srgbClr val="FFFFFF"/>
                    </a:solidFill>
                  </a:tcPr>
                </a:tc>
              </a:tr>
            </a:tbl>
          </a:graphicData>
        </a:graphic>
      </p:graphicFrame>
      <p:graphicFrame>
        <p:nvGraphicFramePr>
          <p:cNvPr id="5" name="Table 4"/>
          <p:cNvGraphicFramePr>
            <a:graphicFrameLocks noGrp="1"/>
          </p:cNvGraphicFramePr>
          <p:nvPr/>
        </p:nvGraphicFramePr>
        <p:xfrm>
          <a:off x="457200" y="4197096"/>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Notes</a:t>
                      </a:r>
                    </a:p>
                  </a:txBody>
                  <a:tcPr>
                    <a:solidFill>
                      <a:srgbClr val="000000"/>
                    </a:solidFill>
                  </a:tcPr>
                </a:tc>
                <a:tc>
                  <a:txBody>
                    <a:bodyPr/>
                    <a:lstStyle/>
                    <a:p>
                      <a:r>
                        <a:rPr b="1" sz="1100">
                          <a:solidFill>
                            <a:srgbClr val="FFFFFF"/>
                          </a:solidFill>
                        </a:rPr>
                        <a:t>Proposed Goal Notes</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See @foga2017, @skakun2022, @zhu2012, and @zhu2015.</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ST</a:t>
                      </a:r>
                    </a:p>
                  </a:txBody>
                  <a:tcPr>
                    <a:solidFill>
                      <a:srgbClr val="F2F2F2"/>
                    </a:solidFill>
                  </a:tcPr>
                </a:tc>
                <a:tc>
                  <a:txBody>
                    <a:bodyPr/>
                    <a:lstStyle/>
                    <a:p>
                      <a:r>
                        <a:rPr sz="1000"/>
                        <a:t>(no notes)</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NLSR, SR</a:t>
                      </a:r>
                    </a:p>
                  </a:txBody>
                  <a:tcPr>
                    <a:solidFill>
                      <a:srgbClr val="FFFFFF"/>
                    </a:solidFill>
                  </a:tcPr>
                </a:tc>
                <a:tc>
                  <a:txBody>
                    <a:bodyPr/>
                    <a:lstStyle/>
                    <a:p>
                      <a:r>
                        <a:rPr sz="1000"/>
                        <a:t>(no notes)</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sp>
        <p:nvSpPr>
          <p:cNvPr id="6" name="TextBox 5"/>
          <p:cNvSpPr txBox="1"/>
          <p:nvPr/>
        </p:nvSpPr>
        <p:spPr>
          <a:xfrm>
            <a:off x="457200" y="5432450"/>
            <a:ext cx="11277295" cy="950976"/>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a:p>
            <a:r>
              <a:rPr sz="1200" i="1"/>
              <a:t/>
            </a:r>
          </a:p>
          <a:p>
            <a:r>
              <a:rPr sz="1200" i="1"/>
              <a:t>Agreed to adopt the requirement with this simplified wording (matches the ST 6.0 texts; GitHub issue #112).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Cloud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Cloud</a:t>
            </a:r>
          </a:p>
          <a:p>
            <a:r>
              <a:rPr sz="1100">
                <a:latin typeface="Consolas"/>
              </a:rPr>
              <a:t>requirements:</a:t>
            </a:r>
          </a:p>
          <a:p>
            <a:r>
              <a:rPr sz="1100">
                <a:latin typeface="Consolas"/>
              </a:rPr>
              <a:t>  threshold:</a:t>
            </a:r>
          </a:p>
          <a:p>
            <a:r>
              <a:rPr sz="1100">
                <a:latin typeface="Consolas"/>
              </a:rPr>
              <a:t>    description: Specification of whether a pixel is cloud-affected.</a:t>
            </a:r>
          </a:p>
          <a:p>
            <a:r>
              <a:rPr sz="1100">
                <a:latin typeface="Consolas"/>
              </a:rPr>
              <a:t>  goal:</a:t>
            </a:r>
          </a:p>
          <a:p>
            <a:r>
              <a:rPr sz="1100">
                <a:latin typeface="Consolas"/>
              </a:rPr>
              <a:t>    description: As threshold, but information on cloud type or confidence is included.</a:t>
            </a:r>
          </a:p>
          <a:p>
            <a:r>
              <a:rPr sz="1100">
                <a:latin typeface="Consolas"/>
              </a:rPr>
              <a:t>    optional: true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Cloud Shadow</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73152">
                <a:tc>
                  <a:txBody>
                    <a:bodyPr/>
                    <a:lstStyle/>
                    <a:p>
                      <a:r>
                        <a:rPr sz="1000" b="1"/>
                        <a:t>AR</a:t>
                      </a:r>
                    </a:p>
                    <a:p>
                      <a:r>
                        <a:rPr sz="1000" i="1">
                          <a:solidFill>
                            <a:srgbClr val="808080"/>
                          </a:solidFill>
                        </a:rPr>
                        <a:t>(baseline)</a:t>
                      </a:r>
                    </a:p>
                  </a:txBody>
                  <a:tcPr>
                    <a:solidFill>
                      <a:srgbClr val="FFFFFF"/>
                    </a:solidFill>
                  </a:tcPr>
                </a:tc>
                <a:tc>
                  <a:txBody>
                    <a:bodyPr/>
                    <a:lstStyle/>
                    <a:p>
                      <a:r>
                        <a:rPr sz="1000"/>
                        <a:t>Specification of whether a pixel is cloud shadow or cloud shadow-affected.</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NLSR</a:t>
                      </a:r>
                    </a:p>
                  </a:txBody>
                  <a:tcPr>
                    <a:solidFill>
                      <a:srgbClr val="F2F2F2"/>
                    </a:solidFill>
                  </a:tcPr>
                </a:tc>
                <a:tc>
                  <a:txBody>
                    <a:bodyPr/>
                    <a:lstStyle/>
                    <a:p>
                      <a:r>
                        <a:rPr sz="1000"/>
                        <a:t>(not set)</a:t>
                      </a:r>
                    </a:p>
                  </a:txBody>
                  <a:tcPr>
                    <a:solidFill>
                      <a:srgbClr val="F2F2F2"/>
                    </a:solidFill>
                  </a:tcPr>
                </a:tc>
                <a:tc>
                  <a:txBody>
                    <a:bodyPr/>
                    <a:lstStyle/>
                    <a:p>
                      <a:r>
                        <a:rPr sz="1000" i="1">
                          <a:solidFill>
                            <a:srgbClr val="808080"/>
                          </a:solidFill>
                        </a:rPr>
                        <a:t>(keep as is)</a:t>
                      </a:r>
                    </a:p>
                  </a:txBody>
                  <a:tcPr>
                    <a:solidFill>
                      <a:srgbClr val="F2F2F2"/>
                    </a:solidFill>
                  </a:tcPr>
                </a:tc>
              </a:tr>
              <a:tr h="73152">
                <a:tc>
                  <a:txBody>
                    <a:bodyPr/>
                    <a:lstStyle/>
                    <a:p>
                      <a:r>
                        <a:rPr sz="1000" b="1"/>
                        <a:t>ST</a:t>
                      </a:r>
                    </a:p>
                  </a:txBody>
                  <a:tcPr>
                    <a:solidFill>
                      <a:srgbClr val="FFFFFF"/>
                    </a:solidFill>
                  </a:tcPr>
                </a:tc>
                <a:tc>
                  <a:txBody>
                    <a:bodyPr/>
                    <a:lstStyle/>
                    <a:p>
                      <a:r>
                        <a:rPr sz="1000"/>
                        <a:t>(not set)</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SR</a:t>
                      </a:r>
                    </a:p>
                  </a:txBody>
                  <a:tcPr>
                    <a:solidFill>
                      <a:srgbClr val="F2F2F2"/>
                    </a:solidFill>
                  </a:tcPr>
                </a:tc>
                <a:tc>
                  <a:txBody>
                    <a:bodyPr/>
                    <a:lstStyle/>
                    <a:p>
                      <a:r>
                        <a:rPr sz="1000"/>
                        <a:t>Metadata indicates</a:t>
                      </a:r>
                      <a:r>
                        <a:rPr sz="1000">
                          <a:solidFill>
                            <a:srgbClr val="1565C0"/>
                          </a:solidFill>
                        </a:rPr>
                        <a:t> whether a pixel is </a:t>
                      </a:r>
                      <a:r>
                        <a:rPr sz="1000"/>
                        <a:t>assessed as being</a:t>
                      </a:r>
                      <a:r>
                        <a:rPr sz="1000">
                          <a:solidFill>
                            <a:srgbClr val="1565C0"/>
                          </a:solidFill>
                        </a:rPr>
                        <a:t> cloud shadow</a:t>
                      </a:r>
                      <a:r>
                        <a:rPr sz="1000"/>
                        <a:t>.</a:t>
                      </a:r>
                    </a:p>
                  </a:txBody>
                  <a:tcPr>
                    <a:solidFill>
                      <a:srgbClr val="F2F2F2"/>
                    </a:solidFill>
                  </a:tcPr>
                </a:tc>
                <a:tc>
                  <a:txBody>
                    <a:bodyPr/>
                    <a:lstStyle/>
                    <a:p>
                      <a:r>
                        <a:rPr sz="1000" strike="sngStrike">
                          <a:solidFill>
                            <a:srgbClr val="B00000"/>
                          </a:solidFill>
                        </a:rPr>
                        <a:t>Metadata indicates</a:t>
                      </a:r>
                      <a:r>
                        <a:rPr sz="1000" b="1">
                          <a:solidFill>
                            <a:srgbClr val="2E7D32"/>
                          </a:solidFill>
                        </a:rPr>
                        <a:t>Specification of</a:t>
                      </a:r>
                      <a:r>
                        <a:rPr sz="1000"/>
                        <a:t> whether a pixel is </a:t>
                      </a:r>
                      <a:r>
                        <a:rPr sz="1000" strike="sngStrike">
                          <a:solidFill>
                            <a:srgbClr val="B00000"/>
                          </a:solidFill>
                        </a:rPr>
                        <a:t>assessed as being </a:t>
                      </a:r>
                      <a:r>
                        <a:rPr sz="1000"/>
                        <a:t>cloud shadow</a:t>
                      </a:r>
                      <a:r>
                        <a:rPr sz="1000" b="1">
                          <a:solidFill>
                            <a:srgbClr val="2E7D32"/>
                          </a:solidFill>
                        </a:rPr>
                        <a:t>-affected</a:t>
                      </a:r>
                      <a:r>
                        <a:rPr sz="1000"/>
                        <a:t>.</a:t>
                      </a:r>
                    </a:p>
                  </a:txBody>
                  <a:tcPr>
                    <a:solidFill>
                      <a:srgbClr val="F2F2F2"/>
                    </a:solidFill>
                  </a:tcPr>
                </a:tc>
              </a:tr>
            </a:tbl>
          </a:graphicData>
        </a:graphic>
      </p:graphicFrame>
      <p:graphicFrame>
        <p:nvGraphicFramePr>
          <p:cNvPr id="4" name="Table 3"/>
          <p:cNvGraphicFramePr>
            <a:graphicFrameLocks noGrp="1"/>
          </p:cNvGraphicFramePr>
          <p:nvPr/>
        </p:nvGraphicFramePr>
        <p:xfrm>
          <a:off x="457200" y="2944368"/>
          <a:ext cx="11265408" cy="365760"/>
        </p:xfrm>
        <a:graphic>
          <a:graphicData uri="http://schemas.openxmlformats.org/drawingml/2006/table">
            <a:tbl>
              <a:tblPr>
                <a:tableStyleId>{5C22544A-7EE6-4342-B048-85BDC9FD1C3A}</a:tableStyleId>
              </a:tblPr>
              <a:tblGrid>
                <a:gridCol w="914400"/>
                <a:gridCol w="5175504"/>
                <a:gridCol w="5175504"/>
              </a:tblGrid>
              <a:tr h="73152">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73152">
                <a:tc>
                  <a:txBody>
                    <a:bodyPr/>
                    <a:lstStyle/>
                    <a:p>
                      <a:r>
                        <a:rPr sz="1000" b="1"/>
                        <a:t>AR</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NLSR</a:t>
                      </a:r>
                    </a:p>
                    <a:p>
                      <a:r>
                        <a:rPr sz="1000" i="1">
                          <a:solidFill>
                            <a:srgbClr val="808080"/>
                          </a:solidFill>
                        </a:rPr>
                        <a:t>(baseline)</a:t>
                      </a:r>
                    </a:p>
                  </a:txBody>
                  <a:tcPr>
                    <a:solidFill>
                      <a:srgbClr val="F2F2F2"/>
                    </a:solidFill>
                  </a:tcPr>
                </a:tc>
                <a:tc>
                  <a:txBody>
                    <a:bodyPr/>
                    <a:lstStyle/>
                    <a:p>
                      <a:r>
                        <a:rPr sz="1000"/>
                        <a:t>Metadata indicates whether a pixel is assessed as being cloud shadow.</a:t>
                      </a:r>
                    </a:p>
                    <a:p>
                      <a:r>
                        <a:rPr sz="1000"/>
                        <a:t>Information on cloud shadow detection should be available in the metadata as a single DOI landing page.</a:t>
                      </a:r>
                    </a:p>
                    <a:p>
                      <a:r>
                        <a:rPr sz="1000" i="1">
                          <a:solidFill>
                            <a:srgbClr val="808080"/>
                          </a:solidFill>
                        </a:rPr>
                        <a:t>(optional)</a:t>
                      </a:r>
                    </a:p>
                  </a:txBody>
                  <a:tcPr>
                    <a:solidFill>
                      <a:srgbClr val="F2F2F2"/>
                    </a:solidFill>
                  </a:tcPr>
                </a:tc>
                <a:tc>
                  <a:txBody>
                    <a:bodyPr/>
                    <a:lstStyle/>
                    <a:p>
                      <a:r>
                        <a:rPr sz="1000" strike="sngStrike">
                          <a:solidFill>
                            <a:srgbClr val="B00000"/>
                          </a:solidFill>
                        </a:rPr>
                        <a:t>Metadata indicates</a:t>
                      </a:r>
                      <a:r>
                        <a:rPr sz="1000" b="1">
                          <a:solidFill>
                            <a:srgbClr val="2E7D32"/>
                          </a:solidFill>
                        </a:rPr>
                        <a:t>Specification of</a:t>
                      </a:r>
                      <a:r>
                        <a:rPr sz="1000"/>
                        <a:t> whether a pixel is </a:t>
                      </a:r>
                      <a:r>
                        <a:rPr sz="1000" strike="sngStrike">
                          <a:solidFill>
                            <a:srgbClr val="B00000"/>
                          </a:solidFill>
                        </a:rPr>
                        <a:t>assessed as being </a:t>
                      </a:r>
                      <a:r>
                        <a:rPr sz="1000"/>
                        <a:t>cloud shadow</a:t>
                      </a:r>
                      <a:r>
                        <a:rPr sz="1000" strike="sngStrike">
                          <a:solidFill>
                            <a:srgbClr val="B00000"/>
                          </a:solidFill>
                        </a:rPr>
                        <a:t>.</a:t>
                      </a:r>
                    </a:p>
                    <a:p>
                      <a:r>
                        <a:rPr sz="1000" strike="sngStrike">
                          <a:solidFill>
                            <a:srgbClr val="B00000"/>
                          </a:solidFill>
                        </a:rPr>
                        <a:t>Information on cloud shadow detection should be available in the metadata as a single DOI landing page</a:t>
                      </a:r>
                      <a:r>
                        <a:rPr sz="1000" b="1">
                          <a:solidFill>
                            <a:srgbClr val="2E7D32"/>
                          </a:solidFill>
                        </a:rPr>
                        <a:t>-affected</a:t>
                      </a:r>
                      <a:r>
                        <a:rPr sz="1000"/>
                        <a:t>.</a:t>
                      </a:r>
                    </a:p>
                  </a:txBody>
                  <a:tcPr>
                    <a:solidFill>
                      <a:srgbClr val="F2F2F2"/>
                    </a:solidFill>
                  </a:tcPr>
                </a:tc>
              </a:tr>
              <a:tr h="73152">
                <a:tc>
                  <a:txBody>
                    <a:bodyPr/>
                    <a:lstStyle/>
                    <a:p>
                      <a:r>
                        <a:rPr sz="1000" b="1"/>
                        <a:t>ST</a:t>
                      </a:r>
                    </a:p>
                  </a:txBody>
                  <a:tcPr>
                    <a:solidFill>
                      <a:srgbClr val="FFFFFF"/>
                    </a:solidFill>
                  </a:tcPr>
                </a:tc>
                <a:tc>
                  <a:txBody>
                    <a:bodyPr/>
                    <a:lstStyle/>
                    <a:p>
                      <a:r>
                        <a:rPr sz="1000" strike="sngStrike">
                          <a:solidFill>
                            <a:srgbClr val="B00000"/>
                          </a:solidFill>
                        </a:rPr>
                        <a:t>Metadata indicates</a:t>
                      </a:r>
                      <a:r>
                        <a:rPr sz="1000" b="1">
                          <a:solidFill>
                            <a:srgbClr val="2E7D32"/>
                          </a:solidFill>
                        </a:rPr>
                        <a:t>Specification of</a:t>
                      </a:r>
                      <a:r>
                        <a:rPr sz="1000"/>
                        <a:t> whether a pixel is </a:t>
                      </a:r>
                      <a:r>
                        <a:rPr sz="1000" strike="sngStrike">
                          <a:solidFill>
                            <a:srgbClr val="B00000"/>
                          </a:solidFill>
                        </a:rPr>
                        <a:t>assessed as being </a:t>
                      </a:r>
                      <a:r>
                        <a:rPr sz="1000"/>
                        <a:t>cloud shadow</a:t>
                      </a:r>
                      <a:r>
                        <a:rPr sz="1000" strike="sngStrike">
                          <a:solidFill>
                            <a:srgbClr val="B00000"/>
                          </a:solidFill>
                        </a:rPr>
                        <a:t>.</a:t>
                      </a:r>
                    </a:p>
                    <a:p>
                      <a:r>
                        <a:rPr sz="1000" strike="sngStrike">
                          <a:solidFill>
                            <a:srgbClr val="B00000"/>
                          </a:solidFill>
                        </a:rPr>
                        <a:t>Information on cloud shadow detection should be available in the metadata as a single DOI landing page</a:t>
                      </a:r>
                      <a:r>
                        <a:rPr sz="1000" b="1">
                          <a:solidFill>
                            <a:srgbClr val="2E7D32"/>
                          </a:solidFill>
                        </a:rPr>
                        <a:t>-affected</a:t>
                      </a:r>
                      <a:r>
                        <a:rPr sz="1000"/>
                        <a:t>.</a:t>
                      </a:r>
                    </a:p>
                    <a:p>
                      <a:r>
                        <a:rPr sz="1000" i="1">
                          <a:solidFill>
                            <a:srgbClr val="808080"/>
                          </a:solidFill>
                        </a:rPr>
                        <a:t>(optional)</a:t>
                      </a:r>
                    </a:p>
                  </a:txBody>
                  <a:tcPr>
                    <a:solidFill>
                      <a:srgbClr val="FFFFFF"/>
                    </a:solidFill>
                  </a:tcPr>
                </a:tc>
                <a:tc>
                  <a:txBody>
                    <a:bodyPr/>
                    <a:lstStyle/>
                    <a:p>
                      <a:r>
                        <a:rPr sz="1000" i="1">
                          <a:solidFill>
                            <a:srgbClr val="808080"/>
                          </a:solidFill>
                        </a:rPr>
                        <a:t>(keep as is)</a:t>
                      </a:r>
                    </a:p>
                  </a:txBody>
                  <a:tcPr>
                    <a:solidFill>
                      <a:srgbClr val="FFFFFF"/>
                    </a:solidFill>
                  </a:tcPr>
                </a:tc>
              </a:tr>
              <a:tr h="73152">
                <a:tc>
                  <a:txBody>
                    <a:bodyPr/>
                    <a:lstStyle/>
                    <a:p>
                      <a:r>
                        <a:rPr sz="1000" b="1"/>
                        <a:t>SR</a:t>
                      </a:r>
                    </a:p>
                  </a:txBody>
                  <a:tcPr>
                    <a:solidFill>
                      <a:srgbClr val="F2F2F2"/>
                    </a:solidFill>
                  </a:tcPr>
                </a:tc>
                <a:tc>
                  <a:txBody>
                    <a:bodyPr/>
                    <a:lstStyle/>
                    <a:p>
                      <a:r>
                        <a:rPr sz="1000" strike="sngStrike">
                          <a:solidFill>
                            <a:srgbClr val="B00000"/>
                          </a:solidFill>
                        </a:rPr>
                        <a:t>Metadata indicates whether a pixel is assessed as being cloud shadow.</a:t>
                      </a:r>
                    </a:p>
                    <a:p>
                      <a:r>
                        <a:rPr sz="1000" strike="sngStrike">
                          <a:solidFill>
                            <a:srgbClr val="B00000"/>
                          </a:solidFill>
                        </a:rPr>
                        <a:t>I</a:t>
                      </a:r>
                      <a:r>
                        <a:rPr sz="1000" b="1">
                          <a:solidFill>
                            <a:srgbClr val="2E7D32"/>
                          </a:solidFill>
                        </a:rPr>
                        <a:t>As threshold, but i</a:t>
                      </a:r>
                      <a:r>
                        <a:rPr sz="1000"/>
                        <a:t>nformation on cloud shadow detection should be available in the metadata as a single DOI landing page.</a:t>
                      </a:r>
                    </a:p>
                    <a:p>
                      <a:r>
                        <a:rPr sz="1000" i="1">
                          <a:solidFill>
                            <a:srgbClr val="808080"/>
                          </a:solidFill>
                        </a:rPr>
                        <a:t>(optional)</a:t>
                      </a:r>
                    </a:p>
                  </a:txBody>
                  <a:tcPr>
                    <a:solidFill>
                      <a:srgbClr val="F2F2F2"/>
                    </a:solidFill>
                  </a:tcPr>
                </a:tc>
                <a:tc>
                  <a:txBody>
                    <a:bodyPr/>
                    <a:lstStyle/>
                    <a:p>
                      <a:r>
                        <a:rPr sz="1000" i="1">
                          <a:solidFill>
                            <a:srgbClr val="808080"/>
                          </a:solidFill>
                        </a:rPr>
                        <a:t>(keep as is)</a:t>
                      </a:r>
                    </a:p>
                  </a:txBody>
                  <a:tcPr>
                    <a:solidFill>
                      <a:srgbClr val="F2F2F2"/>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Cloud Shadow (cont.)</a:t>
            </a:r>
          </a:p>
        </p:txBody>
      </p:sp>
      <p:sp>
        <p:nvSpPr>
          <p:cNvPr id="3" name="TextBox 2"/>
          <p:cNvSpPr txBox="1"/>
          <p:nvPr/>
        </p:nvSpPr>
        <p:spPr>
          <a:xfrm>
            <a:off x="457200" y="1005840"/>
            <a:ext cx="11277295" cy="1143000"/>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a:p>
            <a:r>
              <a:rPr sz="1200" i="1"/>
              <a:t/>
            </a:r>
          </a:p>
          <a:p>
            <a:r>
              <a:rPr sz="1200" i="1"/>
              <a:t>Agreed to use the AR PFS wording with "cloud shadow or cloud shadow-affected" merged to simply "cloud shadow-affected". ST keeps it as a goal-only requirement (limited suitability for non-reflectance methods) — likely a requirement that stays unique for the ST PFS.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Cloud Shadow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Cloud Shadow</a:t>
            </a:r>
          </a:p>
          <a:p>
            <a:r>
              <a:rPr sz="1100">
                <a:latin typeface="Consolas"/>
              </a:rPr>
              <a:t>requirements:</a:t>
            </a:r>
          </a:p>
          <a:p>
            <a:r>
              <a:rPr sz="1100">
                <a:latin typeface="Consolas"/>
              </a:rPr>
              <a:t>  goal:</a:t>
            </a:r>
          </a:p>
          <a:p>
            <a:r>
              <a:rPr sz="1100">
                <a:latin typeface="Consolas"/>
              </a:rPr>
              <a:t>    description: Specification of whether a pixel is cloud shadow-affected.  # TODO: not aligned yet, see comparison</a:t>
            </a:r>
          </a:p>
          <a:p>
            <a:r>
              <a:rPr sz="1100">
                <a:latin typeface="Consolas"/>
              </a:rPr>
              <a:t>    optional: true  # TODO: not aligned yet, see comparison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per-pixel/incomplete-testing-*</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Title</a:t>
                      </a:r>
                    </a:p>
                  </a:txBody>
                  <a:tcPr>
                    <a:solidFill>
                      <a:srgbClr val="000000"/>
                    </a:solidFill>
                  </a:tcPr>
                </a:tc>
                <a:tc>
                  <a:txBody>
                    <a:bodyPr/>
                    <a:lstStyle/>
                    <a:p>
                      <a:r>
                        <a:rPr b="1" sz="1100">
                          <a:solidFill>
                            <a:srgbClr val="FFFFFF"/>
                          </a:solidFill>
                        </a:rPr>
                        <a:t>Proposed Title</a:t>
                      </a:r>
                    </a:p>
                  </a:txBody>
                  <a:tcPr>
                    <a:solidFill>
                      <a:srgbClr val="000000"/>
                    </a:solidFill>
                  </a:tcPr>
                </a:tc>
              </a:tr>
              <a:tr h="91440">
                <a:tc>
                  <a:txBody>
                    <a:bodyPr/>
                    <a:lstStyle/>
                    <a:p>
                      <a:r>
                        <a:rPr sz="1000" b="1"/>
                        <a:t>AR</a:t>
                      </a:r>
                    </a:p>
                  </a:txBody>
                  <a:tcPr>
                    <a:solidFill>
                      <a:srgbClr val="FFFFFF"/>
                    </a:solidFill>
                  </a:tcPr>
                </a:tc>
                <a:tc>
                  <a:txBody>
                    <a:bodyPr/>
                    <a:lstStyle/>
                    <a:p>
                      <a:r>
                        <a:rPr sz="1000"/>
                        <a:t>Per-pixel Assessment</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ST</a:t>
                      </a:r>
                    </a:p>
                    <a:p>
                      <a:r>
                        <a:rPr sz="1000" i="1">
                          <a:solidFill>
                            <a:srgbClr val="808080"/>
                          </a:solidFill>
                        </a:rPr>
                        <a:t>(baseline)</a:t>
                      </a:r>
                    </a:p>
                  </a:txBody>
                  <a:tcPr>
                    <a:solidFill>
                      <a:srgbClr val="F2F2F2"/>
                    </a:solidFill>
                  </a:tcPr>
                </a:tc>
                <a:tc>
                  <a:txBody>
                    <a:bodyPr/>
                    <a:lstStyle/>
                    <a:p>
                      <a:r>
                        <a:rPr sz="1000"/>
                        <a:t>Incomplete Testing</a:t>
                      </a:r>
                    </a:p>
                  </a:txBody>
                  <a:tcPr>
                    <a:solidFill>
                      <a:srgbClr val="F2F2F2"/>
                    </a:solidFill>
                  </a:tcPr>
                </a:tc>
                <a:tc>
                  <a:txBody>
                    <a:bodyPr/>
                    <a:lstStyle/>
                    <a:p>
                      <a:r>
                        <a:rPr sz="1000"/>
                        <a:t>Per-pixel Assessment</a:t>
                      </a:r>
                    </a:p>
                  </a:txBody>
                  <a:tcPr>
                    <a:solidFill>
                      <a:srgbClr val="F2F2F2"/>
                    </a:solidFill>
                  </a:tcPr>
                </a:tc>
              </a:tr>
              <a:tr h="91440">
                <a:tc>
                  <a:txBody>
                    <a:bodyPr/>
                    <a:lstStyle/>
                    <a:p>
                      <a:r>
                        <a:rPr sz="1000" b="1"/>
                        <a:t>NLSR, SR</a:t>
                      </a:r>
                    </a:p>
                  </a:txBody>
                  <a:tcPr>
                    <a:solidFill>
                      <a:srgbClr val="FFFFFF"/>
                    </a:solidFill>
                  </a:tcPr>
                </a:tc>
                <a:tc>
                  <a:txBody>
                    <a:bodyPr/>
                    <a:lstStyle/>
                    <a:p>
                      <a:r>
                        <a:rPr sz="1000"/>
                        <a:t>Incomplete Testing</a:t>
                      </a:r>
                    </a:p>
                  </a:txBody>
                  <a:tcPr>
                    <a:solidFill>
                      <a:srgbClr val="FFFFFF"/>
                    </a:solidFill>
                  </a:tcPr>
                </a:tc>
                <a:tc>
                  <a:txBody>
                    <a:bodyPr/>
                    <a:lstStyle/>
                    <a:p>
                      <a:r>
                        <a:rPr sz="1000"/>
                        <a:t>Per-pixel Assessment</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523744"/>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Identifies pixels for which the per-pixel tests (below) have not all been successfully completed.</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ST</a:t>
                      </a:r>
                    </a:p>
                  </a:txBody>
                  <a:tcPr>
                    <a:solidFill>
                      <a:srgbClr val="F2F2F2"/>
                    </a:solidFill>
                  </a:tcPr>
                </a:tc>
                <a:tc>
                  <a:txBody>
                    <a:bodyPr/>
                    <a:lstStyle/>
                    <a:p>
                      <a:r>
                        <a:rPr sz="1000"/>
                        <a:t>Identifies pixels for which the per-pixel tests (</a:t>
                      </a:r>
                      <a:r>
                        <a:rPr sz="1000" strike="sngStrike">
                          <a:solidFill>
                            <a:srgbClr val="B00000"/>
                          </a:solidFill>
                        </a:rPr>
                        <a:t>below</a:t>
                      </a:r>
                      <a:r>
                        <a:rPr sz="1000" b="1">
                          <a:solidFill>
                            <a:srgbClr val="2E7D32"/>
                          </a:solidFill>
                        </a:rPr>
                        <a:t>2.3, 2.4, 2.6</a:t>
                      </a:r>
                      <a:r>
                        <a:rPr sz="1000"/>
                        <a:t>) have not all been successfully completed.</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NLSR, SR</a:t>
                      </a:r>
                    </a:p>
                  </a:txBody>
                  <a:tcPr>
                    <a:solidFill>
                      <a:srgbClr val="FFFFFF"/>
                    </a:solidFill>
                  </a:tcPr>
                </a:tc>
                <a:tc>
                  <a:txBody>
                    <a:bodyPr/>
                    <a:lstStyle/>
                    <a:p>
                      <a:r>
                        <a:rPr sz="1000" strike="sngStrike">
                          <a:solidFill>
                            <a:srgbClr val="B00000"/>
                          </a:solidFill>
                        </a:rPr>
                        <a:t>I</a:t>
                      </a:r>
                      <a:r>
                        <a:rPr sz="1000" b="1">
                          <a:solidFill>
                            <a:srgbClr val="2E7D32"/>
                          </a:solidFill>
                        </a:rPr>
                        <a:t>The metadata i</a:t>
                      </a:r>
                      <a:r>
                        <a:rPr sz="1000"/>
                        <a:t>dentifies pixels for which the per-pixel tests (below) have not all been successfully completed.</a:t>
                      </a:r>
                    </a:p>
                  </a:txBody>
                  <a:tcPr>
                    <a:solidFill>
                      <a:srgbClr val="FFFFFF"/>
                    </a:solidFill>
                  </a:tcPr>
                </a:tc>
                <a:tc>
                  <a:txBody>
                    <a:bodyPr/>
                    <a:lstStyle/>
                    <a:p>
                      <a:r>
                        <a:rPr sz="1000" strike="sngStrike">
                          <a:solidFill>
                            <a:srgbClr val="B00000"/>
                          </a:solidFill>
                        </a:rPr>
                        <a:t>The metadata i</a:t>
                      </a:r>
                      <a:r>
                        <a:rPr sz="1000" b="1">
                          <a:solidFill>
                            <a:srgbClr val="2E7D32"/>
                          </a:solidFill>
                        </a:rPr>
                        <a:t>I</a:t>
                      </a:r>
                      <a:r>
                        <a:rPr sz="1000"/>
                        <a:t>dentifies pixels for which the per-pixel tests (below) have not all been successfully completed.</a:t>
                      </a:r>
                    </a:p>
                  </a:txBody>
                  <a:tcPr>
                    <a:solidFill>
                      <a:srgbClr val="FFFFFF"/>
                    </a:solidFill>
                  </a:tcPr>
                </a:tc>
              </a:tr>
            </a:tbl>
          </a:graphicData>
        </a:graphic>
      </p:graphicFrame>
      <p:graphicFrame>
        <p:nvGraphicFramePr>
          <p:cNvPr id="5" name="Table 4"/>
          <p:cNvGraphicFramePr>
            <a:graphicFrameLocks noGrp="1"/>
          </p:cNvGraphicFramePr>
          <p:nvPr/>
        </p:nvGraphicFramePr>
        <p:xfrm>
          <a:off x="457200" y="4352544"/>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Identifies which tests have and have not been successfully completed for each pixel.</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ST</a:t>
                      </a:r>
                    </a:p>
                  </a:txBody>
                  <a:tcPr>
                    <a:solidFill>
                      <a:srgbClr val="F2F2F2"/>
                    </a:solidFill>
                  </a:tcPr>
                </a:tc>
                <a:tc>
                  <a:txBody>
                    <a:bodyPr/>
                    <a:lstStyle/>
                    <a:p>
                      <a:r>
                        <a:rPr sz="1000"/>
                        <a:t>Identifies which tests</a:t>
                      </a:r>
                      <a:r>
                        <a:rPr sz="1000" b="1">
                          <a:solidFill>
                            <a:srgbClr val="2E7D32"/>
                          </a:solidFill>
                        </a:rPr>
                        <a:t> (2.3, 2.4, 2.5, 2.6, 2.8)</a:t>
                      </a:r>
                      <a:r>
                        <a:rPr sz="1000"/>
                        <a:t> have and have not been successfully completed for each pixel.</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NLSR, SR</a:t>
                      </a:r>
                    </a:p>
                  </a:txBody>
                  <a:tcPr>
                    <a:solidFill>
                      <a:srgbClr val="FFFFFF"/>
                    </a:solidFill>
                  </a:tcPr>
                </a:tc>
                <a:tc>
                  <a:txBody>
                    <a:bodyPr/>
                    <a:lstStyle/>
                    <a:p>
                      <a:r>
                        <a:rPr sz="1000" strike="sngStrike">
                          <a:solidFill>
                            <a:srgbClr val="B00000"/>
                          </a:solidFill>
                        </a:rPr>
                        <a:t>I</a:t>
                      </a:r>
                      <a:r>
                        <a:rPr sz="1000" b="1">
                          <a:solidFill>
                            <a:srgbClr val="2E7D32"/>
                          </a:solidFill>
                        </a:rPr>
                        <a:t>The metadata i</a:t>
                      </a:r>
                      <a:r>
                        <a:rPr sz="1000"/>
                        <a:t>dentifies which tests have</a:t>
                      </a:r>
                      <a:r>
                        <a:rPr sz="1000" b="1">
                          <a:solidFill>
                            <a:srgbClr val="2E7D32"/>
                          </a:solidFill>
                        </a:rPr>
                        <a:t>,</a:t>
                      </a:r>
                      <a:r>
                        <a:rPr sz="1000"/>
                        <a:t> and have not</a:t>
                      </a:r>
                      <a:r>
                        <a:rPr sz="1000" b="1">
                          <a:solidFill>
                            <a:srgbClr val="2E7D32"/>
                          </a:solidFill>
                        </a:rPr>
                        <a:t>,</a:t>
                      </a:r>
                      <a:r>
                        <a:rPr sz="1000"/>
                        <a:t> been successfully completed for each pixel.</a:t>
                      </a:r>
                    </a:p>
                  </a:txBody>
                  <a:tcPr>
                    <a:solidFill>
                      <a:srgbClr val="FFFFFF"/>
                    </a:solidFill>
                  </a:tcPr>
                </a:tc>
                <a:tc>
                  <a:txBody>
                    <a:bodyPr/>
                    <a:lstStyle/>
                    <a:p>
                      <a:r>
                        <a:rPr sz="1000" strike="sngStrike">
                          <a:solidFill>
                            <a:srgbClr val="B00000"/>
                          </a:solidFill>
                        </a:rPr>
                        <a:t>The metadata i</a:t>
                      </a:r>
                      <a:r>
                        <a:rPr sz="1000" b="1">
                          <a:solidFill>
                            <a:srgbClr val="2E7D32"/>
                          </a:solidFill>
                        </a:rPr>
                        <a:t>I</a:t>
                      </a:r>
                      <a:r>
                        <a:rPr sz="1000"/>
                        <a:t>dentifies which tests have</a:t>
                      </a:r>
                      <a:r>
                        <a:rPr sz="1000" strike="sngStrike">
                          <a:solidFill>
                            <a:srgbClr val="B00000"/>
                          </a:solidFill>
                        </a:rPr>
                        <a:t>,</a:t>
                      </a:r>
                      <a:r>
                        <a:rPr sz="1000"/>
                        <a:t> and have not</a:t>
                      </a:r>
                      <a:r>
                        <a:rPr sz="1000" strike="sngStrike">
                          <a:solidFill>
                            <a:srgbClr val="B00000"/>
                          </a:solidFill>
                        </a:rPr>
                        <a:t>,</a:t>
                      </a:r>
                      <a:r>
                        <a:rPr sz="1000"/>
                        <a:t> been successfully completed for each pixel.</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per-pixel/incomplete-testing-* (cont.)</a:t>
            </a:r>
          </a:p>
        </p:txBody>
      </p:sp>
      <p:sp>
        <p:nvSpPr>
          <p:cNvPr id="3" name="TextBox 2"/>
          <p:cNvSpPr txBox="1"/>
          <p:nvPr/>
        </p:nvSpPr>
        <p:spPr>
          <a:xfrm>
            <a:off x="457200" y="1005840"/>
            <a:ext cx="11277295" cy="1335024"/>
          </a:xfrm>
          <a:prstGeom prst="rect">
            <a:avLst/>
          </a:prstGeom>
          <a:noFill/>
        </p:spPr>
        <p:txBody>
          <a:bodyPr wrap="square" lIns="0" rIns="0" tIns="0" bIns="0">
            <a:spAutoFit/>
          </a:bodyPr>
          <a:lstStyle/>
          <a:p>
            <a:r>
              <a:rPr sz="1200" b="1"/>
              <a:t>Internal notes: </a:t>
            </a:r>
            <a:r>
              <a:rPr sz="1200" i="1"/>
              <a:t>ST added the explicit per-pixel test numbers deliberately (specifying them aids metadata machine readability and automated assessment), recognising that this diverges from the other PFS.</a:t>
            </a:r>
          </a:p>
          <a:p>
            <a:r>
              <a:rPr sz="1200" i="1"/>
              <a:t/>
            </a:r>
          </a:p>
          <a:p>
            <a:r>
              <a:rPr sz="1200" i="1"/>
              <a:t>For ST: the hard-coded test numbers (2.3, 2.4, …) in the descriptions do not work in the building blocks — the requirement numbering is generated per PFS — and need to be changed (e.g. to cross-references).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per-pixel/incomplete-testing-*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Per-pixel Assessment</a:t>
            </a:r>
          </a:p>
          <a:p>
            <a:r>
              <a:rPr sz="1100">
                <a:latin typeface="Consolas"/>
              </a:rPr>
              <a:t>requirements:</a:t>
            </a:r>
          </a:p>
          <a:p>
            <a:r>
              <a:rPr sz="1100">
                <a:latin typeface="Consolas"/>
              </a:rPr>
              <a:t>  threshold:</a:t>
            </a:r>
          </a:p>
          <a:p>
            <a:r>
              <a:rPr sz="1100">
                <a:latin typeface="Consolas"/>
              </a:rPr>
              <a:t>    description: Identifies pixels for which the per-pixel tests (below) have not all been successfully completed.  # TODO: not aligned yet, see comparison</a:t>
            </a:r>
          </a:p>
          <a:p>
            <a:r>
              <a:rPr sz="1100">
                <a:latin typeface="Consolas"/>
              </a:rPr>
              <a:t>    notes:</a:t>
            </a:r>
          </a:p>
          <a:p>
            <a:r>
              <a:rPr sz="1100">
                <a:latin typeface="Consolas"/>
              </a:rPr>
              <a:t>      - This may be the result of missing ancillary data for a subset of the pixels.</a:t>
            </a:r>
          </a:p>
          <a:p>
            <a:r>
              <a:rPr sz="1100">
                <a:latin typeface="Consolas"/>
              </a:rPr>
              <a:t>  goal:</a:t>
            </a:r>
          </a:p>
          <a:p>
            <a:r>
              <a:rPr sz="1100">
                <a:latin typeface="Consolas"/>
              </a:rPr>
              <a:t>    description: Identifies which tests have and have not been successfully completed for each pixel.  # TODO: not aligned yet, see comparison</a:t>
            </a:r>
          </a:p>
          <a:p>
            <a:r>
              <a:rPr sz="1100">
                <a:latin typeface="Consolas"/>
              </a:rPr>
              <a:t>    optional: true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per-pixel/land-water-*</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Title</a:t>
                      </a:r>
                    </a:p>
                  </a:txBody>
                  <a:tcPr>
                    <a:solidFill>
                      <a:srgbClr val="000000"/>
                    </a:solidFill>
                  </a:tcPr>
                </a:tc>
                <a:tc>
                  <a:txBody>
                    <a:bodyPr/>
                    <a:lstStyle/>
                    <a:p>
                      <a:r>
                        <a:rPr b="1" sz="1100">
                          <a:solidFill>
                            <a:srgbClr val="FFFFFF"/>
                          </a:solidFill>
                        </a:rPr>
                        <a:t>Proposed Title</a:t>
                      </a:r>
                    </a:p>
                  </a:txBody>
                  <a:tcPr>
                    <a:solidFill>
                      <a:srgbClr val="000000"/>
                    </a:solidFill>
                  </a:tcPr>
                </a:tc>
              </a:tr>
              <a:tr h="91440">
                <a:tc>
                  <a:txBody>
                    <a:bodyPr/>
                    <a:lstStyle/>
                    <a:p>
                      <a:r>
                        <a:rPr sz="1000" b="1"/>
                        <a:t>AR</a:t>
                      </a:r>
                    </a:p>
                  </a:txBody>
                  <a:tcPr>
                    <a:solidFill>
                      <a:srgbClr val="FFFFFF"/>
                    </a:solidFill>
                  </a:tcPr>
                </a:tc>
                <a:tc>
                  <a:txBody>
                    <a:bodyPr/>
                    <a:lstStyle/>
                    <a:p>
                      <a:r>
                        <a:rPr sz="1000"/>
                        <a:t>Land</a:t>
                      </a:r>
                      <a:r>
                        <a:rPr sz="1000" strike="sngStrike">
                          <a:solidFill>
                            <a:srgbClr val="B00000"/>
                          </a:solidFill>
                        </a:rPr>
                        <a:t>/Water Mask</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a:t>
                      </a:r>
                    </a:p>
                    <a:p>
                      <a:r>
                        <a:rPr sz="1000" i="1">
                          <a:solidFill>
                            <a:srgbClr val="808080"/>
                          </a:solidFill>
                        </a:rPr>
                        <a:t>(baseline)</a:t>
                      </a:r>
                    </a:p>
                  </a:txBody>
                  <a:tcPr>
                    <a:solidFill>
                      <a:srgbClr val="F2F2F2"/>
                    </a:solidFill>
                  </a:tcPr>
                </a:tc>
                <a:tc>
                  <a:txBody>
                    <a:bodyPr/>
                    <a:lstStyle/>
                    <a:p>
                      <a:r>
                        <a:rPr sz="1000"/>
                        <a:t>Land/Water Mask</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SR</a:t>
                      </a:r>
                    </a:p>
                  </a:txBody>
                  <a:tcPr>
                    <a:solidFill>
                      <a:srgbClr val="FFFFFF"/>
                    </a:solidFill>
                  </a:tcPr>
                </a:tc>
                <a:tc>
                  <a:txBody>
                    <a:bodyPr/>
                    <a:lstStyle/>
                    <a:p>
                      <a:r>
                        <a:rPr sz="1000"/>
                        <a:t>Land/Water Mask</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523744"/>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Specification of whether a pixel is less than 100% water covered due to land.</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a:t>
                      </a:r>
                    </a:p>
                  </a:txBody>
                  <a:tcPr>
                    <a:solidFill>
                      <a:srgbClr val="F2F2F2"/>
                    </a:solidFill>
                  </a:tcPr>
                </a:tc>
                <a:tc>
                  <a:txBody>
                    <a:bodyPr/>
                    <a:lstStyle/>
                    <a:p>
                      <a:r>
                        <a:rPr sz="1000"/>
                        <a:t>Metadata indicates</a:t>
                      </a:r>
                      <a:r>
                        <a:rPr sz="1000">
                          <a:solidFill>
                            <a:srgbClr val="1565C0"/>
                          </a:solidFill>
                        </a:rPr>
                        <a:t> whether a pixel is l</a:t>
                      </a:r>
                      <a:r>
                        <a:rPr sz="1000"/>
                        <a:t>and or water</a:t>
                      </a:r>
                      <a:r>
                        <a:rPr sz="1000"/>
                        <a:t>.</a:t>
                      </a:r>
                    </a:p>
                  </a:txBody>
                  <a:tcPr>
                    <a:solidFill>
                      <a:srgbClr val="F2F2F2"/>
                    </a:solidFill>
                  </a:tcPr>
                </a:tc>
                <a:tc>
                  <a:txBody>
                    <a:bodyPr/>
                    <a:lstStyle/>
                    <a:p>
                      <a:r>
                        <a:rPr sz="1000" strike="sngStrike">
                          <a:solidFill>
                            <a:srgbClr val="B00000"/>
                          </a:solidFill>
                        </a:rPr>
                        <a:t>Metadata indicates</a:t>
                      </a:r>
                      <a:r>
                        <a:rPr sz="1000" b="1">
                          <a:solidFill>
                            <a:srgbClr val="2E7D32"/>
                          </a:solidFill>
                        </a:rPr>
                        <a:t>Specification of</a:t>
                      </a:r>
                      <a:r>
                        <a:rPr sz="1000"/>
                        <a:t> whether a pixel is land or water</a:t>
                      </a:r>
                      <a:r>
                        <a:rPr sz="1000" strike="sngStrike">
                          <a:solidFill>
                            <a:srgbClr val="B00000"/>
                          </a:solidFill>
                        </a:rPr>
                        <a:t>.</a:t>
                      </a:r>
                    </a:p>
                  </a:txBody>
                  <a:tcPr>
                    <a:solidFill>
                      <a:srgbClr val="F2F2F2"/>
                    </a:solidFill>
                  </a:tcPr>
                </a:tc>
              </a:tr>
              <a:tr h="91440">
                <a:tc>
                  <a:txBody>
                    <a:bodyPr/>
                    <a:lstStyle/>
                    <a:p>
                      <a:r>
                        <a:rPr sz="1000" b="1"/>
                        <a:t>SR</a:t>
                      </a:r>
                    </a:p>
                  </a:txBody>
                  <a:tcPr>
                    <a:solidFill>
                      <a:srgbClr val="FFFFFF"/>
                    </a:solidFill>
                  </a:tcPr>
                </a:tc>
                <a:tc>
                  <a:txBody>
                    <a:bodyPr/>
                    <a:lstStyle/>
                    <a:p>
                      <a:r>
                        <a:rPr sz="1000"/>
                        <a:t>(not set)</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graphicFrame>
        <p:nvGraphicFramePr>
          <p:cNvPr id="5" name="Table 4"/>
          <p:cNvGraphicFramePr>
            <a:graphicFrameLocks noGrp="1"/>
          </p:cNvGraphicFramePr>
          <p:nvPr/>
        </p:nvGraphicFramePr>
        <p:xfrm>
          <a:off x="457200" y="4041648"/>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Notes</a:t>
                      </a:r>
                    </a:p>
                  </a:txBody>
                  <a:tcPr>
                    <a:solidFill>
                      <a:srgbClr val="000000"/>
                    </a:solidFill>
                  </a:tcPr>
                </a:tc>
                <a:tc>
                  <a:txBody>
                    <a:bodyPr/>
                    <a:lstStyle/>
                    <a:p>
                      <a:r>
                        <a:rPr b="1" sz="1100">
                          <a:solidFill>
                            <a:srgbClr val="FFFFFF"/>
                          </a:solidFill>
                        </a:rPr>
                        <a:t>Proposed Threshold Notes</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See @jones2019, @mikelsons2021, and @pekel2016.</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a:t>
                      </a:r>
                    </a:p>
                  </a:txBody>
                  <a:tcPr>
                    <a:solidFill>
                      <a:srgbClr val="F2F2F2"/>
                    </a:solidFill>
                  </a:tcPr>
                </a:tc>
                <a:tc>
                  <a:txBody>
                    <a:bodyPr/>
                    <a:lstStyle/>
                    <a:p>
                      <a:r>
                        <a:rPr sz="1000"/>
                        <a:t>(no notes)</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SR</a:t>
                      </a:r>
                    </a:p>
                  </a:txBody>
                  <a:tcPr>
                    <a:solidFill>
                      <a:srgbClr val="FFFFFF"/>
                    </a:solidFill>
                  </a:tcPr>
                </a:tc>
                <a:tc>
                  <a:txBody>
                    <a:bodyPr/>
                    <a:lstStyle/>
                    <a:p>
                      <a:r>
                        <a:rPr sz="1000"/>
                        <a:t>(no notes)</a:t>
                      </a:r>
                    </a:p>
                  </a:txBody>
                  <a:tcPr>
                    <a:solidFill>
                      <a:srgbClr val="FFFFFF"/>
                    </a:solidFill>
                  </a:tcPr>
                </a:tc>
                <a:tc>
                  <a:txBody>
                    <a:bodyPr/>
                    <a:lstStyle/>
                    <a:p>
                      <a:r>
                        <a:rPr sz="1000" i="1">
                          <a:solidFill>
                            <a:srgbClr val="808080"/>
                          </a:solidFill>
                        </a:rPr>
                        <a:t>(keep as is)</a:t>
                      </a:r>
                    </a:p>
                  </a:txBody>
                  <a:tcPr>
                    <a:solidFill>
                      <a:srgbClr val="FFFFFF"/>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per-pixel/land-water-* (cont.)</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91440">
                <a:tc>
                  <a:txBody>
                    <a:bodyPr/>
                    <a:lstStyle/>
                    <a:p>
                      <a:r>
                        <a:rPr sz="1000" b="1"/>
                        <a:t>AR</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r>
                        <a:rPr sz="1000" i="1">
                          <a:solidFill>
                            <a:srgbClr val="808080"/>
                          </a:solidFill>
                        </a:rPr>
                        <a:t>(keep as is)</a:t>
                      </a:r>
                    </a:p>
                  </a:txBody>
                  <a:tcPr>
                    <a:solidFill>
                      <a:srgbClr val="FFFFFF"/>
                    </a:solidFill>
                  </a:tcPr>
                </a:tc>
              </a:tr>
              <a:tr h="91440">
                <a:tc>
                  <a:txBody>
                    <a:bodyPr/>
                    <a:lstStyle/>
                    <a:p>
                      <a:r>
                        <a:rPr sz="1000" b="1"/>
                        <a:t>NLSR</a:t>
                      </a:r>
                    </a:p>
                    <a:p>
                      <a:r>
                        <a:rPr sz="1000" i="1">
                          <a:solidFill>
                            <a:srgbClr val="808080"/>
                          </a:solidFill>
                        </a:rPr>
                        <a:t>(baseline)</a:t>
                      </a:r>
                    </a:p>
                  </a:txBody>
                  <a:tcPr>
                    <a:solidFill>
                      <a:srgbClr val="F2F2F2"/>
                    </a:solidFill>
                  </a:tcPr>
                </a:tc>
                <a:tc>
                  <a:txBody>
                    <a:bodyPr/>
                    <a:lstStyle/>
                    <a:p>
                      <a:r>
                        <a:rPr sz="1000"/>
                        <a:t>As threshold, information on land/water mask should be available in the metadata as a single DOI landing page.</a:t>
                      </a:r>
                    </a:p>
                    <a:p>
                      <a:r>
                        <a:rPr sz="1000" i="1">
                          <a:solidFill>
                            <a:srgbClr val="808080"/>
                          </a:solidFill>
                        </a:rPr>
                        <a:t>(optional)</a:t>
                      </a:r>
                    </a:p>
                  </a:txBody>
                  <a:tcPr>
                    <a:solidFill>
                      <a:srgbClr val="F2F2F2"/>
                    </a:solidFill>
                  </a:tcPr>
                </a:tc>
                <a:tc>
                  <a:txBody>
                    <a:bodyPr/>
                    <a:lstStyle/>
                    <a:p>
                      <a:r>
                        <a:rPr sz="1000"/>
                        <a:t>As threshold</a:t>
                      </a:r>
                      <a:r>
                        <a:rPr sz="1000" strike="sngStrike">
                          <a:solidFill>
                            <a:srgbClr val="B00000"/>
                          </a:solidFill>
                        </a:rPr>
                        <a:t>, information on land/water mask should be available in the metadata as a single DOI landing page.</a:t>
                      </a:r>
                    </a:p>
                  </a:txBody>
                  <a:tcPr>
                    <a:solidFill>
                      <a:srgbClr val="F2F2F2"/>
                    </a:solidFill>
                  </a:tcPr>
                </a:tc>
              </a:tr>
              <a:tr h="91440">
                <a:tc>
                  <a:txBody>
                    <a:bodyPr/>
                    <a:lstStyle/>
                    <a:p>
                      <a:r>
                        <a:rPr sz="1000" b="1"/>
                        <a:t>SR</a:t>
                      </a:r>
                    </a:p>
                  </a:txBody>
                  <a:tcPr>
                    <a:solidFill>
                      <a:srgbClr val="FFFFFF"/>
                    </a:solidFill>
                  </a:tcPr>
                </a:tc>
                <a:tc>
                  <a:txBody>
                    <a:bodyPr/>
                    <a:lstStyle/>
                    <a:p>
                      <a:r>
                        <a:rPr sz="1000" strike="sngStrike">
                          <a:solidFill>
                            <a:srgbClr val="B00000"/>
                          </a:solidFill>
                        </a:rPr>
                        <a:t>As threshold, i</a:t>
                      </a:r>
                      <a:r>
                        <a:rPr sz="1000" b="1">
                          <a:solidFill>
                            <a:srgbClr val="2E7D32"/>
                          </a:solidFill>
                        </a:rPr>
                        <a:t>The metadata indicates whether a pixel is assessed as being land or water. I</a:t>
                      </a:r>
                      <a:r>
                        <a:rPr sz="1000"/>
                        <a:t>nformation on land/water mask should be available in the metadata as a single DOI landing page.</a:t>
                      </a:r>
                    </a:p>
                    <a:p>
                      <a:r>
                        <a:rPr sz="1000" i="1">
                          <a:solidFill>
                            <a:srgbClr val="808080"/>
                          </a:solidFill>
                        </a:rPr>
                        <a:t>(optional)</a:t>
                      </a:r>
                    </a:p>
                  </a:txBody>
                  <a:tcPr>
                    <a:solidFill>
                      <a:srgbClr val="FFFFFF"/>
                    </a:solidFill>
                  </a:tcPr>
                </a:tc>
                <a:tc>
                  <a:txBody>
                    <a:bodyPr/>
                    <a:lstStyle/>
                    <a:p>
                      <a:r>
                        <a:rPr sz="1000" strike="sngStrike">
                          <a:solidFill>
                            <a:srgbClr val="B00000"/>
                          </a:solidFill>
                        </a:rPr>
                        <a:t>The metadata indicates</a:t>
                      </a:r>
                      <a:r>
                        <a:rPr sz="1000" b="1">
                          <a:solidFill>
                            <a:srgbClr val="2E7D32"/>
                          </a:solidFill>
                        </a:rPr>
                        <a:t>Specification of</a:t>
                      </a:r>
                      <a:r>
                        <a:rPr sz="1000"/>
                        <a:t> whether a pixel is </a:t>
                      </a:r>
                      <a:r>
                        <a:rPr sz="1000" strike="sngStrike">
                          <a:solidFill>
                            <a:srgbClr val="B00000"/>
                          </a:solidFill>
                        </a:rPr>
                        <a:t>assessed as being </a:t>
                      </a:r>
                      <a:r>
                        <a:rPr sz="1000"/>
                        <a:t>land or water</a:t>
                      </a:r>
                      <a:r>
                        <a:rPr sz="1000" strike="sngStrike">
                          <a:solidFill>
                            <a:srgbClr val="B00000"/>
                          </a:solidFill>
                        </a:rPr>
                        <a:t>. Information on land/water mask should be available in the metadata as a single DOI landing page.</a:t>
                      </a:r>
                    </a:p>
                  </a:txBody>
                  <a:tcPr>
                    <a:solidFill>
                      <a:srgbClr val="FFFFFF"/>
                    </a:solidFill>
                  </a:tcPr>
                </a:tc>
              </a:tr>
            </a:tbl>
          </a:graphicData>
        </a:graphic>
      </p:graphicFrame>
      <p:sp>
        <p:nvSpPr>
          <p:cNvPr id="4" name="TextBox 3"/>
          <p:cNvSpPr txBox="1"/>
          <p:nvPr/>
        </p:nvSpPr>
        <p:spPr>
          <a:xfrm>
            <a:off x="457200" y="3163275"/>
            <a:ext cx="11277295" cy="1335024"/>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a:p>
            <a:r>
              <a:rPr sz="1200" i="1"/>
              <a:t/>
            </a:r>
          </a:p>
          <a:p>
            <a:r>
              <a:rPr sz="1200" i="1"/>
              <a:t>ST replaced its Snow/Ice requirement with a combined "Surface" requirement (threshold: land or water, including the information source and other relevant surface characteristic classification; goal: as threshold, plus snow or ice; external data sources listed under Auxiliary Data) — could be considered for the other optical PFS.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per-pixel/land-water-*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Land/Water Mask  # TODO: not aligned yet, see comparison</a:t>
            </a:r>
          </a:p>
          <a:p>
            <a:r>
              <a:rPr sz="1100">
                <a:latin typeface="Consolas"/>
              </a:rPr>
              <a:t>requirements:</a:t>
            </a:r>
          </a:p>
          <a:p>
            <a:r>
              <a:rPr sz="1100">
                <a:latin typeface="Consolas"/>
              </a:rPr>
              <a:t>  threshold:</a:t>
            </a:r>
          </a:p>
          <a:p>
            <a:r>
              <a:rPr sz="1100">
                <a:latin typeface="Consolas"/>
              </a:rPr>
              <a:t>    description: Specification of whether a pixel is less than 100% water covered due to land.  # TODO: not aligned yet, see comparison</a:t>
            </a:r>
          </a:p>
          <a:p>
            <a:r>
              <a:rPr sz="1100">
                <a:latin typeface="Consolas"/>
              </a:rPr>
              <a:t>  goal:</a:t>
            </a:r>
          </a:p>
          <a:p>
            <a:r>
              <a:rPr sz="1100">
                <a:latin typeface="Consolas"/>
              </a:rPr>
              <a:t>    optional: true  # TODO: not aligned yet, see comparison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No Data</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9144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91440">
                <a:tc>
                  <a:txBody>
                    <a:bodyPr/>
                    <a:lstStyle/>
                    <a:p>
                      <a:r>
                        <a:rPr sz="1000" b="1"/>
                        <a:t>AR</a:t>
                      </a:r>
                    </a:p>
                    <a:p>
                      <a:r>
                        <a:rPr sz="1000" i="1">
                          <a:solidFill>
                            <a:srgbClr val="808080"/>
                          </a:solidFill>
                        </a:rPr>
                        <a:t>(baseline)</a:t>
                      </a:r>
                    </a:p>
                  </a:txBody>
                  <a:tcPr>
                    <a:solidFill>
                      <a:srgbClr val="FFFFFF"/>
                    </a:solidFill>
                  </a:tcPr>
                </a:tc>
                <a:tc>
                  <a:txBody>
                    <a:bodyPr/>
                    <a:lstStyle/>
                    <a:p>
                      <a:r>
                        <a:rPr sz="1000"/>
                        <a:t>Pixels that do not correspond to an observation (e.g., empty pixels / invalid observations / below noise floor) are masked.</a:t>
                      </a:r>
                    </a:p>
                  </a:txBody>
                  <a:tcPr>
                    <a:solidFill>
                      <a:srgbClr val="FFFFFF"/>
                    </a:solidFill>
                  </a:tcPr>
                </a:tc>
                <a:tc>
                  <a:txBody>
                    <a:bodyPr/>
                    <a:lstStyle/>
                    <a:p>
                      <a:r>
                        <a:rPr sz="1000">
                          <a:solidFill>
                            <a:srgbClr val="1565C0"/>
                          </a:solidFill>
                        </a:rPr>
                        <a:t>Pixels that do not correspond to an observation (</a:t>
                      </a:r>
                      <a:r>
                        <a:rPr sz="1000"/>
                        <a:t>‘No Data / Invalid / Falsified / Valid / Modelled’) are flagg</a:t>
                      </a:r>
                      <a:r>
                        <a:rPr sz="1000"/>
                        <a:t>ed.</a:t>
                      </a:r>
                    </a:p>
                  </a:txBody>
                  <a:tcPr>
                    <a:solidFill>
                      <a:srgbClr val="FFFFFF"/>
                    </a:solidFill>
                  </a:tcPr>
                </a:tc>
              </a:tr>
              <a:tr h="91440">
                <a:tc>
                  <a:txBody>
                    <a:bodyPr/>
                    <a:lstStyle/>
                    <a:p>
                      <a:r>
                        <a:rPr sz="1000" b="1"/>
                        <a:t>ST</a:t>
                      </a:r>
                    </a:p>
                  </a:txBody>
                  <a:tcPr>
                    <a:solidFill>
                      <a:srgbClr val="F2F2F2"/>
                    </a:solidFill>
                  </a:tcPr>
                </a:tc>
                <a:tc>
                  <a:txBody>
                    <a:bodyPr/>
                    <a:lstStyle/>
                    <a:p>
                      <a:r>
                        <a:rPr sz="1000">
                          <a:solidFill>
                            <a:srgbClr val="1565C0"/>
                          </a:solidFill>
                        </a:rPr>
                        <a:t>Pixels that do not correspond to an observation (</a:t>
                      </a:r>
                      <a:r>
                        <a:rPr sz="1000"/>
                        <a:t>‘No Data / Invalid / Falsified / Valid / Modelled’) are flagg</a:t>
                      </a:r>
                      <a:r>
                        <a:rPr sz="1000"/>
                        <a:t>ed.</a:t>
                      </a:r>
                    </a:p>
                  </a:txBody>
                  <a:tcPr>
                    <a:solidFill>
                      <a:srgbClr val="F2F2F2"/>
                    </a:solidFill>
                  </a:tcPr>
                </a:tc>
                <a:tc>
                  <a:txBody>
                    <a:bodyPr/>
                    <a:lstStyle/>
                    <a:p>
                      <a:r>
                        <a:rPr sz="1000" i="1">
                          <a:solidFill>
                            <a:srgbClr val="808080"/>
                          </a:solidFill>
                        </a:rPr>
                        <a:t>(keep as is)</a:t>
                      </a:r>
                    </a:p>
                  </a:txBody>
                  <a:tcPr>
                    <a:solidFill>
                      <a:srgbClr val="F2F2F2"/>
                    </a:solidFill>
                  </a:tcPr>
                </a:tc>
              </a:tr>
              <a:tr h="91440">
                <a:tc>
                  <a:txBody>
                    <a:bodyPr/>
                    <a:lstStyle/>
                    <a:p>
                      <a:r>
                        <a:rPr sz="1000" b="1"/>
                        <a:t>NLSR, SR</a:t>
                      </a:r>
                    </a:p>
                  </a:txBody>
                  <a:tcPr>
                    <a:solidFill>
                      <a:srgbClr val="FFFFFF"/>
                    </a:solidFill>
                  </a:tcPr>
                </a:tc>
                <a:tc>
                  <a:txBody>
                    <a:bodyPr/>
                    <a:lstStyle/>
                    <a:p>
                      <a:r>
                        <a:rPr sz="1000"/>
                        <a:t>Pixels that do not correspond to an observation (</a:t>
                      </a:r>
                      <a:r>
                        <a:rPr sz="1000" strike="sngStrike">
                          <a:solidFill>
                            <a:srgbClr val="B00000"/>
                          </a:solidFill>
                        </a:rPr>
                        <a:t>e.g., </a:t>
                      </a:r>
                      <a:r>
                        <a:rPr sz="1000" b="1">
                          <a:solidFill>
                            <a:srgbClr val="2E7D32"/>
                          </a:solidFill>
                        </a:rPr>
                        <a:t>‘</a:t>
                      </a:r>
                      <a:r>
                        <a:rPr sz="1000"/>
                        <a:t>empty pixels</a:t>
                      </a:r>
                      <a:r>
                        <a:rPr sz="1000" strike="sngStrike">
                          <a:solidFill>
                            <a:srgbClr val="B00000"/>
                          </a:solidFill>
                        </a:rPr>
                        <a:t> / invalid observations / below noise floor) are mask</a:t>
                      </a:r>
                      <a:r>
                        <a:rPr sz="1000" b="1">
                          <a:solidFill>
                            <a:srgbClr val="2E7D32"/>
                          </a:solidFill>
                        </a:rPr>
                        <a:t>’) are flagg</a:t>
                      </a:r>
                      <a:r>
                        <a:rPr sz="1000"/>
                        <a:t>ed.</a:t>
                      </a:r>
                    </a:p>
                  </a:txBody>
                  <a:tcPr>
                    <a:solidFill>
                      <a:srgbClr val="FFFFFF"/>
                    </a:solidFill>
                  </a:tcPr>
                </a:tc>
                <a:tc>
                  <a:txBody>
                    <a:bodyPr/>
                    <a:lstStyle/>
                    <a:p>
                      <a:r>
                        <a:rPr sz="1000"/>
                        <a:t>Pixels that do not correspond to an observation (‘</a:t>
                      </a:r>
                      <a:r>
                        <a:rPr sz="1000" strike="sngStrike">
                          <a:solidFill>
                            <a:srgbClr val="B00000"/>
                          </a:solidFill>
                        </a:rPr>
                        <a:t>empty pixels</a:t>
                      </a:r>
                      <a:r>
                        <a:rPr sz="1000" b="1">
                          <a:solidFill>
                            <a:srgbClr val="2E7D32"/>
                          </a:solidFill>
                        </a:rPr>
                        <a:t>No Data / Invalid / Falsified / Valid / Modelled</a:t>
                      </a:r>
                      <a:r>
                        <a:rPr sz="1000"/>
                        <a:t>’) are flagged.</a:t>
                      </a:r>
                    </a:p>
                  </a:txBody>
                  <a:tcPr>
                    <a:solidFill>
                      <a:srgbClr val="FFFFFF"/>
                    </a:solidFill>
                  </a:tcPr>
                </a:tc>
              </a:tr>
            </a:tbl>
          </a:graphicData>
        </a:graphic>
      </p:graphicFrame>
      <p:sp>
        <p:nvSpPr>
          <p:cNvPr id="4" name="TextBox 3"/>
          <p:cNvSpPr txBox="1"/>
          <p:nvPr/>
        </p:nvSpPr>
        <p:spPr>
          <a:xfrm>
            <a:off x="457200" y="2724912"/>
            <a:ext cx="11277295" cy="566928"/>
          </a:xfrm>
          <a:prstGeom prst="rect">
            <a:avLst/>
          </a:prstGeom>
          <a:noFill/>
        </p:spPr>
        <p:txBody>
          <a:bodyPr wrap="square" lIns="0" rIns="0" tIns="0" bIns="0">
            <a:spAutoFit/>
          </a:bodyPr>
          <a:lstStyle/>
          <a:p>
            <a:r>
              <a:rPr sz="1200" b="1"/>
              <a:t>Internal notes: </a:t>
            </a:r>
            <a:r>
              <a:rPr sz="1200" i="1"/>
              <a:t>ST proposes all other optical PFS adopt the five-class flag wording, addressing Peter's comment in issue #4.</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No Data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No Data</a:t>
            </a:r>
          </a:p>
          <a:p>
            <a:r>
              <a:rPr sz="1100">
                <a:latin typeface="Consolas"/>
              </a:rPr>
              <a:t>requirements:</a:t>
            </a:r>
          </a:p>
          <a:p>
            <a:r>
              <a:rPr sz="1100">
                <a:latin typeface="Consolas"/>
              </a:rPr>
              <a:t>  threshold:</a:t>
            </a:r>
          </a:p>
          <a:p>
            <a:r>
              <a:rPr sz="1100">
                <a:latin typeface="Consolas"/>
              </a:rPr>
              <a:t>    description: Pixels that do not correspond to an observation (‘No Data / Invalid / Falsified / Valid / Modelled’) are flagged.</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Saturation</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AR, ST</a:t>
                      </a:r>
                    </a:p>
                    <a:p>
                      <a:r>
                        <a:rPr sz="1000" i="1">
                          <a:solidFill>
                            <a:srgbClr val="808080"/>
                          </a:solidFill>
                        </a:rPr>
                        <a:t>(baseline)</a:t>
                      </a:r>
                    </a:p>
                  </a:txBody>
                  <a:tcPr>
                    <a:solidFill>
                      <a:srgbClr val="FFFFFF"/>
                    </a:solidFill>
                  </a:tcPr>
                </a:tc>
                <a:tc>
                  <a:txBody>
                    <a:bodyPr/>
                    <a:lstStyle/>
                    <a:p>
                      <a:r>
                        <a:rPr sz="1000"/>
                        <a:t>Specification of whether there is pixel radiometric saturation at Level 1 in one or more spectral bands.</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NLSR, SR</a:t>
                      </a:r>
                    </a:p>
                  </a:txBody>
                  <a:tcPr>
                    <a:solidFill>
                      <a:srgbClr val="F2F2F2"/>
                    </a:solidFill>
                  </a:tcPr>
                </a:tc>
                <a:tc>
                  <a:txBody>
                    <a:bodyPr/>
                    <a:lstStyle/>
                    <a:p>
                      <a:r>
                        <a:rPr sz="1000"/>
                        <a:t>Metadata indicates where</a:t>
                      </a:r>
                      <a:r>
                        <a:rPr sz="1000">
                          <a:solidFill>
                            <a:srgbClr val="1565C0"/>
                          </a:solidFill>
                        </a:rPr>
                        <a:t> one or more</a:t>
                      </a:r>
                      <a:r>
                        <a:rPr sz="1000"/>
                        <a:t> pixel in the input</a:t>
                      </a:r>
                      <a:r>
                        <a:rPr sz="1000">
                          <a:solidFill>
                            <a:srgbClr val="1565C0"/>
                          </a:solidFill>
                        </a:rPr>
                        <a:t> spectral bands</a:t>
                      </a:r>
                      <a:r>
                        <a:rPr sz="1000"/>
                        <a:t> are saturated</a:t>
                      </a:r>
                      <a:r>
                        <a:rPr sz="1000"/>
                        <a:t>.</a:t>
                      </a:r>
                    </a:p>
                  </a:txBody>
                  <a:tcPr>
                    <a:solidFill>
                      <a:srgbClr val="F2F2F2"/>
                    </a:solidFill>
                  </a:tcPr>
                </a:tc>
                <a:tc>
                  <a:txBody>
                    <a:bodyPr/>
                    <a:lstStyle/>
                    <a:p>
                      <a:r>
                        <a:rPr sz="1000"/>
                        <a:t>Specification of whether there is pixel radiometric saturation at Level 1 in</a:t>
                      </a:r>
                      <a:r>
                        <a:rPr sz="1000">
                          <a:solidFill>
                            <a:srgbClr val="1565C0"/>
                          </a:solidFill>
                        </a:rPr>
                        <a:t> one or more</a:t>
                      </a:r>
                      <a:r>
                        <a:rPr sz="1000">
                          <a:solidFill>
                            <a:srgbClr val="1565C0"/>
                          </a:solidFill>
                        </a:rPr>
                        <a:t> spectral bands</a:t>
                      </a:r>
                      <a:r>
                        <a:rPr sz="1000"/>
                        <a:t>.</a:t>
                      </a:r>
                    </a:p>
                  </a:txBody>
                  <a:tcPr>
                    <a:solidFill>
                      <a:srgbClr val="F2F2F2"/>
                    </a:solidFill>
                  </a:tcPr>
                </a:tc>
              </a:tr>
            </a:tbl>
          </a:graphicData>
        </a:graphic>
      </p:graphicFrame>
      <p:graphicFrame>
        <p:nvGraphicFramePr>
          <p:cNvPr id="4" name="Table 3"/>
          <p:cNvGraphicFramePr>
            <a:graphicFrameLocks noGrp="1"/>
          </p:cNvGraphicFramePr>
          <p:nvPr/>
        </p:nvGraphicFramePr>
        <p:xfrm>
          <a:off x="457200" y="2414016"/>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121920">
                <a:tc>
                  <a:txBody>
                    <a:bodyPr/>
                    <a:lstStyle/>
                    <a:p>
                      <a:r>
                        <a:rPr sz="1000" b="1"/>
                        <a:t>AR, ST</a:t>
                      </a:r>
                    </a:p>
                    <a:p>
                      <a:r>
                        <a:rPr sz="1000" i="1">
                          <a:solidFill>
                            <a:srgbClr val="808080"/>
                          </a:solidFill>
                        </a:rPr>
                        <a:t>(baseline)</a:t>
                      </a:r>
                    </a:p>
                  </a:txBody>
                  <a:tcPr>
                    <a:solidFill>
                      <a:srgbClr val="FFFFFF"/>
                    </a:solidFill>
                  </a:tcPr>
                </a:tc>
                <a:tc>
                  <a:txBody>
                    <a:bodyPr/>
                    <a:lstStyle/>
                    <a:p>
                      <a:r>
                        <a:rPr sz="1000"/>
                        <a:t>As threshold, with specification of which pixels are radiometrically saturated for each spectral band.</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NLSR, SR</a:t>
                      </a:r>
                    </a:p>
                  </a:txBody>
                  <a:tcPr>
                    <a:solidFill>
                      <a:srgbClr val="F2F2F2"/>
                    </a:solidFill>
                  </a:tcPr>
                </a:tc>
                <a:tc>
                  <a:txBody>
                    <a:bodyPr/>
                    <a:lstStyle/>
                    <a:p>
                      <a:r>
                        <a:rPr sz="1000" strike="sngStrike">
                          <a:solidFill>
                            <a:srgbClr val="B00000"/>
                          </a:solidFill>
                        </a:rPr>
                        <a:t>As threshold, with specification of</a:t>
                      </a:r>
                      <a:r>
                        <a:rPr sz="1000" b="1">
                          <a:solidFill>
                            <a:srgbClr val="2E7D32"/>
                          </a:solidFill>
                        </a:rPr>
                        <a:t>Metadata indicates</a:t>
                      </a:r>
                      <a:r>
                        <a:rPr sz="1000"/>
                        <a:t> which pixels are</a:t>
                      </a:r>
                      <a:r>
                        <a:rPr sz="1000" strike="sngStrike">
                          <a:solidFill>
                            <a:srgbClr val="B00000"/>
                          </a:solidFill>
                        </a:rPr>
                        <a:t> radiometrically</a:t>
                      </a:r>
                      <a:r>
                        <a:rPr sz="1000"/>
                        <a:t> saturated for each spectral band.</a:t>
                      </a:r>
                    </a:p>
                  </a:txBody>
                  <a:tcPr>
                    <a:solidFill>
                      <a:srgbClr val="F2F2F2"/>
                    </a:solidFill>
                  </a:tcPr>
                </a:tc>
                <a:tc>
                  <a:txBody>
                    <a:bodyPr/>
                    <a:lstStyle/>
                    <a:p>
                      <a:r>
                        <a:rPr sz="1000" strike="sngStrike">
                          <a:solidFill>
                            <a:srgbClr val="B00000"/>
                          </a:solidFill>
                        </a:rPr>
                        <a:t>Metadata indicates</a:t>
                      </a:r>
                      <a:r>
                        <a:rPr sz="1000" b="1">
                          <a:solidFill>
                            <a:srgbClr val="2E7D32"/>
                          </a:solidFill>
                        </a:rPr>
                        <a:t>As threshold, with specification of</a:t>
                      </a:r>
                      <a:r>
                        <a:rPr sz="1000"/>
                        <a:t> which pixels are</a:t>
                      </a:r>
                      <a:r>
                        <a:rPr sz="1000" b="1">
                          <a:solidFill>
                            <a:srgbClr val="2E7D32"/>
                          </a:solidFill>
                        </a:rPr>
                        <a:t> radiometrically</a:t>
                      </a:r>
                      <a:r>
                        <a:rPr sz="1000"/>
                        <a:t> saturated for each spectral band.</a:t>
                      </a:r>
                    </a:p>
                  </a:txBody>
                  <a:tcPr>
                    <a:solidFill>
                      <a:srgbClr val="F2F2F2"/>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Saturation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Saturation</a:t>
            </a:r>
          </a:p>
          <a:p>
            <a:r>
              <a:rPr sz="1100">
                <a:latin typeface="Consolas"/>
              </a:rPr>
              <a:t>requirements:</a:t>
            </a:r>
          </a:p>
          <a:p>
            <a:r>
              <a:rPr sz="1100">
                <a:latin typeface="Consolas"/>
              </a:rPr>
              <a:t>  threshold:</a:t>
            </a:r>
          </a:p>
          <a:p>
            <a:r>
              <a:rPr sz="1100">
                <a:latin typeface="Consolas"/>
              </a:rPr>
              <a:t>    description: Specification of whether there is pixel radiometric saturation at Level 1 in one or more spectral bands.</a:t>
            </a:r>
          </a:p>
          <a:p>
            <a:r>
              <a:rPr sz="1100">
                <a:latin typeface="Consolas"/>
              </a:rPr>
              <a:t>  goal:</a:t>
            </a:r>
          </a:p>
          <a:p>
            <a:r>
              <a:rPr sz="1100">
                <a:latin typeface="Consolas"/>
              </a:rPr>
              <a:t>    description: As threshold, with specification of which pixels are radiometrically saturated for each spectral band.</a:t>
            </a:r>
          </a:p>
          <a:p>
            <a:r>
              <a:rPr sz="1100">
                <a:latin typeface="Consolas"/>
              </a:rPr>
              <a:t>    optional: true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Snow/Ice Mask</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NLSR</a:t>
                      </a:r>
                    </a:p>
                    <a:p>
                      <a:r>
                        <a:rPr sz="1000" i="1">
                          <a:solidFill>
                            <a:srgbClr val="808080"/>
                          </a:solidFill>
                        </a:rPr>
                        <a:t>(baseline)</a:t>
                      </a:r>
                    </a:p>
                  </a:txBody>
                  <a:tcPr>
                    <a:solidFill>
                      <a:srgbClr val="FFFFFF"/>
                    </a:solidFill>
                  </a:tcPr>
                </a:tc>
                <a:tc>
                  <a:txBody>
                    <a:bodyPr/>
                    <a:lstStyle/>
                    <a:p>
                      <a:r>
                        <a:rPr sz="1000"/>
                        <a:t>Metadata indicates whether a pixel is snow/ice.</a:t>
                      </a:r>
                    </a:p>
                  </a:txBody>
                  <a:tcPr>
                    <a:solidFill>
                      <a:srgbClr val="FFFFFF"/>
                    </a:solidFill>
                  </a:tcPr>
                </a:tc>
                <a:tc>
                  <a:txBody>
                    <a:bodyPr/>
                    <a:lstStyle/>
                    <a:p>
                      <a:r>
                        <a:rPr sz="1000" strike="sngStrike">
                          <a:solidFill>
                            <a:srgbClr val="B00000"/>
                          </a:solidFill>
                        </a:rPr>
                        <a:t>Metadata indicates</a:t>
                      </a:r>
                      <a:r>
                        <a:rPr sz="1000" b="1">
                          <a:solidFill>
                            <a:srgbClr val="2E7D32"/>
                          </a:solidFill>
                        </a:rPr>
                        <a:t>Specification of</a:t>
                      </a:r>
                      <a:r>
                        <a:rPr sz="1000"/>
                        <a:t> whether a pixel is snow/ice</a:t>
                      </a:r>
                      <a:r>
                        <a:rPr sz="1000" strike="sngStrike">
                          <a:solidFill>
                            <a:srgbClr val="B00000"/>
                          </a:solidFill>
                        </a:rPr>
                        <a:t>.</a:t>
                      </a:r>
                    </a:p>
                  </a:txBody>
                  <a:tcPr>
                    <a:solidFill>
                      <a:srgbClr val="FFFFFF"/>
                    </a:solidFill>
                  </a:tcPr>
                </a:tc>
              </a:tr>
              <a:tr h="121920">
                <a:tc>
                  <a:txBody>
                    <a:bodyPr/>
                    <a:lstStyle/>
                    <a:p>
                      <a:r>
                        <a:rPr sz="1000" b="1"/>
                        <a:t>SR</a:t>
                      </a:r>
                    </a:p>
                  </a:txBody>
                  <a:tcPr>
                    <a:solidFill>
                      <a:srgbClr val="F2F2F2"/>
                    </a:solidFill>
                  </a:tcPr>
                </a:tc>
                <a:tc>
                  <a:txBody>
                    <a:bodyPr/>
                    <a:lstStyle/>
                    <a:p>
                      <a:r>
                        <a:rPr sz="1000"/>
                        <a:t>(not set)</a:t>
                      </a:r>
                    </a:p>
                  </a:txBody>
                  <a:tcPr>
                    <a:solidFill>
                      <a:srgbClr val="F2F2F2"/>
                    </a:solidFill>
                  </a:tcPr>
                </a:tc>
                <a:tc>
                  <a:txBody>
                    <a:bodyPr/>
                    <a:lstStyle/>
                    <a:p>
                      <a:r>
                        <a:rPr sz="1000" i="1">
                          <a:solidFill>
                            <a:srgbClr val="808080"/>
                          </a:solidFill>
                        </a:rPr>
                        <a:t>(keep as is)</a:t>
                      </a:r>
                    </a:p>
                  </a:txBody>
                  <a:tcPr>
                    <a:solidFill>
                      <a:srgbClr val="F2F2F2"/>
                    </a:solidFill>
                  </a:tcPr>
                </a:tc>
              </a:tr>
            </a:tbl>
          </a:graphicData>
        </a:graphic>
      </p:graphicFrame>
      <p:graphicFrame>
        <p:nvGraphicFramePr>
          <p:cNvPr id="4" name="Table 3"/>
          <p:cNvGraphicFramePr>
            <a:graphicFrameLocks noGrp="1"/>
          </p:cNvGraphicFramePr>
          <p:nvPr/>
        </p:nvGraphicFramePr>
        <p:xfrm>
          <a:off x="457200" y="2258568"/>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121920">
                <a:tc>
                  <a:txBody>
                    <a:bodyPr/>
                    <a:lstStyle/>
                    <a:p>
                      <a:r>
                        <a:rPr sz="1000" b="1"/>
                        <a:t>NLSR</a:t>
                      </a:r>
                    </a:p>
                    <a:p>
                      <a:r>
                        <a:rPr sz="1000" i="1">
                          <a:solidFill>
                            <a:srgbClr val="808080"/>
                          </a:solidFill>
                        </a:rPr>
                        <a:t>(baseline)</a:t>
                      </a:r>
                    </a:p>
                  </a:txBody>
                  <a:tcPr>
                    <a:solidFill>
                      <a:srgbClr val="FFFFFF"/>
                    </a:solidFill>
                  </a:tcPr>
                </a:tc>
                <a:tc>
                  <a:txBody>
                    <a:bodyPr/>
                    <a:lstStyle/>
                    <a:p>
                      <a:r>
                        <a:rPr sz="1000"/>
                        <a:t>As threshold, information on snow/ice mask should be available in the metadata as a single DOI landing page.</a:t>
                      </a:r>
                    </a:p>
                  </a:txBody>
                  <a:tcPr>
                    <a:solidFill>
                      <a:srgbClr val="FFFFFF"/>
                    </a:solidFill>
                  </a:tcPr>
                </a:tc>
                <a:tc>
                  <a:txBody>
                    <a:bodyPr/>
                    <a:lstStyle/>
                    <a:p>
                      <a:r>
                        <a:rPr sz="1000"/>
                        <a:t>As threshold</a:t>
                      </a:r>
                      <a:r>
                        <a:rPr sz="1000" strike="sngStrike">
                          <a:solidFill>
                            <a:srgbClr val="B00000"/>
                          </a:solidFill>
                        </a:rPr>
                        <a:t>, information on snow/ice mask should be available in the metadata as a single DOI landing page.</a:t>
                      </a:r>
                    </a:p>
                  </a:txBody>
                  <a:tcPr>
                    <a:solidFill>
                      <a:srgbClr val="FFFFFF"/>
                    </a:solidFill>
                  </a:tcPr>
                </a:tc>
              </a:tr>
              <a:tr h="121920">
                <a:tc>
                  <a:txBody>
                    <a:bodyPr/>
                    <a:lstStyle/>
                    <a:p>
                      <a:r>
                        <a:rPr sz="1000" b="1"/>
                        <a:t>SR</a:t>
                      </a:r>
                    </a:p>
                  </a:txBody>
                  <a:tcPr>
                    <a:solidFill>
                      <a:srgbClr val="F2F2F2"/>
                    </a:solidFill>
                  </a:tcPr>
                </a:tc>
                <a:tc>
                  <a:txBody>
                    <a:bodyPr/>
                    <a:lstStyle/>
                    <a:p>
                      <a:r>
                        <a:rPr sz="1000" strike="sngStrike">
                          <a:solidFill>
                            <a:srgbClr val="B00000"/>
                          </a:solidFill>
                        </a:rPr>
                        <a:t>As threshold, i</a:t>
                      </a:r>
                      <a:r>
                        <a:rPr sz="1000" b="1">
                          <a:solidFill>
                            <a:srgbClr val="2E7D32"/>
                          </a:solidFill>
                        </a:rPr>
                        <a:t>The metadata indicates whether a pixel is assessed as being snow/ice or not. I</a:t>
                      </a:r>
                      <a:r>
                        <a:rPr sz="1000"/>
                        <a:t>nformation on snow/ice mask should be available in the metadata as a single DOI landing page.</a:t>
                      </a:r>
                    </a:p>
                  </a:txBody>
                  <a:tcPr>
                    <a:solidFill>
                      <a:srgbClr val="F2F2F2"/>
                    </a:solidFill>
                  </a:tcPr>
                </a:tc>
                <a:tc>
                  <a:txBody>
                    <a:bodyPr/>
                    <a:lstStyle/>
                    <a:p>
                      <a:r>
                        <a:rPr sz="1000"/>
                        <a:t>Specification of</a:t>
                      </a:r>
                      <a:r>
                        <a:rPr sz="1000">
                          <a:solidFill>
                            <a:srgbClr val="1565C0"/>
                          </a:solidFill>
                        </a:rPr>
                        <a:t> whether a pixel is </a:t>
                      </a:r>
                      <a:r>
                        <a:rPr sz="1000"/>
                        <a:t>snow/ice</a:t>
                      </a:r>
                    </a:p>
                  </a:txBody>
                  <a:tcPr>
                    <a:solidFill>
                      <a:srgbClr val="F2F2F2"/>
                    </a:solidFill>
                  </a:tcPr>
                </a:tc>
              </a:tr>
            </a:tbl>
          </a:graphicData>
        </a:graphic>
      </p:graphicFrame>
      <p:sp>
        <p:nvSpPr>
          <p:cNvPr id="5" name="TextBox 4"/>
          <p:cNvSpPr txBox="1"/>
          <p:nvPr/>
        </p:nvSpPr>
        <p:spPr>
          <a:xfrm>
            <a:off x="457200" y="3653210"/>
            <a:ext cx="11277295" cy="1143000"/>
          </a:xfrm>
          <a:prstGeom prst="rect">
            <a:avLst/>
          </a:prstGeom>
          <a:noFill/>
        </p:spPr>
        <p:txBody>
          <a:bodyPr wrap="square" lIns="0" rIns="0" tIns="0" bIns="0">
            <a:spAutoFit/>
          </a:bodyPr>
          <a:lstStyle/>
          <a:p>
            <a:r>
              <a:rPr sz="1200" b="1"/>
              <a:t>Internal notes: </a:t>
            </a:r>
            <a:r>
              <a:rPr sz="1200" i="1"/>
              <a:t>For DOI related discussions see "PFS-specific overrides of requirement categories".</a:t>
            </a:r>
          </a:p>
          <a:p>
            <a:r>
              <a:rPr sz="1200" i="1"/>
              <a:t/>
            </a:r>
          </a:p>
          <a:p>
            <a:r>
              <a:rPr sz="1200" i="1"/>
              <a:t>ST replaced its Snow/Ice requirement with a combined "Surface" requirement (threshold: land or water, including the information source and other relevant surface characteristic classification; goal: as threshold, plus snow or ice) — could be considered for the other optical PFS.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Snow/Ice Mask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Snow/Ice Mask</a:t>
            </a:r>
          </a:p>
          <a:p>
            <a:r>
              <a:rPr sz="1100">
                <a:latin typeface="Consolas"/>
              </a:rPr>
              <a:t>requirements:</a:t>
            </a:r>
          </a:p>
          <a:p>
            <a:r>
              <a:rPr sz="1100">
                <a:latin typeface="Consolas"/>
              </a:rPr>
              <a:t>  threshold:</a:t>
            </a:r>
          </a:p>
          <a:p>
            <a:r>
              <a:rPr sz="1100">
                <a:latin typeface="Consolas"/>
              </a:rPr>
              <a:t>    description: Specification of whether a pixel is snow/ice  # TODO: not aligned yet, see comparison</a:t>
            </a:r>
          </a:p>
          <a:p>
            <a:r>
              <a:rPr sz="1100">
                <a:latin typeface="Consolas"/>
              </a:rPr>
              <a:t>  goal:</a:t>
            </a:r>
          </a:p>
          <a:p>
            <a:r>
              <a:rPr sz="1100">
                <a:latin typeface="Consolas"/>
              </a:rPr>
              <a:t>    description: As threshold  # TODO: not aligned yet, see comparison</a:t>
            </a:r>
          </a:p>
          <a:p>
            <a:r>
              <a:rPr sz="1100">
                <a:latin typeface="Consolas"/>
              </a:rPr>
              <a:t>    optional: true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Terrain Occlusion</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121920">
                <a:tc>
                  <a:txBody>
                    <a:bodyPr/>
                    <a:lstStyle/>
                    <a:p>
                      <a:r>
                        <a:rPr sz="1000" b="1"/>
                        <a:t>ST</a:t>
                      </a:r>
                    </a:p>
                    <a:p>
                      <a:r>
                        <a:rPr sz="1000" i="1">
                          <a:solidFill>
                            <a:srgbClr val="808080"/>
                          </a:solidFill>
                        </a:rPr>
                        <a:t>(baseline)</a:t>
                      </a:r>
                    </a:p>
                  </a:txBody>
                  <a:tcPr>
                    <a:solidFill>
                      <a:srgbClr val="FFFFFF"/>
                    </a:solidFill>
                  </a:tcPr>
                </a:tc>
                <a:tc>
                  <a:txBody>
                    <a:bodyPr/>
                    <a:lstStyle/>
                    <a:p>
                      <a:r>
                        <a:rPr sz="1000"/>
                        <a:t>Identifies pixels that are not visible to the sensor due to terrain occlusion during off-nadir viewing.</a:t>
                      </a:r>
                    </a:p>
                  </a:txBody>
                  <a:tcPr>
                    <a:solidFill>
                      <a:srgbClr val="FFFFFF"/>
                    </a:solidFill>
                  </a:tcPr>
                </a:tc>
                <a:tc>
                  <a:txBody>
                    <a:bodyPr/>
                    <a:lstStyle/>
                    <a:p>
                      <a:r>
                        <a:rPr sz="1000" strike="sngStrike">
                          <a:solidFill>
                            <a:srgbClr val="B00000"/>
                          </a:solidFill>
                        </a:rPr>
                        <a:t>Identifies</a:t>
                      </a:r>
                      <a:r>
                        <a:rPr sz="1000" b="1">
                          <a:solidFill>
                            <a:srgbClr val="2E7D32"/>
                          </a:solidFill>
                        </a:rPr>
                        <a:t>Specification of whether</a:t>
                      </a:r>
                      <a:r>
                        <a:rPr sz="1000"/>
                        <a:t> pixels that are not visible to the sensor due to terrain occlusion during off-nadir viewing.</a:t>
                      </a:r>
                    </a:p>
                  </a:txBody>
                  <a:tcPr>
                    <a:solidFill>
                      <a:srgbClr val="FFFFFF"/>
                    </a:solidFill>
                  </a:tcPr>
                </a:tc>
              </a:tr>
              <a:tr h="121920">
                <a:tc>
                  <a:txBody>
                    <a:bodyPr/>
                    <a:lstStyle/>
                    <a:p>
                      <a:r>
                        <a:rPr sz="1000" b="1"/>
                        <a:t>NLSR, SR</a:t>
                      </a:r>
                    </a:p>
                  </a:txBody>
                  <a:tcPr>
                    <a:solidFill>
                      <a:srgbClr val="F2F2F2"/>
                    </a:solidFill>
                  </a:tcPr>
                </a:tc>
                <a:tc>
                  <a:txBody>
                    <a:bodyPr/>
                    <a:lstStyle/>
                    <a:p>
                      <a:r>
                        <a:rPr sz="1000" strike="sngStrike">
                          <a:solidFill>
                            <a:srgbClr val="B00000"/>
                          </a:solidFill>
                        </a:rPr>
                        <a:t>Identifi</a:t>
                      </a:r>
                      <a:r>
                        <a:rPr sz="1000" b="1">
                          <a:solidFill>
                            <a:srgbClr val="2E7D32"/>
                          </a:solidFill>
                        </a:rPr>
                        <a:t>The metadata indicat</a:t>
                      </a:r>
                      <a:r>
                        <a:rPr sz="1000"/>
                        <a:t>es pixels that are not visible to the sensor due to terrain occlusion during off-nadir viewing.</a:t>
                      </a:r>
                    </a:p>
                  </a:txBody>
                  <a:tcPr>
                    <a:solidFill>
                      <a:srgbClr val="F2F2F2"/>
                    </a:solidFill>
                  </a:tcPr>
                </a:tc>
                <a:tc>
                  <a:txBody>
                    <a:bodyPr/>
                    <a:lstStyle/>
                    <a:p>
                      <a:r>
                        <a:rPr sz="1000" strike="sngStrike">
                          <a:solidFill>
                            <a:srgbClr val="B00000"/>
                          </a:solidFill>
                        </a:rPr>
                        <a:t>The metadata indicates</a:t>
                      </a:r>
                      <a:r>
                        <a:rPr sz="1000" b="1">
                          <a:solidFill>
                            <a:srgbClr val="2E7D32"/>
                          </a:solidFill>
                        </a:rPr>
                        <a:t>Specification of whether</a:t>
                      </a:r>
                      <a:r>
                        <a:rPr sz="1000"/>
                        <a:t> pixels that are not visible to the sensor due to terrain occlusion during off-nadir viewing.</a:t>
                      </a:r>
                    </a:p>
                  </a:txBody>
                  <a:tcPr>
                    <a:solidFill>
                      <a:srgbClr val="F2F2F2"/>
                    </a:solidFill>
                  </a:tcPr>
                </a:tc>
              </a:tr>
            </a:tbl>
          </a:graphicData>
        </a:graphic>
      </p:graphicFrame>
      <p:sp>
        <p:nvSpPr>
          <p:cNvPr id="4" name="TextBox 3"/>
          <p:cNvSpPr txBox="1"/>
          <p:nvPr/>
        </p:nvSpPr>
        <p:spPr>
          <a:xfrm>
            <a:off x="457200" y="2329525"/>
            <a:ext cx="11277295" cy="1335024"/>
          </a:xfrm>
          <a:prstGeom prst="rect">
            <a:avLst/>
          </a:prstGeom>
          <a:noFill/>
        </p:spPr>
        <p:txBody>
          <a:bodyPr wrap="square" lIns="0" rIns="0" tIns="0" bIns="0">
            <a:spAutoFit/>
          </a:bodyPr>
          <a:lstStyle/>
          <a:p>
            <a:r>
              <a:rPr sz="1200" b="1"/>
              <a:t>Internal notes: </a:t>
            </a:r>
            <a:r>
              <a:rPr sz="1200" i="1"/>
              <a:t>ST removed the threshold ("Not required.") — the requirement is now goal-only like the SR/NLSR variant.</a:t>
            </a:r>
          </a:p>
          <a:p>
            <a:r>
              <a:rPr sz="1200" i="1"/>
              <a:t/>
            </a:r>
          </a:p>
          <a:p>
            <a:r>
              <a:rPr sz="1200" i="1"/>
              <a:t>Confirmed: Terrain Occlusion was introduced to the ST PFS with the initial pull request (hence visible in the draft but not in the released version). ST proposes to adopt the consistent wording proposed here.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Terrain Occlusion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Terrain Occlusion</a:t>
            </a:r>
          </a:p>
          <a:p>
            <a:r>
              <a:rPr sz="1100">
                <a:latin typeface="Consolas"/>
              </a:rPr>
              <a:t>requirements:</a:t>
            </a:r>
          </a:p>
          <a:p>
            <a:r>
              <a:rPr sz="1100">
                <a:latin typeface="Consolas"/>
              </a:rPr>
              <a:t>  goal:</a:t>
            </a:r>
          </a:p>
          <a:p>
            <a:r>
              <a:rPr sz="1100">
                <a:latin typeface="Consolas"/>
              </a:rPr>
              <a:t>    description: Specification of whether pixels that are not visible to the sensor due to terrain occlusion during off-nadir viewing.</a:t>
            </a:r>
          </a:p>
          <a:p>
            <a:r>
              <a:rPr sz="1100">
                <a:latin typeface="Consolas"/>
              </a:rPr>
              <a:t>    optional: true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Solar and Viewing Geometry</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Threshold Description</a:t>
                      </a:r>
                    </a:p>
                  </a:txBody>
                  <a:tcPr>
                    <a:solidFill>
                      <a:srgbClr val="000000"/>
                    </a:solidFill>
                  </a:tcPr>
                </a:tc>
                <a:tc>
                  <a:txBody>
                    <a:bodyPr/>
                    <a:lstStyle/>
                    <a:p>
                      <a:r>
                        <a:rPr b="1" sz="1100">
                          <a:solidFill>
                            <a:srgbClr val="FFFFFF"/>
                          </a:solidFill>
                        </a:rPr>
                        <a:t>Proposed Threshold Description</a:t>
                      </a:r>
                    </a:p>
                  </a:txBody>
                  <a:tcPr>
                    <a:solidFill>
                      <a:srgbClr val="000000"/>
                    </a:solidFill>
                  </a:tcPr>
                </a:tc>
              </a:tr>
              <a:tr h="121920">
                <a:tc>
                  <a:txBody>
                    <a:bodyPr/>
                    <a:lstStyle/>
                    <a:p>
                      <a:r>
                        <a:rPr sz="1000" b="1"/>
                        <a:t>AR, ST</a:t>
                      </a:r>
                    </a:p>
                    <a:p>
                      <a:r>
                        <a:rPr sz="1000" i="1">
                          <a:solidFill>
                            <a:srgbClr val="808080"/>
                          </a:solidFill>
                        </a:rPr>
                        <a:t>(baseline)</a:t>
                      </a:r>
                    </a:p>
                  </a:txBody>
                  <a:tcPr>
                    <a:solidFill>
                      <a:srgbClr val="FFFFFF"/>
                    </a:solidFill>
                  </a:tcPr>
                </a:tc>
                <a:tc>
                  <a:txBody>
                    <a:bodyPr/>
                    <a:lstStyle/>
                    <a:p>
                      <a:r>
                        <a:rPr sz="1000"/>
                        <a:t>Specification of the solar and sensor viewing azimuth and zenith angles.</a:t>
                      </a:r>
                    </a:p>
                  </a:txBody>
                  <a:tcPr>
                    <a:solidFill>
                      <a:srgbClr val="FFFFFF"/>
                    </a:solidFill>
                  </a:tcPr>
                </a:tc>
                <a:tc>
                  <a:txBody>
                    <a:bodyPr/>
                    <a:lstStyle/>
                    <a:p>
                      <a:r>
                        <a:rPr sz="1000" i="1">
                          <a:solidFill>
                            <a:srgbClr val="808080"/>
                          </a:solidFill>
                        </a:rPr>
                        <a:t>(keep as is)</a:t>
                      </a:r>
                    </a:p>
                  </a:txBody>
                  <a:tcPr>
                    <a:solidFill>
                      <a:srgbClr val="FFFFFF"/>
                    </a:solidFill>
                  </a:tcPr>
                </a:tc>
              </a:tr>
              <a:tr h="121920">
                <a:tc>
                  <a:txBody>
                    <a:bodyPr/>
                    <a:lstStyle/>
                    <a:p>
                      <a:r>
                        <a:rPr sz="1000" b="1"/>
                        <a:t>SR</a:t>
                      </a:r>
                    </a:p>
                  </a:txBody>
                  <a:tcPr>
                    <a:solidFill>
                      <a:srgbClr val="F2F2F2"/>
                    </a:solidFill>
                  </a:tcPr>
                </a:tc>
                <a:tc>
                  <a:txBody>
                    <a:bodyPr/>
                    <a:lstStyle/>
                    <a:p>
                      <a:r>
                        <a:rPr sz="1000" strike="sngStrike">
                          <a:solidFill>
                            <a:srgbClr val="B00000"/>
                          </a:solidFill>
                        </a:rPr>
                        <a:t>Specification of th</a:t>
                      </a:r>
                      <a:r>
                        <a:rPr sz="1000" b="1">
                          <a:solidFill>
                            <a:srgbClr val="2E7D32"/>
                          </a:solidFill>
                        </a:rPr>
                        <a:t>Provide averag</a:t>
                      </a:r>
                      <a:r>
                        <a:rPr sz="1000"/>
                        <a:t>e solar and sensor viewing azimuth and zenith angles.</a:t>
                      </a:r>
                    </a:p>
                  </a:txBody>
                  <a:tcPr>
                    <a:solidFill>
                      <a:srgbClr val="F2F2F2"/>
                    </a:solidFill>
                  </a:tcPr>
                </a:tc>
                <a:tc>
                  <a:txBody>
                    <a:bodyPr/>
                    <a:lstStyle/>
                    <a:p>
                      <a:r>
                        <a:rPr sz="1000" strike="sngStrike">
                          <a:solidFill>
                            <a:srgbClr val="B00000"/>
                          </a:solidFill>
                        </a:rPr>
                        <a:t>Provide averag</a:t>
                      </a:r>
                      <a:r>
                        <a:rPr sz="1000" b="1">
                          <a:solidFill>
                            <a:srgbClr val="2E7D32"/>
                          </a:solidFill>
                        </a:rPr>
                        <a:t>Specification of th</a:t>
                      </a:r>
                      <a:r>
                        <a:rPr sz="1000"/>
                        <a:t>e solar and sensor viewing azimuth and zenith angles.</a:t>
                      </a:r>
                    </a:p>
                  </a:txBody>
                  <a:tcPr>
                    <a:solidFill>
                      <a:srgbClr val="F2F2F2"/>
                    </a:solidFill>
                  </a:tcPr>
                </a:tc>
              </a:tr>
            </a:tbl>
          </a:graphicData>
        </a:graphic>
      </p:graphicFrame>
      <p:graphicFrame>
        <p:nvGraphicFramePr>
          <p:cNvPr id="4" name="Table 3"/>
          <p:cNvGraphicFramePr>
            <a:graphicFrameLocks noGrp="1"/>
          </p:cNvGraphicFramePr>
          <p:nvPr/>
        </p:nvGraphicFramePr>
        <p:xfrm>
          <a:off x="457200" y="2414016"/>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Current Goal Description</a:t>
                      </a:r>
                    </a:p>
                  </a:txBody>
                  <a:tcPr>
                    <a:solidFill>
                      <a:srgbClr val="000000"/>
                    </a:solidFill>
                  </a:tcPr>
                </a:tc>
                <a:tc>
                  <a:txBody>
                    <a:bodyPr/>
                    <a:lstStyle/>
                    <a:p>
                      <a:r>
                        <a:rPr b="1" sz="1100">
                          <a:solidFill>
                            <a:srgbClr val="FFFFFF"/>
                          </a:solidFill>
                        </a:rPr>
                        <a:t>Proposed Goal Description</a:t>
                      </a:r>
                    </a:p>
                  </a:txBody>
                  <a:tcPr>
                    <a:solidFill>
                      <a:srgbClr val="000000"/>
                    </a:solidFill>
                  </a:tcPr>
                </a:tc>
              </a:tr>
              <a:tr h="121920">
                <a:tc>
                  <a:txBody>
                    <a:bodyPr/>
                    <a:lstStyle/>
                    <a:p>
                      <a:r>
                        <a:rPr sz="1000" b="1"/>
                        <a:t>AR, ST</a:t>
                      </a:r>
                    </a:p>
                  </a:txBody>
                  <a:tcPr>
                    <a:solidFill>
                      <a:srgbClr val="FFFFFF"/>
                    </a:solidFill>
                  </a:tcPr>
                </a:tc>
                <a:tc>
                  <a:txBody>
                    <a:bodyPr/>
                    <a:lstStyle/>
                    <a:p>
                      <a:r>
                        <a:rPr sz="1000"/>
                        <a:t>(not set)</a:t>
                      </a:r>
                    </a:p>
                    <a:p>
                      <a:r>
                        <a:rPr sz="1000" i="1">
                          <a:solidFill>
                            <a:srgbClr val="808080"/>
                          </a:solidFill>
                        </a:rPr>
                        <a:t>(required)</a:t>
                      </a:r>
                    </a:p>
                  </a:txBody>
                  <a:tcPr>
                    <a:solidFill>
                      <a:srgbClr val="FFFFFF"/>
                    </a:solidFill>
                  </a:tcPr>
                </a:tc>
                <a:tc>
                  <a:txBody>
                    <a:bodyPr/>
                    <a:lstStyle/>
                    <a:p>
                      <a:r>
                        <a:rPr sz="1000" b="1">
                          <a:solidFill>
                            <a:srgbClr val="2E7D32"/>
                          </a:solidFill>
                        </a:rPr>
                        <a:t>Specification of the per-pixel solar and sensor viewing azimuth and zenith angles.</a:t>
                      </a:r>
                    </a:p>
                  </a:txBody>
                  <a:tcPr>
                    <a:solidFill>
                      <a:srgbClr val="FFFFFF"/>
                    </a:solidFill>
                  </a:tcPr>
                </a:tc>
              </a:tr>
              <a:tr h="121920">
                <a:tc>
                  <a:txBody>
                    <a:bodyPr/>
                    <a:lstStyle/>
                    <a:p>
                      <a:r>
                        <a:rPr sz="1000" b="1"/>
                        <a:t>SR</a:t>
                      </a:r>
                    </a:p>
                    <a:p>
                      <a:r>
                        <a:rPr sz="1000" i="1">
                          <a:solidFill>
                            <a:srgbClr val="808080"/>
                          </a:solidFill>
                        </a:rPr>
                        <a:t>(baseline)</a:t>
                      </a:r>
                    </a:p>
                  </a:txBody>
                  <a:tcPr>
                    <a:solidFill>
                      <a:srgbClr val="F2F2F2"/>
                    </a:solidFill>
                  </a:tcPr>
                </a:tc>
                <a:tc>
                  <a:txBody>
                    <a:bodyPr/>
                    <a:lstStyle/>
                    <a:p>
                      <a:r>
                        <a:rPr sz="1000"/>
                        <a:t>Provide per-pixel solar and sensor viewing azimuth and zenith angles.</a:t>
                      </a:r>
                    </a:p>
                    <a:p>
                      <a:r>
                        <a:rPr sz="1000" i="1">
                          <a:solidFill>
                            <a:srgbClr val="808080"/>
                          </a:solidFill>
                        </a:rPr>
                        <a:t>(optional)</a:t>
                      </a:r>
                    </a:p>
                  </a:txBody>
                  <a:tcPr>
                    <a:solidFill>
                      <a:srgbClr val="F2F2F2"/>
                    </a:solidFill>
                  </a:tcPr>
                </a:tc>
                <a:tc>
                  <a:txBody>
                    <a:bodyPr/>
                    <a:lstStyle/>
                    <a:p>
                      <a:r>
                        <a:rPr sz="1000" strike="sngStrike">
                          <a:solidFill>
                            <a:srgbClr val="B00000"/>
                          </a:solidFill>
                        </a:rPr>
                        <a:t>Provid</a:t>
                      </a:r>
                      <a:r>
                        <a:rPr sz="1000" b="1">
                          <a:solidFill>
                            <a:srgbClr val="2E7D32"/>
                          </a:solidFill>
                        </a:rPr>
                        <a:t>Specification of th</a:t>
                      </a:r>
                      <a:r>
                        <a:rPr sz="1000"/>
                        <a:t>e per-pixel solar and sensor viewing azimuth and zenith angles.</a:t>
                      </a:r>
                    </a:p>
                  </a:txBody>
                  <a:tcPr>
                    <a:solidFill>
                      <a:srgbClr val="F2F2F2"/>
                    </a:solidFill>
                  </a:tcPr>
                </a:tc>
              </a:tr>
            </a:tbl>
          </a:graphicData>
        </a:graphic>
      </p:graphicFrame>
      <p:sp>
        <p:nvSpPr>
          <p:cNvPr id="5" name="TextBox 4"/>
          <p:cNvSpPr txBox="1"/>
          <p:nvPr/>
        </p:nvSpPr>
        <p:spPr>
          <a:xfrm>
            <a:off x="457200" y="3653210"/>
            <a:ext cx="11277295" cy="1143000"/>
          </a:xfrm>
          <a:prstGeom prst="rect">
            <a:avLst/>
          </a:prstGeom>
          <a:noFill/>
        </p:spPr>
        <p:txBody>
          <a:bodyPr wrap="square" lIns="0" rIns="0" tIns="0" bIns="0">
            <a:spAutoFit/>
          </a:bodyPr>
          <a:lstStyle/>
          <a:p>
            <a:r>
              <a:rPr sz="1200" b="1"/>
              <a:t>Internal notes: </a:t>
            </a:r>
            <a:r>
              <a:rPr sz="1200" i="1"/>
              <a:t>Proposal accepted by the ST team.</a:t>
            </a:r>
          </a:p>
          <a:p>
            <a:r>
              <a:rPr sz="1200" i="1"/>
              <a:t/>
            </a:r>
          </a:p>
          <a:p>
            <a:r>
              <a:rPr sz="1200" i="1"/>
              <a:t>Providing the angles instead of average angles would be a breaking change — the averages may be intentional, since the per-pixel requirement may already contain all angles specifically per pixel. It is unclear what the difference between non-average and per-pixel angles would be.</a:t>
            </a:r>
          </a:p>
        </p:txBody>
      </p:sp>
      <p:sp>
        <p:nvSpPr>
          <p:cNvPr id="6" name="TextBox 5"/>
          <p:cNvSpPr txBox="1"/>
          <p:nvPr/>
        </p:nvSpPr>
        <p:spPr>
          <a:xfrm>
            <a:off x="457200" y="4654742"/>
            <a:ext cx="11277295" cy="566928"/>
          </a:xfrm>
          <a:prstGeom prst="rect">
            <a:avLst/>
          </a:prstGeom>
          <a:noFill/>
        </p:spPr>
        <p:txBody>
          <a:bodyPr wrap="square" lIns="0" rIns="0" tIns="0" bIns="0">
            <a:spAutoFit/>
          </a:bodyPr>
          <a:lstStyle/>
          <a:p>
            <a:r>
              <a:rPr sz="1200" b="1"/>
              <a:t>Remarks from the building blocks: </a:t>
            </a:r>
            <a:r>
              <a:rPr sz="1200" i="1"/>
              <a:t>view-angles-solar.yaml: The threshold requirement is a metadata requirement, the goal requirement is a per-pixel requirement - should this be split?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Solar and Viewing Geometry — Proposal</a:t>
            </a:r>
          </a:p>
        </p:txBody>
      </p:sp>
      <p:sp>
        <p:nvSpPr>
          <p:cNvPr id="3" name="TextBox 2"/>
          <p:cNvSpPr txBox="1"/>
          <p:nvPr/>
        </p:nvSpPr>
        <p:spPr>
          <a:xfrm>
            <a:off x="457200" y="1005840"/>
            <a:ext cx="11277295" cy="5669280"/>
          </a:xfrm>
          <a:prstGeom prst="rect">
            <a:avLst/>
          </a:prstGeom>
          <a:noFill/>
        </p:spPr>
        <p:txBody>
          <a:bodyPr wrap="square">
            <a:spAutoFit/>
          </a:bodyPr>
          <a:lstStyle/>
          <a:p>
            <a:r>
              <a:rPr sz="1100">
                <a:latin typeface="Consolas"/>
              </a:rPr>
              <a:t>title: Solar and Viewing Geometry</a:t>
            </a:r>
          </a:p>
          <a:p>
            <a:r>
              <a:rPr sz="1100">
                <a:latin typeface="Consolas"/>
              </a:rPr>
              <a:t>requirements:</a:t>
            </a:r>
          </a:p>
          <a:p>
            <a:r>
              <a:rPr sz="1100">
                <a:latin typeface="Consolas"/>
              </a:rPr>
              <a:t>  threshold:</a:t>
            </a:r>
          </a:p>
          <a:p>
            <a:r>
              <a:rPr sz="1100">
                <a:latin typeface="Consolas"/>
              </a:rPr>
              <a:t>    description: Specification of the solar and sensor viewing azimuth and zenith angles.</a:t>
            </a:r>
          </a:p>
          <a:p>
            <a:r>
              <a:rPr sz="1100">
                <a:latin typeface="Consolas"/>
              </a:rPr>
              <a:t>  goal:</a:t>
            </a:r>
          </a:p>
          <a:p>
            <a:r>
              <a:rPr sz="1100">
                <a:latin typeface="Consolas"/>
              </a:rPr>
              <a:t>    description: Specification of the per-pixel solar and sensor viewing azimuth and zenith angles.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640080"/>
          </a:xfrm>
          <a:prstGeom prst="rect">
            <a:avLst/>
          </a:prstGeom>
          <a:noFill/>
        </p:spPr>
        <p:txBody>
          <a:bodyPr wrap="square">
            <a:spAutoFit/>
          </a:bodyPr>
          <a:lstStyle/>
          <a:p>
            <a:r>
              <a:rPr sz="2800"/>
              <a:t>PFS-specific overrides of requirement categories</a:t>
            </a:r>
          </a:p>
        </p:txBody>
      </p:sp>
      <p:graphicFrame>
        <p:nvGraphicFramePr>
          <p:cNvPr id="3" name="Table 2"/>
          <p:cNvGraphicFramePr>
            <a:graphicFrameLocks noGrp="1"/>
          </p:cNvGraphicFramePr>
          <p:nvPr/>
        </p:nvGraphicFramePr>
        <p:xfrm>
          <a:off x="457200" y="1005840"/>
          <a:ext cx="11265408" cy="365760"/>
        </p:xfrm>
        <a:graphic>
          <a:graphicData uri="http://schemas.openxmlformats.org/drawingml/2006/table">
            <a:tbl>
              <a:tblPr>
                <a:tableStyleId>{5C22544A-7EE6-4342-B048-85BDC9FD1C3A}</a:tableStyleId>
              </a:tblPr>
              <a:tblGrid>
                <a:gridCol w="914400"/>
                <a:gridCol w="5175504"/>
                <a:gridCol w="5175504"/>
              </a:tblGrid>
              <a:tr h="121920">
                <a:tc>
                  <a:txBody>
                    <a:bodyPr/>
                    <a:lstStyle/>
                    <a:p>
                      <a:r>
                        <a:rPr b="1" sz="1100">
                          <a:solidFill>
                            <a:srgbClr val="FFFFFF"/>
                          </a:solidFill>
                        </a:rPr>
                        <a:t>PFS</a:t>
                      </a:r>
                    </a:p>
                  </a:txBody>
                  <a:tcPr>
                    <a:solidFill>
                      <a:srgbClr val="000000"/>
                    </a:solidFill>
                  </a:tcPr>
                </a:tc>
                <a:tc>
                  <a:txBody>
                    <a:bodyPr/>
                    <a:lstStyle/>
                    <a:p>
                      <a:r>
                        <a:rPr b="1" sz="1100">
                          <a:solidFill>
                            <a:srgbClr val="FFFFFF"/>
                          </a:solidFill>
                        </a:rPr>
                        <a:t>Category</a:t>
                      </a:r>
                    </a:p>
                  </a:txBody>
                  <a:tcPr>
                    <a:solidFill>
                      <a:srgbClr val="000000"/>
                    </a:solidFill>
                  </a:tcPr>
                </a:tc>
                <a:tc>
                  <a:txBody>
                    <a:bodyPr/>
                    <a:lstStyle/>
                    <a:p>
                      <a:r>
                        <a:rPr b="1" sz="1100">
                          <a:solidFill>
                            <a:srgbClr val="FFFFFF"/>
                          </a:solidFill>
                        </a:rPr>
                        <a:t>Text</a:t>
                      </a:r>
                    </a:p>
                  </a:txBody>
                  <a:tcPr>
                    <a:solidFill>
                      <a:srgbClr val="000000"/>
                    </a:solidFill>
                  </a:tcPr>
                </a:tc>
              </a:tr>
              <a:tr h="121920">
                <a:tc>
                  <a:txBody>
                    <a:bodyPr/>
                    <a:lstStyle/>
                    <a:p>
                      <a:r>
                        <a:rPr sz="1000" b="1"/>
                        <a:t>AR</a:t>
                      </a:r>
                    </a:p>
                  </a:txBody>
                  <a:tcPr>
                    <a:solidFill>
                      <a:srgbClr val="FFFFFF"/>
                    </a:solidFill>
                  </a:tcPr>
                </a:tc>
                <a:tc>
                  <a:txBody>
                    <a:bodyPr/>
                    <a:lstStyle/>
                    <a:p>
                      <a:r>
                        <a:rPr sz="1000"/>
                        <a:t>general-metadata — appends to description</a:t>
                      </a:r>
                    </a:p>
                  </a:txBody>
                  <a:tcPr>
                    <a:solidFill>
                      <a:srgbClr val="FFFFFF"/>
                    </a:solidFill>
                  </a:tcPr>
                </a:tc>
                <a:tc>
                  <a:txBody>
                    <a:bodyPr/>
                    <a:lstStyle/>
                    <a:p>
                      <a:r>
                        <a:rPr sz="1000"/>
                        <a:t>Information should be available in the metadata as a single DOI landing page, which may include links to further detailed documents and references to citable peer-reviewed algorithms or technical documentation.</a:t>
                      </a:r>
                    </a:p>
                  </a:txBody>
                  <a:tcPr>
                    <a:solidFill>
                      <a:srgbClr val="FFFFFF"/>
                    </a:solidFill>
                  </a:tcPr>
                </a:tc>
              </a:tr>
              <a:tr h="121920">
                <a:tc>
                  <a:txBody>
                    <a:bodyPr/>
                    <a:lstStyle/>
                    <a:p>
                      <a:r>
                        <a:rPr sz="1000" b="1"/>
                        <a:t>AR</a:t>
                      </a:r>
                    </a:p>
                  </a:txBody>
                  <a:tcPr>
                    <a:solidFill>
                      <a:srgbClr val="F2F2F2"/>
                    </a:solidFill>
                  </a:tcPr>
                </a:tc>
                <a:tc>
                  <a:txBody>
                    <a:bodyPr/>
                    <a:lstStyle/>
                    <a:p>
                      <a:r>
                        <a:rPr sz="1000"/>
                        <a:t>per-pixel-metadata — appends to description</a:t>
                      </a:r>
                    </a:p>
                  </a:txBody>
                  <a:tcPr>
                    <a:solidFill>
                      <a:srgbClr val="F2F2F2"/>
                    </a:solidFill>
                  </a:tcPr>
                </a:tc>
                <a:tc>
                  <a:txBody>
                    <a:bodyPr/>
                    <a:lstStyle/>
                    <a:p>
                      <a:r>
                        <a:rPr sz="1000"/>
                        <a:t>Information should be available in the metadata as a single DOI landing page, which may include links to further detailed documents and references to citable peer-reviewed algorithms or technical documentation.</a:t>
                      </a:r>
                    </a:p>
                  </a:txBody>
                  <a:tcPr>
                    <a:solidFill>
                      <a:srgbClr val="F2F2F2"/>
                    </a:solidFill>
                  </a:tcPr>
                </a:tc>
              </a:tr>
            </a:tbl>
          </a:graphicData>
        </a:graphic>
      </p:graphicFrame>
      <p:sp>
        <p:nvSpPr>
          <p:cNvPr id="4" name="TextBox 3"/>
          <p:cNvSpPr txBox="1"/>
          <p:nvPr/>
        </p:nvSpPr>
        <p:spPr>
          <a:xfrm>
            <a:off x="457200" y="2633472"/>
            <a:ext cx="11277295" cy="2286000"/>
          </a:xfrm>
          <a:prstGeom prst="rect">
            <a:avLst/>
          </a:prstGeom>
          <a:noFill/>
        </p:spPr>
        <p:txBody>
          <a:bodyPr wrap="square">
            <a:spAutoFit/>
          </a:bodyPr>
          <a:lstStyle/>
          <a:p>
            <a:r>
              <a:rPr sz="1200" b="1"/>
              <a:t>Internal notes: </a:t>
            </a:r>
          </a:p>
          <a:p>
            <a:r>
              <a:rPr sz="1200" i="1"/>
              <a:t>Feedback: Append "DOI-landing page" verbiage to the General Metadata and Per-Pixel Metadata sections for SR, ST and NLSR — this affects all requirements whose only differences are the DOI landing page additions.</a:t>
            </a:r>
          </a:p>
          <a:p>
            <a:r>
              <a:rPr sz="1200" i="1"/>
              <a:t/>
            </a:r>
          </a:p>
          <a:p>
            <a:r>
              <a:rPr sz="1200" i="1"/>
              <a:t>To be raised at the Oversight Group meeting: include this as a standalone General Metadata requirement for all PFS — moved into the requirement category description it would not be an assessable requirement.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