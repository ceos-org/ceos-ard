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NOTES: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Append "DOI-landing page" verbiage to the General Metadata and Per-Pixel Metadata sections for SR, ST and NLSR.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PROPOSAL:</a:t>
            </a:r>
          </a:p>
          <a:p>
            <a:r>
              <a:t>**Threshold — description** (AR requirement wording):</a:t>
            </a:r>
          </a:p>
          <a:p/>
          <a:p>
            <a:r>
              <a:t>```</a:t>
            </a:r>
          </a:p>
          <a:p>
            <a:r>
              <a:t>Specification of corrections applied for molecular (Rayleigh) scattering and for aerosol scattering and absorption.</a:t>
            </a:r>
          </a:p>
          <a:p>
            <a:r>
              <a:t>```</a:t>
            </a:r>
          </a:p>
          <a:p/>
          <a:p>
            <a:r>
              <a:t>**Threshold — notes**: Keep Note as is for AR. Remove Note for SR.</a:t>
            </a:r>
          </a:p>
          <a:p/>
          <a:p>
            <a:r>
              <a:t>INTERNAL NOTES:</a:t>
            </a:r>
          </a:p>
          <a:p>
            <a:r>
              <a:t>Append "DOI-landing page" verbiage to the General Metadata and Per-Pixel Metadata sections for SR, ST and NLSR.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**Description**: Keep as is.</a:t>
            </a:r>
          </a:p>
          <a:p/>
          <a:p>
            <a:r>
              <a:t>**Threshold — description** (AR requirement wording):</a:t>
            </a:r>
          </a:p>
          <a:p/>
          <a:p>
            <a:r>
              <a:t>```</a:t>
            </a:r>
          </a:p>
          <a:p>
            <a:r>
              <a:t>Sub-pixel uncertainty is achieved in **relative** geolocation, that is, the pixels from the same instrument and platform are consistently located, and are thus comparable, through time. Sub-pixel uncertainty is taken to be less than or equal to 0.5-pixel radial root mean square error (rRMSE) or equivalent in Circular Error Probability (CEP) relative to a defined reference image. A consistent gridding/sampling frame is used, including common cell size, origin, and nominal sample point location within the cell (centre, ll, ur).</a:t>
            </a:r>
          </a:p>
          <a:p/>
          <a:p>
            <a:r>
              <a:t>Relevant metadata must be provided under [@geometric-uncertainty] and [@instrument].</a:t>
            </a:r>
          </a:p>
          <a:p>
            <a:r>
              <a:t>```</a:t>
            </a:r>
          </a:p>
          <a:p/>
          <a:p>
            <a:r>
              <a:t>**Threshold — notes** (AR notes wording):</a:t>
            </a:r>
          </a:p>
          <a:p/>
          <a:p>
            <a:r>
              <a:t>```</a:t>
            </a:r>
          </a:p>
          <a:p>
            <a:r>
              <a:t>1. The threshold level will not necessarily enable interoperability between data from different sources as the geometric corrections for each of the sources may differ.</a:t>
            </a:r>
          </a:p>
          <a:p>
            <a:r>
              <a:t>2. It is useful to note if the sensor is used at its native resolution before geometric correction or that some resampling must be done.</a:t>
            </a:r>
          </a:p>
          <a:p>
            <a:r>
              <a:t>```</a:t>
            </a:r>
          </a:p>
          <a:p/>
          <a:p>
            <a:r>
              <a:t>**Goal — description** (AR notes wording):</a:t>
            </a:r>
          </a:p>
          <a:p/>
          <a:p>
            <a:r>
              <a:t>```</a:t>
            </a:r>
          </a:p>
          <a:p>
            <a:r>
              <a:t>Sub-pixel uncertainty is achieved relative to an identified absolute independent terrestrial referencing system (such as a national map grid). Relevant metadata must be provided under Section “General Metadata: Geometric Uncertainty of the Data” and Section “General Metadata: Instrument”.</a:t>
            </a:r>
          </a:p>
          <a:p>
            <a:r>
              <a:t>```</a:t>
            </a:r>
          </a:p>
          <a:p/>
          <a:p>
            <a:r>
              <a:t>**Goal — notes** (AR notes wording):</a:t>
            </a:r>
          </a:p>
          <a:p/>
          <a:p>
            <a:r>
              <a:t>```</a:t>
            </a:r>
          </a:p>
          <a:p>
            <a:r>
              <a:t>This requirement is intended to enable interoperability between imagery from different platforms that meet this level of correction and with non-image spatial data such as GIS layers and terrain models.</a:t>
            </a:r>
          </a:p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PROPOSAL:</a:t>
            </a:r>
          </a:p>
          <a:p>
            <a:r>
              <a:t>**Threshold — description (SR)**: No Change</a:t>
            </a:r>
          </a:p>
          <a:p/>
          <a:p>
            <a:r>
              <a:t>**Threshold — description (AR)**: No change</a:t>
            </a:r>
          </a:p>
          <a:p/>
          <a:p>
            <a:r>
              <a:t>**Goal — description (SR)**: Match AR "Data is corrected for ozone if spectral bands are affected." Remove "Metadata contains a single DOI landing page with references to: a citable peer-reviewed algorithm technical documentation regarding the implementation of that algorithm"</a:t>
            </a:r>
          </a:p>
          <a:p/>
          <a:p>
            <a:r>
              <a:t>**Goal — description (AR)**: No change</a:t>
            </a:r>
          </a:p>
          <a:p/>
          <a:p>
            <a:r>
              <a:t>INTERNAL NOTES:</a:t>
            </a:r>
          </a:p>
          <a:p>
            <a:r>
              <a:t>Append "DOI-landing page" verbiage to the General Metadata and Per-Pixel Metadata sections for SR, ST and NLSR.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PROPOSAL:</a:t>
            </a:r>
          </a:p>
          <a:p>
            <a:r>
              <a:t>**Threshold — description** (AR requirement wording):</a:t>
            </a:r>
          </a:p>
          <a:p/>
          <a:p>
            <a:r>
              <a:t>```</a:t>
            </a:r>
          </a:p>
          <a:p>
            <a:r>
              <a:t>Corrections are applied for water vapour if spectral bands are affected.</a:t>
            </a:r>
          </a:p>
          <a:p>
            <a:r>
              <a:t>```</a:t>
            </a:r>
          </a:p>
          <a:p/>
          <a:p>
            <a:r>
              <a:t>**Threshold — notes**: SR match AR</a:t>
            </a:r>
          </a:p>
          <a:p/>
          <a:p>
            <a:r>
              <a:t>INTERNAL NOTES:</a:t>
            </a:r>
          </a:p>
          <a:p>
            <a:r>
              <a:t>Append "DOI-landing page" verbiage to the General Metadata and Per-Pixel Metadata sections for SR, ST and NLSR.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PROPOSAL:</a:t>
            </a:r>
          </a:p>
          <a:p>
            <a:r>
              <a:t>**Goal — description** (AR requirement wording):</a:t>
            </a:r>
          </a:p>
          <a:p/>
          <a:p>
            <a:r>
              <a:t>```</a:t>
            </a:r>
          </a:p>
          <a:p>
            <a:r>
              <a:t>Measurements are normalised (to nadir) to remove the effect of bidirectional dependence of the upwelling radiance on observation and solar-illumination geometries.</a:t>
            </a:r>
          </a:p>
          <a:p>
            <a:r>
              <a:t>```</a:t>
            </a:r>
          </a:p>
          <a:p/>
          <a:p>
            <a:r>
              <a:t>**Goal — notes**: Remove for NLSR and SR</a:t>
            </a:r>
          </a:p>
          <a:p/>
          <a:p>
            <a:r>
              <a:t>INTERNAL NOTES:</a:t>
            </a:r>
          </a:p>
          <a:p>
            <a:r>
              <a:t>Append "DOI-landing page" verbiage to the General Metadata and Per-Pixel Metadata sections for SR, ST and NLSR.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**Description**: Remove for SR and NLSR</a:t>
            </a:r>
          </a:p>
          <a:p/>
          <a:p>
            <a:r>
              <a:t>**Threshold — description**: No changes</a:t>
            </a:r>
          </a:p>
          <a:p/>
          <a:p>
            <a:r>
              <a:t>**Goal — description (NLSR, SR, ST)**: Match AR Threshold BUT not "Note 2"</a:t>
            </a:r>
          </a:p>
          <a:p/>
          <a:p>
            <a:r>
              <a:t>INTERNAL NOTES: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Append "DOI-landing page" verbiage to the General Metadata and Per-Pixel Metadata sections for SR, ST and NLSR.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**Threshold — description**: NLSR-SR-ST match AR</a:t>
            </a:r>
          </a:p>
          <a:p/>
          <a:p>
            <a:r>
              <a:t>INTERNAL NOTES: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Append "DOI-landing page" verbiage to the General Metadata and Per-Pixel Metadata sections for SR, ST and NLSR.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NOTES:</a:t>
            </a:r>
          </a:p>
          <a:p>
            <a:r>
              <a:t>Append "DOI-landing page" verbiage to the General Metadata and Per-Pixel Metadata sections for SR, ST and NLSR.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NOTES:</a:t>
            </a:r>
          </a:p>
          <a:p>
            <a:r>
              <a:t>Append "DOI-landing page" verbiage to the General Metadata and Per-Pixel Metadata sections for SR, ST and NLSR.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**Goal — description**: NLSR-SR-ST match AR</a:t>
            </a:r>
          </a:p>
          <a:p/>
          <a:p>
            <a:r>
              <a:t>INTERNAL NOTES: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Append "DOI-landing page" verbiage to the General Metadata and Per-Pixel Metadata sections for SR, ST and NLSR.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NOTES:</a:t>
            </a:r>
          </a:p>
          <a:p>
            <a:r>
              <a:t>Append "DOI-landing page" verbiage to the General Metadata and Per-Pixel Metadata sections for SR, ST and NLSR.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**Threshold — description**: SR and NLSR match AR</a:t>
            </a:r>
          </a:p>
          <a:p/>
          <a:p>
            <a:r>
              <a:t>**Goal — description**: ST match AR wording at Threshold</a:t>
            </a:r>
          </a:p>
          <a:p/>
          <a:p>
            <a:r>
              <a:t>INTERNAL NOTES: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Observation: curious if anyone knows why this is "Not Required" for ST at Threshold?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**Goal — description**: NLSR-SR-ST match AR</a:t>
            </a:r>
          </a:p>
          <a:p/>
          <a:p>
            <a:r>
              <a:t>INTERNAL NOTES: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Append "DOI-landing page" verbiage to the General Metadata and Per-Pixel Metadata sections for SR, ST and NLSR.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NOTES: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Append "DOI-landing page" verbiage to the General Metadata and Per-Pixel Metadata sections for SR, ST and NLSR.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NOTES:</a:t>
            </a:r>
          </a:p>
          <a:p>
            <a:r>
              <a:t>Append "DOI-landing page" verbiage to the General Metadata and Per-Pixel Metadata sections for SR, ST and NLSR.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PROPOSAL:</a:t>
            </a:r>
          </a:p>
          <a:p>
            <a:r>
              <a:t>**Threshold — description**: NLSR-SR-ST match AR</a:t>
            </a:r>
          </a:p>
          <a:p/>
          <a:p>
            <a:r>
              <a:t>**Goal — description**: NLSR-SR-ST match AR</a:t>
            </a:r>
          </a:p>
          <a:p/>
          <a:p>
            <a:r>
              <a:t>INTERNAL NOTES:</a:t>
            </a:r>
          </a:p>
          <a:p>
            <a:r>
              <a:t>Append "DOI-landing page" verbiage to the General Metadata and Per-Pixel Metadata sections for SR, ST and NLSR.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NOTES: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Append "DOI-landing page" verbiage to the General Metadata and Per-Pixel Metadata sections for SR, ST and NLSR.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**Threshold — description**: NLSR-SR-ST match AR</a:t>
            </a:r>
          </a:p>
          <a:p/>
          <a:p>
            <a:r>
              <a:t>**Goal — description**: NLSR-SR-ST match AR</a:t>
            </a:r>
          </a:p>
          <a:p/>
          <a:p>
            <a:r>
              <a:t>INTERNAL NOTES: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Append "DOI-landing page" verbiage to the General Metadata and Per-Pixel Metadata sections for SR, ST and NLSR.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**Threshold — description**: SR and ST match AR</a:t>
            </a:r>
          </a:p>
          <a:p/>
          <a:p>
            <a:r>
              <a:t>**Goal — description**: NLSR match AR Threshold</a:t>
            </a:r>
          </a:p>
          <a:p/>
          <a:p>
            <a:r>
              <a:t>INTERNAL NOTES: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Append "DOI-landing page" verbiage to the General Metadata and Per-Pixel Metadata sections for SR, ST and NLSR.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**Threshold — description**: NLSR-SR-ST match AR</a:t>
            </a:r>
          </a:p>
          <a:p/>
          <a:p>
            <a:r>
              <a:t>**Goal — description**: NLSR-SR-ST match AR</a:t>
            </a:r>
          </a:p>
          <a:p/>
          <a:p>
            <a:r>
              <a:t>INTERNAL NOTES: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I suggest "Per-Pixel Assessment" is adopted for NLSR-SR-ST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PROPOSAL:</a:t>
            </a:r>
          </a:p>
          <a:p>
            <a:r>
              <a:t>**Threshold — description (AR)**: No change</a:t>
            </a:r>
          </a:p>
          <a:p/>
          <a:p>
            <a:r>
              <a:t>**Threshold — description (NLSR)**: Change wording to match AR phrasing - "Specification of whether a pixel is land or water"</a:t>
            </a:r>
          </a:p>
          <a:p/>
          <a:p>
            <a:r>
              <a:t>**Threshold — description (SR)**: No change</a:t>
            </a:r>
          </a:p>
          <a:p/>
          <a:p>
            <a:r>
              <a:t>**Goal — description (AR)**: No change</a:t>
            </a:r>
          </a:p>
          <a:p/>
          <a:p>
            <a:r>
              <a:t>**Goal — description (NLSR)**: Change wording to match AR phrasing - "As threshold"</a:t>
            </a:r>
          </a:p>
          <a:p/>
          <a:p>
            <a:r>
              <a:t>**Goal — description (SR)**: Change wording to match AR phrasing - "Specification of whether a pixel is land or water"</a:t>
            </a:r>
          </a:p>
          <a:p/>
          <a:p>
            <a:r>
              <a:t>INTERNAL NOTES:</a:t>
            </a:r>
          </a:p>
          <a:p>
            <a:r>
              <a:t>Append "DOI-landing page" verbiage to the General Metadata and Per-Pixel Metadata sections for SR, ST and NLSR.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**Threshold — description**: NLSR-SR-ST match 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PROPOSAL:</a:t>
            </a:r>
          </a:p>
          <a:p>
            <a:r>
              <a:t>**Threshold — description**: NLSR-SR-ST match AR</a:t>
            </a:r>
          </a:p>
          <a:p/>
          <a:p>
            <a:r>
              <a:t>**Goal — description**: NLSR-SR-ST match 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PROPOSAL:</a:t>
            </a:r>
          </a:p>
          <a:p>
            <a:r>
              <a:t>**Threshold — description (NLSR)**: Change wording to maintain consistent PFS phrasing - "Specification of whether a pixel is snow/ice"</a:t>
            </a:r>
          </a:p>
          <a:p/>
          <a:p>
            <a:r>
              <a:t>**Goal — description (NLSR)**: As threshold</a:t>
            </a:r>
          </a:p>
          <a:p/>
          <a:p>
            <a:r>
              <a:t>**Threshold — description (SR)**: No change</a:t>
            </a:r>
          </a:p>
          <a:p/>
          <a:p>
            <a:r>
              <a:t>**Goal — description (SR)**: Change wording to maintain consistent PFS phrasing - "Specification of whether a pixel is snow/ice"</a:t>
            </a:r>
          </a:p>
          <a:p/>
          <a:p>
            <a:r>
              <a:t>INTERNAL NOTES:</a:t>
            </a:r>
          </a:p>
          <a:p>
            <a:r>
              <a:t>Append "DOI-landing page" verbiage to the General Metadata and Per-Pixel Metadata sections for SR, ST and NLSR.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**Goal — description (SR, NLSR)**: Change wording to maintain consistent PFS phrasing - "Specification of whether pixels that are not visible to the sensor due to terrain occlusion during off-nadir viewing."</a:t>
            </a:r>
          </a:p>
          <a:p/>
          <a:p>
            <a:r>
              <a:t>INTERNAL NOTES:</a:t>
            </a:r>
          </a:p>
          <a:p>
            <a:r>
              <a:t>&gt; ⚠️ The compared files have changed since this was written. Review whether it still applies, then delete this line.</a:t>
            </a:r>
          </a:p>
          <a:p/>
          <a:p>
            <a:r>
              <a:t>Note: there is no terrain occlusion in ST. The html file states there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PROPOSAL:</a:t>
            </a:r>
          </a:p>
          <a:p>
            <a:r>
              <a:t>**Threshold — description**: ST-SR match AR</a:t>
            </a:r>
          </a:p>
          <a:p/>
          <a:p>
            <a:r>
              <a:t>**Goal — description (ST, SR)**: Change wording to maintain consistent PFS phrasing "Specification of the per-pixel solar and sensor viewing azimuth and zenith angles."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772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/>
              <a:t>Differences between similar building blocks</a:t>
            </a:r>
          </a:p>
          <a:p>
            <a:pPr algn="ctr"/>
            <a:r>
              <a:rPr sz="1800">
                <a:solidFill>
                  <a:srgbClr val="808080"/>
                </a:solidFill>
              </a:rPr>
              <a:t>CEOS-ARD Product Family Specifications — current wording per PFS and alignment proposals from the review feedback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/>
              <a:t>•  Building blocks that exist in several variants (e.g. time-ar/-sar/-sr/-st) are compared; only the differences are shown — fields that are identical across all variants of a group are omitted.</a:t>
            </a:r>
          </a:p>
          <a:p>
            <a:pPr>
              <a:spcAft>
                <a:spcPts val="1000"/>
              </a:spcAft>
            </a:pPr>
            <a:r>
              <a:rPr sz="1600"/>
              <a:t>•  The groups are split by the type of the PFS that use them: used by both SAR and Optical PFS, or used only by Optical PFS.</a:t>
            </a:r>
          </a:p>
          <a:p>
            <a:pPr>
              <a:spcAft>
                <a:spcPts val="1000"/>
              </a:spcAft>
            </a:pPr>
            <a:r>
              <a:rPr sz="1600"/>
              <a:t>•  Building blocks used only by SAR PFS are omitted (as are PFS overrides that only affect them): their differences are intentional, as the SAR PFS were a combined document before being split.</a:t>
            </a:r>
          </a:p>
          <a:p>
            <a:pPr>
              <a:spcAft>
                <a:spcPts val="1000"/>
              </a:spcAft>
            </a:pPr>
            <a:r>
              <a:rPr sz="1600"/>
              <a:t>•  Compared fields: title, description, and per requirement level (threshold/goal/image) the description, the optional flag, and the notes.</a:t>
            </a:r>
          </a:p>
          <a:p>
            <a:pPr>
              <a:spcAft>
                <a:spcPts val="1000"/>
              </a:spcAft>
            </a:pPr>
            <a:r>
              <a:rPr sz="1600"/>
              <a:t>•  Ignored fields: id, dependencies, glossary, references, changes, history, remarks.</a:t>
            </a:r>
          </a:p>
          <a:p>
            <a:pPr>
              <a:spcAft>
                <a:spcPts val="1000"/>
              </a:spcAft>
            </a:pPr>
            <a:r>
              <a:rPr sz="1600"/>
              <a:t>•  Not compared: the measurement/measurand and backscatter building blocks (intentionally different per product).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How to read the 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One slide per building block group. For every field that differs between the variants, a table shows the current text per PFS and the proposed alignment.</a:t>
            </a:r>
          </a:p>
          <a:p>
            <a:r>
              <a:rPr sz="1400"/>
              <a:t/>
            </a:r>
          </a:p>
          <a:p>
            <a:r>
              <a:rPr sz="1400"/>
              <a:t>Current column — differences to the row marked </a:t>
            </a:r>
            <a:r>
              <a:rPr sz="1400" i="1">
                <a:solidFill>
                  <a:srgbClr val="808080"/>
                </a:solidFill>
              </a:rPr>
              <a:t>(baseline)</a:t>
            </a:r>
            <a:r>
              <a:rPr sz="1400"/>
              <a:t> are highlighted:</a:t>
            </a:r>
          </a:p>
          <a:p>
            <a:r>
              <a:rPr sz="1400"/>
              <a:t>    </a:t>
            </a:r>
            <a:r>
              <a:rPr sz="1400" strike="sngStrike">
                <a:solidFill>
                  <a:srgbClr val="B00000"/>
                </a:solidFill>
              </a:rPr>
              <a:t>red struck-through</a:t>
            </a:r>
            <a:r>
              <a:rPr sz="1400"/>
              <a:t> text only appears in the baseline variant</a:t>
            </a:r>
          </a:p>
          <a:p>
            <a:r>
              <a:rPr sz="1400"/>
              <a:t>    </a:t>
            </a:r>
            <a:r>
              <a:rPr sz="1400" b="1">
                <a:solidFill>
                  <a:srgbClr val="2E7D32"/>
                </a:solidFill>
              </a:rPr>
              <a:t>green</a:t>
            </a:r>
            <a:r>
              <a:rPr sz="1400"/>
              <a:t> text only appears in this variant</a:t>
            </a:r>
          </a:p>
          <a:p>
            <a:r>
              <a:rPr sz="1400"/>
              <a:t>    </a:t>
            </a:r>
            <a:r>
              <a:rPr sz="1400">
                <a:solidFill>
                  <a:srgbClr val="1565C0"/>
                </a:solidFill>
              </a:rPr>
              <a:t>blue passages</a:t>
            </a:r>
            <a:r>
              <a:rPr sz="1400"/>
              <a:t> are shared with the baseline — used where texts are too different for a diff</a:t>
            </a:r>
          </a:p>
          <a:p>
            <a:r>
              <a:rPr sz="1400"/>
              <a:t>    </a:t>
            </a:r>
            <a:r>
              <a:rPr sz="1400" i="1">
                <a:solidFill>
                  <a:srgbClr val="808080"/>
                </a:solidFill>
              </a:rPr>
              <a:t>(optional) / (required)</a:t>
            </a:r>
            <a:r>
              <a:rPr sz="1400"/>
              <a:t> shows the optional flag where it differs between the variants</a:t>
            </a:r>
          </a:p>
          <a:p>
            <a:r>
              <a:rPr sz="1400"/>
              <a:t>    (not set) = the field or the whole requirement level is absent in that file</a:t>
            </a:r>
          </a:p>
          <a:p>
            <a:r>
              <a:rPr sz="1400"/>
              <a:t/>
            </a:r>
          </a:p>
          <a:p>
            <a:r>
              <a:rPr sz="1400"/>
              <a:t>Proposed column — proposed changes relative to the row's current text:</a:t>
            </a:r>
          </a:p>
          <a:p>
            <a:r>
              <a:rPr sz="1400"/>
              <a:t>    </a:t>
            </a:r>
            <a:r>
              <a:rPr sz="1400" strike="sngStrike">
                <a:solidFill>
                  <a:srgbClr val="B00000"/>
                </a:solidFill>
              </a:rPr>
              <a:t>red struck-through</a:t>
            </a:r>
            <a:r>
              <a:rPr sz="1400"/>
              <a:t> text is removed, </a:t>
            </a:r>
            <a:r>
              <a:rPr sz="1400" b="1">
                <a:solidFill>
                  <a:srgbClr val="2E7D32"/>
                </a:solidFill>
              </a:rPr>
              <a:t>green</a:t>
            </a:r>
            <a:r>
              <a:rPr sz="1400"/>
              <a:t> text is added by the proposal; plain text = unchanged</a:t>
            </a:r>
          </a:p>
          <a:p>
            <a:r>
              <a:rPr sz="1400"/>
              <a:t>    </a:t>
            </a:r>
            <a:r>
              <a:rPr sz="1400" b="1">
                <a:solidFill>
                  <a:srgbClr val="B00000"/>
                </a:solidFill>
              </a:rPr>
              <a:t>DELETE NOTE</a:t>
            </a:r>
            <a:r>
              <a:rPr sz="1400"/>
              <a:t> = proposed removal</a:t>
            </a:r>
          </a:p>
          <a:p>
            <a:r>
              <a:rPr sz="1400"/>
              <a:t>    </a:t>
            </a:r>
            <a:r>
              <a:rPr sz="1400" i="1">
                <a:solidFill>
                  <a:srgbClr val="808080"/>
                </a:solidFill>
              </a:rPr>
              <a:t>gray italic</a:t>
            </a:r>
            <a:r>
              <a:rPr sz="1400"/>
              <a:t> = proposal that could not be interpreted automatically, shown verbatim</a:t>
            </a:r>
          </a:p>
          <a:p>
            <a:r>
              <a:rPr sz="1400"/>
              <a:t/>
            </a:r>
          </a:p>
          <a:p>
            <a:r>
              <a:rPr sz="1400"/>
              <a:t>⚠ in the slide title: the files changed after the feedback was written — review whether the proposal still applies.</a:t>
            </a:r>
          </a:p>
          <a:p>
            <a:r>
              <a:rPr sz="1400"/>
              <a:t>Internal notes are shown below the tables; the raw proposal text is in the slide's speaker notes.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corrections/atmosphere-* ⚠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Title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Title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Corrections for Atmosphere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NLSR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Atmospheric 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Corrections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26564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Retrieval methods for estimating surface temperature are provided.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NLSR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Corrections are applied for atmospheric scattering.</a:t>
                      </a:r>
                    </a:p>
                    <a:p/>
                    <a:p>
                      <a:r>
                        <a:rPr sz="1000"/>
                        <a:t>Metadata contains a single DOI landing page with references to:</a:t>
                      </a:r>
                    </a:p>
                    <a:p/>
                    <a:p>
                      <a:r>
                        <a:rPr sz="1000"/>
                        <a:t>- a citable peer-reviewed algorithm</a:t>
                      </a:r>
                    </a:p>
                    <a:p>
                      <a:r>
                        <a:rPr sz="1000"/>
                        <a:t>- technical documentation regarding the implementation of that algorithm</a:t>
                      </a:r>
                    </a:p>
                    <a:p>
                      <a:r>
                        <a:rPr sz="1000"/>
                        <a:t>- the sources of ancillary data used to make corrections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352544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NLSR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Examples of technical documentation include an Algorithm Theoretical Basis Document, product user guide, etc.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573268"/>
            <a:ext cx="112772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Directional Atmospheric Scattering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 corrections applied for molecular (Rayleigh) scattering and for aerosol scattering and absorption..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 corrections applied for molecular (Rayleigh) scattering and for aerosol scattering and absorption.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C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orrections a</a:t>
                      </a:r>
                      <a:r>
                        <a:rPr sz="1000"/>
                        <a:t>re a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pplied for</a:t>
                      </a:r>
                      <a:r>
                        <a:rPr sz="1000"/>
                        <a:t> aerosols and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molecular (Rayleigh) scattering</a:t>
                      </a:r>
                      <a:r>
                        <a:rPr sz="1000"/>
                        <a:t>.</a:t>
                      </a:r>
                    </a:p>
                    <a:p/>
                    <a:p>
                      <a:r>
                        <a:rPr sz="1000"/>
                        <a:t>Metadata contains a single DOI landing page with references to:</a:t>
                      </a:r>
                    </a:p>
                    <a:p/>
                    <a:p>
                      <a:r>
                        <a:rPr sz="1000"/>
                        <a:t>- a citable peer-reviewed algorithm</a:t>
                      </a:r>
                    </a:p>
                    <a:p>
                      <a:r>
                        <a:rPr sz="1000"/>
                        <a:t>- technical documentation regarding the implementation of that algorithm</a:t>
                      </a:r>
                    </a:p>
                    <a:p>
                      <a:r>
                        <a:rPr sz="1000"/>
                        <a:t>- the sources of ancillary data used to make corrections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 c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orrections a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pplied for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molecular (Rayleigh) scattering</a:t>
                      </a:r>
                      <a:r>
                        <a:rPr sz="1000"/>
                        <a:t> and for aerosol scattering and absorption.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13182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See @mobley2016.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See @mobley2016.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Examples of technical documentation include an Algorithm Theoretical Basis Document, product user guide, etc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00000"/>
                          </a:solidFill>
                        </a:rPr>
                        <a:t>DELETE NOTE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03420"/>
            <a:ext cx="112772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Geometric Correction ⚠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Applies for:</a:t>
                      </a:r>
                    </a:p>
                    <a:p/>
                    <a:p>
                      <a:r>
                        <a:rPr sz="1000"/>
                        <a:t>1. land </a:t>
                      </a:r>
                    </a:p>
                    <a:p>
                      <a:r>
                        <a:rPr sz="1000"/>
                        <a:t>2. inland waters where an independent terrestrial referencing system is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Applies for:</a:t>
                      </a:r>
                    </a:p>
                    <a:p/>
                    <a:p>
                      <a:r>
                        <a:rPr sz="1000"/>
                        <a:t>1. land </a:t>
                      </a:r>
                    </a:p>
                    <a:p>
                      <a:r>
                        <a:rPr sz="1000"/>
                        <a:t>2. inland waters where an independent terrestrial referencing system is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Geometric Correction ⚠ (cont.)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Sub-pixel uncertainty is achieved in relative geolocation, that is, the pixels from the same instrument and platform are consistently located, and are thus comparable, through time.</a:t>
                      </a:r>
                    </a:p>
                    <a:p/>
                    <a:p>
                      <a:r>
                        <a:rPr sz="1000"/>
                        <a:t>Sub-pixel uncertainty is taken to be less than or equal to 0.5-pixel radial root mean square error (rRMSE) or equivalent in Circular Error Probability (CEP) relative to a defined reference image.</a:t>
                      </a:r>
                    </a:p>
                    <a:p/>
                    <a:p>
                      <a:r>
                        <a:rPr sz="1000"/>
                        <a:t>A consistent gridding/sampling frame is used, including common cell size, origin, and nominal sample point location within the cell (centre, ll, ur).</a:t>
                      </a:r>
                    </a:p>
                    <a:p/>
                    <a:p>
                      <a:r>
                        <a:rPr sz="1000"/>
                        <a:t>Relevant metadata must be provided under [@geometric-uncertainty] and [@instrument].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Sub-pixel uncertainty is achieved in relative geolocation, that is, the pixels from the same instrument and platform are consistently located, and are thus comparable, through time.</a:t>
                      </a:r>
                    </a:p>
                    <a:p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 </a:t>
                      </a:r>
                      <a:r>
                        <a:rPr sz="1000"/>
                        <a:t>Sub-pixel uncertainty is taken to be less than or equal to 0.5-pixel radial root mean square error (rRMSE) or equivalent in Circular Error Probability (CEP) relative to a defined reference image.</a:t>
                      </a:r>
                    </a:p>
                    <a:p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 </a:t>
                      </a:r>
                      <a:r>
                        <a:rPr sz="1000"/>
                        <a:t>A consistent gridding/sampling frame is used, including common cell size, origin, and nominal sample point location within the cell (centre, ll, ur).</a:t>
                      </a:r>
                    </a:p>
                    <a:p/>
                    <a:p>
                      <a:r>
                        <a:rPr sz="1000"/>
                        <a:t>Relevant metadata must be provided under [@geometric-uncertainty] and [@instrument].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Sub-pixel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uncertaint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accurac</a:t>
                      </a:r>
                      <a:r>
                        <a:rPr sz="1000"/>
                        <a:t>y is achieved in relative geolocation, that is, the pixels from the same instrument and platform are consistently located, and are thus comparable, through time.</a:t>
                      </a:r>
                    </a:p>
                    <a:p/>
                    <a:p>
                      <a:r>
                        <a:rPr sz="1000"/>
                        <a:t>Sub-pixel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uncertaint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accurac</a:t>
                      </a:r>
                      <a:r>
                        <a:rPr sz="1000"/>
                        <a:t>y is taken to be less than or equal to 0.5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-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</a:t>
                      </a:r>
                      <a:r>
                        <a:rPr sz="1000"/>
                        <a:t>pixel radial root mean square error (rRMSE) or equivalent in Circular Error Probability (CEP) relative to a defined reference image.</a:t>
                      </a:r>
                    </a:p>
                    <a:p/>
                    <a:p>
                      <a:r>
                        <a:rPr sz="1000"/>
                        <a:t>A consistent gridding/sampling frame is used, including common cell size, origin, and nominal sample point location within the cell (centre, ll, ur).</a:t>
                      </a:r>
                    </a:p>
                    <a:p/>
                    <a:p>
                      <a:r>
                        <a:rPr sz="1000"/>
                        <a:t>Relevant metadata must be provided under [@geometric-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uncertaint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accurac</a:t>
                      </a:r>
                      <a:r>
                        <a:rPr sz="1000"/>
                        <a:t>y] and [@instrument].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Sub-pixel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accurac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uncertaint</a:t>
                      </a:r>
                      <a:r>
                        <a:rPr sz="1000"/>
                        <a:t>y is achieved in relative geolocation, that is, the pixels from the same instrument and platform are consistently located, and are thus comparable, through time.</a:t>
                      </a:r>
                    </a:p>
                    <a:p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 </a:t>
                      </a:r>
                      <a:r>
                        <a:rPr sz="1000"/>
                        <a:t>Sub-pixel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accurac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uncertaint</a:t>
                      </a:r>
                      <a:r>
                        <a:rPr sz="1000"/>
                        <a:t>y is taken to be less than or equal to 0.5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 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-</a:t>
                      </a:r>
                      <a:r>
                        <a:rPr sz="1000"/>
                        <a:t>pixel radial root mean square error (rRMSE) or equivalent in Circular Error Probability (CEP) relative to a defined reference image.</a:t>
                      </a:r>
                    </a:p>
                    <a:p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 </a:t>
                      </a:r>
                      <a:r>
                        <a:rPr sz="1000"/>
                        <a:t>A consistent gridding/sampling frame is used, including common cell size, origin, and nominal sample point location within the cell (centre, ll, ur).</a:t>
                      </a:r>
                    </a:p>
                    <a:p/>
                    <a:p>
                      <a:r>
                        <a:rPr sz="1000"/>
                        <a:t>Relevant metadata must be provided under [@geometric-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accurac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uncertaint</a:t>
                      </a:r>
                      <a:r>
                        <a:rPr sz="1000"/>
                        <a:t>y] and [@instrument].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Sub-pixel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uncertaint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accurac</a:t>
                      </a:r>
                      <a:r>
                        <a:rPr sz="1000"/>
                        <a:t>y is achieved in relative geolocation, that is, the pixels from the same instrument and platform are consistently located, and are thus comparable, through time.</a:t>
                      </a:r>
                    </a:p>
                    <a:p/>
                    <a:p>
                      <a:r>
                        <a:rPr sz="1000"/>
                        <a:t>Sub-pixel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uncertaint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accurac</a:t>
                      </a:r>
                      <a:r>
                        <a:rPr sz="1000"/>
                        <a:t>y is taken to be less than or equal to 0.5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-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</a:t>
                      </a:r>
                      <a:r>
                        <a:rPr sz="1000"/>
                        <a:t>pixel radial root mean square error (rRMSE) or equivalent in Circular Error Probability (CEP) relative to a defined reference image.</a:t>
                      </a:r>
                    </a:p>
                    <a:p/>
                    <a:p>
                      <a:r>
                        <a:rPr sz="1000"/>
                        <a:t>A consistent gridding/sampling frame is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used, including common cell size, origin, and nominal sample point location within the cell (centre, ll, ur)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necessary to meet this requirement</a:t>
                      </a:r>
                      <a:r>
                        <a:rPr sz="1000"/>
                        <a:t>.</a:t>
                      </a:r>
                    </a:p>
                    <a:p/>
                    <a:p>
                      <a:r>
                        <a:rPr sz="1000"/>
                        <a:t>Relevant metadata must be provided under [@geometric-uncertainty] and [@instrument].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Sub-pixel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accurac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uncertaint</a:t>
                      </a:r>
                      <a:r>
                        <a:rPr sz="1000"/>
                        <a:t>y is achieved in relative geolocation, that is, the pixels from the same instrument and platform are consistently located, and are thus comparable, through time.</a:t>
                      </a:r>
                    </a:p>
                    <a:p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 </a:t>
                      </a:r>
                      <a:r>
                        <a:rPr sz="1000"/>
                        <a:t>Sub-pixel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accurac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uncertaint</a:t>
                      </a:r>
                      <a:r>
                        <a:rPr sz="1000"/>
                        <a:t>y is taken to be less than or equal to 0.5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 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-</a:t>
                      </a:r>
                      <a:r>
                        <a:rPr sz="1000"/>
                        <a:t>pixel radial root mean square error (rRMSE) or equivalent in Circular Error Probability (CEP) relative to a defined reference image.</a:t>
                      </a:r>
                    </a:p>
                    <a:p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 </a:t>
                      </a:r>
                      <a:r>
                        <a:rPr sz="1000"/>
                        <a:t>A consistent gridding/sampling frame is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necessary to meet this requirement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used, including common cell size, origin, and nominal sample point location within the cell (centre, ll, ur)</a:t>
                      </a:r>
                      <a:r>
                        <a:rPr sz="1000"/>
                        <a:t>.</a:t>
                      </a:r>
                    </a:p>
                    <a:p/>
                    <a:p>
                      <a:r>
                        <a:rPr sz="1000"/>
                        <a:t>Relevant metadata must be provided under [@geometric-uncertainty] and [@instrument].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Geometric Correction ⚠ (cont.)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 threshold level will not necessarily enable interoperability between data from **different** sources as the geometric corrections for each of the sources may differ.</a:t>
                      </a:r>
                    </a:p>
                    <a:p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It is useful to note if the sensor is used at its native resolution before geometric correction or that some resampling must be done.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1. </a:t>
                      </a:r>
                      <a:r>
                        <a:rPr sz="1000"/>
                        <a:t>The threshold level will not necessarily enable interoperability between data from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**different**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different</a:t>
                      </a:r>
                      <a:r>
                        <a:rPr sz="1000"/>
                        <a:t> sources as the geometric corrections for each of the sources may differ.</a:t>
                      </a:r>
                    </a:p>
                    <a:p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2. </a:t>
                      </a:r>
                      <a:r>
                        <a:rPr sz="1000"/>
                        <a:t>It is useful to note if the sensor is used at its native resolution before geometric correction or that some resampling must be done.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 threshold level will not necessarily enable interoperability between data from **different** sources as the geometric corrections for each of the sources may differ.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1. </a:t>
                      </a:r>
                      <a:r>
                        <a:rPr sz="1000"/>
                        <a:t>The threshold level will not necessarily enable interoperability between data from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**different**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different</a:t>
                      </a:r>
                      <a:r>
                        <a:rPr sz="1000"/>
                        <a:t> sources as the geometric corrections for each of the sources may differ.</a:t>
                      </a:r>
                    </a:p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2. It is useful to note if the sensor is used at its native resolution before geometric correction or that some resampling must be done.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 threshold level will not necessarily enable interoperability between data from **different** sources as the geometric corrections for each of the sources may differ.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1. </a:t>
                      </a:r>
                      <a:r>
                        <a:rPr sz="1000"/>
                        <a:t>The threshold level will not necessarily enable interoperability between data from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**different**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different</a:t>
                      </a:r>
                      <a:r>
                        <a:rPr sz="1000"/>
                        <a:t> sources as the geometric corrections for each of the sources may differ.</a:t>
                      </a:r>
                    </a:p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2. It is useful to note if the sensor is used at its native resolution before geometric correction or that some resampling must be done.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Geometric Correction ⚠ (cont.)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Sub-pixel uncertainty is achieved relative to an identified absolute independent terrestrial referencing system (such as a national map grid).</a:t>
                      </a:r>
                    </a:p>
                    <a:p/>
                    <a:p>
                      <a:r>
                        <a:rPr sz="1000"/>
                        <a:t>Relevant metadata must be provided under [@geometric-uncertainty] and [@instrument].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Sub-pixel uncertainty is achieved relative to an identified absolute independent terrestrial referencing system (such as a national map grid).</a:t>
                      </a:r>
                    </a:p>
                    <a:p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 </a:t>
                      </a:r>
                      <a:r>
                        <a:rPr sz="1000"/>
                        <a:t>Relevant metadata must be provided under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[@geometric-u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Section “General Metadata: Geometric U</a:t>
                      </a:r>
                      <a:r>
                        <a:rPr sz="1000"/>
                        <a:t>ncertainty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] and [@instrument]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of the Data” and Section “General Metadata: Instrument”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Sub-pixel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uncertaint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accurac</a:t>
                      </a:r>
                      <a:r>
                        <a:rPr sz="1000"/>
                        <a:t>y is achieved relative to an identified absolute independent terrestrial referencing system (such as a national map grid).</a:t>
                      </a:r>
                    </a:p>
                    <a:p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A consistent gridding/sampling frame is necessary to meet this requirement.</a:t>
                      </a:r>
                    </a:p>
                    <a:p/>
                    <a:p>
                      <a:r>
                        <a:rPr sz="1000"/>
                        <a:t>Relevant metadata must be provided under [@geometric-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uncertaint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accurac</a:t>
                      </a:r>
                      <a:r>
                        <a:rPr sz="1000"/>
                        <a:t>y] and [@instrument].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Sub-pixel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accurac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uncertaint</a:t>
                      </a:r>
                      <a:r>
                        <a:rPr sz="1000"/>
                        <a:t>y is achieved relative to an identified absolute independent terrestrial referencing system (such as a national map grid).</a:t>
                      </a:r>
                    </a:p>
                    <a:p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A consistent gridding/sampling frame is necessary to meet this requirement.</a:t>
                      </a:r>
                    </a:p>
                    <a:p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 </a:t>
                      </a:r>
                      <a:r>
                        <a:rPr sz="1000"/>
                        <a:t>Relevant metadata must be provided under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[@geometric-accuracy] and [@instrument]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Section “General Metadata: Geometric Uncertainty of the Data” and Section “General Metadata: Instrument”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Sub-pixel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uncertaint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accurac</a:t>
                      </a:r>
                      <a:r>
                        <a:rPr sz="1000"/>
                        <a:t>y is achieved relative to an identified absolute independent terrestrial referencing system (such as a national map grid).</a:t>
                      </a:r>
                    </a:p>
                    <a:p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A consistent gridding/sampling frame is necessary to meet this requirement.</a:t>
                      </a:r>
                    </a:p>
                    <a:p/>
                    <a:p>
                      <a:r>
                        <a:rPr sz="1000"/>
                        <a:t>Relevant metadata must be provided under [@geometric-uncertainty] and [@instrument].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Sub-pixel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accurac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uncertaint</a:t>
                      </a:r>
                      <a:r>
                        <a:rPr sz="1000"/>
                        <a:t>y is achieved relative to an identified absolute independent terrestrial referencing system (such as a national map grid).</a:t>
                      </a:r>
                    </a:p>
                    <a:p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A consistent gridding/sampling frame is necessary to meet this requirement.</a:t>
                      </a:r>
                    </a:p>
                    <a:p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 </a:t>
                      </a:r>
                      <a:r>
                        <a:rPr sz="1000"/>
                        <a:t>Relevant metadata must be provided under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[@geometric-u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Section “General Metadata: Geometric U</a:t>
                      </a:r>
                      <a:r>
                        <a:rPr sz="1000"/>
                        <a:t>ncertainty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] and [@instrument]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of the Data” and Section “General Metadata: Instrument”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Geometric Correction ⚠ (cont.)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This requirement is intended to enable interoperability between imagery from different platforms that meet this level of correction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,</a:t>
                      </a:r>
                      <a:r>
                        <a:rPr sz="1000"/>
                        <a:t> and with non-image spatial data such as GIS layers and terrain models.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This requirement is intended to enable interoperability between imagery from different platforms that meet this level of correction and with non-image spatial data such as GIS layers and terrain models.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This requirement is intended to enable interoperability between imagery from different platforms that meet this level of correction, and with non-image spatial data such as GIS layers and terrain models.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This requirement is intended to enable interoperability between imagery from different platforms that meet this level of correction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,</a:t>
                      </a:r>
                      <a:r>
                        <a:rPr sz="1000"/>
                        <a:t> and with non-image spatial data such as GIS layers and terrain models.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This requirement is intended to enable interoperability between imagery from different platforms that meet this level of correction, and with non-image spatial data such as GIS layers and terrain models.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This requirement is intended to enable interoperability between imagery from different platforms that meet this level of correction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,</a:t>
                      </a:r>
                      <a:r>
                        <a:rPr sz="1000"/>
                        <a:t> and with non-image spatial data such as GIS layers and terrain models.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Ozone Corrections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Data is corrected for ozone if spectral bands are affected.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Data is corrected for ozone if spectral bands are affected.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26564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Relevant metadata must be provided in [@geometric-uncertainty] and [@instrument].</a:t>
                      </a:r>
                    </a:p>
                    <a:p/>
                    <a:p>
                      <a:r>
                        <a:rPr sz="1000"/>
                        <a:t>See @dekeukelaere2018, @harmel2018, @mobley2016, @pahlevan2017, @pahlevan2021, and @vanhellemont2019.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899916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(required)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Data is corrected for ozone.</a:t>
                      </a:r>
                    </a:p>
                    <a:p/>
                    <a:p>
                      <a:r>
                        <a:rPr sz="1000"/>
                        <a:t>Relevant metadata must be provided under [@geometric-accuracy] and [@instrument].</a:t>
                      </a:r>
                    </a:p>
                    <a:p/>
                    <a:p>
                      <a:r>
                        <a:rPr sz="1000"/>
                        <a:t>Metadata contains a single DOI landing page with references to:</a:t>
                      </a:r>
                    </a:p>
                    <a:p/>
                    <a:p>
                      <a:r>
                        <a:rPr sz="1000"/>
                        <a:t>- a citable peer-reviewed algorithm</a:t>
                      </a:r>
                    </a:p>
                    <a:p>
                      <a:r>
                        <a:rPr sz="1000"/>
                        <a:t>- technical documentation regarding the implementation of that algorithm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565C0"/>
                          </a:solidFill>
                        </a:rPr>
                        <a:t>Data is corrected for ozone</a:t>
                      </a:r>
                      <a:r>
                        <a:rPr sz="1000"/>
                        <a:t> if spectral bands are affected.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Ozone Corrections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Water Vapour Corrections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Corrections are applied for water vapour if spectral bands are affected.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Corrections are applied for water vapour if spectral bands are affected.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Corrections are applied for water vapour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 if spectral bands are affected.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. Metadata contains a single DOI landing page with references to:</a:t>
                      </a:r>
                    </a:p>
                    <a:p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- a citable peer-reviewed algorithm</a:t>
                      </a:r>
                    </a:p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- technical documentation regarding the implementation of that algorithm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Corrections are applied for water vapour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. Metadata contains a single DOI landing page with references to:</a:t>
                      </a:r>
                    </a:p>
                    <a:p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- a citable peer-reviewed algorithm</a:t>
                      </a:r>
                    </a:p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- technical documentation regarding the implementation of that algorithm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if spectral bands are affected.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980944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Examples of technical documentation include an Algorithm Theoretical Basis Document, product user guide, etc.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00000"/>
                          </a:solidFill>
                        </a:rPr>
                        <a:t>DELETE NOTE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01668"/>
            <a:ext cx="112772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Measurement Normalisation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Measurements are normalised (to nadir) to remove the effect of bidirectional dependence of the upwelling radiance on observation and solar-illumination geometries.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Measurements are normalised (to nadir) to remove the effect of bidirectional dependence of the upwelling radiance on observation and solar-illumination geometries.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565C0"/>
                          </a:solidFill>
                        </a:rPr>
                        <a:t>Measurements are normalised </a:t>
                      </a:r>
                      <a:r>
                        <a:rPr sz="1000"/>
                        <a:t>for viewing conditions (i.e., nadir view angle).</a:t>
                      </a:r>
                    </a:p>
                    <a:p>
                      <a:r>
                        <a:rPr sz="1000"/>
                        <a:t>This may include radiative transfer modelling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565C0"/>
                          </a:solidFill>
                        </a:rPr>
                        <a:t>Measurements are normalised </a:t>
                      </a:r>
                      <a:r>
                        <a:rPr sz="1000"/>
                        <a:t>(to nadir) to remove the effect of bidirectional dependence of the upwelling radiance on observation and solar-illumination geometries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565C0"/>
                          </a:solidFill>
                        </a:rPr>
                        <a:t>Measurements are normalised </a:t>
                      </a:r>
                      <a:r>
                        <a:rPr sz="1000"/>
                        <a:t>for solar and viewing conditions (i.e., nadir view angle and average solar angles). This may include terrain 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illumination </a:t>
                      </a:r>
                      <a:r>
                        <a:rPr sz="1000"/>
                        <a:t>and/or Bi-Directional Reflectance Function (BRDF) correction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565C0"/>
                          </a:solidFill>
                        </a:rPr>
                        <a:t>Measurements are normalised </a:t>
                      </a:r>
                      <a:r>
                        <a:rPr sz="1000"/>
                        <a:t>(to nadir) to remove the effect of bidirectional dependence of the upwelling radiance on observation and solar-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illumination </a:t>
                      </a:r>
                      <a:r>
                        <a:rPr sz="1000"/>
                        <a:t>geometries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232403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Information on measurement normalisation should be available in the metadata as a single DOI landing page.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00000"/>
                          </a:solidFill>
                        </a:rPr>
                        <a:t>DELETE NOTE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Information on measurement normalisation should be available in the metadata as a single DOI landing page.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00000"/>
                          </a:solidFill>
                        </a:rPr>
                        <a:t>DELETE NOTE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855464"/>
            <a:ext cx="112772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Measurement Uncertainty ⚠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Note: In current practice, users determine fitness for purpose based on knowledge of the lineage of the data, rather than on a specific estimate of measurement uncertainty.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00000"/>
                          </a:solidFill>
                        </a:rPr>
                        <a:t>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62890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An estimate of the uncertainty of the values is provided in measurement units, following the BIPM Guide to the Expression of Uncertainty in Measurement (GUM).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An estimate of the uncertainty of the values is provided in measurement units, following the BIPM Guide to the Expression of Uncertainty in Measurement (GUM).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</a:t>
                      </a:r>
                      <a:r>
                        <a:rPr sz="1000"/>
                        <a:t> self-assessed declaration of per-pixel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measurement un</a:t>
                      </a:r>
                      <a:r>
                        <a:rPr sz="1000"/>
                        <a:t>certainty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, following </a:t>
                      </a:r>
                      <a:r>
                        <a:rPr sz="1000"/>
                        <a:t>Section 3.2.4 (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Uncertainty </a:t>
                      </a:r>
                      <a:r>
                        <a:rPr sz="1000"/>
                        <a:t>Characterization) of the Joint Earth Observation Mission Quality Assessment Framework - Optical Guidelines is provided, meeting the Basic or Good criteria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 self-assessed declaration of per-pixel measurement uncertainty, following Section 3.2.4 (Uncertainty Characterization) of the Joint Earth Observation Mission Quality Assessment Framework - Optical Guidelines is provided, meeting the Basic or Good criteria.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704588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 current practice, users determine fitness for purpose based on knowledge of the lineage of the data, rather than on a specific estimate of measurement uncertainty.</a:t>
                      </a:r>
                    </a:p>
                    <a:p/>
                    <a:p>
                      <a:r>
                        <a:rPr sz="1000"/>
                        <a:t>See @gum_6_2020 and @vabson2024.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Measurement Uncertainty ⚠ (cont.)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(required)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An estimate of the certainty of the values is provided in measurement units.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An estimate of the 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un</a:t>
                      </a:r>
                      <a:r>
                        <a:rPr sz="1000"/>
                        <a:t>certainty of the values is provided in measurement units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.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, following the BIPM Guide to the Expression of Uncertainty in Measurement (GUM).</a:t>
                      </a:r>
                    </a:p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[BUT not "Note 2"]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</a:t>
                      </a:r>
                      <a:r>
                        <a:rPr sz="1000"/>
                        <a:t> self-assessed declaration of per-pixel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measurement un</a:t>
                      </a:r>
                      <a:r>
                        <a:rPr sz="1000"/>
                        <a:t>certainty, following Section 3.2.4 (Uncertainty Characterization) of the Joint Earth Observation Mission Quality Assessment Framework - Optical Guidelines is provided, meeting the Excellent or Ideal criteria. 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</a:t>
                      </a:r>
                      <a:r>
                        <a:rPr sz="1000"/>
                        <a:t>n estimate of the uncertainty of the values is provided in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measurement un</a:t>
                      </a:r>
                      <a:r>
                        <a:rPr sz="1000"/>
                        <a:t>its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, following </a:t>
                      </a:r>
                      <a:r>
                        <a:rPr sz="1000"/>
                        <a:t>the BIPM Guide to the Expression of 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Uncertainty </a:t>
                      </a:r>
                      <a:r>
                        <a:rPr sz="1000"/>
                        <a:t>in Measurement (GUM).</a:t>
                      </a:r>
                    </a:p>
                    <a:p>
                      <a:r>
                        <a:rPr sz="1000"/>
                        <a:t>[BUT not "Note 2"]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534156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This is a requirement for SI traceability. See also [@traceability].</a:t>
                      </a:r>
                    </a:p>
                    <a:p/>
                    <a:p>
                      <a:r>
                        <a:rPr sz="1000"/>
                        <a:t>Information on measurement uncertainty should be available in the metadata as a single DOI landing page.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https://science.nasa.gov/wp-content/uploads/2026/05/joint-optical-guidelines-jul2025-signed.pdf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458968"/>
            <a:ext cx="112772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Algorithms ⚠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All algorithms and the sequence in which they were applied in the generation process are identified.</a:t>
                      </a:r>
                    </a:p>
                    <a:p/>
                    <a:p>
                      <a:r>
                        <a:rPr sz="1000"/>
                        <a:t>Algorithms must be published and validated, and a description of the validation process is included.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All algorithms and the sequence in which they were applied in the generation process are identified.</a:t>
                      </a:r>
                    </a:p>
                    <a:p/>
                    <a:p>
                      <a:r>
                        <a:rPr sz="1000"/>
                        <a:t>Algorithms must be published and validated, and a description of the validation process is included.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565C0"/>
                          </a:solidFill>
                        </a:rPr>
                        <a:t>All algorithms</a:t>
                      </a:r>
                      <a:r>
                        <a:rPr sz="1000"/>
                        <a:t>,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and the sequence in which they were applied in the generation process</a:t>
                      </a:r>
                      <a:r>
                        <a:rPr sz="1000"/>
                        <a:t>,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are identified</a:t>
                      </a:r>
                      <a:r>
                        <a:rPr sz="1000"/>
                        <a:t> in the metadata.</a:t>
                      </a:r>
                    </a:p>
                    <a:p>
                      <a:r>
                        <a:rPr sz="1000"/>
                        <a:t>For example, these may be available through Algorithm Theoretical Basis documents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565C0"/>
                          </a:solidFill>
                        </a:rPr>
                        <a:t>All algorithms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and the sequence in which they were applied in the generation process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are identified</a:t>
                      </a:r>
                      <a:r>
                        <a:rPr sz="1000"/>
                        <a:t>.</a:t>
                      </a:r>
                    </a:p>
                    <a:p/>
                    <a:p>
                      <a:r>
                        <a:rPr sz="1000"/>
                        <a:t>Algorithms must be published and validated, and a description of the validation process is included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All algorithms and the sequence in which they were applied in the generation process are identified.</a:t>
                      </a:r>
                    </a:p>
                    <a:p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Algorithms must be published and validated, and a description of the validation process is included.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413766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It is possible that corrections are applied through non-disclosed processes. CEOS-ARD does not require full and open data and methods.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</a:t>
                      </a:r>
                      <a:r>
                        <a:rPr sz="1000"/>
                        <a:t>nformation on algorithms should be available in the metadata as a single DOI landing page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Algorithms ⚠ (cont.)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(required)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As threshold, but only algorithms that have been published in a peer-reviewed journal.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s threshold, but only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ll</a:t>
                      </a:r>
                      <a:r>
                        <a:rPr sz="1000"/>
                        <a:t> algorithms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that have been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and versions, and the sequence in which they were applied in the generation process, are identified and</a:t>
                      </a:r>
                      <a:r>
                        <a:rPr sz="1000"/>
                        <a:t> published in a peer-reviewed journal.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232403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It is possible that high-quality corrections are applied through non-disclosed processes. CEOS-ARD does not per-se require full and open data and methods.</a:t>
                      </a:r>
                    </a:p>
                    <a:p/>
                    <a:p>
                      <a:r>
                        <a:rPr sz="1000"/>
                        <a:t>Information on algorithms should be available in the metadata as a single DOI landing page.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157216"/>
            <a:ext cx="112772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Auxiliary Data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Lists the sources of auxiliary data used in the generation process.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List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The metadata identifie</a:t>
                      </a:r>
                      <a:r>
                        <a:rPr sz="1000"/>
                        <a:t>s the sources of auxiliary data used in the generation process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.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, ideally expressed as a single DOI landing page.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62890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Auxiliary data includes DEMs, aerosols, etc. data sources.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101084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As threshold, but information on auxiliary data should be available for free online download, contemporaneously with the product or through a link to the source.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As threshold, but information on auxiliary data should be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available in the metadata as a single DOI landing page and is also</a:t>
                      </a:r>
                      <a:r>
                        <a:rPr sz="1000"/>
                        <a:t> available for free online download, contemporaneously with the product or through a link to the source.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 metadata identifies the sources of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auxiliary data </a:t>
                      </a:r>
                      <a:r>
                        <a:rPr sz="1000"/>
                        <a:t>used in the generation process, ideally expressed as DOIs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Auxiliary Data (cont.)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Auxiliary data includes DEMs, etc., and any additional data sources used in the generation of the product.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478024"/>
            <a:ext cx="112772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metadata/crs-*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Title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Title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Coordinate Reference System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SR, 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Coordinate Reference System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Product </a:t>
                      </a:r>
                      <a:r>
                        <a:rPr sz="1000"/>
                        <a:t>Coordinate Reference System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478024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 coordinate reference system that has been used is detailed.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SR, 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he metadata lists t</a:t>
                      </a:r>
                      <a:r>
                        <a:rPr sz="1000"/>
                        <a:t>he coordinate reference system that has been used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 is detailed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</a:t>
                      </a:r>
                      <a:r>
                        <a:rPr sz="1000"/>
                        <a:t> metadata lists the map projection (or geographical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coordinate</a:t>
                      </a:r>
                      <a:r>
                        <a:rPr sz="1000"/>
                        <a:t>s, if applicable) that was used and any relevant parameters required to geolocate data in that map projection, expressed in a standardised format (e.g., WKT).</a:t>
                      </a:r>
                    </a:p>
                    <a:p/>
                    <a:p>
                      <a:r>
                        <a:rPr sz="1000"/>
                        <a:t>Indicate EPSG code, if defined for the CRS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metadata/data-access-*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Title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Title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AR, NLSR, SR,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Data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Product </a:t>
                      </a:r>
                      <a:r>
                        <a:rPr sz="1000"/>
                        <a:t>Data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Source </a:t>
                      </a:r>
                      <a:r>
                        <a:rPr sz="1000"/>
                        <a:t>Data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478024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AR, NLSR, SR,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Information on data access should be available in the metadata as a single DOI landing page.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Processing parameters details of the CEOS-ARD product:</a:t>
                      </a:r>
                    </a:p>
                    <a:p/>
                    <a:p>
                      <a:r>
                        <a:rPr sz="1000"/>
                        <a:t>- Processing facility</a:t>
                      </a:r>
                    </a:p>
                    <a:p>
                      <a:r>
                        <a:rPr sz="1000"/>
                        <a:t>- Processing date</a:t>
                      </a:r>
                    </a:p>
                    <a:p>
                      <a:r>
                        <a:rPr sz="1000"/>
                        <a:t>- Software version</a:t>
                      </a:r>
                    </a:p>
                    <a:p>
                      <a:r>
                        <a:rPr sz="1000"/>
                        <a:t>- Location from where CEOS-ARD product can be retrieved, expressed as a URL or DOI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he metadata </a:t>
                      </a:r>
                      <a:r>
                        <a:rPr sz="1000"/>
                        <a:t>identifies the location from where the source data can be retrieved, expressed as a URL or DOI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50063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AR, NLSR, SR,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Manual and offline interaction action (e.g., login) may be required.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metadata/data-access-* (cont.)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AR, NLSR, SR, 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(required)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 metadata identifies an online location from where the data can be consistently and reliably retrieved by a computer algorithm without any manual intervention being required.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 metadata identifies an online location from where the data can be consistently and reliably retrieved by a computer algorithm without any manual intervention being required.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383279"/>
            <a:ext cx="112772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metadata/geo-area-*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Title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Title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AR, NLSR, SR,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Geographical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Product </a:t>
                      </a:r>
                      <a:r>
                        <a:rPr sz="1000"/>
                        <a:t>Geographical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Area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Extent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26564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AR, NLSR, SR,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 surface location to which the data relates is identified, typically as a series of four corner points, expressed in an accepted coordinate reference system (e.g., WGS84).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 </a:t>
                      </a:r>
                      <a:r>
                        <a:rPr sz="1000"/>
                        <a:t>geometry of the SAR image footprint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expressed in </a:t>
                      </a:r>
                      <a:r>
                        <a:rPr sz="1000"/>
                        <a:t>longitude/latitude based on WGS84 (EPSG 4326), in a standardised format (e.g., WKT Polygon</a:t>
                      </a:r>
                      <a:r>
                        <a:rPr sz="1000"/>
                        <a:t>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7490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AR, NLSR, SR,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 geographic area covered by the observations is identified specifically, such as through a set of coordinates of a closely bounding polygon. The location to which each pixel refers is identified (or can be reliably determined) with the projection system (if any) and reference datum provided.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(required)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Geometric Correction Methods ⚠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Information on geometric correction source and methods are provided, including reference database and auxiliary data such as elevation model(s) and reference chip-sets.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Information on geometric correction source and methods are provided, including reference database and auxiliary data such as elevation model(s) and reference chip-sets.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Information on geometric correction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source and methods are provided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methods should be available in the metadata as a single DOI landing page</a:t>
                      </a:r>
                      <a:r>
                        <a:rPr sz="1000"/>
                        <a:t>, including reference database and auxiliary data such as elevation model(s) and reference chip-sets.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Information on geometric correction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methods should be available in the metadata as a single DOI landing page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source and methods are provided</a:t>
                      </a:r>
                      <a:r>
                        <a:rPr sz="1000"/>
                        <a:t>, including reference database and auxiliary data such as elevation model(s) and reference chip-sets.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 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830068"/>
            <a:ext cx="112772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Instrument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 instrument used to collect the data is identified.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 instrument used to collect the data is identified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in the metadata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 instrument used to collect the data is identified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.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in the metadata:</a:t>
                      </a:r>
                    </a:p>
                    <a:p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- Satellite name</a:t>
                      </a:r>
                    </a:p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- Instrument 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930652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As threshold, with references to the relevant “CEOS Missions, Instruments, and Measurements Database” record ([database.eohandbook.com](https://database.eohandbook.com)).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As threshold,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but information should be available in the metadata as a single DOI landing page</a:t>
                      </a:r>
                      <a:r>
                        <a:rPr sz="1000"/>
                        <a:t> with references to the relevant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“</a:t>
                      </a:r>
                      <a:r>
                        <a:rPr sz="1000"/>
                        <a:t>CEOS Missions, Instruments, and Measurements Database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” record ([database.eohandbook.com](https://database.eohandbook.com)).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record.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565C0"/>
                          </a:solidFill>
                        </a:rPr>
                        <a:t>As threshold, </a:t>
                      </a:r>
                      <a:r>
                        <a:rPr sz="1000"/>
                        <a:t>but using [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CEOS Mission</a:t>
                      </a:r>
                      <a:r>
                        <a:rPr sz="1000"/>
                        <a:t>-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Instruments</a:t>
                      </a:r>
                      <a:r>
                        <a:rPr sz="1000"/>
                        <a:t>-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Measurements </a:t>
                      </a:r>
                      <a:r>
                        <a:rPr sz="1000"/>
                        <a:t>(MIM) database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](https://</a:t>
                      </a:r>
                      <a:r>
                        <a:rPr sz="1000"/>
                        <a:t>ceos.org/mim-database) as reference.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157216"/>
            <a:ext cx="112772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Metadata Machine Readability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AR, NLSR, SR,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Metadata is provided in a structure that enables a computer algorithm to be used to consistently and automatically identify and extract each component part for further use.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CB, CB, GSLC, GSLC, INSAR, INSAR, NRB, NRB, ORB, ORB, POL,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Metadata is provided in a structure that enables a computer algorithm to be used to consistently and automatically identify and extract each component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 part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/variable</a:t>
                      </a:r>
                      <a:r>
                        <a:rPr sz="1000"/>
                        <a:t> for further use.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AR, 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Metadata is provided in a structure that enables a computer algorithm to be used to consistently and automatically identify and extract each component part for further use.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232403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AR, NLSR, SR,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As threshold, but metadata should be provided in a community endorsed standard that facilitates machine-readability, such as ISO 19115-2.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CB, CB, GSLC, GSLC, INSAR, INSAR, NRB, NRB, ORB, ORB, POL,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As threshold, but metadata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should be provided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is formatted in accordance with the latest corresponding CEOS-ARD SAR Metadata Specifications, or</a:t>
                      </a:r>
                      <a:r>
                        <a:rPr sz="1000"/>
                        <a:t> in a community endorsed standard that facilitates machine-readability, such as ISO 19115-2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, Climate and Forecast (CF) convention and the Attribute Convention for Data Discovery (ACDD), etc</a:t>
                      </a:r>
                      <a:r>
                        <a:rPr sz="1000"/>
                        <a:t>.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AR, 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(required)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Map Projection ⚠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 map projection that has been used and any relevant parameters required in relation to use of data in that map projection is detailed.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 map projection that has been used and any relevant parameters required in relation to use of data in that map projection is detailed.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he metadata lists t</a:t>
                      </a:r>
                      <a:r>
                        <a:rPr sz="1000"/>
                        <a:t>he map projection that has been used and any relevant parameters required in relation to use of data in that map projection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 is detailed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he metadata lists t</a:t>
                      </a:r>
                      <a:r>
                        <a:rPr sz="1000"/>
                        <a:t>he map projection that has been used and any relevant parameters required in relation to use of data in that map projection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is detailed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he metadata lists t</a:t>
                      </a:r>
                      <a:r>
                        <a:rPr sz="1000"/>
                        <a:t>he map projection that has been used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(or geographical coordinates, if applicable)</a:t>
                      </a:r>
                      <a:r>
                        <a:rPr sz="1000"/>
                        <a:t> and any relevant parameters required in relation to use of data in that map projection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 is detailed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he metadata lists t</a:t>
                      </a:r>
                      <a:r>
                        <a:rPr sz="1000"/>
                        <a:t>he map projection that has been used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 (or geographical coordinates, if applicable)</a:t>
                      </a:r>
                      <a:r>
                        <a:rPr sz="1000"/>
                        <a:t> and any relevant parameters required in relation to use of data in that map projection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is detailed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081528"/>
            <a:ext cx="11277295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Observation: curious if anyone knows why this is "Not Required" for ST at Threshold?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Processing Chain Provenance ⚠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7315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NLSR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 provider attaches to each delivered dataset (delivery unit) a code which allows them to reconstruct the exact processing environment (software versions, calibration files, parameter settings) in which this particular output was produced.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031236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7315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Information on processing chain provenance should be available with a detailed description of the processing steps used to generate the product, including the versions of software used, giving full transparency to the users.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Information on processing chain provenance should be available with a detailed description of the processing steps used to generate the product, including the versions of software used, giving full transparency to the users.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NLSR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Information on processing chain provenance should be available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with a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in the metadata as a single DOI landing page containing</a:t>
                      </a:r>
                      <a:r>
                        <a:rPr sz="1000"/>
                        <a:t> detailed description of the processing steps used to generate the product,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including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the organization that performed the processing, and</a:t>
                      </a:r>
                      <a:r>
                        <a:rPr sz="1000"/>
                        <a:t> the versions of software used, giving full transparency to the users.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Information on processing chain provenance should be available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in the metadata as a single DOI landing page containing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with a</a:t>
                      </a:r>
                      <a:r>
                        <a:rPr sz="1000"/>
                        <a:t> detailed description of the processing steps used to generate the product,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the organization that performed the processing, and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including</a:t>
                      </a:r>
                      <a:r>
                        <a:rPr sz="1000"/>
                        <a:t> the versions of software used, giving full transparency to the users.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Information on processing chain provenance should be available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with a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in the metadata as a single DOI landing page containing</a:t>
                      </a:r>
                      <a:r>
                        <a:rPr sz="1000"/>
                        <a:t> detailed description of the processing steps used to generate the product, including the versions of software used, giving full transparency to the users.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Information on processing chain provenance should be available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in the metadata as a single DOI landing page containing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with a</a:t>
                      </a:r>
                      <a:r>
                        <a:rPr sz="1000"/>
                        <a:t> detailed description of the processing steps used to generate the product, including the versions of software used, giving full transparency to the users.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As threshold, but the provider is also in grade to reproduce the exact same output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Information on processing chain provenance should be available with a detailed description of the processing steps used to generate the product, including the versions of software used, giving full transparency to the users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Processing Chain Provenance ⚠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Radiometric Accuracy ⚠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Uncertainty (e.g., bounds on $\gamma^0$ or $\sigma^0$) information is provided as document referenced as URL or DOI.</a:t>
                      </a:r>
                    </a:p>
                    <a:p>
                      <a:r>
                        <a:rPr sz="1000"/>
                        <a:t>SI traceability is achieved.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 metadata includes metrics describing the assessed absolute radiometric u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ncertainty </a:t>
                      </a:r>
                      <a:r>
                        <a:rPr sz="1000"/>
                        <a:t>of the version of the data or product, expressed as absolute radiometric uncertainty relative to appropriate, known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reference</a:t>
                      </a:r>
                      <a:r>
                        <a:rPr sz="1000"/>
                        <a:t> sites and standards (for example, pseudo-invariant calibration sites, rigorously collected field spectra, Rayleigh, DCC, etc.)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980944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Information on radiometric accuracy should be available in the metadata as a single DOI landing page.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01668"/>
            <a:ext cx="112772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Sensor Calibration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Binary description of calibrated/not calibrated only.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478024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 sensor calibration parameters including history of onboard calibrations where available.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ensor calibration parameters </a:t>
                      </a:r>
                      <a:r>
                        <a:rPr sz="1000"/>
                        <a:t>are identified in the metadata or can be accessed using details included in the metadata.</a:t>
                      </a:r>
                    </a:p>
                    <a:p>
                      <a:r>
                        <a:rPr sz="1000"/>
                        <a:t>Ideally this would support machine-to-machine access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ensor calibration parameters </a:t>
                      </a:r>
                      <a:r>
                        <a:rPr sz="1000"/>
                        <a:t>are identified in the metadata or can be accessed using details included in the metadata.</a:t>
                      </a:r>
                    </a:p>
                    <a:p>
                      <a:r>
                        <a:rPr sz="1000"/>
                        <a:t>Ideally this would support machine-to-machine access.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553712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Information on sensory calibration should be available in the metadata as a single DOI landing page.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025896"/>
            <a:ext cx="112772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Spectral Bands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Full spectral response function is provided.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Full spectral response function is provided.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 central wavelength for each band for which data is included is identified in the metadata, expressed in SI units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Full spectral response function is provided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3774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(required)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As threshold, with instrument spectral response details (e.g., full spectral response function) also included or directly accessible using details in the metadata. </a:t>
                      </a:r>
                    </a:p>
                    <a:p>
                      <a:r>
                        <a:rPr sz="1000"/>
                        <a:t>Central wavelength and bandwidth at full-width half maximum value of the relative spectral response function are provided at least.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352544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Information on spectral bands should be available in the metadata as a single DOI landing page.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573268"/>
            <a:ext cx="112772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metadata/time-*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7315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Title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Title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Data Collection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Data Collection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Source Data Acquisi</a:t>
                      </a:r>
                      <a:r>
                        <a:rPr sz="1000"/>
                        <a:t>tion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Data Collection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729484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7315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 beginning and end of the data collection time is expressed in date/time and identified in the metadata consistent with ISO 8601. The time is expressed with the time offset from UTC unambiguously identified.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Number of source data acquisitions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of the data collection </a:t>
                      </a:r>
                      <a:r>
                        <a:rPr sz="1000"/>
                        <a:t>is identified.</a:t>
                      </a:r>
                    </a:p>
                    <a:p>
                      <a:r>
                        <a:rPr sz="1000"/>
                        <a:t>The start and stop UTC time of data collection is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identified in the metadata</a:t>
                      </a:r>
                      <a:r>
                        <a:rPr sz="1000"/>
                        <a:t>, expressed in date/time.</a:t>
                      </a:r>
                    </a:p>
                    <a:p>
                      <a:r>
                        <a:rPr sz="1000"/>
                        <a:t>In the case of composite or mosaic products, the dates/times of the first and last data takes is provid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ed with the </a:t>
                      </a:r>
                      <a:r>
                        <a:rPr sz="1000"/>
                        <a:t>product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The </a:t>
                      </a:r>
                      <a:r>
                        <a:rPr sz="1000"/>
                        <a:t>start date and time of source data is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identified in the metadata</a:t>
                      </a:r>
                      <a:r>
                        <a:rPr sz="1000"/>
                        <a:t>,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expressed </a:t>
                      </a:r>
                      <a:r>
                        <a:rPr sz="1000"/>
                        <a:t>in UTC in date and time, at least to the secon</a:t>
                      </a:r>
                      <a:r>
                        <a:rPr sz="1000"/>
                        <a:t>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he beginning and end of t</a:t>
                      </a:r>
                      <a:r>
                        <a:rPr sz="1000"/>
                        <a:t>he data collection time is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expressed in date/time and </a:t>
                      </a:r>
                      <a:r>
                        <a:rPr sz="1000"/>
                        <a:t>identified in the metadata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 consistent with ISO 8601. The time is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,</a:t>
                      </a:r>
                      <a:r>
                        <a:rPr sz="1000"/>
                        <a:t> expressed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in date/time, to the second,</a:t>
                      </a:r>
                      <a:r>
                        <a:rPr sz="1000"/>
                        <a:t> with the time offset from UTC unambiguously identified.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metadata/time-* (cont.)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7315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As threshold, but information required to determine, within a stated uncertainty, when the individual observations were taken is available.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565C0"/>
                          </a:solidFill>
                        </a:rPr>
                        <a:t>As threshold, but </a:t>
                      </a:r>
                      <a:r>
                        <a:rPr sz="1000"/>
                        <a:t>using ISO 8601 time format</a:t>
                      </a:r>
                      <a:r>
                        <a:rPr sz="1000"/>
                        <a:t>.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(required)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</a:t>
                      </a:r>
                      <a:r>
                        <a:rPr sz="1000"/>
                        <a:t>cquisition time for each pixel is identified (or can be reliably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determine</a:t>
                      </a:r>
                      <a:r>
                        <a:rPr sz="1000"/>
                        <a:t>d) in the metadata, expressed in date/time at UTC, to the second</a:t>
                      </a:r>
                      <a:r>
                        <a:rPr sz="1000"/>
                        <a:t>.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metadata/traceability-* ⚠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7315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Title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Title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Traceability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Traceability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Traceability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Metrological </a:t>
                      </a:r>
                      <a:r>
                        <a:rPr sz="1000"/>
                        <a:t>Traceability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of the Measurand to 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729484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7315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Aquatic Reflectance (dimensionless) or the Remote Sensing Reflectance ($sr^{-1}$) of the water bodies ($AR = \pi \cdot R_{rs}$) is given.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453128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7315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Data must be traceable to SI reference standard.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Data must be traceable to SI reference standard.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Data must be traceable to SI reference standard.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Data must be traceable to SI reference standard.</a:t>
                      </a:r>
                    </a:p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Information on traceability should be available in the metadata as a single DOI landing page.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metadata/traceability-* ⚠ (cont.)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7315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Relationship to [@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relationship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uncertainty</a:t>
                      </a:r>
                      <a:r>
                        <a:rPr sz="1000"/>
                        <a:t>]. Traceability requires an estimate of measurement uncertainty.</a:t>
                      </a:r>
                    </a:p>
                    <a:p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Information on traceability should be available in the metadata as a single DOI landing page.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CB, GSLC, INSAR, NRB, ORB, POL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Relationship to [@relationship]. Traceability requires an estimate of measurement uncertainty.</a:t>
                      </a:r>
                    </a:p>
                    <a:p/>
                    <a:p>
                      <a:r>
                        <a:rPr sz="1000"/>
                        <a:t>Information on traceability should be available in the metadata as a single DOI landing page.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Relationship to [@relationship]. Traceability requires an estimate of measurement uncertainty.</a:t>
                      </a:r>
                    </a:p>
                    <a:p/>
                    <a:p>
                      <a:r>
                        <a:rPr sz="1000"/>
                        <a:t>Information on traceability should be available in the metadata as a single DOI landing page.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Relationship to [@relationship].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SI</a:t>
                      </a:r>
                      <a:r>
                        <a:rPr sz="1000"/>
                        <a:t> Traceability requires an estimate of measurement uncertainty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.</a:t>
                      </a:r>
                    </a:p>
                    <a:p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Information on traceability should be available in the metadata as a single DOI landing page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(see [@uncertainty])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992624"/>
            <a:ext cx="112772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Cloud ⚠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 whether a pixel is cloud or cloud-affected.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 whether a pixel is cloud or cloud-affected.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 whether a pixel is cloud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 or cloud</a:t>
                      </a:r>
                      <a:r>
                        <a:rPr sz="1000"/>
                        <a:t>-affected.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 whether a pixel is cloud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or cloud</a:t>
                      </a:r>
                      <a:r>
                        <a:rPr sz="1000"/>
                        <a:t>-affected.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Metadata indicates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whether a pixel is </a:t>
                      </a:r>
                      <a:r>
                        <a:rPr sz="1000"/>
                        <a:t>assessed as being cloud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whether a pixel is </a:t>
                      </a:r>
                      <a:r>
                        <a:rPr sz="1000"/>
                        <a:t>cloud or cloud-affected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478024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As threshold, but clouds and cirrus clouds are differentiated.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As threshold, but clouds and cirrus clouds are differentiated.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565C0"/>
                          </a:solidFill>
                        </a:rPr>
                        <a:t>As threshold, but </a:t>
                      </a:r>
                      <a:r>
                        <a:rPr sz="1000"/>
                        <a:t>information on cloud type or confidence is includ</a:t>
                      </a:r>
                      <a:r>
                        <a:rPr sz="1000"/>
                        <a:t>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565C0"/>
                          </a:solidFill>
                        </a:rPr>
                        <a:t>As threshold, but </a:t>
                      </a:r>
                      <a:r>
                        <a:rPr sz="1000"/>
                        <a:t>clouds and cirrus clouds are differentiat</a:t>
                      </a:r>
                      <a:r>
                        <a:rPr sz="1000"/>
                        <a:t>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565C0"/>
                          </a:solidFill>
                        </a:rPr>
                        <a:t>As threshold, but </a:t>
                      </a:r>
                      <a:r>
                        <a:rPr sz="1000"/>
                        <a:t>information on cloud detection should be available in the metadata as a single DOI landing page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565C0"/>
                          </a:solidFill>
                        </a:rPr>
                        <a:t>As threshold, but </a:t>
                      </a:r>
                      <a:r>
                        <a:rPr sz="1000"/>
                        <a:t>clouds and cirrus clouds are differentiated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101084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See @foga2017, @skakun2022, @zhu2012, and @zhu2015.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573268"/>
            <a:ext cx="112772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Cloud Shadow ⚠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7315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 whether a pixel is cloud shadow or cloud shadow-affected.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 whether a pixel is cloud shadow or cloud shadow-affected.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NLSR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Specification of whether a pixel is cloud shadow or cloud shadow-affected.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Metadata indicates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whether a pixel is </a:t>
                      </a:r>
                      <a:r>
                        <a:rPr sz="1000"/>
                        <a:t>assessed as being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cloud shadow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whether a pixel is </a:t>
                      </a:r>
                      <a:r>
                        <a:rPr sz="1000"/>
                        <a:t>cloud shadow or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cloud shadow</a:t>
                      </a:r>
                      <a:r>
                        <a:rPr sz="1000"/>
                        <a:t>-affected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729484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7315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(required)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NLSR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Metadata indicates whether a pixel is assessed as being cloud shadow.</a:t>
                      </a:r>
                    </a:p>
                    <a:p>
                      <a:r>
                        <a:rPr sz="1000"/>
                        <a:t>Information on cloud shadow detection should be available in the metadata as a single DOI landing page.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whether a pixel is </a:t>
                      </a:r>
                      <a:r>
                        <a:rPr sz="1000"/>
                        <a:t>cloud shadow or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cloud shadow</a:t>
                      </a:r>
                      <a:r>
                        <a:rPr sz="1000"/>
                        <a:t>-affected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Metadata indicates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Specification of</a:t>
                      </a:r>
                      <a:r>
                        <a:rPr sz="1000"/>
                        <a:t> whether a pixel is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assessed as being </a:t>
                      </a:r>
                      <a:r>
                        <a:rPr sz="1000"/>
                        <a:t>cloud shadow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.</a:t>
                      </a:r>
                    </a:p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Information on cloud shadow detection should be available in the metadata as a single DOI landing page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-affected</a:t>
                      </a:r>
                      <a:r>
                        <a:rPr sz="1000"/>
                        <a:t>.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Metadata indicates whether a pixel is assessed as being cloud shadow.</a:t>
                      </a:r>
                    </a:p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I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As threshold, but i</a:t>
                      </a:r>
                      <a:r>
                        <a:rPr sz="1000"/>
                        <a:t>nformation on cloud shadow detection should be available in the metadata as a single DOI landing page.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961888"/>
            <a:ext cx="112772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per-pixel/incomplete-testing-* ⚠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Title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Title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Per-pixel Assessment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Incomplete Testing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Incomplete Testing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478024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Identifies pixels for which the per-pixel tests (below) have not all been successfully completed.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Identifies pixels for which the per-pixel tests (below) have not all been successfully completed.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Identifies pixels for which the per-pixel tests (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below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2.3, 2.4, 2.6</a:t>
                      </a:r>
                      <a:r>
                        <a:rPr sz="1000"/>
                        <a:t>) have not all been successfully completed.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Identifies pixels for which the per-pixel tests (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2.3, 2.4, 2.6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below</a:t>
                      </a:r>
                      <a:r>
                        <a:rPr sz="1000"/>
                        <a:t>) have not all been successfully completed.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I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The metadata i</a:t>
                      </a:r>
                      <a:r>
                        <a:rPr sz="1000"/>
                        <a:t>dentifies pixels for which the per-pixel tests (below) have not all been successfully completed.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The metadata i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I</a:t>
                      </a:r>
                      <a:r>
                        <a:rPr sz="1000"/>
                        <a:t>dentifies pixels for which the per-pixel tests (below) have not all been successfully completed.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25196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Identifies which tests have and have not been successfully completed for each pixel.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Identifies which tests have and have not been successfully completed for each pixel.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Identifies which tests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(2.3, 2.4, 2.5, 2.6, 2.8)</a:t>
                      </a:r>
                      <a:r>
                        <a:rPr sz="1000"/>
                        <a:t> have and have not been successfully completed for each pixel.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Identifies which tests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 (2.3, 2.4, 2.5, 2.6, 2.8)</a:t>
                      </a:r>
                      <a:r>
                        <a:rPr sz="1000"/>
                        <a:t> have and have not been successfully completed for each pixel.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I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The metadata i</a:t>
                      </a:r>
                      <a:r>
                        <a:rPr sz="1000"/>
                        <a:t>dentifies which tests have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,</a:t>
                      </a:r>
                      <a:r>
                        <a:rPr sz="1000"/>
                        <a:t> and have not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,</a:t>
                      </a:r>
                      <a:r>
                        <a:rPr sz="1000"/>
                        <a:t> been successfully completed for each pixel.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The metadata i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I</a:t>
                      </a:r>
                      <a:r>
                        <a:rPr sz="1000"/>
                        <a:t>dentifies which tests have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,</a:t>
                      </a:r>
                      <a:r>
                        <a:rPr sz="1000"/>
                        <a:t> and have not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,</a:t>
                      </a:r>
                      <a:r>
                        <a:rPr sz="1000"/>
                        <a:t> been successfully completed for each pixel.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025896"/>
            <a:ext cx="11277295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I suggest "Per-Pixel Assessment" is adopted for NLSR-SR-ST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per-pixel/land-water-*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Title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Title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Land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/Water Mask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Land/Water Mask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Land/Water Mask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478024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 whether a pixel is less than 100% water covered due to land.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 whether a pixel is less than 100% water covered due to land.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Metadata indicates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whether a pixel is l</a:t>
                      </a:r>
                      <a:r>
                        <a:rPr sz="1000"/>
                        <a:t>and or water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Metadata indicates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Specification of</a:t>
                      </a:r>
                      <a:r>
                        <a:rPr sz="1000"/>
                        <a:t> whether a pixel is land or water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950208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Notes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See @jones2019, @mikelsons2021, and @pekel2016.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per-pixel/land-water-* (cont.)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(required)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As threshold, information on land/water mask should be available in the metadata as a single DOI landing page.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As threshold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, information on land/water mask should be available in the metadata as a single DOI landing page.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As threshold, i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The metadata indicates whether a pixel is assessed as being land or water. I</a:t>
                      </a:r>
                      <a:r>
                        <a:rPr sz="1000"/>
                        <a:t>nformation on land/water mask should be available in the metadata as a single DOI landing page.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The metadata indicates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Specification of</a:t>
                      </a:r>
                      <a:r>
                        <a:rPr sz="1000"/>
                        <a:t> whether a pixel is 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assessed as being </a:t>
                      </a:r>
                      <a:r>
                        <a:rPr sz="1000"/>
                        <a:t>land or water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. Information on land/water mask should be available in the metadata as a single DOI landing page.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32403"/>
            <a:ext cx="112772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No Data ⚠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91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Pixels that do not correspond to an observation (e.g., empty pixels / invalid observations / below noise floor) are masked.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Pixels that do not correspond to an observation (e.g., empty pixels / invalid observations / below noise floor) are masked.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565C0"/>
                          </a:solidFill>
                        </a:rPr>
                        <a:t>Pixels that do not correspond to an observation (</a:t>
                      </a:r>
                      <a:r>
                        <a:rPr sz="1000"/>
                        <a:t>‘No Data / Invalid / Falsified / Valid / Modelled’) are flagg</a:t>
                      </a:r>
                      <a:r>
                        <a:rPr sz="1000"/>
                        <a:t>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565C0"/>
                          </a:solidFill>
                        </a:rPr>
                        <a:t>Pixels that do not correspond to an observation (</a:t>
                      </a:r>
                      <a:r>
                        <a:rPr sz="1000"/>
                        <a:t>e.g., empty pixels / invalid observations / below noise floor) are mask</a:t>
                      </a:r>
                      <a:r>
                        <a:rPr sz="1000"/>
                        <a:t>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Pixels that do not correspond to an observation (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e.g., 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‘</a:t>
                      </a:r>
                      <a:r>
                        <a:rPr sz="1000"/>
                        <a:t>empty pixels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 / invalid observations / below noise floor) are mask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’) are flagg</a:t>
                      </a:r>
                      <a:r>
                        <a:rPr sz="1000"/>
                        <a:t>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Pixels that do not correspond to an observation (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‘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e.g., </a:t>
                      </a:r>
                      <a:r>
                        <a:rPr sz="1000"/>
                        <a:t>empty pixels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’) are flagg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/ invalid observations / below noise floor) are mask</a:t>
                      </a:r>
                      <a:r>
                        <a:rPr sz="1000"/>
                        <a:t>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Saturation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 whether there is pixel radiometric saturation at Level 1 in one or more spectral bands.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 whether there is pixel radiometric saturation at Level 1 in one or more spectral bands.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Metadata indicates where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one or more</a:t>
                      </a:r>
                      <a:r>
                        <a:rPr sz="1000"/>
                        <a:t> pixel in the input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spectral bands</a:t>
                      </a:r>
                      <a:r>
                        <a:rPr sz="1000"/>
                        <a:t> are saturated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 whether there is pixel radiometric saturation at Level 1 in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one or more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spectral bands</a:t>
                      </a:r>
                      <a:r>
                        <a:rPr sz="1000"/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3774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As threshold, with specification of which pixels are radiometrically saturated for each spectral band.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As threshold, with specification of which pixels are radiometrically saturated for each spectral band.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As threshold, with specification of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Metadata indicates</a:t>
                      </a:r>
                      <a:r>
                        <a:rPr sz="1000"/>
                        <a:t> which pixels are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 radiometrically</a:t>
                      </a:r>
                      <a:r>
                        <a:rPr sz="1000"/>
                        <a:t> saturated for each spectral band.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Metadata indicates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As threshold, with specification of</a:t>
                      </a:r>
                      <a:r>
                        <a:rPr sz="1000"/>
                        <a:t> which pixels are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 radiometrically</a:t>
                      </a:r>
                      <a:r>
                        <a:rPr sz="1000"/>
                        <a:t> saturated for each spectral band.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Snow/Ice Mask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NLSR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Metadata indicates whether a pixel is snow/ice.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Metadata indicates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Specification of</a:t>
                      </a:r>
                      <a:r>
                        <a:rPr sz="1000"/>
                        <a:t> whether a pixel is snow/ice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26564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NLSR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As threshold, information on snow/ice mask should be available in the metadata as a single DOI landing page.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As threshold</a:t>
                      </a:r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, information on snow/ice mask should be available in the metadata as a single DOI landing page.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As threshold, i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The metadata indicates whether a pixel is assessed as being snow/ice or not. I</a:t>
                      </a:r>
                      <a:r>
                        <a:rPr sz="1000"/>
                        <a:t>nformation on snow/ice mask should be available in the metadata as a single DOI landing page.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</a:t>
                      </a:r>
                      <a:r>
                        <a:rPr sz="1000">
                          <a:solidFill>
                            <a:srgbClr val="1565C0"/>
                          </a:solidFill>
                        </a:rPr>
                        <a:t> whether a pixel is </a:t>
                      </a:r>
                      <a:r>
                        <a:rPr sz="1000"/>
                        <a:t>snow/ice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749040"/>
            <a:ext cx="112772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Terrain Occlusion ⚠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Not required.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26564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Identifies pixels that are not visible to the sensor due to terrain occlusion during off-nadir viewing.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NLSR, 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Identifi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The metadata indicat</a:t>
                      </a:r>
                      <a:r>
                        <a:rPr sz="1000"/>
                        <a:t>es pixels that are not visible to the sensor due to terrain occlusion during off-nadir viewing.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The metadata indicates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Specification of whether</a:t>
                      </a:r>
                      <a:r>
                        <a:rPr sz="1000"/>
                        <a:t> pixels that are not visible to the sensor due to terrain occlusion during off-nadir viewing.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598164"/>
            <a:ext cx="11277295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Internal notes: </a:t>
            </a:r>
            <a:r>
              <a:rPr sz="1200" i="1"/>
              <a:t>Note: there is no terrain occlusion in ST. The html file states there is.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Solar and Viewing Geometry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Threshold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 the solar and sensor viewing azimuth and zenith angles.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Specification of the solar and sensor viewing azimuth and zenith angles.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Specification of th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Provide averag</a:t>
                      </a:r>
                      <a:r>
                        <a:rPr sz="1000"/>
                        <a:t>e solar and sensor viewing azimuth and zenith angles.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Provide averag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Specification of th</a:t>
                      </a:r>
                      <a:r>
                        <a:rPr sz="1000"/>
                        <a:t>e solar and sensor viewing azimuth and zenith angles.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3774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Current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Proposed Goal Description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AR, 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(not set)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(required)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32"/>
                          </a:solidFill>
                        </a:rPr>
                        <a:t>Specification of the per-pixel solar and sensor viewing azimuth and zenith angles.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SR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Provide per-pixel solar and sensor viewing azimuth and zenith angles.</a:t>
                      </a:r>
                    </a:p>
                    <a:p>
                      <a:r>
                        <a:rPr sz="1000" i="1">
                          <a:solidFill>
                            <a:srgbClr val="808080"/>
                          </a:solidFill>
                        </a:rPr>
                        <a:t>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strike="sngStrike">
                          <a:solidFill>
                            <a:srgbClr val="B00000"/>
                          </a:solidFill>
                        </a:rPr>
                        <a:t>Provid</a:t>
                      </a:r>
                      <a:r>
                        <a:rPr sz="1000" b="1">
                          <a:solidFill>
                            <a:srgbClr val="2E7D32"/>
                          </a:solidFill>
                        </a:rPr>
                        <a:t>Specification of th</a:t>
                      </a:r>
                      <a:r>
                        <a:rPr sz="1000"/>
                        <a:t>e per-pixel solar and sensor viewing azimuth and zenith angles.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/>
              <a:t>PFS-specific overrides of requirement categories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65408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5175504"/>
                <a:gridCol w="5175504"/>
              </a:tblGrid>
              <a:tr h="121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PFS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Text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general-metadata — appends to description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Information should be available in the metadata as a single DOI landing page, which may include links to further detailed documents and references to citable peer-reviewed algorithms or technical documentation.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000" b="1"/>
                        <a:t>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per-pixel-metadata — appends to description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Information should be available in the metadata as a single DOI landing page, which may include links to further detailed documents and references to citable peer-reviewed algorithms or technical documentation.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58775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7D32"/>
                </a:solidFill>
              </a:rPr>
              <a:t>Proposal (from feedback): Append "DOI-landing page" verbiage to the General Metadata and Per-Pixel Metadata sections for SR, ST and NLSR.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